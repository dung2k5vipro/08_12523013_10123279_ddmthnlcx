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6" r:id="rId8"/>
    <p:sldId id="263" r:id="rId9"/>
    <p:sldId id="264" r:id="rId10"/>
    <p:sldId id="265" r:id="rId11"/>
    <p:sldId id="262"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A31F0DDA-913D-A39C-3242-640CB893BA98}">
          <p14:sldIdLst>
            <p14:sldId id="256"/>
          </p14:sldIdLst>
        </p14:section>
        <p14:section name="Giới thiệu" id="{9FE25C62-4045-016C-F01D-1F9E74A034AD}">
          <p14:sldIdLst>
            <p14:sldId id="257"/>
            <p14:sldId id="258"/>
          </p14:sldIdLst>
        </p14:section>
        <p14:section name="Phân tích dữ liệu (EDA)" id="{BDD192A2-27FA-9DE6-F593-D1CB879B4776}">
          <p14:sldIdLst>
            <p14:sldId id="259"/>
            <p14:sldId id="260"/>
            <p14:sldId id="261"/>
            <p14:sldId id="266"/>
            <p14:sldId id="263"/>
            <p14:sldId id="264"/>
            <p14:sldId id="265"/>
          </p14:sldIdLst>
        </p14:section>
        <p14:section name="Tiền xử lý và mô hình" id="{2BA8858F-AB9D-70BE-C96A-BD34380087B9}">
          <p14:sldIdLst>
            <p14:sldId id="262"/>
            <p14:sldId id="267"/>
            <p14:sldId id="268"/>
            <p14:sldId id="269"/>
            <p14:sldId id="270"/>
            <p14:sldId id="271"/>
          </p14:sldIdLst>
        </p14:section>
        <p14:section name="Kết quả và kết luận" id="{B3A1FC3A-7900-4474-C692-2FFB74ACD51F}">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97510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783080"/>
            <a:ext cx="6675120" cy="228600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a:effectLst/>
      </p:bgPr>
    </p:bg>
    <p:spTree>
      <p:nvGrpSpPr>
        <p:cNvPr id="1" name=""/>
        <p:cNvGrpSpPr/>
        <p:nvPr/>
      </p:nvGrpSpPr>
      <p:grpSpPr>
        <a:xfrm>
          <a:off x="0" y="0"/>
          <a:ext cx="0" cy="0"/>
          <a:chOff x="0" y="0"/>
          <a:chExt cx="0" cy="0"/>
        </a:xfrm>
      </p:grpSpPr>
      <p:sp>
        <p:nvSpPr>
          <p:cNvPr id="2"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Dự đoán mức tiêu hao nhiên liệu của xe  ·  Học máy cơ bản</a:t>
            </a:r>
            <a:endParaRPr lang="en-US" sz="1000" dirty="0"/>
          </a:p>
        </p:txBody>
      </p:sp>
      <p:sp>
        <p:nvSpPr>
          <p:cNvPr id="3" name="Text 1"/>
          <p:cNvSpPr>
            <a:spLocks noGrp="1"/>
          </p:cNvSpPr>
          <p:nvPr>
            <p:ph type="title" idx="101" hasCustomPrompt="1"/>
          </p:nvPr>
        </p:nvSpPr>
        <p:spPr>
          <a:xfrm>
            <a:off x="548640" y="640080"/>
            <a:ext cx="11094415" cy="68580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13.png"/><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43.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9.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Ring"/>
          <p:cNvSpPr/>
          <p:nvPr/>
        </p:nvSpPr>
        <p:spPr>
          <a:xfrm>
            <a:off x="6766560" y="777240"/>
            <a:ext cx="5303520" cy="5303520"/>
          </a:xfrm>
          <a:prstGeom prst="ellipse">
            <a:avLst/>
          </a:prstGeom>
          <a:noFill/>
          <a:ln w="15875">
            <a:solidFill>
              <a:schemeClr val="accent6">
                <a:alpha val="20000"/>
              </a:schemeClr>
            </a:solidFill>
            <a:prstDash val="solid"/>
          </a:ln>
        </p:spPr>
        <p:txBody>
          <a:bodyPr/>
          <a:lstStyle/>
          <a:p>
            <a:endParaRPr lang="en-US"/>
          </a:p>
        </p:txBody>
      </p:sp>
      <p:sp>
        <p:nvSpPr>
          <p:cNvPr id="3" name="Ring"/>
          <p:cNvSpPr/>
          <p:nvPr/>
        </p:nvSpPr>
        <p:spPr>
          <a:xfrm>
            <a:off x="7498080" y="1508760"/>
            <a:ext cx="3840480" cy="3840480"/>
          </a:xfrm>
          <a:prstGeom prst="ellipse">
            <a:avLst/>
          </a:prstGeom>
          <a:noFill/>
          <a:ln w="15875">
            <a:solidFill>
              <a:schemeClr val="accent6">
                <a:alpha val="30000"/>
              </a:schemeClr>
            </a:solidFill>
            <a:prstDash val="solid"/>
          </a:ln>
        </p:spPr>
        <p:txBody>
          <a:bodyPr/>
          <a:lstStyle/>
          <a:p>
            <a:endParaRPr lang="en-US"/>
          </a:p>
        </p:txBody>
      </p:sp>
      <p:sp>
        <p:nvSpPr>
          <p:cNvPr id="4" name="Ring"/>
          <p:cNvSpPr/>
          <p:nvPr/>
        </p:nvSpPr>
        <p:spPr>
          <a:xfrm>
            <a:off x="8229600" y="2240280"/>
            <a:ext cx="2377440" cy="2377440"/>
          </a:xfrm>
          <a:prstGeom prst="ellipse">
            <a:avLst/>
          </a:prstGeom>
          <a:noFill/>
          <a:ln w="15875">
            <a:solidFill>
              <a:schemeClr val="accent6">
                <a:alpha val="40000"/>
              </a:schemeClr>
            </a:solidFill>
            <a:prstDash val="solid"/>
          </a:ln>
        </p:spPr>
        <p:txBody>
          <a:bodyPr/>
          <a:lstStyle/>
          <a:p>
            <a:endParaRPr lang="en-US"/>
          </a:p>
        </p:txBody>
      </p:sp>
      <p:sp>
        <p:nvSpPr>
          <p:cNvPr id="5" name="IconBg"/>
          <p:cNvSpPr/>
          <p:nvPr/>
        </p:nvSpPr>
        <p:spPr>
          <a:xfrm>
            <a:off x="731520" y="777240"/>
            <a:ext cx="731520" cy="731520"/>
          </a:xfrm>
          <a:prstGeom prst="ellipse">
            <a:avLst/>
          </a:prstGeom>
          <a:solidFill>
            <a:srgbClr val="F4A62A"/>
          </a:solidFill>
          <a:ln/>
        </p:spPr>
        <p:txBody>
          <a:bodyPr/>
          <a:lstStyle/>
          <a:p>
            <a:endParaRPr lang="en-US"/>
          </a:p>
        </p:txBody>
      </p:sp>
      <p:pic>
        <p:nvPicPr>
          <p:cNvPr id="6" name="Image 0" descr="GasPump"/>
          <p:cNvPicPr>
            <a:picLocks noChangeAspect="1"/>
          </p:cNvPicPr>
          <p:nvPr/>
        </p:nvPicPr>
        <p:blipFill>
          <a:blip r:embed="rId3"/>
          <a:stretch>
            <a:fillRect/>
          </a:stretch>
        </p:blipFill>
        <p:spPr>
          <a:xfrm>
            <a:off x="914400" y="960120"/>
            <a:ext cx="365760" cy="365760"/>
          </a:xfrm>
          <a:prstGeom prst="rect">
            <a:avLst/>
          </a:prstGeom>
        </p:spPr>
      </p:pic>
      <p:sp>
        <p:nvSpPr>
          <p:cNvPr id="7" name="Text 4"/>
          <p:cNvSpPr txBox="1"/>
          <p:nvPr/>
        </p:nvSpPr>
        <p:spPr>
          <a:xfrm>
            <a:off x="1645920" y="777240"/>
            <a:ext cx="5486400" cy="731520"/>
          </a:xfrm>
          <a:prstGeom prst="rect">
            <a:avLst/>
          </a:prstGeom>
          <a:noFill/>
          <a:ln/>
        </p:spPr>
        <p:txBody>
          <a:bodyPr wrap="square" lIns="0" tIns="0" rIns="0" bIns="0" rtlCol="0" anchor="ctr"/>
          <a:lstStyle/>
          <a:p>
            <a:pPr marL="0" indent="0">
              <a:buNone/>
            </a:pPr>
            <a:r>
              <a:rPr lang="en-US" sz="1400" b="1" kern="0" spc="300" dirty="0">
                <a:solidFill>
                  <a:schemeClr val="accent2"/>
                </a:solidFill>
              </a:rPr>
              <a:t>MÔN HỌC  ·  HỌC MÁY CƠ BẢN</a:t>
            </a:r>
            <a:endParaRPr lang="en-US" sz="1400" dirty="0"/>
          </a:p>
        </p:txBody>
      </p:sp>
      <p:sp>
        <p:nvSpPr>
          <p:cNvPr id="8" name="Text 0"/>
          <p:cNvSpPr>
            <a:spLocks noGrp="1"/>
          </p:cNvSpPr>
          <p:nvPr>
            <p:ph type="title" idx="100" hasCustomPrompt="1"/>
          </p:nvPr>
        </p:nvSpPr>
        <p:spPr>
          <a:xfrm>
            <a:off x="731520" y="1783080"/>
            <a:ext cx="6675120" cy="2286000"/>
          </a:xfrm>
          <a:prstGeom prst="rect">
            <a:avLst/>
          </a:prstGeom>
          <a:noFill/>
          <a:ln/>
        </p:spPr>
        <p:txBody>
          <a:bodyPr wrap="square" lIns="0" tIns="0" rIns="0" bIns="0" rtlCol="0" anchor="t"/>
          <a:lstStyle/>
          <a:p>
            <a:pPr marL="0" indent="0" algn="l">
              <a:buNone/>
            </a:pPr>
            <a:r>
              <a:rPr lang="en-US" sz="4200" b="1" dirty="0">
                <a:solidFill>
                  <a:schemeClr val="bg1"/>
                </a:solidFill>
              </a:rPr>
              <a:t>XÂY DỰNG HỆ THỐNG DỰ ĐOÁN MỨC TIÊU HAO NHIÊN LIỆU CỦA XE</a:t>
            </a:r>
            <a:endParaRPr lang="en-US" sz="4200" dirty="0"/>
          </a:p>
        </p:txBody>
      </p:sp>
      <p:sp>
        <p:nvSpPr>
          <p:cNvPr id="9" name="Text 6"/>
          <p:cNvSpPr txBox="1"/>
          <p:nvPr/>
        </p:nvSpPr>
        <p:spPr>
          <a:xfrm>
            <a:off x="731520" y="4343400"/>
            <a:ext cx="2377440" cy="365760"/>
          </a:xfrm>
          <a:prstGeom prst="rect">
            <a:avLst/>
          </a:prstGeom>
          <a:noFill/>
          <a:ln/>
        </p:spPr>
        <p:txBody>
          <a:bodyPr wrap="square" lIns="0" tIns="0" rIns="0" bIns="0" rtlCol="0" anchor="ctr"/>
          <a:lstStyle/>
          <a:p>
            <a:pPr marL="0" indent="0">
              <a:buNone/>
            </a:pPr>
            <a:r>
              <a:rPr lang="en-US" sz="1400" dirty="0">
                <a:solidFill>
                  <a:schemeClr val="accent6"/>
                </a:solidFill>
              </a:rPr>
              <a:t>Môn học</a:t>
            </a:r>
            <a:endParaRPr lang="en-US" sz="1400" dirty="0"/>
          </a:p>
        </p:txBody>
      </p:sp>
      <p:sp>
        <p:nvSpPr>
          <p:cNvPr id="10" name="Text 7"/>
          <p:cNvSpPr txBox="1"/>
          <p:nvPr/>
        </p:nvSpPr>
        <p:spPr>
          <a:xfrm>
            <a:off x="3108960" y="4343400"/>
            <a:ext cx="4297680" cy="365760"/>
          </a:xfrm>
          <a:prstGeom prst="rect">
            <a:avLst/>
          </a:prstGeom>
          <a:noFill/>
          <a:ln/>
        </p:spPr>
        <p:txBody>
          <a:bodyPr wrap="square" lIns="0" tIns="0" rIns="0" bIns="0" rtlCol="0" anchor="ctr"/>
          <a:lstStyle/>
          <a:p>
            <a:pPr marL="0" indent="0">
              <a:buNone/>
            </a:pPr>
            <a:r>
              <a:rPr lang="en-US" sz="1600" b="1" dirty="0">
                <a:solidFill>
                  <a:schemeClr val="bg1"/>
                </a:solidFill>
              </a:rPr>
              <a:t>Học máy cơ bản</a:t>
            </a:r>
            <a:endParaRPr lang="en-US" sz="1600" dirty="0"/>
          </a:p>
        </p:txBody>
      </p:sp>
      <p:sp>
        <p:nvSpPr>
          <p:cNvPr id="11" name="Text 8"/>
          <p:cNvSpPr txBox="1"/>
          <p:nvPr/>
        </p:nvSpPr>
        <p:spPr>
          <a:xfrm>
            <a:off x="731520" y="4800600"/>
            <a:ext cx="2377440" cy="365760"/>
          </a:xfrm>
          <a:prstGeom prst="rect">
            <a:avLst/>
          </a:prstGeom>
          <a:noFill/>
          <a:ln/>
        </p:spPr>
        <p:txBody>
          <a:bodyPr wrap="square" lIns="0" tIns="0" rIns="0" bIns="0" rtlCol="0" anchor="ctr"/>
          <a:lstStyle/>
          <a:p>
            <a:pPr marL="0" indent="0">
              <a:buNone/>
            </a:pPr>
            <a:r>
              <a:rPr lang="en-US" sz="1400" dirty="0">
                <a:solidFill>
                  <a:schemeClr val="accent6"/>
                </a:solidFill>
              </a:rPr>
              <a:t>Nhóm sinh viên</a:t>
            </a:r>
            <a:endParaRPr lang="en-US" sz="1400" dirty="0"/>
          </a:p>
        </p:txBody>
      </p:sp>
      <p:sp>
        <p:nvSpPr>
          <p:cNvPr id="12" name="Text 9"/>
          <p:cNvSpPr txBox="1"/>
          <p:nvPr/>
        </p:nvSpPr>
        <p:spPr>
          <a:xfrm>
            <a:off x="3063240" y="4892040"/>
            <a:ext cx="4297680" cy="365760"/>
          </a:xfrm>
          <a:prstGeom prst="rect">
            <a:avLst/>
          </a:prstGeom>
          <a:noFill/>
          <a:ln/>
        </p:spPr>
        <p:txBody>
          <a:bodyPr wrap="square" lIns="0" tIns="0" rIns="0" bIns="0" rtlCol="0" anchor="ctr"/>
          <a:lstStyle/>
          <a:p>
            <a:r>
              <a:rPr lang="en-US" sz="1600" dirty="0">
                <a:solidFill>
                  <a:srgbClr val="FFFFFF"/>
                </a:solidFill>
                <a:latin typeface="Calibri" pitchFamily="34" charset="0"/>
                <a:ea typeface="Calibri" pitchFamily="34" charset="-122"/>
                <a:cs typeface="Calibri" pitchFamily="34" charset="-120"/>
              </a:rPr>
              <a:t>TRỊNH VIỆT DŨNG     12523013</a:t>
            </a:r>
          </a:p>
          <a:p>
            <a:r>
              <a:rPr lang="en-US" sz="1600" dirty="0">
                <a:solidFill>
                  <a:srgbClr val="FFFFFF"/>
                </a:solidFill>
                <a:latin typeface="Calibri" pitchFamily="34" charset="0"/>
                <a:ea typeface="Calibri" pitchFamily="34" charset="-122"/>
                <a:cs typeface="Calibri" pitchFamily="34" charset="-120"/>
              </a:rPr>
              <a:t>PHẠM HÙNG SÁNG   10123270</a:t>
            </a:r>
            <a:endParaRPr lang="en-US" sz="1600" dirty="0"/>
          </a:p>
          <a:p>
            <a:pPr marL="0" indent="0">
              <a:buNone/>
            </a:pPr>
            <a:endParaRPr lang="en-US" sz="1600" dirty="0"/>
          </a:p>
        </p:txBody>
      </p:sp>
      <p:sp>
        <p:nvSpPr>
          <p:cNvPr id="13" name="Text 10"/>
          <p:cNvSpPr txBox="1"/>
          <p:nvPr/>
        </p:nvSpPr>
        <p:spPr>
          <a:xfrm>
            <a:off x="731520" y="5257800"/>
            <a:ext cx="2377440" cy="365760"/>
          </a:xfrm>
          <a:prstGeom prst="rect">
            <a:avLst/>
          </a:prstGeom>
          <a:noFill/>
          <a:ln/>
        </p:spPr>
        <p:txBody>
          <a:bodyPr wrap="square" lIns="0" tIns="0" rIns="0" bIns="0" rtlCol="0" anchor="ctr"/>
          <a:lstStyle/>
          <a:p>
            <a:pPr marL="0" indent="0">
              <a:buNone/>
            </a:pPr>
            <a:r>
              <a:rPr lang="en-US" sz="1400" dirty="0">
                <a:solidFill>
                  <a:schemeClr val="accent6"/>
                </a:solidFill>
              </a:rPr>
              <a:t>Giảng viên hướng dẫn</a:t>
            </a:r>
            <a:endParaRPr lang="en-US" sz="1400" dirty="0"/>
          </a:p>
        </p:txBody>
      </p:sp>
      <p:sp>
        <p:nvSpPr>
          <p:cNvPr id="14" name="Text 11"/>
          <p:cNvSpPr txBox="1"/>
          <p:nvPr/>
        </p:nvSpPr>
        <p:spPr>
          <a:xfrm>
            <a:off x="3108960" y="5349240"/>
            <a:ext cx="4297680" cy="365760"/>
          </a:xfrm>
          <a:prstGeom prst="rect">
            <a:avLst/>
          </a:prstGeom>
          <a:noFill/>
          <a:ln/>
        </p:spPr>
        <p:txBody>
          <a:bodyPr wrap="square" lIns="0" tIns="0" rIns="0" bIns="0" rtlCol="0" anchor="ctr"/>
          <a:lstStyle/>
          <a:p>
            <a:r>
              <a:rPr lang="en-US" sz="1600" b="1" dirty="0" err="1">
                <a:solidFill>
                  <a:schemeClr val="bg1"/>
                </a:solidFill>
              </a:rPr>
              <a:t>ThS</a:t>
            </a:r>
            <a:r>
              <a:rPr lang="en-US" sz="1600" dirty="0">
                <a:solidFill>
                  <a:schemeClr val="bg1"/>
                </a:solidFill>
              </a:rPr>
              <a:t> NGUYỄN TUẤN ANH</a:t>
            </a:r>
          </a:p>
          <a:p>
            <a:pPr marL="0" indent="0">
              <a:buNone/>
            </a:pPr>
            <a:endParaRPr lang="en-US" sz="1600" dirty="0"/>
          </a:p>
        </p:txBody>
      </p:sp>
      <p:sp>
        <p:nvSpPr>
          <p:cNvPr id="15" name="Text 12"/>
          <p:cNvSpPr txBox="1"/>
          <p:nvPr/>
        </p:nvSpPr>
        <p:spPr>
          <a:xfrm>
            <a:off x="731520" y="5715000"/>
            <a:ext cx="2377440" cy="365760"/>
          </a:xfrm>
          <a:prstGeom prst="rect">
            <a:avLst/>
          </a:prstGeom>
          <a:noFill/>
          <a:ln/>
        </p:spPr>
        <p:txBody>
          <a:bodyPr wrap="square" lIns="0" tIns="0" rIns="0" bIns="0" rtlCol="0" anchor="ctr"/>
          <a:lstStyle/>
          <a:p>
            <a:pPr marL="0" indent="0">
              <a:buNone/>
            </a:pPr>
            <a:r>
              <a:rPr lang="en-US" sz="1400" dirty="0">
                <a:solidFill>
                  <a:schemeClr val="accent6"/>
                </a:solidFill>
              </a:rPr>
              <a:t>Lớp</a:t>
            </a:r>
            <a:endParaRPr lang="en-US" sz="1400" dirty="0"/>
          </a:p>
        </p:txBody>
      </p:sp>
      <p:sp>
        <p:nvSpPr>
          <p:cNvPr id="16" name="Text 13"/>
          <p:cNvSpPr txBox="1"/>
          <p:nvPr/>
        </p:nvSpPr>
        <p:spPr>
          <a:xfrm>
            <a:off x="3108960" y="5715000"/>
            <a:ext cx="4297680" cy="365760"/>
          </a:xfrm>
          <a:prstGeom prst="rect">
            <a:avLst/>
          </a:prstGeom>
          <a:noFill/>
          <a:ln/>
        </p:spPr>
        <p:txBody>
          <a:bodyPr wrap="square" lIns="0" tIns="0" rIns="0" bIns="0" rtlCol="0" anchor="ctr"/>
          <a:lstStyle/>
          <a:p>
            <a:pPr marL="0" indent="0">
              <a:buNone/>
            </a:pPr>
            <a:r>
              <a:rPr lang="en-US" sz="1600" b="1" dirty="0">
                <a:solidFill>
                  <a:schemeClr val="bg1"/>
                </a:solidFill>
              </a:rPr>
              <a:t>12523W.2</a:t>
            </a:r>
            <a:endParaRPr lang="en-US" sz="1600" dirty="0"/>
          </a:p>
        </p:txBody>
      </p:sp>
      <p:sp>
        <p:nvSpPr>
          <p:cNvPr id="17" name="StatCard"/>
          <p:cNvSpPr/>
          <p:nvPr/>
        </p:nvSpPr>
        <p:spPr>
          <a:xfrm>
            <a:off x="7863840" y="1234440"/>
            <a:ext cx="3108960" cy="1280160"/>
          </a:xfrm>
          <a:prstGeom prst="roundRect">
            <a:avLst>
              <a:gd name="adj" fmla="val 10000"/>
            </a:avLst>
          </a:prstGeom>
          <a:solidFill>
            <a:schemeClr val="bg1">
              <a:alpha val="10000"/>
            </a:schemeClr>
          </a:solidFill>
          <a:ln w="12700">
            <a:solidFill>
              <a:schemeClr val="accent6">
                <a:alpha val="30000"/>
              </a:schemeClr>
            </a:solidFill>
            <a:prstDash val="solid"/>
          </a:ln>
        </p:spPr>
        <p:txBody>
          <a:bodyPr/>
          <a:lstStyle/>
          <a:p>
            <a:endParaRPr lang="en-US"/>
          </a:p>
        </p:txBody>
      </p:sp>
      <p:sp>
        <p:nvSpPr>
          <p:cNvPr id="18" name="Text 15"/>
          <p:cNvSpPr txBox="1"/>
          <p:nvPr/>
        </p:nvSpPr>
        <p:spPr>
          <a:xfrm>
            <a:off x="7863840" y="1344168"/>
            <a:ext cx="3108960" cy="685800"/>
          </a:xfrm>
          <a:prstGeom prst="rect">
            <a:avLst/>
          </a:prstGeom>
          <a:noFill/>
          <a:ln/>
        </p:spPr>
        <p:txBody>
          <a:bodyPr wrap="square" lIns="0" tIns="0" rIns="0" bIns="0" rtlCol="0" anchor="ctr"/>
          <a:lstStyle/>
          <a:p>
            <a:pPr marL="0" indent="0" algn="ctr">
              <a:buNone/>
            </a:pPr>
            <a:r>
              <a:rPr lang="en-US" sz="3600" b="1" dirty="0">
                <a:solidFill>
                  <a:schemeClr val="accent2"/>
                </a:solidFill>
                <a:latin typeface="+mj-lt" pitchFamily="34" charset="0"/>
                <a:ea typeface="+mj-lt" pitchFamily="34" charset="-122"/>
                <a:cs typeface="+mj-lt" pitchFamily="34" charset="-120"/>
              </a:rPr>
              <a:t>26.998</a:t>
            </a:r>
            <a:endParaRPr lang="en-US" sz="3600" dirty="0"/>
          </a:p>
        </p:txBody>
      </p:sp>
      <p:sp>
        <p:nvSpPr>
          <p:cNvPr id="19" name="Text 16"/>
          <p:cNvSpPr txBox="1"/>
          <p:nvPr/>
        </p:nvSpPr>
        <p:spPr>
          <a:xfrm>
            <a:off x="7863840" y="2011680"/>
            <a:ext cx="3108960" cy="365760"/>
          </a:xfrm>
          <a:prstGeom prst="rect">
            <a:avLst/>
          </a:prstGeom>
          <a:noFill/>
          <a:ln/>
        </p:spPr>
        <p:txBody>
          <a:bodyPr wrap="square" lIns="0" tIns="0" rIns="0" bIns="0" rtlCol="0" anchor="t"/>
          <a:lstStyle/>
          <a:p>
            <a:pPr marL="0" indent="0" algn="ctr">
              <a:buNone/>
            </a:pPr>
            <a:r>
              <a:rPr lang="en-US" sz="1400" dirty="0">
                <a:solidFill>
                  <a:schemeClr val="bg1"/>
                </a:solidFill>
              </a:rPr>
              <a:t>mẫu dữ liệu sau làm sạch</a:t>
            </a:r>
            <a:endParaRPr lang="en-US" sz="1400" dirty="0"/>
          </a:p>
        </p:txBody>
      </p:sp>
      <p:sp>
        <p:nvSpPr>
          <p:cNvPr id="20" name="StatCard"/>
          <p:cNvSpPr/>
          <p:nvPr/>
        </p:nvSpPr>
        <p:spPr>
          <a:xfrm>
            <a:off x="7863840" y="2834640"/>
            <a:ext cx="3108960" cy="1280160"/>
          </a:xfrm>
          <a:prstGeom prst="roundRect">
            <a:avLst>
              <a:gd name="adj" fmla="val 10000"/>
            </a:avLst>
          </a:prstGeom>
          <a:solidFill>
            <a:schemeClr val="bg1">
              <a:alpha val="10000"/>
            </a:schemeClr>
          </a:solidFill>
          <a:ln w="12700">
            <a:solidFill>
              <a:schemeClr val="accent6">
                <a:alpha val="30000"/>
              </a:schemeClr>
            </a:solidFill>
            <a:prstDash val="solid"/>
          </a:ln>
        </p:spPr>
        <p:txBody>
          <a:bodyPr/>
          <a:lstStyle/>
          <a:p>
            <a:endParaRPr lang="en-US"/>
          </a:p>
        </p:txBody>
      </p:sp>
      <p:sp>
        <p:nvSpPr>
          <p:cNvPr id="21" name="Text 18"/>
          <p:cNvSpPr txBox="1"/>
          <p:nvPr/>
        </p:nvSpPr>
        <p:spPr>
          <a:xfrm>
            <a:off x="7863840" y="2944368"/>
            <a:ext cx="3108960" cy="685800"/>
          </a:xfrm>
          <a:prstGeom prst="rect">
            <a:avLst/>
          </a:prstGeom>
          <a:noFill/>
          <a:ln/>
        </p:spPr>
        <p:txBody>
          <a:bodyPr wrap="square" lIns="0" tIns="0" rIns="0" bIns="0" rtlCol="0" anchor="ctr"/>
          <a:lstStyle/>
          <a:p>
            <a:pPr marL="0" indent="0" algn="ctr">
              <a:buNone/>
            </a:pPr>
            <a:r>
              <a:rPr lang="en-US" sz="3600" b="1" dirty="0">
                <a:solidFill>
                  <a:schemeClr val="accent2"/>
                </a:solidFill>
                <a:latin typeface="+mj-lt" pitchFamily="34" charset="0"/>
                <a:ea typeface="+mj-lt" pitchFamily="34" charset="-122"/>
                <a:cs typeface="+mj-lt" pitchFamily="34" charset="-120"/>
              </a:rPr>
              <a:t>7</a:t>
            </a:r>
            <a:endParaRPr lang="en-US" sz="3600" dirty="0"/>
          </a:p>
        </p:txBody>
      </p:sp>
      <p:sp>
        <p:nvSpPr>
          <p:cNvPr id="22" name="Text 19"/>
          <p:cNvSpPr txBox="1"/>
          <p:nvPr/>
        </p:nvSpPr>
        <p:spPr>
          <a:xfrm>
            <a:off x="7863840" y="3611880"/>
            <a:ext cx="3108960" cy="365760"/>
          </a:xfrm>
          <a:prstGeom prst="rect">
            <a:avLst/>
          </a:prstGeom>
          <a:noFill/>
          <a:ln/>
        </p:spPr>
        <p:txBody>
          <a:bodyPr wrap="square" lIns="0" tIns="0" rIns="0" bIns="0" rtlCol="0" anchor="t"/>
          <a:lstStyle/>
          <a:p>
            <a:pPr marL="0" indent="0" algn="ctr">
              <a:buNone/>
            </a:pPr>
            <a:r>
              <a:rPr lang="en-US" sz="1400" dirty="0">
                <a:solidFill>
                  <a:schemeClr val="bg1"/>
                </a:solidFill>
              </a:rPr>
              <a:t>đặc trưng đầu vào</a:t>
            </a:r>
            <a:endParaRPr lang="en-US" sz="1400" dirty="0"/>
          </a:p>
        </p:txBody>
      </p:sp>
      <p:sp>
        <p:nvSpPr>
          <p:cNvPr id="23" name="StatCard"/>
          <p:cNvSpPr/>
          <p:nvPr/>
        </p:nvSpPr>
        <p:spPr>
          <a:xfrm>
            <a:off x="7863840" y="4434840"/>
            <a:ext cx="3108960" cy="1280160"/>
          </a:xfrm>
          <a:prstGeom prst="roundRect">
            <a:avLst>
              <a:gd name="adj" fmla="val 10000"/>
            </a:avLst>
          </a:prstGeom>
          <a:solidFill>
            <a:schemeClr val="bg1">
              <a:alpha val="10000"/>
            </a:schemeClr>
          </a:solidFill>
          <a:ln w="12700">
            <a:solidFill>
              <a:schemeClr val="accent6">
                <a:alpha val="30000"/>
              </a:schemeClr>
            </a:solidFill>
            <a:prstDash val="solid"/>
          </a:ln>
        </p:spPr>
        <p:txBody>
          <a:bodyPr/>
          <a:lstStyle/>
          <a:p>
            <a:endParaRPr lang="en-US"/>
          </a:p>
        </p:txBody>
      </p:sp>
      <p:sp>
        <p:nvSpPr>
          <p:cNvPr id="24" name="Text 21"/>
          <p:cNvSpPr txBox="1"/>
          <p:nvPr/>
        </p:nvSpPr>
        <p:spPr>
          <a:xfrm>
            <a:off x="7863840" y="4544568"/>
            <a:ext cx="3108960" cy="685800"/>
          </a:xfrm>
          <a:prstGeom prst="rect">
            <a:avLst/>
          </a:prstGeom>
          <a:noFill/>
          <a:ln/>
        </p:spPr>
        <p:txBody>
          <a:bodyPr wrap="square" lIns="0" tIns="0" rIns="0" bIns="0" rtlCol="0" anchor="ctr"/>
          <a:lstStyle/>
          <a:p>
            <a:pPr marL="0" indent="0" algn="ctr">
              <a:buNone/>
            </a:pPr>
            <a:r>
              <a:rPr lang="en-US" sz="3600" b="1" dirty="0">
                <a:solidFill>
                  <a:schemeClr val="accent2"/>
                </a:solidFill>
                <a:latin typeface="+mj-lt" pitchFamily="34" charset="0"/>
                <a:ea typeface="+mj-lt" pitchFamily="34" charset="-122"/>
                <a:cs typeface="+mj-lt" pitchFamily="34" charset="-120"/>
              </a:rPr>
              <a:t>0.9583</a:t>
            </a:r>
            <a:endParaRPr lang="en-US" sz="3600" dirty="0"/>
          </a:p>
        </p:txBody>
      </p:sp>
      <p:sp>
        <p:nvSpPr>
          <p:cNvPr id="25" name="Text 22"/>
          <p:cNvSpPr txBox="1"/>
          <p:nvPr/>
        </p:nvSpPr>
        <p:spPr>
          <a:xfrm>
            <a:off x="7863840" y="5212080"/>
            <a:ext cx="3108960" cy="365760"/>
          </a:xfrm>
          <a:prstGeom prst="rect">
            <a:avLst/>
          </a:prstGeom>
          <a:noFill/>
          <a:ln/>
        </p:spPr>
        <p:txBody>
          <a:bodyPr wrap="square" lIns="0" tIns="0" rIns="0" bIns="0" rtlCol="0" anchor="t"/>
          <a:lstStyle/>
          <a:p>
            <a:pPr marL="0" indent="0" algn="ctr">
              <a:buNone/>
            </a:pPr>
            <a:r>
              <a:rPr lang="en-US" sz="1400" dirty="0">
                <a:solidFill>
                  <a:schemeClr val="bg1"/>
                </a:solidFill>
              </a:rPr>
              <a:t>R² của mô hình SVR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01  ·  GIỚI THIỆU</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Giới thiệu đề tài</a:t>
            </a:r>
            <a:endParaRPr lang="en-US" sz="3000" dirty="0"/>
          </a:p>
        </p:txBody>
      </p:sp>
      <p:sp>
        <p:nvSpPr>
          <p:cNvPr id="5" name="IntroCard"/>
          <p:cNvSpPr/>
          <p:nvPr/>
        </p:nvSpPr>
        <p:spPr>
          <a:xfrm>
            <a:off x="548640" y="155448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IconBg"/>
          <p:cNvSpPr/>
          <p:nvPr/>
        </p:nvSpPr>
        <p:spPr>
          <a:xfrm>
            <a:off x="804672" y="1810512"/>
            <a:ext cx="548640" cy="548640"/>
          </a:xfrm>
          <a:prstGeom prst="ellipse">
            <a:avLst/>
          </a:prstGeom>
          <a:solidFill>
            <a:srgbClr val="1F6FA8"/>
          </a:solidFill>
          <a:ln/>
        </p:spPr>
        <p:txBody>
          <a:bodyPr/>
          <a:lstStyle/>
          <a:p>
            <a:endParaRPr lang="en-US"/>
          </a:p>
        </p:txBody>
      </p:sp>
      <p:pic>
        <p:nvPicPr>
          <p:cNvPr id="7" name="Image 0" descr="GasPump"/>
          <p:cNvPicPr>
            <a:picLocks noChangeAspect="1"/>
          </p:cNvPicPr>
          <p:nvPr/>
        </p:nvPicPr>
        <p:blipFill>
          <a:blip r:embed="rId3"/>
          <a:stretch>
            <a:fillRect/>
          </a:stretch>
        </p:blipFill>
        <p:spPr>
          <a:xfrm>
            <a:off x="941832" y="1947672"/>
            <a:ext cx="274320" cy="274320"/>
          </a:xfrm>
          <a:prstGeom prst="rect">
            <a:avLst/>
          </a:prstGeom>
        </p:spPr>
      </p:pic>
      <p:sp>
        <p:nvSpPr>
          <p:cNvPr id="8" name="Text 5"/>
          <p:cNvSpPr txBox="1"/>
          <p:nvPr/>
        </p:nvSpPr>
        <p:spPr>
          <a:xfrm>
            <a:off x="804672" y="2514600"/>
            <a:ext cx="2999232" cy="1051560"/>
          </a:xfrm>
          <a:prstGeom prst="rect">
            <a:avLst/>
          </a:prstGeom>
          <a:noFill/>
          <a:ln/>
        </p:spPr>
        <p:txBody>
          <a:bodyPr wrap="square" lIns="0" tIns="0" rIns="0" bIns="0" rtlCol="0" anchor="t"/>
          <a:lstStyle/>
          <a:p>
            <a:pPr marL="0" indent="0">
              <a:buNone/>
            </a:pPr>
            <a:r>
              <a:rPr lang="en-US" sz="1400" dirty="0">
                <a:solidFill>
                  <a:schemeClr val="tx1"/>
                </a:solidFill>
              </a:rPr>
              <a:t>Mức tiêu hao nhiên liệu là một thông số quan trọng để đánh giá khả năng sử dụng nhiên liệu của phương tiện.</a:t>
            </a:r>
            <a:endParaRPr lang="en-US" sz="1400" dirty="0"/>
          </a:p>
        </p:txBody>
      </p:sp>
      <p:sp>
        <p:nvSpPr>
          <p:cNvPr id="9" name="IntroCard"/>
          <p:cNvSpPr/>
          <p:nvPr/>
        </p:nvSpPr>
        <p:spPr>
          <a:xfrm>
            <a:off x="4334256" y="155448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0" name="IconBg"/>
          <p:cNvSpPr/>
          <p:nvPr/>
        </p:nvSpPr>
        <p:spPr>
          <a:xfrm>
            <a:off x="4590288" y="1810512"/>
            <a:ext cx="548640" cy="548640"/>
          </a:xfrm>
          <a:prstGeom prst="ellipse">
            <a:avLst/>
          </a:prstGeom>
          <a:solidFill>
            <a:srgbClr val="1F6FA8"/>
          </a:solidFill>
          <a:ln/>
        </p:spPr>
        <p:txBody>
          <a:bodyPr/>
          <a:lstStyle/>
          <a:p>
            <a:endParaRPr lang="en-US"/>
          </a:p>
        </p:txBody>
      </p:sp>
      <p:pic>
        <p:nvPicPr>
          <p:cNvPr id="11" name="Image 1" descr="Cogs"/>
          <p:cNvPicPr>
            <a:picLocks noChangeAspect="1"/>
          </p:cNvPicPr>
          <p:nvPr/>
        </p:nvPicPr>
        <p:blipFill>
          <a:blip r:embed="rId4"/>
          <a:stretch>
            <a:fillRect/>
          </a:stretch>
        </p:blipFill>
        <p:spPr>
          <a:xfrm>
            <a:off x="4727448" y="1947672"/>
            <a:ext cx="274320" cy="274320"/>
          </a:xfrm>
          <a:prstGeom prst="rect">
            <a:avLst/>
          </a:prstGeom>
        </p:spPr>
      </p:pic>
      <p:sp>
        <p:nvSpPr>
          <p:cNvPr id="12" name="Text 8"/>
          <p:cNvSpPr txBox="1"/>
          <p:nvPr/>
        </p:nvSpPr>
        <p:spPr>
          <a:xfrm>
            <a:off x="4590288" y="2514600"/>
            <a:ext cx="2999232" cy="1051560"/>
          </a:xfrm>
          <a:prstGeom prst="rect">
            <a:avLst/>
          </a:prstGeom>
          <a:noFill/>
          <a:ln/>
        </p:spPr>
        <p:txBody>
          <a:bodyPr wrap="square" lIns="0" tIns="0" rIns="0" bIns="0" rtlCol="0" anchor="t"/>
          <a:lstStyle/>
          <a:p>
            <a:pPr marL="0" indent="0">
              <a:buNone/>
            </a:pPr>
            <a:r>
              <a:rPr lang="en-US" sz="1400" dirty="0">
                <a:solidFill>
                  <a:schemeClr val="tx1"/>
                </a:solidFill>
              </a:rPr>
              <a:t>Mức tiêu hao của một chiếc xe chịu ảnh hưởng bởi nhiều yếu tố như dung tích động cơ, số xi-lanh, loại nhiên liệu, hộp số và phân khúc xe.</a:t>
            </a:r>
            <a:endParaRPr lang="en-US" sz="1400" dirty="0"/>
          </a:p>
        </p:txBody>
      </p:sp>
      <p:sp>
        <p:nvSpPr>
          <p:cNvPr id="13" name="IntroCard"/>
          <p:cNvSpPr/>
          <p:nvPr/>
        </p:nvSpPr>
        <p:spPr>
          <a:xfrm>
            <a:off x="8119872" y="155448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4" name="IconBg"/>
          <p:cNvSpPr/>
          <p:nvPr/>
        </p:nvSpPr>
        <p:spPr>
          <a:xfrm>
            <a:off x="8375904" y="1810512"/>
            <a:ext cx="548640" cy="548640"/>
          </a:xfrm>
          <a:prstGeom prst="ellipse">
            <a:avLst/>
          </a:prstGeom>
          <a:solidFill>
            <a:srgbClr val="1F6FA8"/>
          </a:solidFill>
          <a:ln/>
        </p:spPr>
        <p:txBody>
          <a:bodyPr/>
          <a:lstStyle/>
          <a:p>
            <a:endParaRPr lang="en-US"/>
          </a:p>
        </p:txBody>
      </p:sp>
      <p:pic>
        <p:nvPicPr>
          <p:cNvPr id="15" name="Image 2" descr="Car"/>
          <p:cNvPicPr>
            <a:picLocks noChangeAspect="1"/>
          </p:cNvPicPr>
          <p:nvPr/>
        </p:nvPicPr>
        <p:blipFill>
          <a:blip r:embed="rId5"/>
          <a:stretch>
            <a:fillRect/>
          </a:stretch>
        </p:blipFill>
        <p:spPr>
          <a:xfrm>
            <a:off x="8513064" y="1947672"/>
            <a:ext cx="274320" cy="274320"/>
          </a:xfrm>
          <a:prstGeom prst="rect">
            <a:avLst/>
          </a:prstGeom>
        </p:spPr>
      </p:pic>
      <p:sp>
        <p:nvSpPr>
          <p:cNvPr id="16" name="Text 11"/>
          <p:cNvSpPr txBox="1"/>
          <p:nvPr/>
        </p:nvSpPr>
        <p:spPr>
          <a:xfrm>
            <a:off x="8375904" y="2514600"/>
            <a:ext cx="2999232" cy="1051560"/>
          </a:xfrm>
          <a:prstGeom prst="rect">
            <a:avLst/>
          </a:prstGeom>
          <a:noFill/>
          <a:ln/>
        </p:spPr>
        <p:txBody>
          <a:bodyPr wrap="square" lIns="0" tIns="0" rIns="0" bIns="0" rtlCol="0" anchor="t"/>
          <a:lstStyle/>
          <a:p>
            <a:pPr marL="0" indent="0">
              <a:buNone/>
            </a:pPr>
            <a:r>
              <a:rPr lang="en-US" sz="1400" dirty="0">
                <a:solidFill>
                  <a:schemeClr val="tx1"/>
                </a:solidFill>
              </a:rPr>
              <a:t>Với số lượng lớn mẫu xe khác nhau, việc ước lượng thủ công mức tiêu hao nhiên liệu không đơn giản.</a:t>
            </a:r>
            <a:endParaRPr lang="en-US" sz="1400" dirty="0"/>
          </a:p>
        </p:txBody>
      </p:sp>
      <p:sp>
        <p:nvSpPr>
          <p:cNvPr id="17" name="IntroCard"/>
          <p:cNvSpPr/>
          <p:nvPr/>
        </p:nvSpPr>
        <p:spPr>
          <a:xfrm>
            <a:off x="548640" y="402336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8" name="IconBg"/>
          <p:cNvSpPr/>
          <p:nvPr/>
        </p:nvSpPr>
        <p:spPr>
          <a:xfrm>
            <a:off x="804672" y="4279392"/>
            <a:ext cx="548640" cy="548640"/>
          </a:xfrm>
          <a:prstGeom prst="ellipse">
            <a:avLst/>
          </a:prstGeom>
          <a:solidFill>
            <a:srgbClr val="1F6FA8"/>
          </a:solidFill>
          <a:ln/>
        </p:spPr>
        <p:txBody>
          <a:bodyPr/>
          <a:lstStyle/>
          <a:p>
            <a:endParaRPr lang="en-US"/>
          </a:p>
        </p:txBody>
      </p:sp>
      <p:pic>
        <p:nvPicPr>
          <p:cNvPr id="19" name="Image 3" descr="Brain"/>
          <p:cNvPicPr>
            <a:picLocks noChangeAspect="1"/>
          </p:cNvPicPr>
          <p:nvPr/>
        </p:nvPicPr>
        <p:blipFill>
          <a:blip r:embed="rId6"/>
          <a:stretch>
            <a:fillRect/>
          </a:stretch>
        </p:blipFill>
        <p:spPr>
          <a:xfrm>
            <a:off x="941832" y="4416552"/>
            <a:ext cx="274320" cy="274320"/>
          </a:xfrm>
          <a:prstGeom prst="rect">
            <a:avLst/>
          </a:prstGeom>
        </p:spPr>
      </p:pic>
      <p:sp>
        <p:nvSpPr>
          <p:cNvPr id="20" name="Text 14"/>
          <p:cNvSpPr txBox="1"/>
          <p:nvPr/>
        </p:nvSpPr>
        <p:spPr>
          <a:xfrm>
            <a:off x="804672" y="4983480"/>
            <a:ext cx="2999232" cy="1051560"/>
          </a:xfrm>
          <a:prstGeom prst="rect">
            <a:avLst/>
          </a:prstGeom>
          <a:noFill/>
          <a:ln/>
        </p:spPr>
        <p:txBody>
          <a:bodyPr wrap="square" lIns="0" tIns="0" rIns="0" bIns="0" rtlCol="0" anchor="t"/>
          <a:lstStyle/>
          <a:p>
            <a:pPr marL="0" indent="0">
              <a:buNone/>
            </a:pPr>
            <a:r>
              <a:rPr lang="en-US" sz="1400" dirty="0">
                <a:solidFill>
                  <a:schemeClr val="tx1"/>
                </a:solidFill>
              </a:rPr>
              <a:t>Machine Learning có thể học mối quan hệ giữa các đặc trưng kỹ thuật của xe và lượng nhiên liệu tiêu thụ trong dữ liệu lịch sử.</a:t>
            </a:r>
            <a:endParaRPr lang="en-US" sz="1400" dirty="0"/>
          </a:p>
        </p:txBody>
      </p:sp>
      <p:sp>
        <p:nvSpPr>
          <p:cNvPr id="21" name="IntroCard"/>
          <p:cNvSpPr/>
          <p:nvPr/>
        </p:nvSpPr>
        <p:spPr>
          <a:xfrm>
            <a:off x="4334256" y="402336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2" name="IconBg"/>
          <p:cNvSpPr/>
          <p:nvPr/>
        </p:nvSpPr>
        <p:spPr>
          <a:xfrm>
            <a:off x="4590288" y="4279392"/>
            <a:ext cx="548640" cy="548640"/>
          </a:xfrm>
          <a:prstGeom prst="ellipse">
            <a:avLst/>
          </a:prstGeom>
          <a:solidFill>
            <a:srgbClr val="1F6FA8"/>
          </a:solidFill>
          <a:ln/>
        </p:spPr>
        <p:txBody>
          <a:bodyPr/>
          <a:lstStyle/>
          <a:p>
            <a:endParaRPr lang="en-US"/>
          </a:p>
        </p:txBody>
      </p:sp>
      <p:pic>
        <p:nvPicPr>
          <p:cNvPr id="23" name="Image 4" descr="ProjectDiagram"/>
          <p:cNvPicPr>
            <a:picLocks noChangeAspect="1"/>
          </p:cNvPicPr>
          <p:nvPr/>
        </p:nvPicPr>
        <p:blipFill>
          <a:blip r:embed="rId7"/>
          <a:stretch>
            <a:fillRect/>
          </a:stretch>
        </p:blipFill>
        <p:spPr>
          <a:xfrm>
            <a:off x="4727448" y="4416552"/>
            <a:ext cx="274320" cy="274320"/>
          </a:xfrm>
          <a:prstGeom prst="rect">
            <a:avLst/>
          </a:prstGeom>
        </p:spPr>
      </p:pic>
      <p:sp>
        <p:nvSpPr>
          <p:cNvPr id="24" name="Text 17"/>
          <p:cNvSpPr txBox="1"/>
          <p:nvPr/>
        </p:nvSpPr>
        <p:spPr>
          <a:xfrm>
            <a:off x="4590288" y="4983480"/>
            <a:ext cx="2999232" cy="1051560"/>
          </a:xfrm>
          <a:prstGeom prst="rect">
            <a:avLst/>
          </a:prstGeom>
          <a:noFill/>
          <a:ln/>
        </p:spPr>
        <p:txBody>
          <a:bodyPr wrap="square" lIns="0" tIns="0" rIns="0" bIns="0" rtlCol="0" anchor="t"/>
          <a:lstStyle/>
          <a:p>
            <a:pPr marL="0" indent="0">
              <a:buNone/>
            </a:pPr>
            <a:r>
              <a:rPr lang="en-US" sz="1400" dirty="0">
                <a:solidFill>
                  <a:schemeClr val="tx1"/>
                </a:solidFill>
              </a:rPr>
              <a:t>Trong đề tài này, nhóm xây dựng quy trình từ phân tích dữ liệu, tiền xử lý, huấn luyện nhiều mô hình, đánh giá và lựa chọn mô hình phù hợp để tích hợp vào hệ thống dự đoán.</a:t>
            </a:r>
            <a:endParaRPr lang="en-US" sz="1400" dirty="0"/>
          </a:p>
        </p:txBody>
      </p:sp>
      <p:sp>
        <p:nvSpPr>
          <p:cNvPr id="25" name="IntroCard"/>
          <p:cNvSpPr/>
          <p:nvPr/>
        </p:nvSpPr>
        <p:spPr>
          <a:xfrm>
            <a:off x="8119872" y="4023360"/>
            <a:ext cx="3511296" cy="2194560"/>
          </a:xfrm>
          <a:prstGeom prst="roundRect">
            <a:avLst>
              <a:gd name="adj" fmla="val 5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6" name="IconBg"/>
          <p:cNvSpPr/>
          <p:nvPr/>
        </p:nvSpPr>
        <p:spPr>
          <a:xfrm>
            <a:off x="8375904" y="4279392"/>
            <a:ext cx="548640" cy="548640"/>
          </a:xfrm>
          <a:prstGeom prst="ellipse">
            <a:avLst/>
          </a:prstGeom>
          <a:solidFill>
            <a:srgbClr val="F4A62A"/>
          </a:solidFill>
          <a:ln/>
        </p:spPr>
        <p:txBody>
          <a:bodyPr/>
          <a:lstStyle/>
          <a:p>
            <a:endParaRPr lang="en-US"/>
          </a:p>
        </p:txBody>
      </p:sp>
      <p:pic>
        <p:nvPicPr>
          <p:cNvPr id="27" name="Image 5" descr="TachometerAlt"/>
          <p:cNvPicPr>
            <a:picLocks noChangeAspect="1"/>
          </p:cNvPicPr>
          <p:nvPr/>
        </p:nvPicPr>
        <p:blipFill>
          <a:blip r:embed="rId8"/>
          <a:stretch>
            <a:fillRect/>
          </a:stretch>
        </p:blipFill>
        <p:spPr>
          <a:xfrm>
            <a:off x="8513064" y="4416552"/>
            <a:ext cx="274320" cy="274320"/>
          </a:xfrm>
          <a:prstGeom prst="rect">
            <a:avLst/>
          </a:prstGeom>
        </p:spPr>
      </p:pic>
      <p:sp>
        <p:nvSpPr>
          <p:cNvPr id="28" name="Text 20"/>
          <p:cNvSpPr txBox="1"/>
          <p:nvPr/>
        </p:nvSpPr>
        <p:spPr>
          <a:xfrm>
            <a:off x="8375904" y="4983480"/>
            <a:ext cx="2999232" cy="1051560"/>
          </a:xfrm>
          <a:prstGeom prst="rect">
            <a:avLst/>
          </a:prstGeom>
          <a:noFill/>
          <a:ln/>
        </p:spPr>
        <p:txBody>
          <a:bodyPr wrap="square" lIns="0" tIns="0" rIns="0" bIns="0" rtlCol="0" anchor="t"/>
          <a:lstStyle/>
          <a:p>
            <a:pPr marL="0" indent="0">
              <a:buNone/>
            </a:pPr>
            <a:r>
              <a:rPr lang="en-US" sz="1400" dirty="0">
                <a:solidFill>
                  <a:schemeClr val="tx1"/>
                </a:solidFill>
              </a:rPr>
              <a:t>Kết quả dự đoán được biểu diễn theo đơn vị L/100 km.</a:t>
            </a:r>
            <a:endParaRPr lang="en-US" sz="1400" dirty="0"/>
          </a:p>
        </p:txBody>
      </p:sp>
      <p:sp>
        <p:nvSpPr>
          <p:cNvPr id="29"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01  ·  GIỚI THIỆU</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Dataset và nguồn dữ liệu</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5212080" cy="3840480"/>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tblGrid>
              <a:tr h="548640">
                <a:tc>
                  <a:txBody>
                    <a:bodyPr/>
                    <a:lstStyle/>
                    <a:p>
                      <a:pPr marL="0" indent="0">
                        <a:buNone/>
                      </a:pPr>
                      <a:r>
                        <a:rPr lang="en-US" sz="1400" b="1" dirty="0">
                          <a:solidFill>
                            <a:srgbClr val="FFFFFF"/>
                          </a:solidFill>
                        </a:rPr>
                        <a:t>Thành phần</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tc>
                  <a:txBody>
                    <a:bodyPr/>
                    <a:lstStyle/>
                    <a:p>
                      <a:pPr marL="0" indent="0">
                        <a:buNone/>
                      </a:pPr>
                      <a:r>
                        <a:rPr lang="en-US" sz="1400" b="1" dirty="0">
                          <a:solidFill>
                            <a:srgbClr val="FFFFFF"/>
                          </a:solidFill>
                        </a:rPr>
                        <a:t>Nội dung</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extLst>
                  <a:ext uri="{0D108BD9-81ED-4DB2-BD59-A6C34878D82A}">
                    <a16:rowId xmlns:a16="http://schemas.microsoft.com/office/drawing/2014/main" val="10000"/>
                  </a:ext>
                </a:extLst>
              </a:tr>
              <a:tr h="548640">
                <a:tc>
                  <a:txBody>
                    <a:bodyPr/>
                    <a:lstStyle/>
                    <a:p>
                      <a:pPr marL="0" indent="0">
                        <a:buNone/>
                      </a:pPr>
                      <a:r>
                        <a:rPr lang="en-US" sz="1400" b="1" dirty="0">
                          <a:solidFill>
                            <a:srgbClr val="0E2A3B"/>
                          </a:solidFill>
                        </a:rPr>
                        <a:t>Số mẫu</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buNone/>
                      </a:pPr>
                      <a:r>
                        <a:rPr lang="en-US" sz="1400" dirty="0">
                          <a:solidFill>
                            <a:srgbClr val="0E2A3B"/>
                          </a:solidFill>
                        </a:rPr>
                        <a:t>27.001 (CSV gốc)</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b="1" dirty="0">
                          <a:solidFill>
                            <a:srgbClr val="0E2A3B"/>
                          </a:solidFill>
                        </a:rPr>
                        <a:t>Số cột</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tc>
                  <a:txBody>
                    <a:bodyPr/>
                    <a:lstStyle/>
                    <a:p>
                      <a:pPr marL="0" indent="0">
                        <a:buNone/>
                      </a:pPr>
                      <a:r>
                        <a:rPr lang="en-US" sz="1400" dirty="0">
                          <a:solidFill>
                            <a:srgbClr val="0E2A3B"/>
                          </a:solidFill>
                        </a:rPr>
                        <a:t>15</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extLst>
                  <a:ext uri="{0D108BD9-81ED-4DB2-BD59-A6C34878D82A}">
                    <a16:rowId xmlns:a16="http://schemas.microsoft.com/office/drawing/2014/main" val="10002"/>
                  </a:ext>
                </a:extLst>
              </a:tr>
              <a:tr h="548640">
                <a:tc>
                  <a:txBody>
                    <a:bodyPr/>
                    <a:lstStyle/>
                    <a:p>
                      <a:pPr marL="0" indent="0">
                        <a:buNone/>
                      </a:pPr>
                      <a:r>
                        <a:rPr lang="en-US" sz="1400" b="1" dirty="0">
                          <a:solidFill>
                            <a:srgbClr val="0E2A3B"/>
                          </a:solidFill>
                        </a:rPr>
                        <a:t>Loại bài toán</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buNone/>
                      </a:pPr>
                      <a:r>
                        <a:rPr lang="en-US" sz="1400" dirty="0">
                          <a:solidFill>
                            <a:srgbClr val="0E2A3B"/>
                          </a:solidFill>
                        </a:rPr>
                        <a:t>Regression</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b="1" dirty="0">
                          <a:solidFill>
                            <a:srgbClr val="0E2A3B"/>
                          </a:solidFill>
                        </a:rPr>
                        <a:t>Target</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tc>
                  <a:txBody>
                    <a:bodyPr/>
                    <a:lstStyle/>
                    <a:p>
                      <a:pPr marL="0" indent="0">
                        <a:buNone/>
                      </a:pPr>
                      <a:r>
                        <a:rPr lang="en-US" sz="1400" dirty="0">
                          <a:solidFill>
                            <a:srgbClr val="0E2A3B"/>
                          </a:solidFill>
                        </a:rPr>
                        <a:t>Fuel Consumption Comb</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extLst>
                  <a:ext uri="{0D108BD9-81ED-4DB2-BD59-A6C34878D82A}">
                    <a16:rowId xmlns:a16="http://schemas.microsoft.com/office/drawing/2014/main" val="10004"/>
                  </a:ext>
                </a:extLst>
              </a:tr>
              <a:tr h="548640">
                <a:tc>
                  <a:txBody>
                    <a:bodyPr/>
                    <a:lstStyle/>
                    <a:p>
                      <a:pPr marL="0" indent="0">
                        <a:buNone/>
                      </a:pPr>
                      <a:r>
                        <a:rPr lang="en-US" sz="1400" b="1" dirty="0">
                          <a:solidFill>
                            <a:srgbClr val="0E2A3B"/>
                          </a:solidFill>
                        </a:rPr>
                        <a:t>Đơn vị</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buNone/>
                      </a:pPr>
                      <a:r>
                        <a:rPr lang="en-US" sz="1400" dirty="0">
                          <a:solidFill>
                            <a:srgbClr val="0E2A3B"/>
                          </a:solidFill>
                        </a:rPr>
                        <a:t>L/100 km</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400" b="1" dirty="0">
                          <a:solidFill>
                            <a:srgbClr val="0E2A3B"/>
                          </a:solidFill>
                        </a:rPr>
                        <a:t>Nguồn</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tc>
                  <a:txBody>
                    <a:bodyPr/>
                    <a:lstStyle/>
                    <a:p>
                      <a:pPr marL="0" indent="0">
                        <a:buNone/>
                      </a:pPr>
                      <a:r>
                        <a:rPr lang="en-US" sz="1400" dirty="0">
                          <a:solidFill>
                            <a:srgbClr val="0E2A3B"/>
                          </a:solidFill>
                        </a:rPr>
                        <a:t>Kaggle</a:t>
                      </a:r>
                      <a:endParaRPr lang="en-US" sz="1400" dirty="0"/>
                    </a:p>
                  </a:txBody>
                  <a:tcPr marL="137160" marR="137160"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1F5F9"/>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48640" y="5577840"/>
            <a:ext cx="5212080" cy="274320"/>
          </a:xfrm>
          <a:prstGeom prst="rect">
            <a:avLst/>
          </a:prstGeom>
          <a:noFill/>
          <a:ln/>
        </p:spPr>
        <p:txBody>
          <a:bodyPr wrap="square" lIns="0" tIns="0" rIns="0" bIns="0" rtlCol="0" anchor="ctr"/>
          <a:lstStyle/>
          <a:p>
            <a:pPr marL="0" indent="0">
              <a:buNone/>
            </a:pPr>
            <a:r>
              <a:rPr lang="en-US" sz="1100" i="1" dirty="0">
                <a:solidFill>
                  <a:schemeClr val="accent5"/>
                </a:solidFill>
              </a:rPr>
              <a:t>Nguồn: Kaggle – MY1995–2023 Fuel Consumption Ratings</a:t>
            </a:r>
            <a:endParaRPr lang="en-US" sz="1100" dirty="0"/>
          </a:p>
        </p:txBody>
      </p:sp>
      <p:sp>
        <p:nvSpPr>
          <p:cNvPr id="7" name="PointCard"/>
          <p:cNvSpPr/>
          <p:nvPr/>
        </p:nvSpPr>
        <p:spPr>
          <a:xfrm>
            <a:off x="6126480" y="1554480"/>
            <a:ext cx="5513832" cy="891159"/>
          </a:xfrm>
          <a:prstGeom prst="roundRect">
            <a:avLst>
              <a:gd name="adj" fmla="val 1231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8" name="IconBg"/>
          <p:cNvSpPr/>
          <p:nvPr/>
        </p:nvSpPr>
        <p:spPr>
          <a:xfrm>
            <a:off x="6309360" y="1789747"/>
            <a:ext cx="420624" cy="420624"/>
          </a:xfrm>
          <a:prstGeom prst="ellipse">
            <a:avLst/>
          </a:prstGeom>
          <a:solidFill>
            <a:schemeClr val="accent1"/>
          </a:solidFill>
          <a:ln/>
        </p:spPr>
        <p:txBody>
          <a:bodyPr/>
          <a:lstStyle/>
          <a:p>
            <a:endParaRPr lang="en-US"/>
          </a:p>
        </p:txBody>
      </p:sp>
      <p:pic>
        <p:nvPicPr>
          <p:cNvPr id="9" name="Image 0" descr="Database"/>
          <p:cNvPicPr>
            <a:picLocks noChangeAspect="1"/>
          </p:cNvPicPr>
          <p:nvPr/>
        </p:nvPicPr>
        <p:blipFill>
          <a:blip r:embed="rId3"/>
          <a:stretch>
            <a:fillRect/>
          </a:stretch>
        </p:blipFill>
        <p:spPr>
          <a:xfrm>
            <a:off x="6414516" y="1894904"/>
            <a:ext cx="210312" cy="210312"/>
          </a:xfrm>
          <a:prstGeom prst="rect">
            <a:avLst/>
          </a:prstGeom>
        </p:spPr>
      </p:pic>
      <p:sp>
        <p:nvSpPr>
          <p:cNvPr id="10" name="PointText"/>
          <p:cNvSpPr txBox="1"/>
          <p:nvPr/>
        </p:nvSpPr>
        <p:spPr>
          <a:xfrm>
            <a:off x="6903720" y="1627632"/>
            <a:ext cx="4572000" cy="744855"/>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Dataset: </a:t>
            </a:r>
            <a:r>
              <a:rPr lang="en-US" sz="1400" dirty="0">
                <a:solidFill>
                  <a:schemeClr val="tx1"/>
                </a:solidFill>
              </a:rPr>
              <a:t>MY1995–2023 Fuel Consumption Ratings.</a:t>
            </a:r>
            <a:endParaRPr lang="en-US" sz="1400" dirty="0"/>
          </a:p>
        </p:txBody>
      </p:sp>
      <p:sp>
        <p:nvSpPr>
          <p:cNvPr id="11" name="PointCard"/>
          <p:cNvSpPr/>
          <p:nvPr/>
        </p:nvSpPr>
        <p:spPr>
          <a:xfrm>
            <a:off x="6126480" y="2628519"/>
            <a:ext cx="5513832" cy="1075563"/>
          </a:xfrm>
          <a:prstGeom prst="roundRect">
            <a:avLst>
              <a:gd name="adj" fmla="val 1020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IconBg"/>
          <p:cNvSpPr/>
          <p:nvPr/>
        </p:nvSpPr>
        <p:spPr>
          <a:xfrm>
            <a:off x="6309360" y="2955988"/>
            <a:ext cx="420624" cy="420624"/>
          </a:xfrm>
          <a:prstGeom prst="ellipse">
            <a:avLst/>
          </a:prstGeom>
          <a:solidFill>
            <a:schemeClr val="accent1"/>
          </a:solidFill>
          <a:ln/>
        </p:spPr>
        <p:txBody>
          <a:bodyPr/>
          <a:lstStyle/>
          <a:p>
            <a:endParaRPr lang="en-US"/>
          </a:p>
        </p:txBody>
      </p:sp>
      <p:pic>
        <p:nvPicPr>
          <p:cNvPr id="13" name="Image 1" descr="Globe"/>
          <p:cNvPicPr>
            <a:picLocks noChangeAspect="1"/>
          </p:cNvPicPr>
          <p:nvPr/>
        </p:nvPicPr>
        <p:blipFill>
          <a:blip r:embed="rId4"/>
          <a:stretch>
            <a:fillRect/>
          </a:stretch>
        </p:blipFill>
        <p:spPr>
          <a:xfrm>
            <a:off x="6414516" y="3061145"/>
            <a:ext cx="210312" cy="210312"/>
          </a:xfrm>
          <a:prstGeom prst="rect">
            <a:avLst/>
          </a:prstGeom>
        </p:spPr>
      </p:pic>
      <p:sp>
        <p:nvSpPr>
          <p:cNvPr id="14" name="PointText"/>
          <p:cNvSpPr txBox="1"/>
          <p:nvPr/>
        </p:nvSpPr>
        <p:spPr>
          <a:xfrm>
            <a:off x="6903720" y="2701671"/>
            <a:ext cx="4572000" cy="929259"/>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Nguồn: </a:t>
            </a:r>
            <a:r>
              <a:rPr lang="en-US" sz="1400" dirty="0">
                <a:solidFill>
                  <a:schemeClr val="tx1"/>
                </a:solidFill>
              </a:rPr>
              <a:t>Kaggle. CSV gốc có 27.001 mẫu và 15 cột; sau chuẩn hóa và loại 3 dòng trùng theo code còn 26.998 mẫu.</a:t>
            </a:r>
            <a:endParaRPr lang="en-US" sz="1400" dirty="0"/>
          </a:p>
        </p:txBody>
      </p:sp>
      <p:sp>
        <p:nvSpPr>
          <p:cNvPr id="15" name="PointCard"/>
          <p:cNvSpPr/>
          <p:nvPr/>
        </p:nvSpPr>
        <p:spPr>
          <a:xfrm>
            <a:off x="6126480" y="3886962"/>
            <a:ext cx="5513832" cy="891159"/>
          </a:xfrm>
          <a:prstGeom prst="roundRect">
            <a:avLst>
              <a:gd name="adj" fmla="val 1231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6" name="IconBg"/>
          <p:cNvSpPr/>
          <p:nvPr/>
        </p:nvSpPr>
        <p:spPr>
          <a:xfrm>
            <a:off x="6309360" y="4122229"/>
            <a:ext cx="420624" cy="420624"/>
          </a:xfrm>
          <a:prstGeom prst="ellipse">
            <a:avLst/>
          </a:prstGeom>
          <a:solidFill>
            <a:schemeClr val="accent1"/>
          </a:solidFill>
          <a:ln/>
        </p:spPr>
        <p:txBody>
          <a:bodyPr/>
          <a:lstStyle/>
          <a:p>
            <a:endParaRPr lang="en-US"/>
          </a:p>
        </p:txBody>
      </p:sp>
      <p:pic>
        <p:nvPicPr>
          <p:cNvPr id="17" name="Image 2" descr="ChartLine"/>
          <p:cNvPicPr>
            <a:picLocks noChangeAspect="1"/>
          </p:cNvPicPr>
          <p:nvPr/>
        </p:nvPicPr>
        <p:blipFill>
          <a:blip r:embed="rId5"/>
          <a:stretch>
            <a:fillRect/>
          </a:stretch>
        </p:blipFill>
        <p:spPr>
          <a:xfrm>
            <a:off x="6414516" y="4227386"/>
            <a:ext cx="210312" cy="210312"/>
          </a:xfrm>
          <a:prstGeom prst="rect">
            <a:avLst/>
          </a:prstGeom>
        </p:spPr>
      </p:pic>
      <p:sp>
        <p:nvSpPr>
          <p:cNvPr id="18" name="PointText"/>
          <p:cNvSpPr txBox="1"/>
          <p:nvPr/>
        </p:nvSpPr>
        <p:spPr>
          <a:xfrm>
            <a:off x="6903720" y="3960114"/>
            <a:ext cx="4572000" cy="744855"/>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Bài toán: </a:t>
            </a:r>
            <a:r>
              <a:rPr lang="en-US" sz="1400" dirty="0">
                <a:solidFill>
                  <a:schemeClr val="tx1"/>
                </a:solidFill>
              </a:rPr>
              <a:t>Regression. Target: Fuel Consumption Comb (L/100 km).</a:t>
            </a:r>
            <a:endParaRPr lang="en-US" sz="1400" dirty="0"/>
          </a:p>
        </p:txBody>
      </p:sp>
      <p:sp>
        <p:nvSpPr>
          <p:cNvPr id="19" name="PointCard"/>
          <p:cNvSpPr/>
          <p:nvPr/>
        </p:nvSpPr>
        <p:spPr>
          <a:xfrm>
            <a:off x="6126480" y="4961001"/>
            <a:ext cx="5513832" cy="891159"/>
          </a:xfrm>
          <a:prstGeom prst="roundRect">
            <a:avLst>
              <a:gd name="adj" fmla="val 1231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0" name="IconBg"/>
          <p:cNvSpPr/>
          <p:nvPr/>
        </p:nvSpPr>
        <p:spPr>
          <a:xfrm>
            <a:off x="6309360" y="5196269"/>
            <a:ext cx="420624" cy="420624"/>
          </a:xfrm>
          <a:prstGeom prst="ellipse">
            <a:avLst/>
          </a:prstGeom>
          <a:solidFill>
            <a:schemeClr val="accent1"/>
          </a:solidFill>
          <a:ln/>
        </p:spPr>
        <p:txBody>
          <a:bodyPr/>
          <a:lstStyle/>
          <a:p>
            <a:endParaRPr lang="en-US"/>
          </a:p>
        </p:txBody>
      </p:sp>
      <p:pic>
        <p:nvPicPr>
          <p:cNvPr id="21" name="Image 3" descr="Bullseye"/>
          <p:cNvPicPr>
            <a:picLocks noChangeAspect="1"/>
          </p:cNvPicPr>
          <p:nvPr/>
        </p:nvPicPr>
        <p:blipFill>
          <a:blip r:embed="rId6"/>
          <a:stretch>
            <a:fillRect/>
          </a:stretch>
        </p:blipFill>
        <p:spPr>
          <a:xfrm>
            <a:off x="6414516" y="5301425"/>
            <a:ext cx="210312" cy="210312"/>
          </a:xfrm>
          <a:prstGeom prst="rect">
            <a:avLst/>
          </a:prstGeom>
        </p:spPr>
      </p:pic>
      <p:sp>
        <p:nvSpPr>
          <p:cNvPr id="22" name="PointText"/>
          <p:cNvSpPr txBox="1"/>
          <p:nvPr/>
        </p:nvSpPr>
        <p:spPr>
          <a:xfrm>
            <a:off x="6903720" y="5034153"/>
            <a:ext cx="4572000" cy="744855"/>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Mục tiêu: </a:t>
            </a:r>
            <a:r>
              <a:rPr lang="en-US" sz="1400" dirty="0">
                <a:solidFill>
                  <a:schemeClr val="tx1"/>
                </a:solidFill>
              </a:rPr>
              <a:t>dự đoán mức tiêu hao nhiên liệu kết hợp của xe theo L/100 km.</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Phân bố mức tiêu hao nhiên liệu</a:t>
            </a:r>
            <a:endParaRPr lang="en-US" sz="3000" dirty="0"/>
          </a:p>
        </p:txBody>
      </p:sp>
      <p:sp>
        <p:nvSpPr>
          <p:cNvPr id="5" name="ChartCard"/>
          <p:cNvSpPr/>
          <p:nvPr/>
        </p:nvSpPr>
        <p:spPr>
          <a:xfrm>
            <a:off x="548640" y="1463040"/>
            <a:ext cx="6784848" cy="4343400"/>
          </a:xfrm>
          <a:prstGeom prst="roundRect">
            <a:avLst>
              <a:gd name="adj" fmla="val 2526"/>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6" name="Image 0" descr="Biểu đồ hist"/>
          <p:cNvPicPr>
            <a:picLocks noChangeAspect="1"/>
          </p:cNvPicPr>
          <p:nvPr/>
        </p:nvPicPr>
        <p:blipFill>
          <a:blip r:embed="rId3"/>
          <a:stretch>
            <a:fillRect/>
          </a:stretch>
        </p:blipFill>
        <p:spPr>
          <a:xfrm>
            <a:off x="685800" y="1600200"/>
            <a:ext cx="6510528" cy="4069080"/>
          </a:xfrm>
          <a:prstGeom prst="rect">
            <a:avLst/>
          </a:prstGeom>
        </p:spPr>
      </p:pic>
      <p:sp>
        <p:nvSpPr>
          <p:cNvPr id="7" name="Text 4"/>
          <p:cNvSpPr txBox="1"/>
          <p:nvPr/>
        </p:nvSpPr>
        <p:spPr>
          <a:xfrm>
            <a:off x="548640" y="5897880"/>
            <a:ext cx="6766560" cy="274320"/>
          </a:xfrm>
          <a:prstGeom prst="rect">
            <a:avLst/>
          </a:prstGeom>
          <a:noFill/>
          <a:ln/>
        </p:spPr>
        <p:txBody>
          <a:bodyPr wrap="square" lIns="0" tIns="0" rIns="0" bIns="0" rtlCol="0" anchor="ctr"/>
          <a:lstStyle/>
          <a:p>
            <a:pPr marL="0" indent="0">
              <a:buNone/>
            </a:pPr>
            <a:r>
              <a:rPr lang="en-US" sz="1100" i="1" dirty="0">
                <a:solidFill>
                  <a:schemeClr val="accent5"/>
                </a:solidFill>
              </a:rPr>
              <a:t>Biểu đồ: Histogram của Fuel Consumption Comb (L/100 km)</a:t>
            </a:r>
            <a:endParaRPr lang="en-US" sz="1100" dirty="0"/>
          </a:p>
        </p:txBody>
      </p:sp>
      <p:sp>
        <p:nvSpPr>
          <p:cNvPr id="8" name="StatTile"/>
          <p:cNvSpPr/>
          <p:nvPr/>
        </p:nvSpPr>
        <p:spPr>
          <a:xfrm>
            <a:off x="7589520" y="1463040"/>
            <a:ext cx="1920240" cy="1463040"/>
          </a:xfrm>
          <a:prstGeom prst="roundRect">
            <a:avLst>
              <a:gd name="adj" fmla="val 7500"/>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9" name="Text 6"/>
          <p:cNvSpPr txBox="1"/>
          <p:nvPr/>
        </p:nvSpPr>
        <p:spPr>
          <a:xfrm>
            <a:off x="7680960" y="1572768"/>
            <a:ext cx="1737360" cy="731520"/>
          </a:xfrm>
          <a:prstGeom prst="rect">
            <a:avLst/>
          </a:prstGeom>
          <a:noFill/>
          <a:ln/>
        </p:spPr>
        <p:txBody>
          <a:bodyPr wrap="square" lIns="0" tIns="0" rIns="0" bIns="0" rtlCol="0" anchor="b"/>
          <a:lstStyle/>
          <a:p>
            <a:pPr marL="0" indent="0" algn="ctr">
              <a:buNone/>
            </a:pPr>
            <a:r>
              <a:rPr lang="en-US" sz="3800" b="1" dirty="0">
                <a:solidFill>
                  <a:schemeClr val="accent2"/>
                </a:solidFill>
                <a:latin typeface="+mj-lt" pitchFamily="34" charset="0"/>
                <a:ea typeface="+mj-lt" pitchFamily="34" charset="-122"/>
                <a:cs typeface="+mj-lt" pitchFamily="34" charset="-120"/>
              </a:rPr>
              <a:t>12,12</a:t>
            </a:r>
            <a:endParaRPr lang="en-US" sz="3800" dirty="0"/>
          </a:p>
        </p:txBody>
      </p:sp>
      <p:sp>
        <p:nvSpPr>
          <p:cNvPr id="10" name="Text 7"/>
          <p:cNvSpPr txBox="1"/>
          <p:nvPr/>
        </p:nvSpPr>
        <p:spPr>
          <a:xfrm>
            <a:off x="7680960" y="2304288"/>
            <a:ext cx="1737360" cy="548640"/>
          </a:xfrm>
          <a:prstGeom prst="rect">
            <a:avLst/>
          </a:prstGeom>
          <a:noFill/>
          <a:ln/>
        </p:spPr>
        <p:txBody>
          <a:bodyPr wrap="square" lIns="0" tIns="0" rIns="0" bIns="0" rtlCol="0" anchor="t"/>
          <a:lstStyle/>
          <a:p>
            <a:pPr marL="0" indent="0" algn="ctr">
              <a:buNone/>
            </a:pPr>
            <a:r>
              <a:rPr lang="en-US" sz="1300" b="1" dirty="0">
                <a:solidFill>
                  <a:schemeClr val="bg1"/>
                </a:solidFill>
              </a:rPr>
              <a:t>Mean</a:t>
            </a:r>
            <a:endParaRPr lang="en-US" sz="1300" dirty="0"/>
          </a:p>
        </p:txBody>
      </p:sp>
      <p:sp>
        <p:nvSpPr>
          <p:cNvPr id="11" name="Text 8"/>
          <p:cNvSpPr txBox="1"/>
          <p:nvPr/>
        </p:nvSpPr>
        <p:spPr>
          <a:xfrm>
            <a:off x="7680960" y="2542032"/>
            <a:ext cx="1737360" cy="274320"/>
          </a:xfrm>
          <a:prstGeom prst="rect">
            <a:avLst/>
          </a:prstGeom>
          <a:noFill/>
          <a:ln/>
        </p:spPr>
        <p:txBody>
          <a:bodyPr wrap="square" lIns="0" tIns="0" rIns="0" bIns="0" rtlCol="0" anchor="ctr"/>
          <a:lstStyle/>
          <a:p>
            <a:pPr marL="0" indent="0" algn="ctr">
              <a:buNone/>
            </a:pPr>
            <a:r>
              <a:rPr lang="en-US" sz="1100" dirty="0">
                <a:solidFill>
                  <a:schemeClr val="accent6"/>
                </a:solidFill>
              </a:rPr>
              <a:t>L/100 km</a:t>
            </a:r>
            <a:endParaRPr lang="en-US" sz="1100" dirty="0"/>
          </a:p>
        </p:txBody>
      </p:sp>
      <p:sp>
        <p:nvSpPr>
          <p:cNvPr id="12" name="StatTile"/>
          <p:cNvSpPr/>
          <p:nvPr/>
        </p:nvSpPr>
        <p:spPr>
          <a:xfrm>
            <a:off x="9720072" y="1463040"/>
            <a:ext cx="1920240" cy="1463040"/>
          </a:xfrm>
          <a:prstGeom prst="roundRect">
            <a:avLst>
              <a:gd name="adj" fmla="val 7500"/>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13" name="Text 10"/>
          <p:cNvSpPr txBox="1"/>
          <p:nvPr/>
        </p:nvSpPr>
        <p:spPr>
          <a:xfrm>
            <a:off x="9811512" y="1572768"/>
            <a:ext cx="1737360" cy="731520"/>
          </a:xfrm>
          <a:prstGeom prst="rect">
            <a:avLst/>
          </a:prstGeom>
          <a:noFill/>
          <a:ln/>
        </p:spPr>
        <p:txBody>
          <a:bodyPr wrap="square" lIns="0" tIns="0" rIns="0" bIns="0" rtlCol="0" anchor="b"/>
          <a:lstStyle/>
          <a:p>
            <a:pPr marL="0" indent="0" algn="ctr">
              <a:buNone/>
            </a:pPr>
            <a:r>
              <a:rPr lang="en-US" sz="3800" b="1" dirty="0">
                <a:solidFill>
                  <a:schemeClr val="accent2"/>
                </a:solidFill>
                <a:latin typeface="+mj-lt" pitchFamily="34" charset="0"/>
                <a:ea typeface="+mj-lt" pitchFamily="34" charset="-122"/>
                <a:cs typeface="+mj-lt" pitchFamily="34" charset="-120"/>
              </a:rPr>
              <a:t>11,60</a:t>
            </a:r>
            <a:endParaRPr lang="en-US" sz="3800" dirty="0"/>
          </a:p>
        </p:txBody>
      </p:sp>
      <p:sp>
        <p:nvSpPr>
          <p:cNvPr id="14" name="Text 11"/>
          <p:cNvSpPr txBox="1"/>
          <p:nvPr/>
        </p:nvSpPr>
        <p:spPr>
          <a:xfrm>
            <a:off x="9811512" y="2304288"/>
            <a:ext cx="1737360" cy="548640"/>
          </a:xfrm>
          <a:prstGeom prst="rect">
            <a:avLst/>
          </a:prstGeom>
          <a:noFill/>
          <a:ln/>
        </p:spPr>
        <p:txBody>
          <a:bodyPr wrap="square" lIns="0" tIns="0" rIns="0" bIns="0" rtlCol="0" anchor="t"/>
          <a:lstStyle/>
          <a:p>
            <a:pPr marL="0" indent="0" algn="ctr">
              <a:buNone/>
            </a:pPr>
            <a:r>
              <a:rPr lang="en-US" sz="1300" b="1" dirty="0">
                <a:solidFill>
                  <a:schemeClr val="bg1"/>
                </a:solidFill>
              </a:rPr>
              <a:t>Median</a:t>
            </a:r>
            <a:endParaRPr lang="en-US" sz="1300" dirty="0"/>
          </a:p>
        </p:txBody>
      </p:sp>
      <p:sp>
        <p:nvSpPr>
          <p:cNvPr id="15" name="Text 12"/>
          <p:cNvSpPr txBox="1"/>
          <p:nvPr/>
        </p:nvSpPr>
        <p:spPr>
          <a:xfrm>
            <a:off x="9811512" y="2542032"/>
            <a:ext cx="1737360" cy="274320"/>
          </a:xfrm>
          <a:prstGeom prst="rect">
            <a:avLst/>
          </a:prstGeom>
          <a:noFill/>
          <a:ln/>
        </p:spPr>
        <p:txBody>
          <a:bodyPr wrap="square" lIns="0" tIns="0" rIns="0" bIns="0" rtlCol="0" anchor="ctr"/>
          <a:lstStyle/>
          <a:p>
            <a:pPr marL="0" indent="0" algn="ctr">
              <a:buNone/>
            </a:pPr>
            <a:r>
              <a:rPr lang="en-US" sz="1100" dirty="0">
                <a:solidFill>
                  <a:schemeClr val="accent6"/>
                </a:solidFill>
              </a:rPr>
              <a:t>L/100 km</a:t>
            </a:r>
            <a:endParaRPr lang="en-US" sz="1100" dirty="0"/>
          </a:p>
        </p:txBody>
      </p:sp>
      <p:sp>
        <p:nvSpPr>
          <p:cNvPr id="16" name="PointCard"/>
          <p:cNvSpPr/>
          <p:nvPr/>
        </p:nvSpPr>
        <p:spPr>
          <a:xfrm>
            <a:off x="7589520" y="3154680"/>
            <a:ext cx="4050792" cy="1142238"/>
          </a:xfrm>
          <a:prstGeom prst="roundRect">
            <a:avLst>
              <a:gd name="adj" fmla="val 960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7" name="IconBg"/>
          <p:cNvSpPr/>
          <p:nvPr/>
        </p:nvSpPr>
        <p:spPr>
          <a:xfrm>
            <a:off x="7772400" y="3515487"/>
            <a:ext cx="420624" cy="420624"/>
          </a:xfrm>
          <a:prstGeom prst="ellipse">
            <a:avLst/>
          </a:prstGeom>
          <a:solidFill>
            <a:schemeClr val="accent1"/>
          </a:solidFill>
          <a:ln/>
        </p:spPr>
        <p:txBody>
          <a:bodyPr/>
          <a:lstStyle/>
          <a:p>
            <a:endParaRPr lang="en-US"/>
          </a:p>
        </p:txBody>
      </p:sp>
      <p:pic>
        <p:nvPicPr>
          <p:cNvPr id="18" name="Image 1" descr="ChartBar"/>
          <p:cNvPicPr>
            <a:picLocks noChangeAspect="1"/>
          </p:cNvPicPr>
          <p:nvPr/>
        </p:nvPicPr>
        <p:blipFill>
          <a:blip r:embed="rId4"/>
          <a:stretch>
            <a:fillRect/>
          </a:stretch>
        </p:blipFill>
        <p:spPr>
          <a:xfrm>
            <a:off x="7877556" y="3620643"/>
            <a:ext cx="210312" cy="210312"/>
          </a:xfrm>
          <a:prstGeom prst="rect">
            <a:avLst/>
          </a:prstGeom>
        </p:spPr>
      </p:pic>
      <p:sp>
        <p:nvSpPr>
          <p:cNvPr id="19" name="PointText"/>
          <p:cNvSpPr txBox="1"/>
          <p:nvPr/>
        </p:nvSpPr>
        <p:spPr>
          <a:xfrm>
            <a:off x="8366760" y="3227832"/>
            <a:ext cx="3108960" cy="995934"/>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Mean lớn hơn Median; phân bố có xu hướng lệch phải.</a:t>
            </a:r>
            <a:endParaRPr lang="en-US" sz="1400" dirty="0"/>
          </a:p>
        </p:txBody>
      </p:sp>
      <p:sp>
        <p:nvSpPr>
          <p:cNvPr id="20" name="PointCard"/>
          <p:cNvSpPr/>
          <p:nvPr/>
        </p:nvSpPr>
        <p:spPr>
          <a:xfrm>
            <a:off x="7589520" y="4479798"/>
            <a:ext cx="4050792" cy="1326642"/>
          </a:xfrm>
          <a:prstGeom prst="roundRect">
            <a:avLst>
              <a:gd name="adj" fmla="val 827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1" name="IconBg"/>
          <p:cNvSpPr/>
          <p:nvPr/>
        </p:nvSpPr>
        <p:spPr>
          <a:xfrm>
            <a:off x="7772400" y="4932807"/>
            <a:ext cx="420624" cy="420624"/>
          </a:xfrm>
          <a:prstGeom prst="ellipse">
            <a:avLst/>
          </a:prstGeom>
          <a:solidFill>
            <a:schemeClr val="accent1"/>
          </a:solidFill>
          <a:ln/>
        </p:spPr>
        <p:txBody>
          <a:bodyPr/>
          <a:lstStyle/>
          <a:p>
            <a:endParaRPr lang="en-US"/>
          </a:p>
        </p:txBody>
      </p:sp>
      <p:pic>
        <p:nvPicPr>
          <p:cNvPr id="22" name="Image 2" descr="Bullseye"/>
          <p:cNvPicPr>
            <a:picLocks noChangeAspect="1"/>
          </p:cNvPicPr>
          <p:nvPr/>
        </p:nvPicPr>
        <p:blipFill>
          <a:blip r:embed="rId5"/>
          <a:stretch>
            <a:fillRect/>
          </a:stretch>
        </p:blipFill>
        <p:spPr>
          <a:xfrm>
            <a:off x="7877556" y="5037963"/>
            <a:ext cx="210312" cy="210312"/>
          </a:xfrm>
          <a:prstGeom prst="rect">
            <a:avLst/>
          </a:prstGeom>
        </p:spPr>
      </p:pic>
      <p:sp>
        <p:nvSpPr>
          <p:cNvPr id="23" name="PointText"/>
          <p:cNvSpPr txBox="1"/>
          <p:nvPr/>
        </p:nvSpPr>
        <p:spPr>
          <a:xfrm>
            <a:off x="8366760" y="4552950"/>
            <a:ext cx="3108960" cy="1180338"/>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Phần lớn mẫu tập trung quanh 10–13 L/100 km, với đuôi kéo dài về phía mức tiêu hao cao.</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Phát hiện giá trị ngoại lai của target</a:t>
            </a:r>
            <a:endParaRPr lang="en-US" sz="3000" dirty="0"/>
          </a:p>
        </p:txBody>
      </p:sp>
      <p:sp>
        <p:nvSpPr>
          <p:cNvPr id="5" name="ChartCard"/>
          <p:cNvSpPr/>
          <p:nvPr/>
        </p:nvSpPr>
        <p:spPr>
          <a:xfrm>
            <a:off x="548640" y="1463040"/>
            <a:ext cx="7772400" cy="3554730"/>
          </a:xfrm>
          <a:prstGeom prst="roundRect">
            <a:avLst>
              <a:gd name="adj" fmla="val 3087"/>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6" name="Image 0" descr="Biểu đồ box"/>
          <p:cNvPicPr>
            <a:picLocks noChangeAspect="1"/>
          </p:cNvPicPr>
          <p:nvPr/>
        </p:nvPicPr>
        <p:blipFill>
          <a:blip r:embed="rId3"/>
          <a:stretch>
            <a:fillRect/>
          </a:stretch>
        </p:blipFill>
        <p:spPr>
          <a:xfrm>
            <a:off x="685800" y="1600200"/>
            <a:ext cx="7498080" cy="3280410"/>
          </a:xfrm>
          <a:prstGeom prst="rect">
            <a:avLst/>
          </a:prstGeom>
        </p:spPr>
      </p:pic>
      <p:sp>
        <p:nvSpPr>
          <p:cNvPr id="7" name="StatTile"/>
          <p:cNvSpPr/>
          <p:nvPr/>
        </p:nvSpPr>
        <p:spPr>
          <a:xfrm>
            <a:off x="8503920" y="1463040"/>
            <a:ext cx="3136392" cy="1600200"/>
          </a:xfrm>
          <a:prstGeom prst="roundRect">
            <a:avLst>
              <a:gd name="adj" fmla="val 6857"/>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8" name="Text 5"/>
          <p:cNvSpPr txBox="1"/>
          <p:nvPr/>
        </p:nvSpPr>
        <p:spPr>
          <a:xfrm>
            <a:off x="8595360" y="1572768"/>
            <a:ext cx="2953512" cy="800100"/>
          </a:xfrm>
          <a:prstGeom prst="rect">
            <a:avLst/>
          </a:prstGeom>
          <a:noFill/>
          <a:ln/>
        </p:spPr>
        <p:txBody>
          <a:bodyPr wrap="square" lIns="0" tIns="0" rIns="0" bIns="0" rtlCol="0" anchor="b"/>
          <a:lstStyle/>
          <a:p>
            <a:pPr marL="0" indent="0" algn="ctr">
              <a:buNone/>
            </a:pPr>
            <a:r>
              <a:rPr lang="en-US" sz="3800" b="1" dirty="0">
                <a:solidFill>
                  <a:schemeClr val="accent2"/>
                </a:solidFill>
                <a:latin typeface="+mj-lt" pitchFamily="34" charset="0"/>
                <a:ea typeface="+mj-lt" pitchFamily="34" charset="-122"/>
                <a:cs typeface="+mj-lt" pitchFamily="34" charset="-120"/>
              </a:rPr>
              <a:t>11,60</a:t>
            </a:r>
            <a:endParaRPr lang="en-US" sz="3800" dirty="0"/>
          </a:p>
        </p:txBody>
      </p:sp>
      <p:sp>
        <p:nvSpPr>
          <p:cNvPr id="9" name="Text 6"/>
          <p:cNvSpPr txBox="1"/>
          <p:nvPr/>
        </p:nvSpPr>
        <p:spPr>
          <a:xfrm>
            <a:off x="8595360" y="2372868"/>
            <a:ext cx="2953512" cy="617220"/>
          </a:xfrm>
          <a:prstGeom prst="rect">
            <a:avLst/>
          </a:prstGeom>
          <a:noFill/>
          <a:ln/>
        </p:spPr>
        <p:txBody>
          <a:bodyPr wrap="square" lIns="0" tIns="0" rIns="0" bIns="0" rtlCol="0" anchor="t"/>
          <a:lstStyle/>
          <a:p>
            <a:pPr marL="0" indent="0" algn="ctr">
              <a:buNone/>
            </a:pPr>
            <a:r>
              <a:rPr lang="en-US" sz="1300" b="1" dirty="0">
                <a:solidFill>
                  <a:schemeClr val="bg1"/>
                </a:solidFill>
              </a:rPr>
              <a:t>Trung vị của target</a:t>
            </a:r>
            <a:endParaRPr lang="en-US" sz="1300" dirty="0"/>
          </a:p>
        </p:txBody>
      </p:sp>
      <p:sp>
        <p:nvSpPr>
          <p:cNvPr id="10" name="Text 7"/>
          <p:cNvSpPr txBox="1"/>
          <p:nvPr/>
        </p:nvSpPr>
        <p:spPr>
          <a:xfrm>
            <a:off x="8595360" y="2679192"/>
            <a:ext cx="2953512" cy="274320"/>
          </a:xfrm>
          <a:prstGeom prst="rect">
            <a:avLst/>
          </a:prstGeom>
          <a:noFill/>
          <a:ln/>
        </p:spPr>
        <p:txBody>
          <a:bodyPr wrap="square" lIns="0" tIns="0" rIns="0" bIns="0" rtlCol="0" anchor="ctr"/>
          <a:lstStyle/>
          <a:p>
            <a:pPr marL="0" indent="0" algn="ctr">
              <a:buNone/>
            </a:pPr>
            <a:r>
              <a:rPr lang="en-US" sz="1100" dirty="0">
                <a:solidFill>
                  <a:schemeClr val="accent6"/>
                </a:solidFill>
              </a:rPr>
              <a:t>L/100 km</a:t>
            </a:r>
            <a:endParaRPr lang="en-US" sz="1100" dirty="0"/>
          </a:p>
        </p:txBody>
      </p:sp>
      <p:sp>
        <p:nvSpPr>
          <p:cNvPr id="11" name="PointCard"/>
          <p:cNvSpPr/>
          <p:nvPr/>
        </p:nvSpPr>
        <p:spPr>
          <a:xfrm>
            <a:off x="8503920" y="3246120"/>
            <a:ext cx="3136392" cy="1783080"/>
          </a:xfrm>
          <a:prstGeom prst="roundRect">
            <a:avLst>
              <a:gd name="adj" fmla="val 6154"/>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IconBg"/>
          <p:cNvSpPr/>
          <p:nvPr/>
        </p:nvSpPr>
        <p:spPr>
          <a:xfrm>
            <a:off x="8686800" y="3927348"/>
            <a:ext cx="420624" cy="420624"/>
          </a:xfrm>
          <a:prstGeom prst="ellipse">
            <a:avLst/>
          </a:prstGeom>
          <a:solidFill>
            <a:schemeClr val="accent1"/>
          </a:solidFill>
          <a:ln/>
        </p:spPr>
        <p:txBody>
          <a:bodyPr/>
          <a:lstStyle/>
          <a:p>
            <a:endParaRPr lang="en-US"/>
          </a:p>
        </p:txBody>
      </p:sp>
      <p:pic>
        <p:nvPicPr>
          <p:cNvPr id="13" name="Image 1" descr="Search"/>
          <p:cNvPicPr>
            <a:picLocks noChangeAspect="1"/>
          </p:cNvPicPr>
          <p:nvPr/>
        </p:nvPicPr>
        <p:blipFill>
          <a:blip r:embed="rId4"/>
          <a:stretch>
            <a:fillRect/>
          </a:stretch>
        </p:blipFill>
        <p:spPr>
          <a:xfrm>
            <a:off x="8791956" y="4032504"/>
            <a:ext cx="210312" cy="210312"/>
          </a:xfrm>
          <a:prstGeom prst="rect">
            <a:avLst/>
          </a:prstGeom>
        </p:spPr>
      </p:pic>
      <p:sp>
        <p:nvSpPr>
          <p:cNvPr id="14" name="PointText"/>
          <p:cNvSpPr txBox="1"/>
          <p:nvPr/>
        </p:nvSpPr>
        <p:spPr>
          <a:xfrm>
            <a:off x="9281160" y="3319272"/>
            <a:ext cx="2194560" cy="1636776"/>
          </a:xfrm>
          <a:prstGeom prst="rect">
            <a:avLst/>
          </a:prstGeom>
          <a:noFill/>
          <a:ln/>
        </p:spPr>
        <p:txBody>
          <a:bodyPr wrap="square" lIns="0" tIns="0" rIns="0" bIns="0" rtlCol="0" anchor="ctr"/>
          <a:lstStyle/>
          <a:p>
            <a:pPr marL="0" indent="0">
              <a:spcAft>
                <a:spcPts val="400"/>
              </a:spcAft>
              <a:buNone/>
            </a:pPr>
            <a:r>
              <a:rPr lang="en-US" sz="1300" dirty="0">
                <a:solidFill>
                  <a:schemeClr val="tx1"/>
                </a:solidFill>
              </a:rPr>
              <a:t>Boxplot cho thấy nhiều điểm ngoại lai phía mức tiêu hao cao.</a:t>
            </a:r>
            <a:endParaRPr lang="en-US" sz="1300" dirty="0"/>
          </a:p>
        </p:txBody>
      </p:sp>
      <p:sp>
        <p:nvSpPr>
          <p:cNvPr id="15" name="PointCard"/>
          <p:cNvSpPr/>
          <p:nvPr/>
        </p:nvSpPr>
        <p:spPr>
          <a:xfrm>
            <a:off x="548640" y="5303520"/>
            <a:ext cx="5408676" cy="914400"/>
          </a:xfrm>
          <a:prstGeom prst="roundRect">
            <a:avLst>
              <a:gd name="adj" fmla="val 12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6" name="IconBg"/>
          <p:cNvSpPr/>
          <p:nvPr/>
        </p:nvSpPr>
        <p:spPr>
          <a:xfrm>
            <a:off x="731520" y="5550408"/>
            <a:ext cx="420624" cy="420624"/>
          </a:xfrm>
          <a:prstGeom prst="ellipse">
            <a:avLst/>
          </a:prstGeom>
          <a:solidFill>
            <a:schemeClr val="accent1"/>
          </a:solidFill>
          <a:ln/>
        </p:spPr>
        <p:txBody>
          <a:bodyPr/>
          <a:lstStyle/>
          <a:p>
            <a:endParaRPr lang="en-US"/>
          </a:p>
        </p:txBody>
      </p:sp>
      <p:pic>
        <p:nvPicPr>
          <p:cNvPr id="17" name="Image 2" descr="ShieldAlt"/>
          <p:cNvPicPr>
            <a:picLocks noChangeAspect="1"/>
          </p:cNvPicPr>
          <p:nvPr/>
        </p:nvPicPr>
        <p:blipFill>
          <a:blip r:embed="rId5"/>
          <a:stretch>
            <a:fillRect/>
          </a:stretch>
        </p:blipFill>
        <p:spPr>
          <a:xfrm>
            <a:off x="836676" y="5655564"/>
            <a:ext cx="210312" cy="210312"/>
          </a:xfrm>
          <a:prstGeom prst="rect">
            <a:avLst/>
          </a:prstGeom>
        </p:spPr>
      </p:pic>
      <p:sp>
        <p:nvSpPr>
          <p:cNvPr id="18" name="PointText"/>
          <p:cNvSpPr txBox="1"/>
          <p:nvPr/>
        </p:nvSpPr>
        <p:spPr>
          <a:xfrm>
            <a:off x="1325880" y="5376672"/>
            <a:ext cx="4466844" cy="7680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Không tự động xóa các điểm này vì chúng có thể phản ánh xe thực tế.</a:t>
            </a:r>
            <a:endParaRPr lang="en-US" sz="1400" dirty="0"/>
          </a:p>
        </p:txBody>
      </p:sp>
      <p:sp>
        <p:nvSpPr>
          <p:cNvPr id="19" name="PointCard"/>
          <p:cNvSpPr/>
          <p:nvPr/>
        </p:nvSpPr>
        <p:spPr>
          <a:xfrm>
            <a:off x="6234379" y="5303520"/>
            <a:ext cx="5408676" cy="914400"/>
          </a:xfrm>
          <a:prstGeom prst="roundRect">
            <a:avLst>
              <a:gd name="adj" fmla="val 12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0" name="IconBg"/>
          <p:cNvSpPr/>
          <p:nvPr/>
        </p:nvSpPr>
        <p:spPr>
          <a:xfrm>
            <a:off x="6417259" y="5550408"/>
            <a:ext cx="420624" cy="420624"/>
          </a:xfrm>
          <a:prstGeom prst="ellipse">
            <a:avLst/>
          </a:prstGeom>
          <a:solidFill>
            <a:schemeClr val="accent1"/>
          </a:solidFill>
          <a:ln/>
        </p:spPr>
        <p:txBody>
          <a:bodyPr/>
          <a:lstStyle/>
          <a:p>
            <a:endParaRPr lang="en-US"/>
          </a:p>
        </p:txBody>
      </p:sp>
      <p:pic>
        <p:nvPicPr>
          <p:cNvPr id="21" name="Image 3" descr="InfoCircle"/>
          <p:cNvPicPr>
            <a:picLocks noChangeAspect="1"/>
          </p:cNvPicPr>
          <p:nvPr/>
        </p:nvPicPr>
        <p:blipFill>
          <a:blip r:embed="rId6"/>
          <a:stretch>
            <a:fillRect/>
          </a:stretch>
        </p:blipFill>
        <p:spPr>
          <a:xfrm>
            <a:off x="6522415" y="5655564"/>
            <a:ext cx="210312" cy="210312"/>
          </a:xfrm>
          <a:prstGeom prst="rect">
            <a:avLst/>
          </a:prstGeom>
        </p:spPr>
      </p:pic>
      <p:sp>
        <p:nvSpPr>
          <p:cNvPr id="22" name="PointText"/>
          <p:cNvSpPr txBox="1"/>
          <p:nvPr/>
        </p:nvSpPr>
        <p:spPr>
          <a:xfrm>
            <a:off x="7011619" y="5376672"/>
            <a:ext cx="4466844" cy="7680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Code project không có bước loại outlier khỏi target.</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Kiểm tra giá trị thiếu</a:t>
            </a:r>
            <a:endParaRPr lang="en-US" sz="3000" dirty="0"/>
          </a:p>
        </p:txBody>
      </p:sp>
      <p:sp>
        <p:nvSpPr>
          <p:cNvPr id="5" name="StatTile"/>
          <p:cNvSpPr/>
          <p:nvPr/>
        </p:nvSpPr>
        <p:spPr>
          <a:xfrm>
            <a:off x="548640" y="1463040"/>
            <a:ext cx="4297680" cy="1508760"/>
          </a:xfrm>
          <a:prstGeom prst="roundRect">
            <a:avLst>
              <a:gd name="adj" fmla="val 7273"/>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6" name="Text 4"/>
          <p:cNvSpPr txBox="1"/>
          <p:nvPr/>
        </p:nvSpPr>
        <p:spPr>
          <a:xfrm>
            <a:off x="640080" y="1572768"/>
            <a:ext cx="4114800" cy="754380"/>
          </a:xfrm>
          <a:prstGeom prst="rect">
            <a:avLst/>
          </a:prstGeom>
          <a:noFill/>
          <a:ln/>
        </p:spPr>
        <p:txBody>
          <a:bodyPr wrap="square" lIns="0" tIns="0" rIns="0" bIns="0" rtlCol="0" anchor="b"/>
          <a:lstStyle/>
          <a:p>
            <a:pPr marL="0" indent="0" algn="ctr">
              <a:buNone/>
            </a:pPr>
            <a:r>
              <a:rPr lang="en-US" sz="3800" b="1" dirty="0">
                <a:solidFill>
                  <a:schemeClr val="accent2"/>
                </a:solidFill>
                <a:latin typeface="+mj-lt" pitchFamily="34" charset="0"/>
                <a:ea typeface="+mj-lt" pitchFamily="34" charset="-122"/>
                <a:cs typeface="+mj-lt" pitchFamily="34" charset="-120"/>
              </a:rPr>
              <a:t>74,4%</a:t>
            </a:r>
            <a:endParaRPr lang="en-US" sz="3800" dirty="0"/>
          </a:p>
        </p:txBody>
      </p:sp>
      <p:sp>
        <p:nvSpPr>
          <p:cNvPr id="7" name="Text 5"/>
          <p:cNvSpPr txBox="1"/>
          <p:nvPr/>
        </p:nvSpPr>
        <p:spPr>
          <a:xfrm>
            <a:off x="640080" y="2327148"/>
            <a:ext cx="4114800" cy="571500"/>
          </a:xfrm>
          <a:prstGeom prst="rect">
            <a:avLst/>
          </a:prstGeom>
          <a:noFill/>
          <a:ln/>
        </p:spPr>
        <p:txBody>
          <a:bodyPr wrap="square" lIns="0" tIns="0" rIns="0" bIns="0" rtlCol="0" anchor="t"/>
          <a:lstStyle/>
          <a:p>
            <a:pPr marL="0" indent="0" algn="ctr">
              <a:buNone/>
            </a:pPr>
            <a:r>
              <a:rPr lang="en-US" sz="1300" b="1" dirty="0">
                <a:solidFill>
                  <a:schemeClr val="bg1"/>
                </a:solidFill>
              </a:rPr>
              <a:t>SmogRating bị thiếu</a:t>
            </a:r>
            <a:endParaRPr lang="en-US" sz="1300" dirty="0"/>
          </a:p>
        </p:txBody>
      </p:sp>
      <p:sp>
        <p:nvSpPr>
          <p:cNvPr id="8" name="Text 6"/>
          <p:cNvSpPr txBox="1"/>
          <p:nvPr/>
        </p:nvSpPr>
        <p:spPr>
          <a:xfrm>
            <a:off x="640080" y="2587752"/>
            <a:ext cx="4114800" cy="274320"/>
          </a:xfrm>
          <a:prstGeom prst="rect">
            <a:avLst/>
          </a:prstGeom>
          <a:noFill/>
          <a:ln/>
        </p:spPr>
        <p:txBody>
          <a:bodyPr wrap="square" lIns="0" tIns="0" rIns="0" bIns="0" rtlCol="0" anchor="ctr"/>
          <a:lstStyle/>
          <a:p>
            <a:pPr marL="0" indent="0" algn="ctr">
              <a:buNone/>
            </a:pPr>
            <a:r>
              <a:rPr lang="en-US" sz="1100" dirty="0">
                <a:solidFill>
                  <a:schemeClr val="accent6"/>
                </a:solidFill>
              </a:rPr>
              <a:t>20.101 / 27.001 mẫu</a:t>
            </a:r>
            <a:endParaRPr lang="en-US" sz="1100" dirty="0"/>
          </a:p>
        </p:txBody>
      </p:sp>
      <p:sp>
        <p:nvSpPr>
          <p:cNvPr id="9" name="StatTile"/>
          <p:cNvSpPr/>
          <p:nvPr/>
        </p:nvSpPr>
        <p:spPr>
          <a:xfrm>
            <a:off x="548640" y="3154680"/>
            <a:ext cx="4297680" cy="1508760"/>
          </a:xfrm>
          <a:prstGeom prst="roundRect">
            <a:avLst>
              <a:gd name="adj" fmla="val 7273"/>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10" name="Text 8"/>
          <p:cNvSpPr txBox="1"/>
          <p:nvPr/>
        </p:nvSpPr>
        <p:spPr>
          <a:xfrm>
            <a:off x="640080" y="3264408"/>
            <a:ext cx="4114800" cy="754380"/>
          </a:xfrm>
          <a:prstGeom prst="rect">
            <a:avLst/>
          </a:prstGeom>
          <a:noFill/>
          <a:ln/>
        </p:spPr>
        <p:txBody>
          <a:bodyPr wrap="square" lIns="0" tIns="0" rIns="0" bIns="0" rtlCol="0" anchor="b"/>
          <a:lstStyle/>
          <a:p>
            <a:pPr marL="0" indent="0" algn="ctr">
              <a:buNone/>
            </a:pPr>
            <a:r>
              <a:rPr lang="en-US" sz="3800" b="1" dirty="0">
                <a:solidFill>
                  <a:schemeClr val="accent2"/>
                </a:solidFill>
                <a:latin typeface="+mj-lt" pitchFamily="34" charset="0"/>
                <a:ea typeface="+mj-lt" pitchFamily="34" charset="-122"/>
                <a:cs typeface="+mj-lt" pitchFamily="34" charset="-120"/>
              </a:rPr>
              <a:t>70,3%</a:t>
            </a:r>
            <a:endParaRPr lang="en-US" sz="3800" dirty="0"/>
          </a:p>
        </p:txBody>
      </p:sp>
      <p:sp>
        <p:nvSpPr>
          <p:cNvPr id="11" name="Text 9"/>
          <p:cNvSpPr txBox="1"/>
          <p:nvPr/>
        </p:nvSpPr>
        <p:spPr>
          <a:xfrm>
            <a:off x="640080" y="4018788"/>
            <a:ext cx="4114800" cy="571500"/>
          </a:xfrm>
          <a:prstGeom prst="rect">
            <a:avLst/>
          </a:prstGeom>
          <a:noFill/>
          <a:ln/>
        </p:spPr>
        <p:txBody>
          <a:bodyPr wrap="square" lIns="0" tIns="0" rIns="0" bIns="0" rtlCol="0" anchor="t"/>
          <a:lstStyle/>
          <a:p>
            <a:pPr marL="0" indent="0" algn="ctr">
              <a:buNone/>
            </a:pPr>
            <a:r>
              <a:rPr lang="en-US" sz="1300" b="1" dirty="0">
                <a:solidFill>
                  <a:schemeClr val="bg1"/>
                </a:solidFill>
              </a:rPr>
              <a:t>CO2Rating bị thiếu</a:t>
            </a:r>
            <a:endParaRPr lang="en-US" sz="1300" dirty="0"/>
          </a:p>
        </p:txBody>
      </p:sp>
      <p:sp>
        <p:nvSpPr>
          <p:cNvPr id="12" name="Text 10"/>
          <p:cNvSpPr txBox="1"/>
          <p:nvPr/>
        </p:nvSpPr>
        <p:spPr>
          <a:xfrm>
            <a:off x="640080" y="4279392"/>
            <a:ext cx="4114800" cy="274320"/>
          </a:xfrm>
          <a:prstGeom prst="rect">
            <a:avLst/>
          </a:prstGeom>
          <a:noFill/>
          <a:ln/>
        </p:spPr>
        <p:txBody>
          <a:bodyPr wrap="square" lIns="0" tIns="0" rIns="0" bIns="0" rtlCol="0" anchor="ctr"/>
          <a:lstStyle/>
          <a:p>
            <a:pPr marL="0" indent="0" algn="ctr">
              <a:buNone/>
            </a:pPr>
            <a:r>
              <a:rPr lang="en-US" sz="1100" dirty="0">
                <a:solidFill>
                  <a:schemeClr val="accent6"/>
                </a:solidFill>
              </a:rPr>
              <a:t>18.991 / 27.001 mẫu</a:t>
            </a:r>
            <a:endParaRPr lang="en-US" sz="1100" dirty="0"/>
          </a:p>
        </p:txBody>
      </p:sp>
      <p:sp>
        <p:nvSpPr>
          <p:cNvPr id="13" name="PointCard"/>
          <p:cNvSpPr/>
          <p:nvPr/>
        </p:nvSpPr>
        <p:spPr>
          <a:xfrm>
            <a:off x="548640" y="4846320"/>
            <a:ext cx="4297680" cy="1371600"/>
          </a:xfrm>
          <a:prstGeom prst="roundRect">
            <a:avLst>
              <a:gd name="adj" fmla="val 8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4" name="IconBg"/>
          <p:cNvSpPr/>
          <p:nvPr/>
        </p:nvSpPr>
        <p:spPr>
          <a:xfrm>
            <a:off x="731520" y="5321808"/>
            <a:ext cx="420624" cy="420624"/>
          </a:xfrm>
          <a:prstGeom prst="ellipse">
            <a:avLst/>
          </a:prstGeom>
          <a:solidFill>
            <a:schemeClr val="accent3"/>
          </a:solidFill>
          <a:ln/>
        </p:spPr>
        <p:txBody>
          <a:bodyPr/>
          <a:lstStyle/>
          <a:p>
            <a:endParaRPr lang="en-US"/>
          </a:p>
        </p:txBody>
      </p:sp>
      <p:pic>
        <p:nvPicPr>
          <p:cNvPr id="15" name="Image 0" descr="CheckCircle"/>
          <p:cNvPicPr>
            <a:picLocks noChangeAspect="1"/>
          </p:cNvPicPr>
          <p:nvPr/>
        </p:nvPicPr>
        <p:blipFill>
          <a:blip r:embed="rId3"/>
          <a:stretch>
            <a:fillRect/>
          </a:stretch>
        </p:blipFill>
        <p:spPr>
          <a:xfrm>
            <a:off x="836676" y="5426964"/>
            <a:ext cx="210312" cy="210312"/>
          </a:xfrm>
          <a:prstGeom prst="rect">
            <a:avLst/>
          </a:prstGeom>
        </p:spPr>
      </p:pic>
      <p:sp>
        <p:nvSpPr>
          <p:cNvPr id="16" name="PointText"/>
          <p:cNvSpPr txBox="1"/>
          <p:nvPr/>
        </p:nvSpPr>
        <p:spPr>
          <a:xfrm>
            <a:off x="1325880" y="4919472"/>
            <a:ext cx="3355848" cy="1225296"/>
          </a:xfrm>
          <a:prstGeom prst="rect">
            <a:avLst/>
          </a:prstGeom>
          <a:noFill/>
          <a:ln/>
        </p:spPr>
        <p:txBody>
          <a:bodyPr wrap="square" lIns="0" tIns="0" rIns="0" bIns="0" rtlCol="0" anchor="ctr"/>
          <a:lstStyle/>
          <a:p>
            <a:pPr marL="0" indent="0">
              <a:spcAft>
                <a:spcPts val="400"/>
              </a:spcAft>
              <a:buNone/>
            </a:pPr>
            <a:r>
              <a:rPr lang="en-US" sz="1300" dirty="0">
                <a:solidFill>
                  <a:schemeClr val="tx1"/>
                </a:solidFill>
              </a:rPr>
              <a:t>Hai thuộc tính này không được sử dụng làm feature đầu vào của mô hình nên không ảnh hưởng trực tiếp tới quá trình huấn luyện.</a:t>
            </a:r>
            <a:endParaRPr lang="en-US" sz="1300" dirty="0"/>
          </a:p>
        </p:txBody>
      </p:sp>
      <p:sp>
        <p:nvSpPr>
          <p:cNvPr id="17" name="ChartCard"/>
          <p:cNvSpPr/>
          <p:nvPr/>
        </p:nvSpPr>
        <p:spPr>
          <a:xfrm>
            <a:off x="5120640" y="1463040"/>
            <a:ext cx="6492240" cy="3383280"/>
          </a:xfrm>
          <a:prstGeom prst="roundRect">
            <a:avLst>
              <a:gd name="adj" fmla="val 3243"/>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18" name="Image 1" descr="Biểu đồ miss"/>
          <p:cNvPicPr>
            <a:picLocks noChangeAspect="1"/>
          </p:cNvPicPr>
          <p:nvPr/>
        </p:nvPicPr>
        <p:blipFill>
          <a:blip r:embed="rId4"/>
          <a:stretch>
            <a:fillRect/>
          </a:stretch>
        </p:blipFill>
        <p:spPr>
          <a:xfrm>
            <a:off x="5257800" y="1600200"/>
            <a:ext cx="6217920" cy="3108960"/>
          </a:xfrm>
          <a:prstGeom prst="rect">
            <a:avLst/>
          </a:prstGeom>
        </p:spPr>
      </p:pic>
      <p:sp>
        <p:nvSpPr>
          <p:cNvPr id="19" name="PointCard"/>
          <p:cNvSpPr/>
          <p:nvPr/>
        </p:nvSpPr>
        <p:spPr>
          <a:xfrm>
            <a:off x="5120640" y="5029200"/>
            <a:ext cx="6522415" cy="1188720"/>
          </a:xfrm>
          <a:prstGeom prst="roundRect">
            <a:avLst>
              <a:gd name="adj" fmla="val 9231"/>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20" name="IconBg"/>
          <p:cNvSpPr/>
          <p:nvPr/>
        </p:nvSpPr>
        <p:spPr>
          <a:xfrm>
            <a:off x="5303520" y="5413248"/>
            <a:ext cx="420624" cy="420624"/>
          </a:xfrm>
          <a:prstGeom prst="ellipse">
            <a:avLst/>
          </a:prstGeom>
          <a:solidFill>
            <a:schemeClr val="accent2"/>
          </a:solidFill>
          <a:ln/>
        </p:spPr>
        <p:txBody>
          <a:bodyPr/>
          <a:lstStyle/>
          <a:p>
            <a:endParaRPr lang="en-US"/>
          </a:p>
        </p:txBody>
      </p:sp>
      <p:pic>
        <p:nvPicPr>
          <p:cNvPr id="21" name="Image 2" descr="Filter"/>
          <p:cNvPicPr>
            <a:picLocks noChangeAspect="1"/>
          </p:cNvPicPr>
          <p:nvPr/>
        </p:nvPicPr>
        <p:blipFill>
          <a:blip r:embed="rId5"/>
          <a:stretch>
            <a:fillRect/>
          </a:stretch>
        </p:blipFill>
        <p:spPr>
          <a:xfrm>
            <a:off x="5408676" y="5518404"/>
            <a:ext cx="210312" cy="210312"/>
          </a:xfrm>
          <a:prstGeom prst="rect">
            <a:avLst/>
          </a:prstGeom>
        </p:spPr>
      </p:pic>
      <p:sp>
        <p:nvSpPr>
          <p:cNvPr id="22" name="PointText"/>
          <p:cNvSpPr txBox="1"/>
          <p:nvPr/>
        </p:nvSpPr>
        <p:spPr>
          <a:xfrm>
            <a:off x="5897880" y="5102352"/>
            <a:ext cx="5580583" cy="1042416"/>
          </a:xfrm>
          <a:prstGeom prst="rect">
            <a:avLst/>
          </a:prstGeom>
          <a:noFill/>
          <a:ln/>
        </p:spPr>
        <p:txBody>
          <a:bodyPr wrap="square" lIns="0" tIns="0" rIns="0" bIns="0" rtlCol="0" anchor="ctr"/>
          <a:lstStyle/>
          <a:p>
            <a:pPr marL="0" indent="0">
              <a:spcAft>
                <a:spcPts val="400"/>
              </a:spcAft>
              <a:buNone/>
            </a:pPr>
            <a:r>
              <a:rPr lang="en-US" sz="1400" dirty="0">
                <a:solidFill>
                  <a:schemeClr val="bg1"/>
                </a:solidFill>
              </a:rPr>
              <a:t>Pipeline chỉ impute 7 feature: median cho numeric, most frequent cho categorical.</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Tiền xử lý dữ liệu</a:t>
            </a:r>
            <a:endParaRPr lang="en-US" sz="3000" dirty="0"/>
          </a:p>
        </p:txBody>
      </p:sp>
      <p:sp>
        <p:nvSpPr>
          <p:cNvPr id="5" name="StepCard"/>
          <p:cNvSpPr/>
          <p:nvPr/>
        </p:nvSpPr>
        <p:spPr>
          <a:xfrm>
            <a:off x="548640" y="1508760"/>
            <a:ext cx="2011680"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Number"/>
          <p:cNvSpPr txBox="1"/>
          <p:nvPr/>
        </p:nvSpPr>
        <p:spPr>
          <a:xfrm>
            <a:off x="731520" y="1691640"/>
            <a:ext cx="384048" cy="384048"/>
          </a:xfrm>
          <a:prstGeom prst="ellipse">
            <a:avLst/>
          </a:prstGeom>
          <a:solidFill>
            <a:srgbClr val="1F6FA8"/>
          </a:solidFill>
          <a:ln/>
        </p:spPr>
        <p:txBody>
          <a:bodyPr wrap="square" lIns="0" tIns="0" rIns="0" bIns="0" rtlCol="0" anchor="ctr"/>
          <a:lstStyle/>
          <a:p>
            <a:pPr marL="0" indent="0" algn="ctr">
              <a:buNone/>
            </a:pPr>
            <a:r>
              <a:rPr lang="en-US" sz="1500" b="1" dirty="0">
                <a:solidFill>
                  <a:srgbClr val="FFFFFF"/>
                </a:solidFill>
              </a:rPr>
              <a:t>1</a:t>
            </a:r>
            <a:endParaRPr lang="en-US" sz="1500" dirty="0"/>
          </a:p>
        </p:txBody>
      </p:sp>
      <p:sp>
        <p:nvSpPr>
          <p:cNvPr id="7" name="Text 5"/>
          <p:cNvSpPr txBox="1"/>
          <p:nvPr/>
        </p:nvSpPr>
        <p:spPr>
          <a:xfrm>
            <a:off x="731520" y="2148840"/>
            <a:ext cx="1737360" cy="457200"/>
          </a:xfrm>
          <a:prstGeom prst="rect">
            <a:avLst/>
          </a:prstGeom>
          <a:noFill/>
          <a:ln/>
        </p:spPr>
        <p:txBody>
          <a:bodyPr wrap="square" lIns="0" tIns="0" rIns="0" bIns="0" rtlCol="0" anchor="ctr"/>
          <a:lstStyle/>
          <a:p>
            <a:pPr marL="0" indent="0">
              <a:buNone/>
            </a:pPr>
            <a:r>
              <a:rPr lang="en-US" sz="1500" b="1" dirty="0">
                <a:solidFill>
                  <a:schemeClr val="tx1"/>
                </a:solidFill>
              </a:rPr>
              <a:t>Dữ liệu gốc</a:t>
            </a:r>
            <a:endParaRPr lang="en-US" sz="1500" dirty="0"/>
          </a:p>
        </p:txBody>
      </p:sp>
      <p:sp>
        <p:nvSpPr>
          <p:cNvPr id="8" name="Arrow"/>
          <p:cNvSpPr/>
          <p:nvPr/>
        </p:nvSpPr>
        <p:spPr>
          <a:xfrm>
            <a:off x="2589124" y="2002536"/>
            <a:ext cx="201168" cy="201168"/>
          </a:xfrm>
          <a:prstGeom prst="rightArrow">
            <a:avLst/>
          </a:prstGeom>
          <a:solidFill>
            <a:schemeClr val="accent5"/>
          </a:solidFill>
          <a:ln/>
        </p:spPr>
        <p:txBody>
          <a:bodyPr/>
          <a:lstStyle/>
          <a:p>
            <a:endParaRPr lang="en-US"/>
          </a:p>
        </p:txBody>
      </p:sp>
      <p:sp>
        <p:nvSpPr>
          <p:cNvPr id="9" name="StepCard"/>
          <p:cNvSpPr/>
          <p:nvPr/>
        </p:nvSpPr>
        <p:spPr>
          <a:xfrm>
            <a:off x="2819095" y="1508760"/>
            <a:ext cx="2011680"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0" name="Number"/>
          <p:cNvSpPr txBox="1"/>
          <p:nvPr/>
        </p:nvSpPr>
        <p:spPr>
          <a:xfrm>
            <a:off x="3001975" y="1691640"/>
            <a:ext cx="384048" cy="384048"/>
          </a:xfrm>
          <a:prstGeom prst="ellipse">
            <a:avLst/>
          </a:prstGeom>
          <a:solidFill>
            <a:srgbClr val="1F6FA8"/>
          </a:solidFill>
          <a:ln/>
        </p:spPr>
        <p:txBody>
          <a:bodyPr wrap="square" lIns="0" tIns="0" rIns="0" bIns="0" rtlCol="0" anchor="ctr"/>
          <a:lstStyle/>
          <a:p>
            <a:pPr marL="0" indent="0" algn="ctr">
              <a:buNone/>
            </a:pPr>
            <a:r>
              <a:rPr lang="en-US" sz="1500" b="1" dirty="0">
                <a:solidFill>
                  <a:srgbClr val="FFFFFF"/>
                </a:solidFill>
              </a:rPr>
              <a:t>2</a:t>
            </a:r>
            <a:endParaRPr lang="en-US" sz="1500" dirty="0"/>
          </a:p>
        </p:txBody>
      </p:sp>
      <p:sp>
        <p:nvSpPr>
          <p:cNvPr id="11" name="Text 9"/>
          <p:cNvSpPr txBox="1"/>
          <p:nvPr/>
        </p:nvSpPr>
        <p:spPr>
          <a:xfrm>
            <a:off x="3001975" y="2148840"/>
            <a:ext cx="1737360" cy="457200"/>
          </a:xfrm>
          <a:prstGeom prst="rect">
            <a:avLst/>
          </a:prstGeom>
          <a:noFill/>
          <a:ln/>
        </p:spPr>
        <p:txBody>
          <a:bodyPr wrap="square" lIns="0" tIns="0" rIns="0" bIns="0" rtlCol="0" anchor="ctr"/>
          <a:lstStyle/>
          <a:p>
            <a:pPr marL="0" indent="0">
              <a:buNone/>
            </a:pPr>
            <a:r>
              <a:rPr lang="en-US" sz="1500" b="1" dirty="0">
                <a:solidFill>
                  <a:schemeClr val="tx1"/>
                </a:solidFill>
              </a:rPr>
              <a:t>Kiểm tra dữ liệu</a:t>
            </a:r>
            <a:endParaRPr lang="en-US" sz="1500" dirty="0"/>
          </a:p>
        </p:txBody>
      </p:sp>
      <p:sp>
        <p:nvSpPr>
          <p:cNvPr id="12" name="Arrow"/>
          <p:cNvSpPr/>
          <p:nvPr/>
        </p:nvSpPr>
        <p:spPr>
          <a:xfrm>
            <a:off x="4859579" y="2002536"/>
            <a:ext cx="201168" cy="201168"/>
          </a:xfrm>
          <a:prstGeom prst="rightArrow">
            <a:avLst/>
          </a:prstGeom>
          <a:solidFill>
            <a:schemeClr val="accent5"/>
          </a:solidFill>
          <a:ln/>
        </p:spPr>
        <p:txBody>
          <a:bodyPr/>
          <a:lstStyle/>
          <a:p>
            <a:endParaRPr lang="en-US"/>
          </a:p>
        </p:txBody>
      </p:sp>
      <p:sp>
        <p:nvSpPr>
          <p:cNvPr id="13" name="StepCard"/>
          <p:cNvSpPr/>
          <p:nvPr/>
        </p:nvSpPr>
        <p:spPr>
          <a:xfrm>
            <a:off x="5089550" y="1508760"/>
            <a:ext cx="2011680"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4" name="Number"/>
          <p:cNvSpPr txBox="1"/>
          <p:nvPr/>
        </p:nvSpPr>
        <p:spPr>
          <a:xfrm>
            <a:off x="5272430" y="1691640"/>
            <a:ext cx="384048" cy="384048"/>
          </a:xfrm>
          <a:prstGeom prst="ellipse">
            <a:avLst/>
          </a:prstGeom>
          <a:solidFill>
            <a:srgbClr val="1F6FA8"/>
          </a:solidFill>
          <a:ln/>
        </p:spPr>
        <p:txBody>
          <a:bodyPr wrap="square" lIns="0" tIns="0" rIns="0" bIns="0" rtlCol="0" anchor="ctr"/>
          <a:lstStyle/>
          <a:p>
            <a:pPr marL="0" indent="0" algn="ctr">
              <a:buNone/>
            </a:pPr>
            <a:r>
              <a:rPr lang="en-US" sz="1500" b="1" dirty="0">
                <a:solidFill>
                  <a:srgbClr val="FFFFFF"/>
                </a:solidFill>
              </a:rPr>
              <a:t>3</a:t>
            </a:r>
            <a:endParaRPr lang="en-US" sz="1500" dirty="0"/>
          </a:p>
        </p:txBody>
      </p:sp>
      <p:sp>
        <p:nvSpPr>
          <p:cNvPr id="15" name="Text 13"/>
          <p:cNvSpPr txBox="1"/>
          <p:nvPr/>
        </p:nvSpPr>
        <p:spPr>
          <a:xfrm>
            <a:off x="5272430" y="2148840"/>
            <a:ext cx="1737360" cy="457200"/>
          </a:xfrm>
          <a:prstGeom prst="rect">
            <a:avLst/>
          </a:prstGeom>
          <a:noFill/>
          <a:ln/>
        </p:spPr>
        <p:txBody>
          <a:bodyPr wrap="square" lIns="0" tIns="0" rIns="0" bIns="0" rtlCol="0" anchor="ctr"/>
          <a:lstStyle/>
          <a:p>
            <a:pPr marL="0" indent="0">
              <a:buNone/>
            </a:pPr>
            <a:r>
              <a:rPr lang="en-US" sz="1500" b="1" dirty="0">
                <a:solidFill>
                  <a:schemeClr val="tx1"/>
                </a:solidFill>
              </a:rPr>
              <a:t>Làm sạch</a:t>
            </a:r>
            <a:endParaRPr lang="en-US" sz="1500" dirty="0"/>
          </a:p>
        </p:txBody>
      </p:sp>
      <p:sp>
        <p:nvSpPr>
          <p:cNvPr id="16" name="Arrow"/>
          <p:cNvSpPr/>
          <p:nvPr/>
        </p:nvSpPr>
        <p:spPr>
          <a:xfrm>
            <a:off x="7130034" y="2002536"/>
            <a:ext cx="201168" cy="201168"/>
          </a:xfrm>
          <a:prstGeom prst="rightArrow">
            <a:avLst/>
          </a:prstGeom>
          <a:solidFill>
            <a:schemeClr val="accent5"/>
          </a:solidFill>
          <a:ln/>
        </p:spPr>
        <p:txBody>
          <a:bodyPr/>
          <a:lstStyle/>
          <a:p>
            <a:endParaRPr lang="en-US"/>
          </a:p>
        </p:txBody>
      </p:sp>
      <p:sp>
        <p:nvSpPr>
          <p:cNvPr id="17" name="StepCard"/>
          <p:cNvSpPr/>
          <p:nvPr/>
        </p:nvSpPr>
        <p:spPr>
          <a:xfrm>
            <a:off x="7360006" y="1508760"/>
            <a:ext cx="2011680"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8" name="Number"/>
          <p:cNvSpPr txBox="1"/>
          <p:nvPr/>
        </p:nvSpPr>
        <p:spPr>
          <a:xfrm>
            <a:off x="7542886" y="1691640"/>
            <a:ext cx="384048" cy="384048"/>
          </a:xfrm>
          <a:prstGeom prst="ellipse">
            <a:avLst/>
          </a:prstGeom>
          <a:solidFill>
            <a:srgbClr val="1F6FA8"/>
          </a:solidFill>
          <a:ln/>
        </p:spPr>
        <p:txBody>
          <a:bodyPr wrap="square" lIns="0" tIns="0" rIns="0" bIns="0" rtlCol="0" anchor="ctr"/>
          <a:lstStyle/>
          <a:p>
            <a:pPr marL="0" indent="0" algn="ctr">
              <a:buNone/>
            </a:pPr>
            <a:r>
              <a:rPr lang="en-US" sz="1500" b="1" dirty="0">
                <a:solidFill>
                  <a:srgbClr val="FFFFFF"/>
                </a:solidFill>
              </a:rPr>
              <a:t>4</a:t>
            </a:r>
            <a:endParaRPr lang="en-US" sz="1500" dirty="0"/>
          </a:p>
        </p:txBody>
      </p:sp>
      <p:sp>
        <p:nvSpPr>
          <p:cNvPr id="19" name="Text 17"/>
          <p:cNvSpPr txBox="1"/>
          <p:nvPr/>
        </p:nvSpPr>
        <p:spPr>
          <a:xfrm>
            <a:off x="7542886" y="2148840"/>
            <a:ext cx="1737360" cy="457200"/>
          </a:xfrm>
          <a:prstGeom prst="rect">
            <a:avLst/>
          </a:prstGeom>
          <a:noFill/>
          <a:ln/>
        </p:spPr>
        <p:txBody>
          <a:bodyPr wrap="square" lIns="0" tIns="0" rIns="0" bIns="0" rtlCol="0" anchor="ctr"/>
          <a:lstStyle/>
          <a:p>
            <a:pPr marL="0" indent="0">
              <a:buNone/>
            </a:pPr>
            <a:r>
              <a:rPr lang="en-US" sz="1500" b="1" dirty="0">
                <a:solidFill>
                  <a:schemeClr val="tx1"/>
                </a:solidFill>
              </a:rPr>
              <a:t>Chọn đặc trưng</a:t>
            </a:r>
            <a:endParaRPr lang="en-US" sz="1500" dirty="0"/>
          </a:p>
        </p:txBody>
      </p:sp>
      <p:sp>
        <p:nvSpPr>
          <p:cNvPr id="20" name="Arrow"/>
          <p:cNvSpPr/>
          <p:nvPr/>
        </p:nvSpPr>
        <p:spPr>
          <a:xfrm>
            <a:off x="9400489" y="2002536"/>
            <a:ext cx="201168" cy="201168"/>
          </a:xfrm>
          <a:prstGeom prst="rightArrow">
            <a:avLst/>
          </a:prstGeom>
          <a:solidFill>
            <a:schemeClr val="accent5"/>
          </a:solidFill>
          <a:ln/>
        </p:spPr>
        <p:txBody>
          <a:bodyPr/>
          <a:lstStyle/>
          <a:p>
            <a:endParaRPr lang="en-US"/>
          </a:p>
        </p:txBody>
      </p:sp>
      <p:sp>
        <p:nvSpPr>
          <p:cNvPr id="21" name="StepCard"/>
          <p:cNvSpPr/>
          <p:nvPr/>
        </p:nvSpPr>
        <p:spPr>
          <a:xfrm>
            <a:off x="9630461" y="1508760"/>
            <a:ext cx="2011680"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2" name="Number"/>
          <p:cNvSpPr txBox="1"/>
          <p:nvPr/>
        </p:nvSpPr>
        <p:spPr>
          <a:xfrm>
            <a:off x="9813341" y="1691640"/>
            <a:ext cx="384048" cy="384048"/>
          </a:xfrm>
          <a:prstGeom prst="ellipse">
            <a:avLst/>
          </a:prstGeom>
          <a:solidFill>
            <a:srgbClr val="1F6FA8"/>
          </a:solidFill>
          <a:ln/>
        </p:spPr>
        <p:txBody>
          <a:bodyPr wrap="square" lIns="0" tIns="0" rIns="0" bIns="0" rtlCol="0" anchor="ctr"/>
          <a:lstStyle/>
          <a:p>
            <a:pPr marL="0" indent="0" algn="ctr">
              <a:buNone/>
            </a:pPr>
            <a:r>
              <a:rPr lang="en-US" sz="1500" b="1" dirty="0">
                <a:solidFill>
                  <a:srgbClr val="FFFFFF"/>
                </a:solidFill>
              </a:rPr>
              <a:t>5</a:t>
            </a:r>
            <a:endParaRPr lang="en-US" sz="1500" dirty="0"/>
          </a:p>
        </p:txBody>
      </p:sp>
      <p:sp>
        <p:nvSpPr>
          <p:cNvPr id="23" name="Text 21"/>
          <p:cNvSpPr txBox="1"/>
          <p:nvPr/>
        </p:nvSpPr>
        <p:spPr>
          <a:xfrm>
            <a:off x="9813341" y="2148840"/>
            <a:ext cx="1737360" cy="457200"/>
          </a:xfrm>
          <a:prstGeom prst="rect">
            <a:avLst/>
          </a:prstGeom>
          <a:noFill/>
          <a:ln/>
        </p:spPr>
        <p:txBody>
          <a:bodyPr wrap="square" lIns="0" tIns="0" rIns="0" bIns="0" rtlCol="0" anchor="ctr"/>
          <a:lstStyle/>
          <a:p>
            <a:pPr marL="0" indent="0">
              <a:buNone/>
            </a:pPr>
            <a:r>
              <a:rPr lang="en-US" sz="1500" b="1" dirty="0">
                <a:solidFill>
                  <a:schemeClr val="tx1"/>
                </a:solidFill>
              </a:rPr>
              <a:t>Chia Train/Test</a:t>
            </a:r>
            <a:endParaRPr lang="en-US" sz="1500" dirty="0"/>
          </a:p>
        </p:txBody>
      </p:sp>
      <p:sp>
        <p:nvSpPr>
          <p:cNvPr id="24" name="Text 22"/>
          <p:cNvSpPr txBox="1"/>
          <p:nvPr/>
        </p:nvSpPr>
        <p:spPr>
          <a:xfrm>
            <a:off x="548640" y="2926080"/>
            <a:ext cx="11094415" cy="502920"/>
          </a:xfrm>
          <a:prstGeom prst="roundRect">
            <a:avLst>
              <a:gd name="adj" fmla="val 18182"/>
            </a:avLst>
          </a:prstGeom>
          <a:solidFill>
            <a:schemeClr val="accent1"/>
          </a:solidFill>
          <a:ln/>
        </p:spPr>
        <p:txBody>
          <a:bodyPr wrap="square" lIns="0" tIns="0" rIns="0" bIns="0" rtlCol="0" anchor="ctr"/>
          <a:lstStyle/>
          <a:p>
            <a:pPr marL="0" indent="0" algn="ctr">
              <a:buNone/>
            </a:pPr>
            <a:r>
              <a:rPr lang="en-US" sz="1600" b="1" dirty="0">
                <a:solidFill>
                  <a:schemeClr val="bg1"/>
                </a:solidFill>
              </a:rPr>
              <a:t>Pipeline tiền xử lý</a:t>
            </a:r>
            <a:endParaRPr lang="en-US" sz="1600" dirty="0"/>
          </a:p>
        </p:txBody>
      </p:sp>
      <p:sp>
        <p:nvSpPr>
          <p:cNvPr id="25" name="PointCard"/>
          <p:cNvSpPr/>
          <p:nvPr/>
        </p:nvSpPr>
        <p:spPr>
          <a:xfrm>
            <a:off x="548640" y="3657600"/>
            <a:ext cx="5408676"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6" name="IconBg"/>
          <p:cNvSpPr/>
          <p:nvPr/>
        </p:nvSpPr>
        <p:spPr>
          <a:xfrm>
            <a:off x="731520" y="4041648"/>
            <a:ext cx="420624" cy="420624"/>
          </a:xfrm>
          <a:prstGeom prst="ellipse">
            <a:avLst/>
          </a:prstGeom>
          <a:solidFill>
            <a:schemeClr val="accent1"/>
          </a:solidFill>
          <a:ln/>
        </p:spPr>
        <p:txBody>
          <a:bodyPr/>
          <a:lstStyle/>
          <a:p>
            <a:endParaRPr lang="en-US"/>
          </a:p>
        </p:txBody>
      </p:sp>
      <p:pic>
        <p:nvPicPr>
          <p:cNvPr id="27" name="Image 0" descr="Broom"/>
          <p:cNvPicPr>
            <a:picLocks noChangeAspect="1"/>
          </p:cNvPicPr>
          <p:nvPr/>
        </p:nvPicPr>
        <p:blipFill>
          <a:blip r:embed="rId3"/>
          <a:stretch>
            <a:fillRect/>
          </a:stretch>
        </p:blipFill>
        <p:spPr>
          <a:xfrm>
            <a:off x="836676" y="4146804"/>
            <a:ext cx="210312" cy="210312"/>
          </a:xfrm>
          <a:prstGeom prst="rect">
            <a:avLst/>
          </a:prstGeom>
        </p:spPr>
      </p:pic>
      <p:sp>
        <p:nvSpPr>
          <p:cNvPr id="28" name="PointText"/>
          <p:cNvSpPr txBox="1"/>
          <p:nvPr/>
        </p:nvSpPr>
        <p:spPr>
          <a:xfrm>
            <a:off x="1325880" y="3730752"/>
            <a:ext cx="4466844" cy="1042416"/>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Làm sạch: </a:t>
            </a:r>
            <a:r>
              <a:rPr lang="en-US" sz="1400" dirty="0">
                <a:solidFill>
                  <a:schemeClr val="tx1"/>
                </a:solidFill>
              </a:rPr>
              <a:t>xóa khoảng trắng, chuẩn hóa chữ hoa cho chuỗi và loại bản ghi trùng chính xác.</a:t>
            </a:r>
            <a:endParaRPr lang="en-US" sz="1400" dirty="0"/>
          </a:p>
        </p:txBody>
      </p:sp>
      <p:sp>
        <p:nvSpPr>
          <p:cNvPr id="29" name="PointCard"/>
          <p:cNvSpPr/>
          <p:nvPr/>
        </p:nvSpPr>
        <p:spPr>
          <a:xfrm>
            <a:off x="6234379" y="3657600"/>
            <a:ext cx="5408676"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30" name="IconBg"/>
          <p:cNvSpPr/>
          <p:nvPr/>
        </p:nvSpPr>
        <p:spPr>
          <a:xfrm>
            <a:off x="6417259" y="4041648"/>
            <a:ext cx="420624" cy="420624"/>
          </a:xfrm>
          <a:prstGeom prst="ellipse">
            <a:avLst/>
          </a:prstGeom>
          <a:solidFill>
            <a:schemeClr val="accent1"/>
          </a:solidFill>
          <a:ln/>
        </p:spPr>
        <p:txBody>
          <a:bodyPr/>
          <a:lstStyle/>
          <a:p>
            <a:endParaRPr lang="en-US"/>
          </a:p>
        </p:txBody>
      </p:sp>
      <p:pic>
        <p:nvPicPr>
          <p:cNvPr id="31" name="Image 1" descr="Columns"/>
          <p:cNvPicPr>
            <a:picLocks noChangeAspect="1"/>
          </p:cNvPicPr>
          <p:nvPr/>
        </p:nvPicPr>
        <p:blipFill>
          <a:blip r:embed="rId4"/>
          <a:stretch>
            <a:fillRect/>
          </a:stretch>
        </p:blipFill>
        <p:spPr>
          <a:xfrm>
            <a:off x="6522415" y="4146804"/>
            <a:ext cx="210312" cy="210312"/>
          </a:xfrm>
          <a:prstGeom prst="rect">
            <a:avLst/>
          </a:prstGeom>
        </p:spPr>
      </p:pic>
      <p:sp>
        <p:nvSpPr>
          <p:cNvPr id="32" name="PointText"/>
          <p:cNvSpPr txBox="1"/>
          <p:nvPr/>
        </p:nvSpPr>
        <p:spPr>
          <a:xfrm>
            <a:off x="7011619" y="3730752"/>
            <a:ext cx="4466844" cy="1042416"/>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7 feature: </a:t>
            </a:r>
            <a:r>
              <a:rPr lang="en-US" sz="1400" dirty="0">
                <a:solidFill>
                  <a:schemeClr val="tx1"/>
                </a:solidFill>
              </a:rPr>
              <a:t>Model Year, Make, Vehicle Class, Engine Size (L), Cylinders, Transmission, Fuel Type.</a:t>
            </a:r>
            <a:endParaRPr lang="en-US" sz="1400" dirty="0"/>
          </a:p>
        </p:txBody>
      </p:sp>
      <p:sp>
        <p:nvSpPr>
          <p:cNvPr id="33" name="PointCard"/>
          <p:cNvSpPr/>
          <p:nvPr/>
        </p:nvSpPr>
        <p:spPr>
          <a:xfrm>
            <a:off x="548640" y="5029200"/>
            <a:ext cx="5408676"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34" name="IconBg"/>
          <p:cNvSpPr/>
          <p:nvPr/>
        </p:nvSpPr>
        <p:spPr>
          <a:xfrm>
            <a:off x="731520" y="5413248"/>
            <a:ext cx="420624" cy="420624"/>
          </a:xfrm>
          <a:prstGeom prst="ellipse">
            <a:avLst/>
          </a:prstGeom>
          <a:solidFill>
            <a:schemeClr val="accent1"/>
          </a:solidFill>
          <a:ln/>
        </p:spPr>
        <p:txBody>
          <a:bodyPr/>
          <a:lstStyle/>
          <a:p>
            <a:endParaRPr lang="en-US"/>
          </a:p>
        </p:txBody>
      </p:sp>
      <p:pic>
        <p:nvPicPr>
          <p:cNvPr id="35" name="Image 2" descr="Random"/>
          <p:cNvPicPr>
            <a:picLocks noChangeAspect="1"/>
          </p:cNvPicPr>
          <p:nvPr/>
        </p:nvPicPr>
        <p:blipFill>
          <a:blip r:embed="rId5"/>
          <a:stretch>
            <a:fillRect/>
          </a:stretch>
        </p:blipFill>
        <p:spPr>
          <a:xfrm>
            <a:off x="836676" y="5518404"/>
            <a:ext cx="210312" cy="210312"/>
          </a:xfrm>
          <a:prstGeom prst="rect">
            <a:avLst/>
          </a:prstGeom>
        </p:spPr>
      </p:pic>
      <p:sp>
        <p:nvSpPr>
          <p:cNvPr id="36" name="PointText"/>
          <p:cNvSpPr txBox="1"/>
          <p:nvPr/>
        </p:nvSpPr>
        <p:spPr>
          <a:xfrm>
            <a:off x="1325880" y="5102352"/>
            <a:ext cx="4466844" cy="1042416"/>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Target: </a:t>
            </a:r>
            <a:r>
              <a:rPr lang="en-US" sz="1400" dirty="0">
                <a:solidFill>
                  <a:schemeClr val="tx1"/>
                </a:solidFill>
              </a:rPr>
              <a:t>Fuel Consumption Comb (L/100 km). Chia Train/Test 80/20, random_state = 42.</a:t>
            </a:r>
            <a:endParaRPr lang="en-US" sz="1400" dirty="0"/>
          </a:p>
        </p:txBody>
      </p:sp>
      <p:sp>
        <p:nvSpPr>
          <p:cNvPr id="37" name="PointCard"/>
          <p:cNvSpPr/>
          <p:nvPr/>
        </p:nvSpPr>
        <p:spPr>
          <a:xfrm>
            <a:off x="6234379" y="5029200"/>
            <a:ext cx="5408676" cy="1188720"/>
          </a:xfrm>
          <a:prstGeom prst="roundRect">
            <a:avLst>
              <a:gd name="adj" fmla="val 923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38" name="IconBg"/>
          <p:cNvSpPr/>
          <p:nvPr/>
        </p:nvSpPr>
        <p:spPr>
          <a:xfrm>
            <a:off x="6417259" y="5413248"/>
            <a:ext cx="420624" cy="420624"/>
          </a:xfrm>
          <a:prstGeom prst="ellipse">
            <a:avLst/>
          </a:prstGeom>
          <a:solidFill>
            <a:schemeClr val="accent1"/>
          </a:solidFill>
          <a:ln/>
        </p:spPr>
        <p:txBody>
          <a:bodyPr/>
          <a:lstStyle/>
          <a:p>
            <a:endParaRPr lang="en-US"/>
          </a:p>
        </p:txBody>
      </p:sp>
      <p:pic>
        <p:nvPicPr>
          <p:cNvPr id="39" name="Image 3" descr="Lock"/>
          <p:cNvPicPr>
            <a:picLocks noChangeAspect="1"/>
          </p:cNvPicPr>
          <p:nvPr/>
        </p:nvPicPr>
        <p:blipFill>
          <a:blip r:embed="rId6"/>
          <a:stretch>
            <a:fillRect/>
          </a:stretch>
        </p:blipFill>
        <p:spPr>
          <a:xfrm>
            <a:off x="6522415" y="5518404"/>
            <a:ext cx="210312" cy="210312"/>
          </a:xfrm>
          <a:prstGeom prst="rect">
            <a:avLst/>
          </a:prstGeom>
        </p:spPr>
      </p:pic>
      <p:sp>
        <p:nvSpPr>
          <p:cNvPr id="40" name="PointText"/>
          <p:cNvSpPr txBox="1"/>
          <p:nvPr/>
        </p:nvSpPr>
        <p:spPr>
          <a:xfrm>
            <a:off x="7011619" y="5102352"/>
            <a:ext cx="4466844" cy="1042416"/>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Lưu ý: </a:t>
            </a:r>
            <a:r>
              <a:rPr lang="en-US" sz="1400" dirty="0">
                <a:solidFill>
                  <a:schemeClr val="tx1"/>
                </a:solidFill>
              </a:rPr>
              <a:t>Test set chỉ dùng để đánh giá cuối cùng.</a:t>
            </a:r>
            <a:endParaRPr lang="en-US" sz="1400" dirty="0"/>
          </a:p>
        </p:txBody>
      </p:sp>
      <p:sp>
        <p:nvSpPr>
          <p:cNvPr id="41"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Số xi-lanh và mức tiêu hao</a:t>
            </a:r>
            <a:endParaRPr lang="en-US" sz="3000" dirty="0"/>
          </a:p>
        </p:txBody>
      </p:sp>
      <p:sp>
        <p:nvSpPr>
          <p:cNvPr id="5" name="PointCard"/>
          <p:cNvSpPr/>
          <p:nvPr/>
        </p:nvSpPr>
        <p:spPr>
          <a:xfrm>
            <a:off x="548640" y="1645920"/>
            <a:ext cx="4114800" cy="1219200"/>
          </a:xfrm>
          <a:prstGeom prst="roundRect">
            <a:avLst>
              <a:gd name="adj" fmla="val 9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IconBg"/>
          <p:cNvSpPr/>
          <p:nvPr/>
        </p:nvSpPr>
        <p:spPr>
          <a:xfrm>
            <a:off x="731520" y="2045208"/>
            <a:ext cx="420624" cy="420624"/>
          </a:xfrm>
          <a:prstGeom prst="ellipse">
            <a:avLst/>
          </a:prstGeom>
          <a:solidFill>
            <a:schemeClr val="accent1"/>
          </a:solidFill>
          <a:ln/>
        </p:spPr>
        <p:txBody>
          <a:bodyPr/>
          <a:lstStyle/>
          <a:p>
            <a:endParaRPr lang="en-US"/>
          </a:p>
        </p:txBody>
      </p:sp>
      <p:pic>
        <p:nvPicPr>
          <p:cNvPr id="7" name="Image 0" descr="Cogs"/>
          <p:cNvPicPr>
            <a:picLocks noChangeAspect="1"/>
          </p:cNvPicPr>
          <p:nvPr/>
        </p:nvPicPr>
        <p:blipFill>
          <a:blip r:embed="rId3"/>
          <a:stretch>
            <a:fillRect/>
          </a:stretch>
        </p:blipFill>
        <p:spPr>
          <a:xfrm>
            <a:off x="836676" y="2150364"/>
            <a:ext cx="210312" cy="210312"/>
          </a:xfrm>
          <a:prstGeom prst="rect">
            <a:avLst/>
          </a:prstGeom>
        </p:spPr>
      </p:pic>
      <p:sp>
        <p:nvSpPr>
          <p:cNvPr id="8" name="PointText"/>
          <p:cNvSpPr txBox="1"/>
          <p:nvPr/>
        </p:nvSpPr>
        <p:spPr>
          <a:xfrm>
            <a:off x="1325880" y="1719072"/>
            <a:ext cx="3172968" cy="10728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Các nhóm nhiều xi-lanh thường có mức tiêu hao cao hơn nhóm ít xi-lanh.</a:t>
            </a:r>
            <a:endParaRPr lang="en-US" sz="1400" dirty="0"/>
          </a:p>
        </p:txBody>
      </p:sp>
      <p:sp>
        <p:nvSpPr>
          <p:cNvPr id="9" name="PointCard"/>
          <p:cNvSpPr/>
          <p:nvPr/>
        </p:nvSpPr>
        <p:spPr>
          <a:xfrm>
            <a:off x="548640" y="3048000"/>
            <a:ext cx="4114800" cy="1219200"/>
          </a:xfrm>
          <a:prstGeom prst="roundRect">
            <a:avLst>
              <a:gd name="adj" fmla="val 9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0" name="IconBg"/>
          <p:cNvSpPr/>
          <p:nvPr/>
        </p:nvSpPr>
        <p:spPr>
          <a:xfrm>
            <a:off x="731520" y="3447288"/>
            <a:ext cx="420624" cy="420624"/>
          </a:xfrm>
          <a:prstGeom prst="ellipse">
            <a:avLst/>
          </a:prstGeom>
          <a:solidFill>
            <a:schemeClr val="accent1"/>
          </a:solidFill>
          <a:ln/>
        </p:spPr>
        <p:txBody>
          <a:bodyPr/>
          <a:lstStyle/>
          <a:p>
            <a:endParaRPr lang="en-US"/>
          </a:p>
        </p:txBody>
      </p:sp>
      <p:pic>
        <p:nvPicPr>
          <p:cNvPr id="11" name="Image 1" descr="BalanceScale"/>
          <p:cNvPicPr>
            <a:picLocks noChangeAspect="1"/>
          </p:cNvPicPr>
          <p:nvPr/>
        </p:nvPicPr>
        <p:blipFill>
          <a:blip r:embed="rId4"/>
          <a:stretch>
            <a:fillRect/>
          </a:stretch>
        </p:blipFill>
        <p:spPr>
          <a:xfrm>
            <a:off x="836676" y="3552444"/>
            <a:ext cx="210312" cy="210312"/>
          </a:xfrm>
          <a:prstGeom prst="rect">
            <a:avLst/>
          </a:prstGeom>
        </p:spPr>
      </p:pic>
      <p:sp>
        <p:nvSpPr>
          <p:cNvPr id="12" name="PointText"/>
          <p:cNvSpPr txBox="1"/>
          <p:nvPr/>
        </p:nvSpPr>
        <p:spPr>
          <a:xfrm>
            <a:off x="1325880" y="3121152"/>
            <a:ext cx="3172968" cy="10728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Phân bố giữa các nhóm vẫn chồng lấn; số xi-lanh không quyết định riêng lẻ mức tiêu hao.</a:t>
            </a:r>
            <a:endParaRPr lang="en-US" sz="1400" dirty="0"/>
          </a:p>
        </p:txBody>
      </p:sp>
      <p:sp>
        <p:nvSpPr>
          <p:cNvPr id="13" name="PointCard"/>
          <p:cNvSpPr/>
          <p:nvPr/>
        </p:nvSpPr>
        <p:spPr>
          <a:xfrm>
            <a:off x="548640" y="4450080"/>
            <a:ext cx="4114800" cy="1219200"/>
          </a:xfrm>
          <a:prstGeom prst="roundRect">
            <a:avLst>
              <a:gd name="adj" fmla="val 9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4" name="IconBg"/>
          <p:cNvSpPr/>
          <p:nvPr/>
        </p:nvSpPr>
        <p:spPr>
          <a:xfrm>
            <a:off x="731520" y="4849368"/>
            <a:ext cx="420624" cy="420624"/>
          </a:xfrm>
          <a:prstGeom prst="ellipse">
            <a:avLst/>
          </a:prstGeom>
          <a:solidFill>
            <a:schemeClr val="accent1"/>
          </a:solidFill>
          <a:ln/>
        </p:spPr>
        <p:txBody>
          <a:bodyPr/>
          <a:lstStyle/>
          <a:p>
            <a:endParaRPr lang="en-US"/>
          </a:p>
        </p:txBody>
      </p:sp>
      <p:pic>
        <p:nvPicPr>
          <p:cNvPr id="15" name="Image 2" descr="LayerGroup"/>
          <p:cNvPicPr>
            <a:picLocks noChangeAspect="1"/>
          </p:cNvPicPr>
          <p:nvPr/>
        </p:nvPicPr>
        <p:blipFill>
          <a:blip r:embed="rId5"/>
          <a:stretch>
            <a:fillRect/>
          </a:stretch>
        </p:blipFill>
        <p:spPr>
          <a:xfrm>
            <a:off x="836676" y="4954524"/>
            <a:ext cx="210312" cy="210312"/>
          </a:xfrm>
          <a:prstGeom prst="rect">
            <a:avLst/>
          </a:prstGeom>
        </p:spPr>
      </p:pic>
      <p:sp>
        <p:nvSpPr>
          <p:cNvPr id="16" name="PointText"/>
          <p:cNvSpPr txBox="1"/>
          <p:nvPr/>
        </p:nvSpPr>
        <p:spPr>
          <a:xfrm>
            <a:off x="1325880" y="4523232"/>
            <a:ext cx="3172968" cy="10728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Dung tích động cơ, hộp số, loại xe và nhiên liệu cũng góp phần tạo khác biệt.</a:t>
            </a:r>
            <a:endParaRPr lang="en-US" sz="1400" dirty="0"/>
          </a:p>
        </p:txBody>
      </p:sp>
      <p:sp>
        <p:nvSpPr>
          <p:cNvPr id="17" name="ChartCard"/>
          <p:cNvSpPr/>
          <p:nvPr/>
        </p:nvSpPr>
        <p:spPr>
          <a:xfrm>
            <a:off x="4937760" y="1645920"/>
            <a:ext cx="6705295" cy="3847084"/>
          </a:xfrm>
          <a:prstGeom prst="roundRect">
            <a:avLst>
              <a:gd name="adj" fmla="val 2852"/>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18" name="Image 3" descr="Biểu đồ cyl"/>
          <p:cNvPicPr>
            <a:picLocks noChangeAspect="1"/>
          </p:cNvPicPr>
          <p:nvPr/>
        </p:nvPicPr>
        <p:blipFill>
          <a:blip r:embed="rId6"/>
          <a:stretch>
            <a:fillRect/>
          </a:stretch>
        </p:blipFill>
        <p:spPr>
          <a:xfrm>
            <a:off x="5074920" y="1783080"/>
            <a:ext cx="6430975" cy="3572764"/>
          </a:xfrm>
          <a:prstGeom prst="rect">
            <a:avLst/>
          </a:prstGeom>
        </p:spPr>
      </p:pic>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Loại nhiên liệu và phân khúc xe</a:t>
            </a:r>
            <a:endParaRPr lang="en-US" sz="3000" dirty="0"/>
          </a:p>
        </p:txBody>
      </p:sp>
      <p:sp>
        <p:nvSpPr>
          <p:cNvPr id="5" name="ChartCard"/>
          <p:cNvSpPr/>
          <p:nvPr/>
        </p:nvSpPr>
        <p:spPr>
          <a:xfrm>
            <a:off x="548640" y="1463040"/>
            <a:ext cx="5408676" cy="3611880"/>
          </a:xfrm>
          <a:prstGeom prst="roundRect">
            <a:avLst>
              <a:gd name="adj" fmla="val 303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Text 4"/>
          <p:cNvSpPr txBox="1"/>
          <p:nvPr/>
        </p:nvSpPr>
        <p:spPr>
          <a:xfrm>
            <a:off x="777240" y="1554480"/>
            <a:ext cx="2743200" cy="320040"/>
          </a:xfrm>
          <a:prstGeom prst="rect">
            <a:avLst/>
          </a:prstGeom>
          <a:noFill/>
          <a:ln/>
        </p:spPr>
        <p:txBody>
          <a:bodyPr wrap="square" lIns="0" tIns="0" rIns="0" bIns="0" rtlCol="0" anchor="ctr"/>
          <a:lstStyle/>
          <a:p>
            <a:pPr marL="0" indent="0">
              <a:buNone/>
            </a:pPr>
            <a:r>
              <a:rPr lang="en-US" sz="1300" b="1" dirty="0">
                <a:solidFill>
                  <a:schemeClr val="accent1"/>
                </a:solidFill>
              </a:rPr>
              <a:t>Fuel Type</a:t>
            </a:r>
            <a:endParaRPr lang="en-US" sz="1300" dirty="0"/>
          </a:p>
        </p:txBody>
      </p:sp>
      <p:pic>
        <p:nvPicPr>
          <p:cNvPr id="7" name="Image 0" descr="Biểu đồ Fuel Type"/>
          <p:cNvPicPr>
            <a:picLocks noChangeAspect="1"/>
          </p:cNvPicPr>
          <p:nvPr/>
        </p:nvPicPr>
        <p:blipFill>
          <a:blip r:embed="rId3"/>
          <a:stretch>
            <a:fillRect/>
          </a:stretch>
        </p:blipFill>
        <p:spPr>
          <a:xfrm>
            <a:off x="1021842" y="1988820"/>
            <a:ext cx="4462272" cy="2788920"/>
          </a:xfrm>
          <a:prstGeom prst="rect">
            <a:avLst/>
          </a:prstGeom>
        </p:spPr>
      </p:pic>
      <p:sp>
        <p:nvSpPr>
          <p:cNvPr id="8" name="ChartCard"/>
          <p:cNvSpPr/>
          <p:nvPr/>
        </p:nvSpPr>
        <p:spPr>
          <a:xfrm>
            <a:off x="6234379" y="1463040"/>
            <a:ext cx="5408676" cy="3611880"/>
          </a:xfrm>
          <a:prstGeom prst="roundRect">
            <a:avLst>
              <a:gd name="adj" fmla="val 303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9" name="Text 6"/>
          <p:cNvSpPr txBox="1"/>
          <p:nvPr/>
        </p:nvSpPr>
        <p:spPr>
          <a:xfrm>
            <a:off x="6462979" y="1554480"/>
            <a:ext cx="2743200" cy="320040"/>
          </a:xfrm>
          <a:prstGeom prst="rect">
            <a:avLst/>
          </a:prstGeom>
          <a:noFill/>
          <a:ln/>
        </p:spPr>
        <p:txBody>
          <a:bodyPr wrap="square" lIns="0" tIns="0" rIns="0" bIns="0" rtlCol="0" anchor="ctr"/>
          <a:lstStyle/>
          <a:p>
            <a:pPr marL="0" indent="0">
              <a:buNone/>
            </a:pPr>
            <a:r>
              <a:rPr lang="en-US" sz="1300" b="1" dirty="0">
                <a:solidFill>
                  <a:schemeClr val="accent1"/>
                </a:solidFill>
              </a:rPr>
              <a:t>Vehicle Class</a:t>
            </a:r>
            <a:endParaRPr lang="en-US" sz="1300" dirty="0"/>
          </a:p>
        </p:txBody>
      </p:sp>
      <p:pic>
        <p:nvPicPr>
          <p:cNvPr id="10" name="Image 1" descr="Biểu đồ Vehicle Class"/>
          <p:cNvPicPr>
            <a:picLocks noChangeAspect="1"/>
          </p:cNvPicPr>
          <p:nvPr/>
        </p:nvPicPr>
        <p:blipFill>
          <a:blip r:embed="rId4"/>
          <a:stretch>
            <a:fillRect/>
          </a:stretch>
        </p:blipFill>
        <p:spPr>
          <a:xfrm>
            <a:off x="6946631" y="1988820"/>
            <a:ext cx="3984171" cy="2788920"/>
          </a:xfrm>
          <a:prstGeom prst="rect">
            <a:avLst/>
          </a:prstGeom>
        </p:spPr>
      </p:pic>
      <p:sp>
        <p:nvSpPr>
          <p:cNvPr id="11" name="PointCard"/>
          <p:cNvSpPr/>
          <p:nvPr/>
        </p:nvSpPr>
        <p:spPr>
          <a:xfrm>
            <a:off x="548640" y="5257800"/>
            <a:ext cx="5408676" cy="960120"/>
          </a:xfrm>
          <a:prstGeom prst="roundRect">
            <a:avLst>
              <a:gd name="adj" fmla="val 11429"/>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IconBg"/>
          <p:cNvSpPr/>
          <p:nvPr/>
        </p:nvSpPr>
        <p:spPr>
          <a:xfrm>
            <a:off x="731520" y="5527548"/>
            <a:ext cx="420624" cy="420624"/>
          </a:xfrm>
          <a:prstGeom prst="ellipse">
            <a:avLst/>
          </a:prstGeom>
          <a:solidFill>
            <a:schemeClr val="accent1"/>
          </a:solidFill>
          <a:ln/>
        </p:spPr>
        <p:txBody>
          <a:bodyPr/>
          <a:lstStyle/>
          <a:p>
            <a:endParaRPr lang="en-US"/>
          </a:p>
        </p:txBody>
      </p:sp>
      <p:pic>
        <p:nvPicPr>
          <p:cNvPr id="13" name="Image 2" descr="ChartBar"/>
          <p:cNvPicPr>
            <a:picLocks noChangeAspect="1"/>
          </p:cNvPicPr>
          <p:nvPr/>
        </p:nvPicPr>
        <p:blipFill>
          <a:blip r:embed="rId5"/>
          <a:stretch>
            <a:fillRect/>
          </a:stretch>
        </p:blipFill>
        <p:spPr>
          <a:xfrm>
            <a:off x="836676" y="5632704"/>
            <a:ext cx="210312" cy="210312"/>
          </a:xfrm>
          <a:prstGeom prst="rect">
            <a:avLst/>
          </a:prstGeom>
        </p:spPr>
      </p:pic>
      <p:sp>
        <p:nvSpPr>
          <p:cNvPr id="14" name="PointText"/>
          <p:cNvSpPr txBox="1"/>
          <p:nvPr/>
        </p:nvSpPr>
        <p:spPr>
          <a:xfrm>
            <a:off x="1325880" y="5330952"/>
            <a:ext cx="4466844" cy="81381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Fuel Type và Vehicle Class có phân bố mức tiêu hao khác nhau; trong từng nhóm vẫn có độ phân tán đáng kể.</a:t>
            </a:r>
            <a:endParaRPr lang="en-US" sz="1400" dirty="0"/>
          </a:p>
        </p:txBody>
      </p:sp>
      <p:sp>
        <p:nvSpPr>
          <p:cNvPr id="15" name="PointCard"/>
          <p:cNvSpPr/>
          <p:nvPr/>
        </p:nvSpPr>
        <p:spPr>
          <a:xfrm>
            <a:off x="6234379" y="5257800"/>
            <a:ext cx="5408676" cy="960120"/>
          </a:xfrm>
          <a:prstGeom prst="roundRect">
            <a:avLst>
              <a:gd name="adj" fmla="val 11429"/>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6" name="IconBg"/>
          <p:cNvSpPr/>
          <p:nvPr/>
        </p:nvSpPr>
        <p:spPr>
          <a:xfrm>
            <a:off x="6417259" y="5527548"/>
            <a:ext cx="420624" cy="420624"/>
          </a:xfrm>
          <a:prstGeom prst="ellipse">
            <a:avLst/>
          </a:prstGeom>
          <a:solidFill>
            <a:schemeClr val="accent1"/>
          </a:solidFill>
          <a:ln/>
        </p:spPr>
        <p:txBody>
          <a:bodyPr/>
          <a:lstStyle/>
          <a:p>
            <a:endParaRPr lang="en-US"/>
          </a:p>
        </p:txBody>
      </p:sp>
      <p:pic>
        <p:nvPicPr>
          <p:cNvPr id="17" name="Image 3" descr="Columns"/>
          <p:cNvPicPr>
            <a:picLocks noChangeAspect="1"/>
          </p:cNvPicPr>
          <p:nvPr/>
        </p:nvPicPr>
        <p:blipFill>
          <a:blip r:embed="rId6"/>
          <a:stretch>
            <a:fillRect/>
          </a:stretch>
        </p:blipFill>
        <p:spPr>
          <a:xfrm>
            <a:off x="6522415" y="5632704"/>
            <a:ext cx="210312" cy="210312"/>
          </a:xfrm>
          <a:prstGeom prst="rect">
            <a:avLst/>
          </a:prstGeom>
        </p:spPr>
      </p:pic>
      <p:sp>
        <p:nvSpPr>
          <p:cNvPr id="18" name="PointText"/>
          <p:cNvSpPr txBox="1"/>
          <p:nvPr/>
        </p:nvSpPr>
        <p:spPr>
          <a:xfrm>
            <a:off x="7011619" y="5330952"/>
            <a:ext cx="4466844" cy="81381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Đây là biến phân loại; pipeline project mã hóa bằng OneHotEncoder.</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Ma trận tương quan</a:t>
            </a:r>
            <a:endParaRPr lang="en-US" sz="3000" dirty="0"/>
          </a:p>
        </p:txBody>
      </p:sp>
      <p:sp>
        <p:nvSpPr>
          <p:cNvPr id="5" name="ChartCard"/>
          <p:cNvSpPr/>
          <p:nvPr/>
        </p:nvSpPr>
        <p:spPr>
          <a:xfrm>
            <a:off x="548640" y="1463040"/>
            <a:ext cx="6035040" cy="4754880"/>
          </a:xfrm>
          <a:prstGeom prst="roundRect">
            <a:avLst>
              <a:gd name="adj" fmla="val 2308"/>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6" name="Image 0" descr="Biểu đồ heat"/>
          <p:cNvPicPr>
            <a:picLocks noChangeAspect="1"/>
          </p:cNvPicPr>
          <p:nvPr/>
        </p:nvPicPr>
        <p:blipFill>
          <a:blip r:embed="rId3"/>
          <a:stretch>
            <a:fillRect/>
          </a:stretch>
        </p:blipFill>
        <p:spPr>
          <a:xfrm>
            <a:off x="685800" y="1600200"/>
            <a:ext cx="5760720" cy="4480560"/>
          </a:xfrm>
          <a:prstGeom prst="rect">
            <a:avLst/>
          </a:prstGeom>
        </p:spPr>
      </p:pic>
      <p:sp>
        <p:nvSpPr>
          <p:cNvPr id="7" name="StatTile"/>
          <p:cNvSpPr/>
          <p:nvPr/>
        </p:nvSpPr>
        <p:spPr>
          <a:xfrm>
            <a:off x="6858000" y="1463040"/>
            <a:ext cx="2286000" cy="1463040"/>
          </a:xfrm>
          <a:prstGeom prst="roundRect">
            <a:avLst>
              <a:gd name="adj" fmla="val 7500"/>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8" name="Text 5"/>
          <p:cNvSpPr txBox="1"/>
          <p:nvPr/>
        </p:nvSpPr>
        <p:spPr>
          <a:xfrm>
            <a:off x="6949440" y="1572768"/>
            <a:ext cx="2103120" cy="731520"/>
          </a:xfrm>
          <a:prstGeom prst="rect">
            <a:avLst/>
          </a:prstGeom>
          <a:noFill/>
          <a:ln/>
        </p:spPr>
        <p:txBody>
          <a:bodyPr wrap="square" lIns="0" tIns="0" rIns="0" bIns="0" rtlCol="0" anchor="b"/>
          <a:lstStyle/>
          <a:p>
            <a:pPr marL="0" indent="0" algn="ctr">
              <a:buNone/>
            </a:pPr>
            <a:r>
              <a:rPr lang="en-US" sz="3200" b="1" dirty="0">
                <a:solidFill>
                  <a:schemeClr val="accent2"/>
                </a:solidFill>
                <a:latin typeface="+mj-lt" pitchFamily="34" charset="0"/>
                <a:ea typeface="+mj-lt" pitchFamily="34" charset="-122"/>
                <a:cs typeface="+mj-lt" pitchFamily="34" charset="-120"/>
              </a:rPr>
              <a:t>r = 0,81</a:t>
            </a:r>
            <a:endParaRPr lang="en-US" sz="3200" dirty="0"/>
          </a:p>
        </p:txBody>
      </p:sp>
      <p:sp>
        <p:nvSpPr>
          <p:cNvPr id="9" name="Text 6"/>
          <p:cNvSpPr txBox="1"/>
          <p:nvPr/>
        </p:nvSpPr>
        <p:spPr>
          <a:xfrm>
            <a:off x="6949440" y="2304288"/>
            <a:ext cx="2103120" cy="548640"/>
          </a:xfrm>
          <a:prstGeom prst="rect">
            <a:avLst/>
          </a:prstGeom>
          <a:noFill/>
          <a:ln/>
        </p:spPr>
        <p:txBody>
          <a:bodyPr wrap="square" lIns="0" tIns="0" rIns="0" bIns="0" rtlCol="0" anchor="t"/>
          <a:lstStyle/>
          <a:p>
            <a:pPr marL="0" indent="0" algn="ctr">
              <a:buNone/>
            </a:pPr>
            <a:r>
              <a:rPr lang="en-US" sz="1300" b="1" dirty="0">
                <a:solidFill>
                  <a:schemeClr val="bg1"/>
                </a:solidFill>
              </a:rPr>
              <a:t>Engine Size</a:t>
            </a:r>
            <a:endParaRPr lang="en-US" sz="1300" dirty="0"/>
          </a:p>
        </p:txBody>
      </p:sp>
      <p:sp>
        <p:nvSpPr>
          <p:cNvPr id="10" name="Text 7"/>
          <p:cNvSpPr txBox="1"/>
          <p:nvPr/>
        </p:nvSpPr>
        <p:spPr>
          <a:xfrm>
            <a:off x="6949440" y="2542032"/>
            <a:ext cx="2103120" cy="274320"/>
          </a:xfrm>
          <a:prstGeom prst="rect">
            <a:avLst/>
          </a:prstGeom>
          <a:noFill/>
          <a:ln/>
        </p:spPr>
        <p:txBody>
          <a:bodyPr wrap="square" lIns="0" tIns="0" rIns="0" bIns="0" rtlCol="0" anchor="ctr"/>
          <a:lstStyle/>
          <a:p>
            <a:pPr marL="0" indent="0" algn="ctr">
              <a:buNone/>
            </a:pPr>
            <a:r>
              <a:rPr lang="en-US" sz="1100" dirty="0">
                <a:solidFill>
                  <a:schemeClr val="accent6"/>
                </a:solidFill>
              </a:rPr>
              <a:t>tương quan dương</a:t>
            </a:r>
            <a:endParaRPr lang="en-US" sz="1100" dirty="0"/>
          </a:p>
        </p:txBody>
      </p:sp>
      <p:sp>
        <p:nvSpPr>
          <p:cNvPr id="11" name="StatTile"/>
          <p:cNvSpPr/>
          <p:nvPr/>
        </p:nvSpPr>
        <p:spPr>
          <a:xfrm>
            <a:off x="9357055" y="1463040"/>
            <a:ext cx="2286000" cy="1463040"/>
          </a:xfrm>
          <a:prstGeom prst="roundRect">
            <a:avLst>
              <a:gd name="adj" fmla="val 7500"/>
            </a:avLst>
          </a:prstGeom>
          <a:solidFill>
            <a:schemeClr val="tx2"/>
          </a:solidFill>
          <a:ln/>
          <a:effectLst>
            <a:outerShdw blurRad="101600" dist="25400" dir="5400000" algn="bl" rotWithShape="0">
              <a:srgbClr val="0E2A3B">
                <a:alpha val="13000"/>
              </a:srgbClr>
            </a:outerShdw>
          </a:effectLst>
        </p:spPr>
        <p:txBody>
          <a:bodyPr/>
          <a:lstStyle/>
          <a:p>
            <a:endParaRPr lang="en-US"/>
          </a:p>
        </p:txBody>
      </p:sp>
      <p:sp>
        <p:nvSpPr>
          <p:cNvPr id="12" name="Text 9"/>
          <p:cNvSpPr txBox="1"/>
          <p:nvPr/>
        </p:nvSpPr>
        <p:spPr>
          <a:xfrm>
            <a:off x="9448495" y="1572768"/>
            <a:ext cx="2103120" cy="731520"/>
          </a:xfrm>
          <a:prstGeom prst="rect">
            <a:avLst/>
          </a:prstGeom>
          <a:noFill/>
          <a:ln/>
        </p:spPr>
        <p:txBody>
          <a:bodyPr wrap="square" lIns="0" tIns="0" rIns="0" bIns="0" rtlCol="0" anchor="b"/>
          <a:lstStyle/>
          <a:p>
            <a:pPr marL="0" indent="0" algn="ctr">
              <a:buNone/>
            </a:pPr>
            <a:r>
              <a:rPr lang="en-US" sz="3200" b="1" dirty="0">
                <a:solidFill>
                  <a:schemeClr val="accent2"/>
                </a:solidFill>
                <a:latin typeface="+mj-lt" pitchFamily="34" charset="0"/>
                <a:ea typeface="+mj-lt" pitchFamily="34" charset="-122"/>
                <a:cs typeface="+mj-lt" pitchFamily="34" charset="-120"/>
              </a:rPr>
              <a:t>r = 0,76</a:t>
            </a:r>
            <a:endParaRPr lang="en-US" sz="3200" dirty="0"/>
          </a:p>
        </p:txBody>
      </p:sp>
      <p:sp>
        <p:nvSpPr>
          <p:cNvPr id="13" name="Text 10"/>
          <p:cNvSpPr txBox="1"/>
          <p:nvPr/>
        </p:nvSpPr>
        <p:spPr>
          <a:xfrm>
            <a:off x="9448495" y="2304288"/>
            <a:ext cx="2103120" cy="548640"/>
          </a:xfrm>
          <a:prstGeom prst="rect">
            <a:avLst/>
          </a:prstGeom>
          <a:noFill/>
          <a:ln/>
        </p:spPr>
        <p:txBody>
          <a:bodyPr wrap="square" lIns="0" tIns="0" rIns="0" bIns="0" rtlCol="0" anchor="t"/>
          <a:lstStyle/>
          <a:p>
            <a:pPr marL="0" indent="0" algn="ctr">
              <a:buNone/>
            </a:pPr>
            <a:r>
              <a:rPr lang="en-US" sz="1300" b="1" dirty="0">
                <a:solidFill>
                  <a:schemeClr val="bg1"/>
                </a:solidFill>
              </a:rPr>
              <a:t>Cylinders</a:t>
            </a:r>
            <a:endParaRPr lang="en-US" sz="1300" dirty="0"/>
          </a:p>
        </p:txBody>
      </p:sp>
      <p:sp>
        <p:nvSpPr>
          <p:cNvPr id="14" name="Text 11"/>
          <p:cNvSpPr txBox="1"/>
          <p:nvPr/>
        </p:nvSpPr>
        <p:spPr>
          <a:xfrm>
            <a:off x="9448495" y="2542032"/>
            <a:ext cx="2103120" cy="274320"/>
          </a:xfrm>
          <a:prstGeom prst="rect">
            <a:avLst/>
          </a:prstGeom>
          <a:noFill/>
          <a:ln/>
        </p:spPr>
        <p:txBody>
          <a:bodyPr wrap="square" lIns="0" tIns="0" rIns="0" bIns="0" rtlCol="0" anchor="ctr"/>
          <a:lstStyle/>
          <a:p>
            <a:pPr marL="0" indent="0" algn="ctr">
              <a:buNone/>
            </a:pPr>
            <a:r>
              <a:rPr lang="en-US" sz="1100" dirty="0">
                <a:solidFill>
                  <a:schemeClr val="accent6"/>
                </a:solidFill>
              </a:rPr>
              <a:t>tương quan dương</a:t>
            </a:r>
            <a:endParaRPr lang="en-US" sz="1100" dirty="0"/>
          </a:p>
        </p:txBody>
      </p:sp>
      <p:sp>
        <p:nvSpPr>
          <p:cNvPr id="15" name="PointCard"/>
          <p:cNvSpPr/>
          <p:nvPr/>
        </p:nvSpPr>
        <p:spPr>
          <a:xfrm>
            <a:off x="6858000" y="3108960"/>
            <a:ext cx="4785055" cy="914400"/>
          </a:xfrm>
          <a:prstGeom prst="roundRect">
            <a:avLst>
              <a:gd name="adj" fmla="val 12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6" name="IconBg"/>
          <p:cNvSpPr/>
          <p:nvPr/>
        </p:nvSpPr>
        <p:spPr>
          <a:xfrm>
            <a:off x="7040880" y="3355848"/>
            <a:ext cx="420624" cy="420624"/>
          </a:xfrm>
          <a:prstGeom prst="ellipse">
            <a:avLst/>
          </a:prstGeom>
          <a:solidFill>
            <a:schemeClr val="accent1"/>
          </a:solidFill>
          <a:ln/>
        </p:spPr>
        <p:txBody>
          <a:bodyPr/>
          <a:lstStyle/>
          <a:p>
            <a:endParaRPr lang="en-US"/>
          </a:p>
        </p:txBody>
      </p:sp>
      <p:pic>
        <p:nvPicPr>
          <p:cNvPr id="17" name="Image 1" descr="Table"/>
          <p:cNvPicPr>
            <a:picLocks noChangeAspect="1"/>
          </p:cNvPicPr>
          <p:nvPr/>
        </p:nvPicPr>
        <p:blipFill>
          <a:blip r:embed="rId4"/>
          <a:stretch>
            <a:fillRect/>
          </a:stretch>
        </p:blipFill>
        <p:spPr>
          <a:xfrm>
            <a:off x="7146036" y="3461004"/>
            <a:ext cx="210312" cy="210312"/>
          </a:xfrm>
          <a:prstGeom prst="rect">
            <a:avLst/>
          </a:prstGeom>
        </p:spPr>
      </p:pic>
      <p:sp>
        <p:nvSpPr>
          <p:cNvPr id="18" name="PointText"/>
          <p:cNvSpPr txBox="1"/>
          <p:nvPr/>
        </p:nvSpPr>
        <p:spPr>
          <a:xfrm>
            <a:off x="7635240" y="3182112"/>
            <a:ext cx="3843223" cy="7680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Heatmap dùng cho EDA để quan sát tương quan tuyến tính giữa các biến số.</a:t>
            </a:r>
            <a:endParaRPr lang="en-US" sz="1400" dirty="0"/>
          </a:p>
        </p:txBody>
      </p:sp>
      <p:sp>
        <p:nvSpPr>
          <p:cNvPr id="19" name="PointCard"/>
          <p:cNvSpPr/>
          <p:nvPr/>
        </p:nvSpPr>
        <p:spPr>
          <a:xfrm>
            <a:off x="6858000" y="4206240"/>
            <a:ext cx="4785055" cy="914400"/>
          </a:xfrm>
          <a:prstGeom prst="roundRect">
            <a:avLst>
              <a:gd name="adj" fmla="val 12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0" name="IconBg"/>
          <p:cNvSpPr/>
          <p:nvPr/>
        </p:nvSpPr>
        <p:spPr>
          <a:xfrm>
            <a:off x="7040880" y="4453128"/>
            <a:ext cx="420624" cy="420624"/>
          </a:xfrm>
          <a:prstGeom prst="ellipse">
            <a:avLst/>
          </a:prstGeom>
          <a:solidFill>
            <a:schemeClr val="accent1"/>
          </a:solidFill>
          <a:ln/>
        </p:spPr>
        <p:txBody>
          <a:bodyPr/>
          <a:lstStyle/>
          <a:p>
            <a:endParaRPr lang="en-US"/>
          </a:p>
        </p:txBody>
      </p:sp>
      <p:pic>
        <p:nvPicPr>
          <p:cNvPr id="21" name="Image 2" descr="Link"/>
          <p:cNvPicPr>
            <a:picLocks noChangeAspect="1"/>
          </p:cNvPicPr>
          <p:nvPr/>
        </p:nvPicPr>
        <p:blipFill>
          <a:blip r:embed="rId5"/>
          <a:stretch>
            <a:fillRect/>
          </a:stretch>
        </p:blipFill>
        <p:spPr>
          <a:xfrm>
            <a:off x="7146036" y="4558284"/>
            <a:ext cx="210312" cy="210312"/>
          </a:xfrm>
          <a:prstGeom prst="rect">
            <a:avLst/>
          </a:prstGeom>
        </p:spPr>
      </p:pic>
      <p:sp>
        <p:nvSpPr>
          <p:cNvPr id="22" name="PointText"/>
          <p:cNvSpPr txBox="1"/>
          <p:nvPr/>
        </p:nvSpPr>
        <p:spPr>
          <a:xfrm>
            <a:off x="7635240" y="4279392"/>
            <a:ext cx="3843223" cy="7680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Các biến trong heatmap phục vụ EDA, không nhất thiết được đưa vào mô hình.</a:t>
            </a:r>
            <a:endParaRPr lang="en-US" sz="1400" dirty="0"/>
          </a:p>
        </p:txBody>
      </p:sp>
      <p:sp>
        <p:nvSpPr>
          <p:cNvPr id="23" name="PointCard"/>
          <p:cNvSpPr/>
          <p:nvPr/>
        </p:nvSpPr>
        <p:spPr>
          <a:xfrm>
            <a:off x="6858000" y="5303520"/>
            <a:ext cx="4785055" cy="914400"/>
          </a:xfrm>
          <a:prstGeom prst="roundRect">
            <a:avLst>
              <a:gd name="adj" fmla="val 12000"/>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4" name="IconBg"/>
          <p:cNvSpPr/>
          <p:nvPr/>
        </p:nvSpPr>
        <p:spPr>
          <a:xfrm>
            <a:off x="7040880" y="5550408"/>
            <a:ext cx="420624" cy="420624"/>
          </a:xfrm>
          <a:prstGeom prst="ellipse">
            <a:avLst/>
          </a:prstGeom>
          <a:solidFill>
            <a:schemeClr val="accent4"/>
          </a:solidFill>
          <a:ln/>
        </p:spPr>
        <p:txBody>
          <a:bodyPr/>
          <a:lstStyle/>
          <a:p>
            <a:endParaRPr lang="en-US"/>
          </a:p>
        </p:txBody>
      </p:sp>
      <p:pic>
        <p:nvPicPr>
          <p:cNvPr id="25" name="Image 3" descr="ExclamationTriangle"/>
          <p:cNvPicPr>
            <a:picLocks noChangeAspect="1"/>
          </p:cNvPicPr>
          <p:nvPr/>
        </p:nvPicPr>
        <p:blipFill>
          <a:blip r:embed="rId6"/>
          <a:stretch>
            <a:fillRect/>
          </a:stretch>
        </p:blipFill>
        <p:spPr>
          <a:xfrm>
            <a:off x="7146036" y="5655564"/>
            <a:ext cx="210312" cy="210312"/>
          </a:xfrm>
          <a:prstGeom prst="rect">
            <a:avLst/>
          </a:prstGeom>
        </p:spPr>
      </p:pic>
      <p:sp>
        <p:nvSpPr>
          <p:cNvPr id="26" name="PointText"/>
          <p:cNvSpPr txBox="1"/>
          <p:nvPr/>
        </p:nvSpPr>
        <p:spPr>
          <a:xfrm>
            <a:off x="7635240" y="5376672"/>
            <a:ext cx="3843223" cy="76809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Tương quan không đồng nghĩa với quan hệ nguyên nhân – kết quả.</a:t>
            </a:r>
            <a:endParaRPr lang="en-US" sz="1400" dirty="0"/>
          </a:p>
        </p:txBody>
      </p:sp>
      <p:sp>
        <p:nvSpPr>
          <p:cNvPr id="27"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02  ·  PHÂN TÍCH DỮ LIỆU (EDA)</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Dung tích động cơ và mức tiêu hao</a:t>
            </a:r>
            <a:endParaRPr lang="en-US" sz="3000" dirty="0"/>
          </a:p>
        </p:txBody>
      </p:sp>
      <p:sp>
        <p:nvSpPr>
          <p:cNvPr id="5" name="ChartCard"/>
          <p:cNvSpPr/>
          <p:nvPr/>
        </p:nvSpPr>
        <p:spPr>
          <a:xfrm>
            <a:off x="548640" y="1463040"/>
            <a:ext cx="6784848" cy="4343400"/>
          </a:xfrm>
          <a:prstGeom prst="roundRect">
            <a:avLst>
              <a:gd name="adj" fmla="val 2526"/>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6" name="Image 0" descr="Biểu đồ engine"/>
          <p:cNvPicPr>
            <a:picLocks noChangeAspect="1"/>
          </p:cNvPicPr>
          <p:nvPr/>
        </p:nvPicPr>
        <p:blipFill>
          <a:blip r:embed="rId3"/>
          <a:stretch>
            <a:fillRect/>
          </a:stretch>
        </p:blipFill>
        <p:spPr>
          <a:xfrm>
            <a:off x="685800" y="1600200"/>
            <a:ext cx="6510528" cy="4069080"/>
          </a:xfrm>
          <a:prstGeom prst="rect">
            <a:avLst/>
          </a:prstGeom>
        </p:spPr>
      </p:pic>
      <p:sp>
        <p:nvSpPr>
          <p:cNvPr id="7" name="Text 4"/>
          <p:cNvSpPr txBox="1"/>
          <p:nvPr/>
        </p:nvSpPr>
        <p:spPr>
          <a:xfrm>
            <a:off x="548640" y="5897880"/>
            <a:ext cx="6766560" cy="274320"/>
          </a:xfrm>
          <a:prstGeom prst="rect">
            <a:avLst/>
          </a:prstGeom>
          <a:noFill/>
          <a:ln/>
        </p:spPr>
        <p:txBody>
          <a:bodyPr wrap="square" lIns="0" tIns="0" rIns="0" bIns="0" rtlCol="0" anchor="ctr"/>
          <a:lstStyle/>
          <a:p>
            <a:pPr marL="0" indent="0">
              <a:buNone/>
            </a:pPr>
            <a:r>
              <a:rPr lang="en-US" sz="1100" i="1" dirty="0">
                <a:solidFill>
                  <a:schemeClr val="accent5"/>
                </a:solidFill>
              </a:rPr>
              <a:t>Trục X: Engine Size (L)     Trục Y: Fuel Consumption Comb (L/100 km)</a:t>
            </a:r>
            <a:endParaRPr lang="en-US" sz="1100" dirty="0"/>
          </a:p>
        </p:txBody>
      </p:sp>
      <p:sp>
        <p:nvSpPr>
          <p:cNvPr id="8" name="PointCard"/>
          <p:cNvSpPr/>
          <p:nvPr/>
        </p:nvSpPr>
        <p:spPr>
          <a:xfrm>
            <a:off x="7589520" y="1463040"/>
            <a:ext cx="4050792" cy="1315043"/>
          </a:xfrm>
          <a:prstGeom prst="roundRect">
            <a:avLst>
              <a:gd name="adj" fmla="val 8344"/>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9" name="Number"/>
          <p:cNvSpPr txBox="1"/>
          <p:nvPr/>
        </p:nvSpPr>
        <p:spPr>
          <a:xfrm>
            <a:off x="7772400" y="1910249"/>
            <a:ext cx="420624" cy="420624"/>
          </a:xfrm>
          <a:prstGeom prst="ellipse">
            <a:avLst/>
          </a:prstGeom>
          <a:solidFill>
            <a:schemeClr val="accent1"/>
          </a:solid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10" name="PointText"/>
          <p:cNvSpPr txBox="1"/>
          <p:nvPr/>
        </p:nvSpPr>
        <p:spPr>
          <a:xfrm>
            <a:off x="8366760" y="1536192"/>
            <a:ext cx="3108960" cy="1168739"/>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Khi dung tích động cơ tăng, mức tiêu hao nhiên liệu nhìn chung tăng; đường xu hướng đi lên.</a:t>
            </a:r>
            <a:endParaRPr lang="en-US" sz="1400" dirty="0"/>
          </a:p>
        </p:txBody>
      </p:sp>
      <p:sp>
        <p:nvSpPr>
          <p:cNvPr id="11" name="PointCard"/>
          <p:cNvSpPr/>
          <p:nvPr/>
        </p:nvSpPr>
        <p:spPr>
          <a:xfrm>
            <a:off x="7589520" y="2960963"/>
            <a:ext cx="4050792" cy="1531959"/>
          </a:xfrm>
          <a:prstGeom prst="roundRect">
            <a:avLst>
              <a:gd name="adj" fmla="val 716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Number"/>
          <p:cNvSpPr txBox="1"/>
          <p:nvPr/>
        </p:nvSpPr>
        <p:spPr>
          <a:xfrm>
            <a:off x="7772400" y="3516630"/>
            <a:ext cx="420624" cy="420624"/>
          </a:xfrm>
          <a:prstGeom prst="ellipse">
            <a:avLst/>
          </a:prstGeom>
          <a:solidFill>
            <a:schemeClr val="accent1"/>
          </a:solid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13" name="PointText"/>
          <p:cNvSpPr txBox="1"/>
          <p:nvPr/>
        </p:nvSpPr>
        <p:spPr>
          <a:xfrm>
            <a:off x="8366760" y="3034115"/>
            <a:ext cx="3108960" cy="1385655"/>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Các điểm vẫn phân tán rộng ở cùng dung tích, nên Engine Size không giải thích toàn bộ biến thiên của target.</a:t>
            </a:r>
            <a:endParaRPr lang="en-US" sz="1400" dirty="0"/>
          </a:p>
        </p:txBody>
      </p:sp>
      <p:sp>
        <p:nvSpPr>
          <p:cNvPr id="14" name="PointCard"/>
          <p:cNvSpPr/>
          <p:nvPr/>
        </p:nvSpPr>
        <p:spPr>
          <a:xfrm>
            <a:off x="7589520" y="4675801"/>
            <a:ext cx="4050792" cy="1130639"/>
          </a:xfrm>
          <a:prstGeom prst="roundRect">
            <a:avLst>
              <a:gd name="adj" fmla="val 9705"/>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5" name="Number"/>
          <p:cNvSpPr txBox="1"/>
          <p:nvPr/>
        </p:nvSpPr>
        <p:spPr>
          <a:xfrm>
            <a:off x="7772400" y="5030809"/>
            <a:ext cx="420624" cy="420624"/>
          </a:xfrm>
          <a:prstGeom prst="ellipse">
            <a:avLst/>
          </a:prstGeom>
          <a:solidFill>
            <a:schemeClr val="accent1"/>
          </a:solid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6" name="PointText"/>
          <p:cNvSpPr txBox="1"/>
          <p:nvPr/>
        </p:nvSpPr>
        <p:spPr>
          <a:xfrm>
            <a:off x="8366760" y="4748953"/>
            <a:ext cx="3108960" cy="984335"/>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Mức tiêu hao còn chịu ảnh hưởng của các đặc trưng khác của xe.</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Ngăn ngừa data leakage và pipeline</a:t>
            </a:r>
            <a:endParaRPr lang="en-US" sz="3000" dirty="0"/>
          </a:p>
        </p:txBody>
      </p:sp>
      <p:sp>
        <p:nvSpPr>
          <p:cNvPr id="5" name="StepCard"/>
          <p:cNvSpPr/>
          <p:nvPr/>
        </p:nvSpPr>
        <p:spPr>
          <a:xfrm>
            <a:off x="548640" y="1554480"/>
            <a:ext cx="1645920" cy="1417320"/>
          </a:xfrm>
          <a:prstGeom prst="roundRect">
            <a:avLst>
              <a:gd name="adj" fmla="val 774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Number"/>
          <p:cNvSpPr txBox="1"/>
          <p:nvPr/>
        </p:nvSpPr>
        <p:spPr>
          <a:xfrm>
            <a:off x="685800" y="16916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7" name="Text 5"/>
          <p:cNvSpPr txBox="1"/>
          <p:nvPr/>
        </p:nvSpPr>
        <p:spPr>
          <a:xfrm>
            <a:off x="685800"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Dataset</a:t>
            </a:r>
            <a:endParaRPr lang="en-US" sz="1400" dirty="0"/>
          </a:p>
        </p:txBody>
      </p:sp>
      <p:sp>
        <p:nvSpPr>
          <p:cNvPr id="8" name="Arrow"/>
          <p:cNvSpPr/>
          <p:nvPr/>
        </p:nvSpPr>
        <p:spPr>
          <a:xfrm>
            <a:off x="2215866" y="2157984"/>
            <a:ext cx="201168" cy="201168"/>
          </a:xfrm>
          <a:prstGeom prst="rightArrow">
            <a:avLst/>
          </a:prstGeom>
          <a:solidFill>
            <a:schemeClr val="accent5"/>
          </a:solidFill>
          <a:ln/>
        </p:spPr>
        <p:txBody>
          <a:bodyPr/>
          <a:lstStyle/>
          <a:p>
            <a:endParaRPr lang="en-US"/>
          </a:p>
        </p:txBody>
      </p:sp>
      <p:sp>
        <p:nvSpPr>
          <p:cNvPr id="9" name="StepCard"/>
          <p:cNvSpPr/>
          <p:nvPr/>
        </p:nvSpPr>
        <p:spPr>
          <a:xfrm>
            <a:off x="2438339" y="1554480"/>
            <a:ext cx="1645920" cy="1417320"/>
          </a:xfrm>
          <a:prstGeom prst="roundRect">
            <a:avLst>
              <a:gd name="adj" fmla="val 774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0" name="Number"/>
          <p:cNvSpPr txBox="1"/>
          <p:nvPr/>
        </p:nvSpPr>
        <p:spPr>
          <a:xfrm>
            <a:off x="2575499" y="16916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1" name="Text 9"/>
          <p:cNvSpPr txBox="1"/>
          <p:nvPr/>
        </p:nvSpPr>
        <p:spPr>
          <a:xfrm>
            <a:off x="2575499"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Train/Test Split</a:t>
            </a:r>
            <a:endParaRPr lang="en-US" sz="1400" dirty="0"/>
          </a:p>
        </p:txBody>
      </p:sp>
      <p:sp>
        <p:nvSpPr>
          <p:cNvPr id="12" name="Arrow"/>
          <p:cNvSpPr/>
          <p:nvPr/>
        </p:nvSpPr>
        <p:spPr>
          <a:xfrm>
            <a:off x="4105565" y="2157984"/>
            <a:ext cx="201168" cy="201168"/>
          </a:xfrm>
          <a:prstGeom prst="rightArrow">
            <a:avLst/>
          </a:prstGeom>
          <a:solidFill>
            <a:schemeClr val="accent5"/>
          </a:solidFill>
          <a:ln/>
        </p:spPr>
        <p:txBody>
          <a:bodyPr/>
          <a:lstStyle/>
          <a:p>
            <a:endParaRPr lang="en-US"/>
          </a:p>
        </p:txBody>
      </p:sp>
      <p:sp>
        <p:nvSpPr>
          <p:cNvPr id="13" name="StepCard"/>
          <p:cNvSpPr/>
          <p:nvPr/>
        </p:nvSpPr>
        <p:spPr>
          <a:xfrm>
            <a:off x="4328038" y="1554480"/>
            <a:ext cx="1645920" cy="1417320"/>
          </a:xfrm>
          <a:prstGeom prst="roundRect">
            <a:avLst>
              <a:gd name="adj" fmla="val 7742"/>
            </a:avLst>
          </a:prstGeom>
          <a:solidFill>
            <a:schemeClr val="accent2"/>
          </a:solidFill>
          <a:ln/>
          <a:effectLst>
            <a:outerShdw blurRad="101600" dist="25400" dir="5400000" algn="bl" rotWithShape="0">
              <a:srgbClr val="0E2A3B">
                <a:alpha val="13000"/>
              </a:srgbClr>
            </a:outerShdw>
          </a:effectLst>
        </p:spPr>
        <p:txBody>
          <a:bodyPr/>
          <a:lstStyle/>
          <a:p>
            <a:endParaRPr lang="en-US"/>
          </a:p>
        </p:txBody>
      </p:sp>
      <p:sp>
        <p:nvSpPr>
          <p:cNvPr id="14" name="Number"/>
          <p:cNvSpPr txBox="1"/>
          <p:nvPr/>
        </p:nvSpPr>
        <p:spPr>
          <a:xfrm>
            <a:off x="4465198" y="1691640"/>
            <a:ext cx="365760" cy="365760"/>
          </a:xfrm>
          <a:prstGeom prst="ellipse">
            <a:avLst/>
          </a:prstGeom>
          <a:solidFill>
            <a:schemeClr val="tx1"/>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5" name="Text 13"/>
          <p:cNvSpPr txBox="1"/>
          <p:nvPr/>
        </p:nvSpPr>
        <p:spPr>
          <a:xfrm>
            <a:off x="4465198"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Fit preprocessing chỉ trên Train</a:t>
            </a:r>
            <a:endParaRPr lang="en-US" sz="1400" dirty="0"/>
          </a:p>
        </p:txBody>
      </p:sp>
      <p:sp>
        <p:nvSpPr>
          <p:cNvPr id="16" name="Arrow"/>
          <p:cNvSpPr/>
          <p:nvPr/>
        </p:nvSpPr>
        <p:spPr>
          <a:xfrm>
            <a:off x="5995264" y="2157984"/>
            <a:ext cx="201168" cy="201168"/>
          </a:xfrm>
          <a:prstGeom prst="rightArrow">
            <a:avLst/>
          </a:prstGeom>
          <a:solidFill>
            <a:schemeClr val="accent5"/>
          </a:solidFill>
          <a:ln/>
        </p:spPr>
        <p:txBody>
          <a:bodyPr/>
          <a:lstStyle/>
          <a:p>
            <a:endParaRPr lang="en-US"/>
          </a:p>
        </p:txBody>
      </p:sp>
      <p:sp>
        <p:nvSpPr>
          <p:cNvPr id="17" name="StepCard"/>
          <p:cNvSpPr/>
          <p:nvPr/>
        </p:nvSpPr>
        <p:spPr>
          <a:xfrm>
            <a:off x="6217737" y="1554480"/>
            <a:ext cx="1645920" cy="1417320"/>
          </a:xfrm>
          <a:prstGeom prst="roundRect">
            <a:avLst>
              <a:gd name="adj" fmla="val 774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8" name="Number"/>
          <p:cNvSpPr txBox="1"/>
          <p:nvPr/>
        </p:nvSpPr>
        <p:spPr>
          <a:xfrm>
            <a:off x="6354897" y="16916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9" name="Text 17"/>
          <p:cNvSpPr txBox="1"/>
          <p:nvPr/>
        </p:nvSpPr>
        <p:spPr>
          <a:xfrm>
            <a:off x="6354897"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Transform Train/Test</a:t>
            </a:r>
            <a:endParaRPr lang="en-US" sz="1400" dirty="0"/>
          </a:p>
        </p:txBody>
      </p:sp>
      <p:sp>
        <p:nvSpPr>
          <p:cNvPr id="20" name="Arrow"/>
          <p:cNvSpPr/>
          <p:nvPr/>
        </p:nvSpPr>
        <p:spPr>
          <a:xfrm>
            <a:off x="7884963" y="2157984"/>
            <a:ext cx="201168" cy="201168"/>
          </a:xfrm>
          <a:prstGeom prst="rightArrow">
            <a:avLst/>
          </a:prstGeom>
          <a:solidFill>
            <a:schemeClr val="accent5"/>
          </a:solidFill>
          <a:ln/>
        </p:spPr>
        <p:txBody>
          <a:bodyPr/>
          <a:lstStyle/>
          <a:p>
            <a:endParaRPr lang="en-US"/>
          </a:p>
        </p:txBody>
      </p:sp>
      <p:sp>
        <p:nvSpPr>
          <p:cNvPr id="21" name="StepCard"/>
          <p:cNvSpPr/>
          <p:nvPr/>
        </p:nvSpPr>
        <p:spPr>
          <a:xfrm>
            <a:off x="8107436" y="1554480"/>
            <a:ext cx="1645920" cy="1417320"/>
          </a:xfrm>
          <a:prstGeom prst="roundRect">
            <a:avLst>
              <a:gd name="adj" fmla="val 774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2" name="Number"/>
          <p:cNvSpPr txBox="1"/>
          <p:nvPr/>
        </p:nvSpPr>
        <p:spPr>
          <a:xfrm>
            <a:off x="8244596" y="16916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5</a:t>
            </a:r>
            <a:endParaRPr lang="en-US" sz="1200" dirty="0"/>
          </a:p>
        </p:txBody>
      </p:sp>
      <p:sp>
        <p:nvSpPr>
          <p:cNvPr id="23" name="Text 21"/>
          <p:cNvSpPr txBox="1"/>
          <p:nvPr/>
        </p:nvSpPr>
        <p:spPr>
          <a:xfrm>
            <a:off x="8244596"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Train Model</a:t>
            </a:r>
            <a:endParaRPr lang="en-US" sz="1400" dirty="0"/>
          </a:p>
        </p:txBody>
      </p:sp>
      <p:sp>
        <p:nvSpPr>
          <p:cNvPr id="24" name="Arrow"/>
          <p:cNvSpPr/>
          <p:nvPr/>
        </p:nvSpPr>
        <p:spPr>
          <a:xfrm>
            <a:off x="9774662" y="2157984"/>
            <a:ext cx="201168" cy="201168"/>
          </a:xfrm>
          <a:prstGeom prst="rightArrow">
            <a:avLst/>
          </a:prstGeom>
          <a:solidFill>
            <a:schemeClr val="accent5"/>
          </a:solidFill>
          <a:ln/>
        </p:spPr>
        <p:txBody>
          <a:bodyPr/>
          <a:lstStyle/>
          <a:p>
            <a:endParaRPr lang="en-US"/>
          </a:p>
        </p:txBody>
      </p:sp>
      <p:sp>
        <p:nvSpPr>
          <p:cNvPr id="25" name="StepCard"/>
          <p:cNvSpPr/>
          <p:nvPr/>
        </p:nvSpPr>
        <p:spPr>
          <a:xfrm>
            <a:off x="9997135" y="1554480"/>
            <a:ext cx="1645920" cy="1417320"/>
          </a:xfrm>
          <a:prstGeom prst="roundRect">
            <a:avLst>
              <a:gd name="adj" fmla="val 7742"/>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6" name="Number"/>
          <p:cNvSpPr txBox="1"/>
          <p:nvPr/>
        </p:nvSpPr>
        <p:spPr>
          <a:xfrm>
            <a:off x="10134295" y="1691640"/>
            <a:ext cx="365760" cy="365760"/>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6</a:t>
            </a:r>
            <a:endParaRPr lang="en-US" sz="1200" dirty="0"/>
          </a:p>
        </p:txBody>
      </p:sp>
      <p:sp>
        <p:nvSpPr>
          <p:cNvPr id="27" name="Text 25"/>
          <p:cNvSpPr txBox="1"/>
          <p:nvPr/>
        </p:nvSpPr>
        <p:spPr>
          <a:xfrm>
            <a:off x="10134295" y="2194560"/>
            <a:ext cx="1417320" cy="685800"/>
          </a:xfrm>
          <a:prstGeom prst="rect">
            <a:avLst/>
          </a:prstGeom>
          <a:noFill/>
          <a:ln/>
        </p:spPr>
        <p:txBody>
          <a:bodyPr wrap="square" lIns="0" tIns="0" rIns="0" bIns="0" rtlCol="0" anchor="ctr"/>
          <a:lstStyle/>
          <a:p>
            <a:pPr marL="0" indent="0">
              <a:buNone/>
            </a:pPr>
            <a:r>
              <a:rPr lang="en-US" sz="1400" b="1" dirty="0">
                <a:solidFill>
                  <a:schemeClr val="tx1"/>
                </a:solidFill>
              </a:rPr>
              <a:t>Evaluate Test</a:t>
            </a:r>
            <a:endParaRPr lang="en-US" sz="1400" dirty="0"/>
          </a:p>
        </p:txBody>
      </p:sp>
      <p:sp>
        <p:nvSpPr>
          <p:cNvPr id="28" name="BranchCard"/>
          <p:cNvSpPr/>
          <p:nvPr/>
        </p:nvSpPr>
        <p:spPr>
          <a:xfrm>
            <a:off x="548640" y="3246120"/>
            <a:ext cx="5408676" cy="1280160"/>
          </a:xfrm>
          <a:prstGeom prst="roundRect">
            <a:avLst>
              <a:gd name="adj" fmla="val 857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9" name="Text 27"/>
          <p:cNvSpPr txBox="1"/>
          <p:nvPr/>
        </p:nvSpPr>
        <p:spPr>
          <a:xfrm>
            <a:off x="822960" y="3337560"/>
            <a:ext cx="2743200" cy="365760"/>
          </a:xfrm>
          <a:prstGeom prst="rect">
            <a:avLst/>
          </a:prstGeom>
          <a:noFill/>
          <a:ln/>
        </p:spPr>
        <p:txBody>
          <a:bodyPr wrap="square" lIns="0" tIns="0" rIns="0" bIns="0" rtlCol="0" anchor="ctr"/>
          <a:lstStyle/>
          <a:p>
            <a:pPr marL="0" indent="0">
              <a:buNone/>
            </a:pPr>
            <a:r>
              <a:rPr lang="en-US" sz="1500" b="1" dirty="0">
                <a:solidFill>
                  <a:schemeClr val="accent1"/>
                </a:solidFill>
              </a:rPr>
              <a:t>Numeric</a:t>
            </a:r>
            <a:endParaRPr lang="en-US" sz="1500" dirty="0"/>
          </a:p>
        </p:txBody>
      </p:sp>
      <p:sp>
        <p:nvSpPr>
          <p:cNvPr id="30" name="Text 28"/>
          <p:cNvSpPr txBox="1"/>
          <p:nvPr/>
        </p:nvSpPr>
        <p:spPr>
          <a:xfrm>
            <a:off x="822960" y="3794760"/>
            <a:ext cx="1920240" cy="502920"/>
          </a:xfrm>
          <a:prstGeom prst="roundRect">
            <a:avLst>
              <a:gd name="adj" fmla="val 18182"/>
            </a:avLst>
          </a:prstGeom>
          <a:solidFill>
            <a:schemeClr val="bg2"/>
          </a:solidFill>
          <a:ln/>
        </p:spPr>
        <p:txBody>
          <a:bodyPr wrap="square" lIns="0" tIns="0" rIns="0" bIns="0" rtlCol="0" anchor="ctr"/>
          <a:lstStyle/>
          <a:p>
            <a:pPr marL="0" indent="0" algn="ctr">
              <a:buNone/>
            </a:pPr>
            <a:r>
              <a:rPr lang="en-US" sz="1400" b="1" dirty="0">
                <a:solidFill>
                  <a:schemeClr val="tx1"/>
                </a:solidFill>
              </a:rPr>
              <a:t>Median Imputer</a:t>
            </a:r>
            <a:endParaRPr lang="en-US" sz="1400" dirty="0"/>
          </a:p>
        </p:txBody>
      </p:sp>
      <p:sp>
        <p:nvSpPr>
          <p:cNvPr id="31" name="Arrow"/>
          <p:cNvSpPr/>
          <p:nvPr/>
        </p:nvSpPr>
        <p:spPr>
          <a:xfrm>
            <a:off x="2798064" y="3945636"/>
            <a:ext cx="201168" cy="201168"/>
          </a:xfrm>
          <a:prstGeom prst="rightArrow">
            <a:avLst/>
          </a:prstGeom>
          <a:solidFill>
            <a:schemeClr val="accent1"/>
          </a:solidFill>
          <a:ln/>
        </p:spPr>
        <p:txBody>
          <a:bodyPr/>
          <a:lstStyle/>
          <a:p>
            <a:endParaRPr lang="en-US"/>
          </a:p>
        </p:txBody>
      </p:sp>
      <p:sp>
        <p:nvSpPr>
          <p:cNvPr id="32" name="Text 30"/>
          <p:cNvSpPr txBox="1"/>
          <p:nvPr/>
        </p:nvSpPr>
        <p:spPr>
          <a:xfrm>
            <a:off x="3054096" y="3794760"/>
            <a:ext cx="1920240" cy="502920"/>
          </a:xfrm>
          <a:prstGeom prst="roundRect">
            <a:avLst>
              <a:gd name="adj" fmla="val 18182"/>
            </a:avLst>
          </a:prstGeom>
          <a:solidFill>
            <a:schemeClr val="bg2"/>
          </a:solidFill>
          <a:ln/>
        </p:spPr>
        <p:txBody>
          <a:bodyPr wrap="square" lIns="0" tIns="0" rIns="0" bIns="0" rtlCol="0" anchor="ctr"/>
          <a:lstStyle/>
          <a:p>
            <a:pPr marL="0" indent="0" algn="ctr">
              <a:buNone/>
            </a:pPr>
            <a:r>
              <a:rPr lang="en-US" sz="1400" b="1" dirty="0">
                <a:solidFill>
                  <a:schemeClr val="tx1"/>
                </a:solidFill>
              </a:rPr>
              <a:t>StandardScaler</a:t>
            </a:r>
            <a:endParaRPr lang="en-US" sz="1400" dirty="0"/>
          </a:p>
        </p:txBody>
      </p:sp>
      <p:sp>
        <p:nvSpPr>
          <p:cNvPr id="33" name="BranchCard"/>
          <p:cNvSpPr/>
          <p:nvPr/>
        </p:nvSpPr>
        <p:spPr>
          <a:xfrm>
            <a:off x="6234379" y="3246120"/>
            <a:ext cx="5408676" cy="1280160"/>
          </a:xfrm>
          <a:prstGeom prst="roundRect">
            <a:avLst>
              <a:gd name="adj" fmla="val 8571"/>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34" name="Text 32"/>
          <p:cNvSpPr txBox="1"/>
          <p:nvPr/>
        </p:nvSpPr>
        <p:spPr>
          <a:xfrm>
            <a:off x="6508699" y="3337560"/>
            <a:ext cx="2743200" cy="365760"/>
          </a:xfrm>
          <a:prstGeom prst="rect">
            <a:avLst/>
          </a:prstGeom>
          <a:noFill/>
          <a:ln/>
        </p:spPr>
        <p:txBody>
          <a:bodyPr wrap="square" lIns="0" tIns="0" rIns="0" bIns="0" rtlCol="0" anchor="ctr"/>
          <a:lstStyle/>
          <a:p>
            <a:pPr marL="0" indent="0">
              <a:buNone/>
            </a:pPr>
            <a:r>
              <a:rPr lang="en-US" sz="1500" b="1" dirty="0">
                <a:solidFill>
                  <a:schemeClr val="accent1"/>
                </a:solidFill>
              </a:rPr>
              <a:t>Categorical</a:t>
            </a:r>
            <a:endParaRPr lang="en-US" sz="1500" dirty="0"/>
          </a:p>
        </p:txBody>
      </p:sp>
      <p:sp>
        <p:nvSpPr>
          <p:cNvPr id="35" name="Text 33"/>
          <p:cNvSpPr txBox="1"/>
          <p:nvPr/>
        </p:nvSpPr>
        <p:spPr>
          <a:xfrm>
            <a:off x="6508699" y="3794760"/>
            <a:ext cx="2194560" cy="502920"/>
          </a:xfrm>
          <a:prstGeom prst="roundRect">
            <a:avLst>
              <a:gd name="adj" fmla="val 18182"/>
            </a:avLst>
          </a:prstGeom>
          <a:solidFill>
            <a:schemeClr val="bg2"/>
          </a:solidFill>
          <a:ln/>
        </p:spPr>
        <p:txBody>
          <a:bodyPr wrap="square" lIns="0" tIns="0" rIns="0" bIns="0" rtlCol="0" anchor="ctr"/>
          <a:lstStyle/>
          <a:p>
            <a:pPr marL="0" indent="0" algn="ctr">
              <a:buNone/>
            </a:pPr>
            <a:r>
              <a:rPr lang="en-US" sz="1400" b="1" dirty="0">
                <a:solidFill>
                  <a:schemeClr val="tx1"/>
                </a:solidFill>
              </a:rPr>
              <a:t>Most Frequent Imputer</a:t>
            </a:r>
            <a:endParaRPr lang="en-US" sz="1400" dirty="0"/>
          </a:p>
        </p:txBody>
      </p:sp>
      <p:sp>
        <p:nvSpPr>
          <p:cNvPr id="36" name="Arrow"/>
          <p:cNvSpPr/>
          <p:nvPr/>
        </p:nvSpPr>
        <p:spPr>
          <a:xfrm>
            <a:off x="8758123" y="3945636"/>
            <a:ext cx="201168" cy="201168"/>
          </a:xfrm>
          <a:prstGeom prst="rightArrow">
            <a:avLst/>
          </a:prstGeom>
          <a:solidFill>
            <a:schemeClr val="accent1"/>
          </a:solidFill>
          <a:ln/>
        </p:spPr>
        <p:txBody>
          <a:bodyPr/>
          <a:lstStyle/>
          <a:p>
            <a:endParaRPr lang="en-US"/>
          </a:p>
        </p:txBody>
      </p:sp>
      <p:sp>
        <p:nvSpPr>
          <p:cNvPr id="37" name="Text 35"/>
          <p:cNvSpPr txBox="1"/>
          <p:nvPr/>
        </p:nvSpPr>
        <p:spPr>
          <a:xfrm>
            <a:off x="9014155" y="3794760"/>
            <a:ext cx="1737360" cy="502920"/>
          </a:xfrm>
          <a:prstGeom prst="roundRect">
            <a:avLst>
              <a:gd name="adj" fmla="val 18182"/>
            </a:avLst>
          </a:prstGeom>
          <a:solidFill>
            <a:schemeClr val="bg2"/>
          </a:solidFill>
          <a:ln/>
        </p:spPr>
        <p:txBody>
          <a:bodyPr wrap="square" lIns="0" tIns="0" rIns="0" bIns="0" rtlCol="0" anchor="ctr"/>
          <a:lstStyle/>
          <a:p>
            <a:pPr marL="0" indent="0" algn="ctr">
              <a:buNone/>
            </a:pPr>
            <a:r>
              <a:rPr lang="en-US" sz="1400" b="1" dirty="0">
                <a:solidFill>
                  <a:schemeClr val="tx1"/>
                </a:solidFill>
              </a:rPr>
              <a:t>OneHotEncoder</a:t>
            </a:r>
            <a:endParaRPr lang="en-US" sz="1400" dirty="0"/>
          </a:p>
        </p:txBody>
      </p:sp>
      <p:sp>
        <p:nvSpPr>
          <p:cNvPr id="38" name="WarningCard"/>
          <p:cNvSpPr/>
          <p:nvPr/>
        </p:nvSpPr>
        <p:spPr>
          <a:xfrm>
            <a:off x="548640" y="4754880"/>
            <a:ext cx="11094415" cy="1463040"/>
          </a:xfrm>
          <a:prstGeom prst="roundRect">
            <a:avLst>
              <a:gd name="adj" fmla="val 7500"/>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39" name="IconBg"/>
          <p:cNvSpPr/>
          <p:nvPr/>
        </p:nvSpPr>
        <p:spPr>
          <a:xfrm>
            <a:off x="868680" y="5120640"/>
            <a:ext cx="731520" cy="731520"/>
          </a:xfrm>
          <a:prstGeom prst="ellipse">
            <a:avLst/>
          </a:prstGeom>
          <a:solidFill>
            <a:srgbClr val="F4A62A"/>
          </a:solidFill>
          <a:ln/>
        </p:spPr>
        <p:txBody>
          <a:bodyPr/>
          <a:lstStyle/>
          <a:p>
            <a:endParaRPr lang="en-US"/>
          </a:p>
        </p:txBody>
      </p:sp>
      <p:pic>
        <p:nvPicPr>
          <p:cNvPr id="40" name="Image 0" descr="ShieldAlt"/>
          <p:cNvPicPr>
            <a:picLocks noChangeAspect="1"/>
          </p:cNvPicPr>
          <p:nvPr/>
        </p:nvPicPr>
        <p:blipFill>
          <a:blip r:embed="rId3"/>
          <a:stretch>
            <a:fillRect/>
          </a:stretch>
        </p:blipFill>
        <p:spPr>
          <a:xfrm>
            <a:off x="1051560" y="5303520"/>
            <a:ext cx="365760" cy="365760"/>
          </a:xfrm>
          <a:prstGeom prst="rect">
            <a:avLst/>
          </a:prstGeom>
        </p:spPr>
      </p:pic>
      <p:sp>
        <p:nvSpPr>
          <p:cNvPr id="41" name="Text 38"/>
          <p:cNvSpPr txBox="1"/>
          <p:nvPr/>
        </p:nvSpPr>
        <p:spPr>
          <a:xfrm>
            <a:off x="1874520" y="4846320"/>
            <a:ext cx="9448495" cy="1280160"/>
          </a:xfrm>
          <a:prstGeom prst="rect">
            <a:avLst/>
          </a:prstGeom>
          <a:noFill/>
          <a:ln/>
        </p:spPr>
        <p:txBody>
          <a:bodyPr wrap="square" lIns="0" tIns="0" rIns="0" bIns="0" rtlCol="0" anchor="ctr"/>
          <a:lstStyle/>
          <a:p>
            <a:pPr marL="0" indent="0">
              <a:spcAft>
                <a:spcPts val="600"/>
              </a:spcAft>
              <a:buNone/>
            </a:pPr>
            <a:r>
              <a:rPr lang="en-US" sz="1700" b="1" dirty="0">
                <a:solidFill>
                  <a:schemeClr val="bg1"/>
                </a:solidFill>
              </a:rPr>
              <a:t>Test tuyệt đối không tham gia fit imputer, scaler, encoder hoặc tuning.</a:t>
            </a:r>
            <a:endParaRPr lang="en-US" sz="1700" dirty="0"/>
          </a:p>
          <a:p>
            <a:pPr marL="0" indent="0">
              <a:spcAft>
                <a:spcPts val="600"/>
              </a:spcAft>
              <a:buNone/>
            </a:pPr>
            <a:r>
              <a:rPr lang="en-US" sz="1500" dirty="0">
                <a:solidFill>
                  <a:schemeClr val="accent6"/>
                </a:solidFill>
              </a:rPr>
              <a:t>Test set phải được xem là dữ liệu chưa từng xuất hiện trong quá trình huấn luyện.</a:t>
            </a:r>
            <a:endParaRPr lang="en-US" sz="1700" dirty="0"/>
          </a:p>
        </p:txBody>
      </p:sp>
      <p:sp>
        <p:nvSpPr>
          <p:cNvPr id="42"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Linear Regression và Decision Tree Regressor</a:t>
            </a:r>
            <a:endParaRPr lang="en-US" sz="3000" dirty="0"/>
          </a:p>
        </p:txBody>
      </p:sp>
      <p:sp>
        <p:nvSpPr>
          <p:cNvPr id="5" name="ModelCard"/>
          <p:cNvSpPr/>
          <p:nvPr/>
        </p:nvSpPr>
        <p:spPr>
          <a:xfrm>
            <a:off x="548640" y="1463040"/>
            <a:ext cx="5408676" cy="4754880"/>
          </a:xfrm>
          <a:prstGeom prst="roundRect">
            <a:avLst>
              <a:gd name="adj" fmla="val 230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IconBg"/>
          <p:cNvSpPr/>
          <p:nvPr/>
        </p:nvSpPr>
        <p:spPr>
          <a:xfrm>
            <a:off x="822960" y="1719072"/>
            <a:ext cx="566928" cy="566928"/>
          </a:xfrm>
          <a:prstGeom prst="ellipse">
            <a:avLst/>
          </a:prstGeom>
          <a:solidFill>
            <a:srgbClr val="1F6FA8"/>
          </a:solidFill>
          <a:ln/>
        </p:spPr>
        <p:txBody>
          <a:bodyPr/>
          <a:lstStyle/>
          <a:p>
            <a:endParaRPr lang="en-US"/>
          </a:p>
        </p:txBody>
      </p:sp>
      <p:pic>
        <p:nvPicPr>
          <p:cNvPr id="7" name="Image 0" descr="ChartLine"/>
          <p:cNvPicPr>
            <a:picLocks noChangeAspect="1"/>
          </p:cNvPicPr>
          <p:nvPr/>
        </p:nvPicPr>
        <p:blipFill>
          <a:blip r:embed="rId3"/>
          <a:stretch>
            <a:fillRect/>
          </a:stretch>
        </p:blipFill>
        <p:spPr>
          <a:xfrm>
            <a:off x="964692" y="1860804"/>
            <a:ext cx="283464" cy="283464"/>
          </a:xfrm>
          <a:prstGeom prst="rect">
            <a:avLst/>
          </a:prstGeom>
        </p:spPr>
      </p:pic>
      <p:sp>
        <p:nvSpPr>
          <p:cNvPr id="8" name="Text 5"/>
          <p:cNvSpPr txBox="1"/>
          <p:nvPr/>
        </p:nvSpPr>
        <p:spPr>
          <a:xfrm>
            <a:off x="1554480" y="1719072"/>
            <a:ext cx="4128516"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Linear Regression</a:t>
            </a:r>
            <a:endParaRPr lang="en-US" sz="2200" dirty="0"/>
          </a:p>
        </p:txBody>
      </p:sp>
      <p:sp>
        <p:nvSpPr>
          <p:cNvPr id="9" name="Text 6"/>
          <p:cNvSpPr txBox="1"/>
          <p:nvPr/>
        </p:nvSpPr>
        <p:spPr>
          <a:xfrm>
            <a:off x="822960" y="2514600"/>
            <a:ext cx="4860036" cy="1691640"/>
          </a:xfrm>
          <a:prstGeom prst="rect">
            <a:avLst/>
          </a:prstGeom>
          <a:noFill/>
          <a:ln/>
        </p:spPr>
        <p:txBody>
          <a:bodyPr wrap="square" lIns="0" tIns="0" rIns="0" bIns="0" rtlCol="0" anchor="t"/>
          <a:lstStyle/>
          <a:p>
            <a:pPr marL="0" indent="0">
              <a:spcAft>
                <a:spcPts val="700"/>
              </a:spcAft>
              <a:buNone/>
            </a:pPr>
            <a:r>
              <a:rPr lang="en-US" sz="1400" dirty="0">
                <a:solidFill>
                  <a:schemeClr val="tx1"/>
                </a:solidFill>
              </a:rPr>
              <a:t>Tìm hàm tuyến tính làm nhỏ tổng sai số giữa dự đoán và thực tế.</a:t>
            </a:r>
            <a:endParaRPr lang="en-US" sz="1400" dirty="0"/>
          </a:p>
          <a:p>
            <a:pPr marL="0" indent="0">
              <a:spcAft>
                <a:spcPts val="700"/>
              </a:spcAft>
              <a:buNone/>
            </a:pPr>
            <a:r>
              <a:rPr lang="en-US" sz="1400" b="1" dirty="0">
                <a:solidFill>
                  <a:schemeClr val="accent3"/>
                </a:solidFill>
              </a:rPr>
              <a:t>Ưu điểm: </a:t>
            </a:r>
            <a:r>
              <a:rPr lang="en-US" sz="1400" dirty="0">
                <a:solidFill>
                  <a:schemeClr val="tx1"/>
                </a:solidFill>
              </a:rPr>
              <a:t>đơn giản, nhanh, dễ giải thích.</a:t>
            </a:r>
            <a:endParaRPr lang="en-US" sz="1400" dirty="0"/>
          </a:p>
          <a:p>
            <a:pPr marL="0" indent="0">
              <a:spcAft>
                <a:spcPts val="700"/>
              </a:spcAft>
              <a:buNone/>
            </a:pPr>
            <a:r>
              <a:rPr lang="en-US" sz="1400" b="1" dirty="0">
                <a:solidFill>
                  <a:schemeClr val="accent4"/>
                </a:solidFill>
              </a:rPr>
              <a:t>Hạn chế: </a:t>
            </a:r>
            <a:r>
              <a:rPr lang="en-US" sz="1400" dirty="0">
                <a:solidFill>
                  <a:schemeClr val="tx1"/>
                </a:solidFill>
              </a:rPr>
              <a:t>khó mô hình hóa quan hệ phi tuyến phức tạp.</a:t>
            </a:r>
            <a:endParaRPr lang="en-US" sz="1400" dirty="0"/>
          </a:p>
        </p:txBody>
      </p:sp>
      <p:sp>
        <p:nvSpPr>
          <p:cNvPr id="10" name="IllusBg"/>
          <p:cNvSpPr/>
          <p:nvPr/>
        </p:nvSpPr>
        <p:spPr>
          <a:xfrm>
            <a:off x="822960" y="4297680"/>
            <a:ext cx="4860036" cy="1417320"/>
          </a:xfrm>
          <a:prstGeom prst="roundRect">
            <a:avLst>
              <a:gd name="adj" fmla="val 6452"/>
            </a:avLst>
          </a:prstGeom>
          <a:solidFill>
            <a:schemeClr val="bg2"/>
          </a:solidFill>
          <a:ln/>
        </p:spPr>
        <p:txBody>
          <a:bodyPr/>
          <a:lstStyle/>
          <a:p>
            <a:endParaRPr lang="en-US"/>
          </a:p>
        </p:txBody>
      </p:sp>
      <p:sp>
        <p:nvSpPr>
          <p:cNvPr id="11" name="RegressionLine"/>
          <p:cNvSpPr/>
          <p:nvPr/>
        </p:nvSpPr>
        <p:spPr>
          <a:xfrm flipV="1">
            <a:off x="1065962" y="4524451"/>
            <a:ext cx="4374032" cy="907085"/>
          </a:xfrm>
          <a:prstGeom prst="line">
            <a:avLst/>
          </a:prstGeom>
          <a:noFill/>
          <a:ln w="38100">
            <a:solidFill>
              <a:schemeClr val="accent2"/>
            </a:solidFill>
            <a:prstDash val="solid"/>
          </a:ln>
        </p:spPr>
        <p:txBody>
          <a:bodyPr/>
          <a:lstStyle/>
          <a:p>
            <a:endParaRPr lang="en-US"/>
          </a:p>
        </p:txBody>
      </p:sp>
      <p:sp>
        <p:nvSpPr>
          <p:cNvPr id="12" name="Dot"/>
          <p:cNvSpPr/>
          <p:nvPr/>
        </p:nvSpPr>
        <p:spPr>
          <a:xfrm>
            <a:off x="1143183" y="5306263"/>
            <a:ext cx="137160" cy="137160"/>
          </a:xfrm>
          <a:prstGeom prst="ellipse">
            <a:avLst/>
          </a:prstGeom>
          <a:solidFill>
            <a:srgbClr val="1F6FA8"/>
          </a:solidFill>
          <a:ln/>
        </p:spPr>
        <p:txBody>
          <a:bodyPr/>
          <a:lstStyle/>
          <a:p>
            <a:endParaRPr lang="en-US"/>
          </a:p>
        </p:txBody>
      </p:sp>
      <p:sp>
        <p:nvSpPr>
          <p:cNvPr id="13" name="Dot"/>
          <p:cNvSpPr/>
          <p:nvPr/>
        </p:nvSpPr>
        <p:spPr>
          <a:xfrm>
            <a:off x="1726387" y="5051146"/>
            <a:ext cx="137160" cy="137160"/>
          </a:xfrm>
          <a:prstGeom prst="ellipse">
            <a:avLst/>
          </a:prstGeom>
          <a:solidFill>
            <a:srgbClr val="1F6FA8"/>
          </a:solidFill>
          <a:ln/>
        </p:spPr>
        <p:txBody>
          <a:bodyPr/>
          <a:lstStyle/>
          <a:p>
            <a:endParaRPr lang="en-US"/>
          </a:p>
        </p:txBody>
      </p:sp>
      <p:sp>
        <p:nvSpPr>
          <p:cNvPr id="14" name="Dot"/>
          <p:cNvSpPr/>
          <p:nvPr/>
        </p:nvSpPr>
        <p:spPr>
          <a:xfrm>
            <a:off x="2212391" y="5221224"/>
            <a:ext cx="137160" cy="137160"/>
          </a:xfrm>
          <a:prstGeom prst="ellipse">
            <a:avLst/>
          </a:prstGeom>
          <a:solidFill>
            <a:srgbClr val="1F6FA8"/>
          </a:solidFill>
          <a:ln/>
        </p:spPr>
        <p:txBody>
          <a:bodyPr/>
          <a:lstStyle/>
          <a:p>
            <a:endParaRPr lang="en-US"/>
          </a:p>
        </p:txBody>
      </p:sp>
      <p:sp>
        <p:nvSpPr>
          <p:cNvPr id="15" name="Dot"/>
          <p:cNvSpPr/>
          <p:nvPr/>
        </p:nvSpPr>
        <p:spPr>
          <a:xfrm>
            <a:off x="2795595" y="4881067"/>
            <a:ext cx="137160" cy="137160"/>
          </a:xfrm>
          <a:prstGeom prst="ellipse">
            <a:avLst/>
          </a:prstGeom>
          <a:solidFill>
            <a:srgbClr val="1F6FA8"/>
          </a:solidFill>
          <a:ln/>
        </p:spPr>
        <p:txBody>
          <a:bodyPr/>
          <a:lstStyle/>
          <a:p>
            <a:endParaRPr lang="en-US"/>
          </a:p>
        </p:txBody>
      </p:sp>
      <p:sp>
        <p:nvSpPr>
          <p:cNvPr id="16" name="Dot"/>
          <p:cNvSpPr/>
          <p:nvPr/>
        </p:nvSpPr>
        <p:spPr>
          <a:xfrm>
            <a:off x="3281599" y="5008626"/>
            <a:ext cx="137160" cy="137160"/>
          </a:xfrm>
          <a:prstGeom prst="ellipse">
            <a:avLst/>
          </a:prstGeom>
          <a:solidFill>
            <a:srgbClr val="1F6FA8"/>
          </a:solidFill>
          <a:ln/>
        </p:spPr>
        <p:txBody>
          <a:bodyPr/>
          <a:lstStyle/>
          <a:p>
            <a:endParaRPr lang="en-US"/>
          </a:p>
        </p:txBody>
      </p:sp>
      <p:sp>
        <p:nvSpPr>
          <p:cNvPr id="17" name="Dot"/>
          <p:cNvSpPr/>
          <p:nvPr/>
        </p:nvSpPr>
        <p:spPr>
          <a:xfrm>
            <a:off x="3816203" y="4682642"/>
            <a:ext cx="137160" cy="137160"/>
          </a:xfrm>
          <a:prstGeom prst="ellipse">
            <a:avLst/>
          </a:prstGeom>
          <a:solidFill>
            <a:srgbClr val="1F6FA8"/>
          </a:solidFill>
          <a:ln/>
        </p:spPr>
        <p:txBody>
          <a:bodyPr/>
          <a:lstStyle/>
          <a:p>
            <a:endParaRPr lang="en-US"/>
          </a:p>
        </p:txBody>
      </p:sp>
      <p:sp>
        <p:nvSpPr>
          <p:cNvPr id="18" name="Dot"/>
          <p:cNvSpPr/>
          <p:nvPr/>
        </p:nvSpPr>
        <p:spPr>
          <a:xfrm>
            <a:off x="4399407" y="4796028"/>
            <a:ext cx="137160" cy="137160"/>
          </a:xfrm>
          <a:prstGeom prst="ellipse">
            <a:avLst/>
          </a:prstGeom>
          <a:solidFill>
            <a:srgbClr val="1F6FA8"/>
          </a:solidFill>
          <a:ln/>
        </p:spPr>
        <p:txBody>
          <a:bodyPr/>
          <a:lstStyle/>
          <a:p>
            <a:endParaRPr lang="en-US"/>
          </a:p>
        </p:txBody>
      </p:sp>
      <p:sp>
        <p:nvSpPr>
          <p:cNvPr id="19" name="Dot"/>
          <p:cNvSpPr/>
          <p:nvPr/>
        </p:nvSpPr>
        <p:spPr>
          <a:xfrm>
            <a:off x="4934011" y="4484218"/>
            <a:ext cx="137160" cy="137160"/>
          </a:xfrm>
          <a:prstGeom prst="ellipse">
            <a:avLst/>
          </a:prstGeom>
          <a:solidFill>
            <a:srgbClr val="1F6FA8"/>
          </a:solidFill>
          <a:ln/>
        </p:spPr>
        <p:txBody>
          <a:bodyPr/>
          <a:lstStyle/>
          <a:p>
            <a:endParaRPr lang="en-US"/>
          </a:p>
        </p:txBody>
      </p:sp>
      <p:sp>
        <p:nvSpPr>
          <p:cNvPr id="20" name="Dot"/>
          <p:cNvSpPr/>
          <p:nvPr/>
        </p:nvSpPr>
        <p:spPr>
          <a:xfrm>
            <a:off x="5322814" y="4597603"/>
            <a:ext cx="137160" cy="137160"/>
          </a:xfrm>
          <a:prstGeom prst="ellipse">
            <a:avLst/>
          </a:prstGeom>
          <a:solidFill>
            <a:srgbClr val="1F6FA8"/>
          </a:solidFill>
          <a:ln/>
        </p:spPr>
        <p:txBody>
          <a:bodyPr/>
          <a:lstStyle/>
          <a:p>
            <a:endParaRPr lang="en-US"/>
          </a:p>
        </p:txBody>
      </p:sp>
      <p:sp>
        <p:nvSpPr>
          <p:cNvPr id="21" name="Dot"/>
          <p:cNvSpPr/>
          <p:nvPr/>
        </p:nvSpPr>
        <p:spPr>
          <a:xfrm>
            <a:off x="832104" y="5907024"/>
            <a:ext cx="128016" cy="128016"/>
          </a:xfrm>
          <a:prstGeom prst="ellipse">
            <a:avLst/>
          </a:prstGeom>
          <a:solidFill>
            <a:srgbClr val="1F6FA8"/>
          </a:solidFill>
          <a:ln/>
        </p:spPr>
        <p:txBody>
          <a:bodyPr/>
          <a:lstStyle/>
          <a:p>
            <a:endParaRPr lang="en-US"/>
          </a:p>
        </p:txBody>
      </p:sp>
      <p:sp>
        <p:nvSpPr>
          <p:cNvPr id="22" name="Text 19"/>
          <p:cNvSpPr txBox="1"/>
          <p:nvPr/>
        </p:nvSpPr>
        <p:spPr>
          <a:xfrm>
            <a:off x="1024128" y="5833872"/>
            <a:ext cx="1097280" cy="274320"/>
          </a:xfrm>
          <a:prstGeom prst="rect">
            <a:avLst/>
          </a:prstGeom>
          <a:noFill/>
          <a:ln/>
        </p:spPr>
        <p:txBody>
          <a:bodyPr wrap="square" lIns="0" tIns="0" rIns="0" bIns="0" rtlCol="0" anchor="ctr"/>
          <a:lstStyle/>
          <a:p>
            <a:pPr marL="0" indent="0">
              <a:buNone/>
            </a:pPr>
            <a:r>
              <a:rPr lang="en-US" sz="1100" dirty="0">
                <a:solidFill>
                  <a:schemeClr val="accent5"/>
                </a:solidFill>
              </a:rPr>
              <a:t>Điểm dữ liệu</a:t>
            </a:r>
            <a:endParaRPr lang="en-US" sz="1100" dirty="0"/>
          </a:p>
        </p:txBody>
      </p:sp>
      <p:sp>
        <p:nvSpPr>
          <p:cNvPr id="23" name="Dot"/>
          <p:cNvSpPr/>
          <p:nvPr/>
        </p:nvSpPr>
        <p:spPr>
          <a:xfrm>
            <a:off x="2295144" y="5907024"/>
            <a:ext cx="128016" cy="128016"/>
          </a:xfrm>
          <a:prstGeom prst="ellipse">
            <a:avLst/>
          </a:prstGeom>
          <a:solidFill>
            <a:srgbClr val="F4A62A"/>
          </a:solidFill>
          <a:ln/>
        </p:spPr>
        <p:txBody>
          <a:bodyPr/>
          <a:lstStyle/>
          <a:p>
            <a:endParaRPr lang="en-US"/>
          </a:p>
        </p:txBody>
      </p:sp>
      <p:sp>
        <p:nvSpPr>
          <p:cNvPr id="24" name="Text 21"/>
          <p:cNvSpPr txBox="1"/>
          <p:nvPr/>
        </p:nvSpPr>
        <p:spPr>
          <a:xfrm>
            <a:off x="2487168" y="5833872"/>
            <a:ext cx="1188720" cy="274320"/>
          </a:xfrm>
          <a:prstGeom prst="rect">
            <a:avLst/>
          </a:prstGeom>
          <a:noFill/>
          <a:ln/>
        </p:spPr>
        <p:txBody>
          <a:bodyPr wrap="square" lIns="0" tIns="0" rIns="0" bIns="0" rtlCol="0" anchor="ctr"/>
          <a:lstStyle/>
          <a:p>
            <a:pPr marL="0" indent="0">
              <a:buNone/>
            </a:pPr>
            <a:r>
              <a:rPr lang="en-US" sz="1100" dirty="0">
                <a:solidFill>
                  <a:schemeClr val="accent5"/>
                </a:solidFill>
              </a:rPr>
              <a:t>Đường hồi quy</a:t>
            </a:r>
            <a:endParaRPr lang="en-US" sz="1100" dirty="0"/>
          </a:p>
        </p:txBody>
      </p:sp>
      <p:sp>
        <p:nvSpPr>
          <p:cNvPr id="25" name="ModelCard"/>
          <p:cNvSpPr/>
          <p:nvPr/>
        </p:nvSpPr>
        <p:spPr>
          <a:xfrm>
            <a:off x="6234379" y="1463040"/>
            <a:ext cx="5408676" cy="4754880"/>
          </a:xfrm>
          <a:prstGeom prst="roundRect">
            <a:avLst>
              <a:gd name="adj" fmla="val 230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6" name="IconBg"/>
          <p:cNvSpPr/>
          <p:nvPr/>
        </p:nvSpPr>
        <p:spPr>
          <a:xfrm>
            <a:off x="6508699" y="1719072"/>
            <a:ext cx="566928" cy="566928"/>
          </a:xfrm>
          <a:prstGeom prst="ellipse">
            <a:avLst/>
          </a:prstGeom>
          <a:solidFill>
            <a:srgbClr val="1F6FA8"/>
          </a:solidFill>
          <a:ln/>
        </p:spPr>
        <p:txBody>
          <a:bodyPr/>
          <a:lstStyle/>
          <a:p>
            <a:endParaRPr lang="en-US"/>
          </a:p>
        </p:txBody>
      </p:sp>
      <p:pic>
        <p:nvPicPr>
          <p:cNvPr id="27" name="Image 1" descr="Sitemap"/>
          <p:cNvPicPr>
            <a:picLocks noChangeAspect="1"/>
          </p:cNvPicPr>
          <p:nvPr/>
        </p:nvPicPr>
        <p:blipFill>
          <a:blip r:embed="rId4"/>
          <a:stretch>
            <a:fillRect/>
          </a:stretch>
        </p:blipFill>
        <p:spPr>
          <a:xfrm>
            <a:off x="6650431" y="1860804"/>
            <a:ext cx="283464" cy="283464"/>
          </a:xfrm>
          <a:prstGeom prst="rect">
            <a:avLst/>
          </a:prstGeom>
        </p:spPr>
      </p:pic>
      <p:sp>
        <p:nvSpPr>
          <p:cNvPr id="28" name="Text 24"/>
          <p:cNvSpPr txBox="1"/>
          <p:nvPr/>
        </p:nvSpPr>
        <p:spPr>
          <a:xfrm>
            <a:off x="7240219" y="1719072"/>
            <a:ext cx="4128516"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Decision Tree Regressor</a:t>
            </a:r>
            <a:endParaRPr lang="en-US" sz="2200" dirty="0"/>
          </a:p>
        </p:txBody>
      </p:sp>
      <p:sp>
        <p:nvSpPr>
          <p:cNvPr id="29" name="Text 25"/>
          <p:cNvSpPr txBox="1"/>
          <p:nvPr/>
        </p:nvSpPr>
        <p:spPr>
          <a:xfrm>
            <a:off x="6508699" y="2514600"/>
            <a:ext cx="4860036" cy="1691640"/>
          </a:xfrm>
          <a:prstGeom prst="rect">
            <a:avLst/>
          </a:prstGeom>
          <a:noFill/>
          <a:ln/>
        </p:spPr>
        <p:txBody>
          <a:bodyPr wrap="square" lIns="0" tIns="0" rIns="0" bIns="0" rtlCol="0" anchor="t"/>
          <a:lstStyle/>
          <a:p>
            <a:pPr marL="0" indent="0">
              <a:spcAft>
                <a:spcPts val="700"/>
              </a:spcAft>
              <a:buNone/>
            </a:pPr>
            <a:r>
              <a:rPr lang="en-US" sz="1400" dirty="0">
                <a:solidFill>
                  <a:schemeClr val="tx1"/>
                </a:solidFill>
              </a:rPr>
              <a:t>Chia dữ liệu theo điều kiện của feature; mỗi leaf trả về một giá trị dự đoán.</a:t>
            </a:r>
            <a:endParaRPr lang="en-US" sz="1400" dirty="0"/>
          </a:p>
          <a:p>
            <a:pPr marL="0" indent="0">
              <a:spcAft>
                <a:spcPts val="700"/>
              </a:spcAft>
              <a:buNone/>
            </a:pPr>
            <a:r>
              <a:rPr lang="en-US" sz="1400" b="1" dirty="0">
                <a:solidFill>
                  <a:schemeClr val="accent3"/>
                </a:solidFill>
              </a:rPr>
              <a:t>Ưu điểm: </a:t>
            </a:r>
            <a:r>
              <a:rPr lang="en-US" sz="1400" dirty="0">
                <a:solidFill>
                  <a:schemeClr val="tx1"/>
                </a:solidFill>
              </a:rPr>
              <a:t>học được quan hệ phi tuyến.</a:t>
            </a:r>
            <a:endParaRPr lang="en-US" sz="1400" dirty="0"/>
          </a:p>
          <a:p>
            <a:pPr marL="0" indent="0">
              <a:spcAft>
                <a:spcPts val="700"/>
              </a:spcAft>
              <a:buNone/>
            </a:pPr>
            <a:r>
              <a:rPr lang="en-US" sz="1400" b="1" dirty="0">
                <a:solidFill>
                  <a:schemeClr val="accent4"/>
                </a:solidFill>
              </a:rPr>
              <a:t>Hạn chế: </a:t>
            </a:r>
            <a:r>
              <a:rPr lang="en-US" sz="1400" dirty="0">
                <a:solidFill>
                  <a:schemeClr val="tx1"/>
                </a:solidFill>
              </a:rPr>
              <a:t>cây quá sâu dễ overfitting.</a:t>
            </a:r>
            <a:endParaRPr lang="en-US" sz="1400" dirty="0"/>
          </a:p>
        </p:txBody>
      </p:sp>
      <p:sp>
        <p:nvSpPr>
          <p:cNvPr id="30" name="IllusBg"/>
          <p:cNvSpPr/>
          <p:nvPr/>
        </p:nvSpPr>
        <p:spPr>
          <a:xfrm>
            <a:off x="6508699" y="4297680"/>
            <a:ext cx="4860036" cy="1417320"/>
          </a:xfrm>
          <a:prstGeom prst="roundRect">
            <a:avLst>
              <a:gd name="adj" fmla="val 6452"/>
            </a:avLst>
          </a:prstGeom>
          <a:solidFill>
            <a:schemeClr val="bg2"/>
          </a:solidFill>
          <a:ln/>
        </p:spPr>
        <p:txBody>
          <a:bodyPr/>
          <a:lstStyle/>
          <a:p>
            <a:endParaRPr lang="en-US"/>
          </a:p>
        </p:txBody>
      </p:sp>
      <p:sp>
        <p:nvSpPr>
          <p:cNvPr id="31" name="Line"/>
          <p:cNvSpPr/>
          <p:nvPr/>
        </p:nvSpPr>
        <p:spPr>
          <a:xfrm flipV="1">
            <a:off x="7749997" y="4736592"/>
            <a:ext cx="1188720" cy="128016"/>
          </a:xfrm>
          <a:prstGeom prst="line">
            <a:avLst/>
          </a:prstGeom>
          <a:noFill/>
          <a:ln w="19050">
            <a:solidFill>
              <a:schemeClr val="accent5"/>
            </a:solidFill>
            <a:prstDash val="solid"/>
          </a:ln>
        </p:spPr>
        <p:txBody>
          <a:bodyPr/>
          <a:lstStyle/>
          <a:p>
            <a:endParaRPr lang="en-US"/>
          </a:p>
        </p:txBody>
      </p:sp>
      <p:sp>
        <p:nvSpPr>
          <p:cNvPr id="32" name="Line"/>
          <p:cNvSpPr/>
          <p:nvPr/>
        </p:nvSpPr>
        <p:spPr>
          <a:xfrm>
            <a:off x="8938717" y="4736592"/>
            <a:ext cx="1188720" cy="128016"/>
          </a:xfrm>
          <a:prstGeom prst="line">
            <a:avLst/>
          </a:prstGeom>
          <a:noFill/>
          <a:ln w="19050">
            <a:solidFill>
              <a:schemeClr val="accent5"/>
            </a:solidFill>
            <a:prstDash val="solid"/>
          </a:ln>
        </p:spPr>
        <p:txBody>
          <a:bodyPr/>
          <a:lstStyle/>
          <a:p>
            <a:endParaRPr lang="en-US"/>
          </a:p>
        </p:txBody>
      </p:sp>
      <p:sp>
        <p:nvSpPr>
          <p:cNvPr id="33" name="Line"/>
          <p:cNvSpPr/>
          <p:nvPr/>
        </p:nvSpPr>
        <p:spPr>
          <a:xfrm flipV="1">
            <a:off x="7018477" y="5193792"/>
            <a:ext cx="731520" cy="109728"/>
          </a:xfrm>
          <a:prstGeom prst="line">
            <a:avLst/>
          </a:prstGeom>
          <a:noFill/>
          <a:ln w="19050">
            <a:solidFill>
              <a:schemeClr val="accent5"/>
            </a:solidFill>
            <a:prstDash val="solid"/>
          </a:ln>
        </p:spPr>
        <p:txBody>
          <a:bodyPr/>
          <a:lstStyle/>
          <a:p>
            <a:endParaRPr lang="en-US"/>
          </a:p>
        </p:txBody>
      </p:sp>
      <p:sp>
        <p:nvSpPr>
          <p:cNvPr id="34" name="Line"/>
          <p:cNvSpPr/>
          <p:nvPr/>
        </p:nvSpPr>
        <p:spPr>
          <a:xfrm>
            <a:off x="7749997" y="5193792"/>
            <a:ext cx="731520" cy="109728"/>
          </a:xfrm>
          <a:prstGeom prst="line">
            <a:avLst/>
          </a:prstGeom>
          <a:noFill/>
          <a:ln w="19050">
            <a:solidFill>
              <a:schemeClr val="accent5"/>
            </a:solidFill>
            <a:prstDash val="solid"/>
          </a:ln>
        </p:spPr>
        <p:txBody>
          <a:bodyPr/>
          <a:lstStyle/>
          <a:p>
            <a:endParaRPr lang="en-US"/>
          </a:p>
        </p:txBody>
      </p:sp>
      <p:sp>
        <p:nvSpPr>
          <p:cNvPr id="35" name="Text 31"/>
          <p:cNvSpPr txBox="1"/>
          <p:nvPr/>
        </p:nvSpPr>
        <p:spPr>
          <a:xfrm>
            <a:off x="8481517" y="4407408"/>
            <a:ext cx="914400" cy="329184"/>
          </a:xfrm>
          <a:prstGeom prst="roundRect">
            <a:avLst>
              <a:gd name="adj" fmla="val 22222"/>
            </a:avLst>
          </a:prstGeom>
          <a:solidFill>
            <a:schemeClr val="accent1"/>
          </a:solidFill>
          <a:ln/>
        </p:spPr>
        <p:txBody>
          <a:bodyPr wrap="square" lIns="0" tIns="0" rIns="0" bIns="0" rtlCol="0" anchor="ctr"/>
          <a:lstStyle/>
          <a:p>
            <a:pPr marL="0" indent="0" algn="ctr">
              <a:buNone/>
            </a:pPr>
            <a:r>
              <a:rPr lang="en-US" sz="1200" b="1" dirty="0">
                <a:solidFill>
                  <a:schemeClr val="bg1"/>
                </a:solidFill>
              </a:rPr>
              <a:t>x &lt; t?</a:t>
            </a:r>
            <a:endParaRPr lang="en-US" sz="1200" dirty="0"/>
          </a:p>
        </p:txBody>
      </p:sp>
      <p:sp>
        <p:nvSpPr>
          <p:cNvPr id="36" name="Text 32"/>
          <p:cNvSpPr txBox="1"/>
          <p:nvPr/>
        </p:nvSpPr>
        <p:spPr>
          <a:xfrm>
            <a:off x="7292797" y="4864608"/>
            <a:ext cx="914400" cy="329184"/>
          </a:xfrm>
          <a:prstGeom prst="roundRect">
            <a:avLst>
              <a:gd name="adj" fmla="val 22222"/>
            </a:avLst>
          </a:prstGeom>
          <a:solidFill>
            <a:schemeClr val="accent1"/>
          </a:solidFill>
          <a:ln/>
        </p:spPr>
        <p:txBody>
          <a:bodyPr wrap="square" lIns="0" tIns="0" rIns="0" bIns="0" rtlCol="0" anchor="ctr"/>
          <a:lstStyle/>
          <a:p>
            <a:pPr marL="0" indent="0" algn="ctr">
              <a:buNone/>
            </a:pPr>
            <a:r>
              <a:rPr lang="en-US" sz="1200" b="1" dirty="0">
                <a:solidFill>
                  <a:schemeClr val="bg1"/>
                </a:solidFill>
              </a:rPr>
              <a:t>x &lt; u?</a:t>
            </a:r>
            <a:endParaRPr lang="en-US" sz="1200" dirty="0"/>
          </a:p>
        </p:txBody>
      </p:sp>
      <p:sp>
        <p:nvSpPr>
          <p:cNvPr id="37" name="Text 33"/>
          <p:cNvSpPr txBox="1"/>
          <p:nvPr/>
        </p:nvSpPr>
        <p:spPr>
          <a:xfrm>
            <a:off x="9670237" y="4864608"/>
            <a:ext cx="91440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200" b="1" dirty="0">
                <a:solidFill>
                  <a:schemeClr val="tx1"/>
                </a:solidFill>
              </a:rPr>
              <a:t>Leaf</a:t>
            </a:r>
            <a:endParaRPr lang="en-US" sz="1200" dirty="0"/>
          </a:p>
        </p:txBody>
      </p:sp>
      <p:sp>
        <p:nvSpPr>
          <p:cNvPr id="38" name="Text 34"/>
          <p:cNvSpPr txBox="1"/>
          <p:nvPr/>
        </p:nvSpPr>
        <p:spPr>
          <a:xfrm>
            <a:off x="6561277" y="5303520"/>
            <a:ext cx="91440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200" b="1" dirty="0">
                <a:solidFill>
                  <a:schemeClr val="tx1"/>
                </a:solidFill>
              </a:rPr>
              <a:t>Leaf</a:t>
            </a:r>
            <a:endParaRPr lang="en-US" sz="1200" dirty="0"/>
          </a:p>
        </p:txBody>
      </p:sp>
      <p:sp>
        <p:nvSpPr>
          <p:cNvPr id="39" name="Text 35"/>
          <p:cNvSpPr txBox="1"/>
          <p:nvPr/>
        </p:nvSpPr>
        <p:spPr>
          <a:xfrm>
            <a:off x="8024317" y="5303520"/>
            <a:ext cx="914400" cy="329184"/>
          </a:xfrm>
          <a:prstGeom prst="roundRect">
            <a:avLst>
              <a:gd name="adj" fmla="val 22222"/>
            </a:avLst>
          </a:prstGeom>
          <a:solidFill>
            <a:schemeClr val="accent2"/>
          </a:solidFill>
          <a:ln/>
        </p:spPr>
        <p:txBody>
          <a:bodyPr wrap="square" lIns="0" tIns="0" rIns="0" bIns="0" rtlCol="0" anchor="ctr"/>
          <a:lstStyle/>
          <a:p>
            <a:pPr marL="0" indent="0" algn="ctr">
              <a:buNone/>
            </a:pPr>
            <a:r>
              <a:rPr lang="en-US" sz="1200" b="1" dirty="0">
                <a:solidFill>
                  <a:schemeClr val="tx1"/>
                </a:solidFill>
              </a:rPr>
              <a:t>Leaf</a:t>
            </a:r>
            <a:endParaRPr lang="en-US" sz="1200" dirty="0"/>
          </a:p>
        </p:txBody>
      </p:sp>
      <p:sp>
        <p:nvSpPr>
          <p:cNvPr id="40" name="Dot"/>
          <p:cNvSpPr/>
          <p:nvPr/>
        </p:nvSpPr>
        <p:spPr>
          <a:xfrm>
            <a:off x="6517843" y="5907024"/>
            <a:ext cx="128016" cy="128016"/>
          </a:xfrm>
          <a:prstGeom prst="ellipse">
            <a:avLst/>
          </a:prstGeom>
          <a:solidFill>
            <a:srgbClr val="1F6FA8"/>
          </a:solidFill>
          <a:ln/>
        </p:spPr>
        <p:txBody>
          <a:bodyPr/>
          <a:lstStyle/>
          <a:p>
            <a:endParaRPr lang="en-US"/>
          </a:p>
        </p:txBody>
      </p:sp>
      <p:sp>
        <p:nvSpPr>
          <p:cNvPr id="41" name="Text 37"/>
          <p:cNvSpPr txBox="1"/>
          <p:nvPr/>
        </p:nvSpPr>
        <p:spPr>
          <a:xfrm>
            <a:off x="6709867" y="5833872"/>
            <a:ext cx="822960" cy="274320"/>
          </a:xfrm>
          <a:prstGeom prst="rect">
            <a:avLst/>
          </a:prstGeom>
          <a:noFill/>
          <a:ln/>
        </p:spPr>
        <p:txBody>
          <a:bodyPr wrap="square" lIns="0" tIns="0" rIns="0" bIns="0" rtlCol="0" anchor="ctr"/>
          <a:lstStyle/>
          <a:p>
            <a:pPr marL="0" indent="0">
              <a:buNone/>
            </a:pPr>
            <a:r>
              <a:rPr lang="en-US" sz="1100" dirty="0">
                <a:solidFill>
                  <a:schemeClr val="accent5"/>
                </a:solidFill>
              </a:rPr>
              <a:t>Điều kiện</a:t>
            </a:r>
            <a:endParaRPr lang="en-US" sz="1100" dirty="0"/>
          </a:p>
        </p:txBody>
      </p:sp>
      <p:sp>
        <p:nvSpPr>
          <p:cNvPr id="42" name="Dot"/>
          <p:cNvSpPr/>
          <p:nvPr/>
        </p:nvSpPr>
        <p:spPr>
          <a:xfrm>
            <a:off x="7706563" y="5907024"/>
            <a:ext cx="128016" cy="128016"/>
          </a:xfrm>
          <a:prstGeom prst="ellipse">
            <a:avLst/>
          </a:prstGeom>
          <a:solidFill>
            <a:srgbClr val="F4A62A"/>
          </a:solidFill>
          <a:ln/>
        </p:spPr>
        <p:txBody>
          <a:bodyPr/>
          <a:lstStyle/>
          <a:p>
            <a:endParaRPr lang="en-US"/>
          </a:p>
        </p:txBody>
      </p:sp>
      <p:sp>
        <p:nvSpPr>
          <p:cNvPr id="43" name="Text 39"/>
          <p:cNvSpPr txBox="1"/>
          <p:nvPr/>
        </p:nvSpPr>
        <p:spPr>
          <a:xfrm>
            <a:off x="7898587" y="5833872"/>
            <a:ext cx="1554480" cy="274320"/>
          </a:xfrm>
          <a:prstGeom prst="rect">
            <a:avLst/>
          </a:prstGeom>
          <a:noFill/>
          <a:ln/>
        </p:spPr>
        <p:txBody>
          <a:bodyPr wrap="square" lIns="0" tIns="0" rIns="0" bIns="0" rtlCol="0" anchor="ctr"/>
          <a:lstStyle/>
          <a:p>
            <a:pPr marL="0" indent="0">
              <a:buNone/>
            </a:pPr>
            <a:r>
              <a:rPr lang="en-US" sz="1100" dirty="0">
                <a:solidFill>
                  <a:schemeClr val="accent5"/>
                </a:solidFill>
              </a:rPr>
              <a:t>Leaf (giá trị dự đoán)</a:t>
            </a:r>
            <a:endParaRPr lang="en-US" sz="1100" dirty="0"/>
          </a:p>
        </p:txBody>
      </p:sp>
      <p:sp>
        <p:nvSpPr>
          <p:cNvPr id="44"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KNN Regressor và SVR</a:t>
            </a:r>
            <a:endParaRPr lang="en-US" sz="3000" dirty="0"/>
          </a:p>
        </p:txBody>
      </p:sp>
      <p:sp>
        <p:nvSpPr>
          <p:cNvPr id="5" name="ModelCard"/>
          <p:cNvSpPr/>
          <p:nvPr/>
        </p:nvSpPr>
        <p:spPr>
          <a:xfrm>
            <a:off x="548640" y="1463040"/>
            <a:ext cx="5408676" cy="4754880"/>
          </a:xfrm>
          <a:prstGeom prst="roundRect">
            <a:avLst>
              <a:gd name="adj" fmla="val 230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IconBg"/>
          <p:cNvSpPr/>
          <p:nvPr/>
        </p:nvSpPr>
        <p:spPr>
          <a:xfrm>
            <a:off x="822960" y="1719072"/>
            <a:ext cx="566928" cy="566928"/>
          </a:xfrm>
          <a:prstGeom prst="ellipse">
            <a:avLst/>
          </a:prstGeom>
          <a:solidFill>
            <a:srgbClr val="1F6FA8"/>
          </a:solidFill>
          <a:ln/>
        </p:spPr>
        <p:txBody>
          <a:bodyPr/>
          <a:lstStyle/>
          <a:p>
            <a:endParaRPr lang="en-US"/>
          </a:p>
        </p:txBody>
      </p:sp>
      <p:pic>
        <p:nvPicPr>
          <p:cNvPr id="7" name="Image 0" descr="CompressArrowsAlt"/>
          <p:cNvPicPr>
            <a:picLocks noChangeAspect="1"/>
          </p:cNvPicPr>
          <p:nvPr/>
        </p:nvPicPr>
        <p:blipFill>
          <a:blip r:embed="rId3"/>
          <a:stretch>
            <a:fillRect/>
          </a:stretch>
        </p:blipFill>
        <p:spPr>
          <a:xfrm>
            <a:off x="964692" y="1860804"/>
            <a:ext cx="283464" cy="283464"/>
          </a:xfrm>
          <a:prstGeom prst="rect">
            <a:avLst/>
          </a:prstGeom>
        </p:spPr>
      </p:pic>
      <p:sp>
        <p:nvSpPr>
          <p:cNvPr id="8" name="Text 5"/>
          <p:cNvSpPr txBox="1"/>
          <p:nvPr/>
        </p:nvSpPr>
        <p:spPr>
          <a:xfrm>
            <a:off x="1554480" y="1719072"/>
            <a:ext cx="4128516"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KNN Regressor</a:t>
            </a:r>
            <a:endParaRPr lang="en-US" sz="2200" dirty="0"/>
          </a:p>
        </p:txBody>
      </p:sp>
      <p:sp>
        <p:nvSpPr>
          <p:cNvPr id="9" name="Text 6"/>
          <p:cNvSpPr txBox="1"/>
          <p:nvPr/>
        </p:nvSpPr>
        <p:spPr>
          <a:xfrm>
            <a:off x="822960" y="2514600"/>
            <a:ext cx="4860036" cy="1691640"/>
          </a:xfrm>
          <a:prstGeom prst="rect">
            <a:avLst/>
          </a:prstGeom>
          <a:noFill/>
          <a:ln/>
        </p:spPr>
        <p:txBody>
          <a:bodyPr wrap="square" lIns="0" tIns="0" rIns="0" bIns="0" rtlCol="0" anchor="t"/>
          <a:lstStyle/>
          <a:p>
            <a:pPr marL="0" indent="0">
              <a:spcAft>
                <a:spcPts val="700"/>
              </a:spcAft>
              <a:buNone/>
            </a:pPr>
            <a:r>
              <a:rPr lang="en-US" sz="1400" dirty="0">
                <a:solidFill>
                  <a:schemeClr val="tx1"/>
                </a:solidFill>
              </a:rPr>
              <a:t>Lấy K mẫu gần nhất và tổng hợp giá trị của chúng để dự đoán.</a:t>
            </a:r>
            <a:endParaRPr lang="en-US" sz="1400" dirty="0"/>
          </a:p>
          <a:p>
            <a:pPr marL="0" indent="0">
              <a:spcAft>
                <a:spcPts val="700"/>
              </a:spcAft>
              <a:buNone/>
            </a:pPr>
            <a:r>
              <a:rPr lang="en-US" sz="1400" dirty="0">
                <a:solidFill>
                  <a:schemeClr val="tx1"/>
                </a:solidFill>
              </a:rPr>
              <a:t>K nhỏ nhạy với nhiễu; K quá lớn dễ quá tổng quát.</a:t>
            </a:r>
            <a:endParaRPr lang="en-US" sz="1400" dirty="0"/>
          </a:p>
          <a:p>
            <a:pPr marL="0" indent="0">
              <a:spcAft>
                <a:spcPts val="700"/>
              </a:spcAft>
              <a:buNone/>
            </a:pPr>
            <a:r>
              <a:rPr lang="en-US" sz="1400" dirty="0">
                <a:solidFill>
                  <a:schemeClr val="tx1"/>
                </a:solidFill>
              </a:rPr>
              <a:t>Dựa trên khoảng cách nên cần StandardScaler.</a:t>
            </a:r>
            <a:endParaRPr lang="en-US" sz="1400" dirty="0"/>
          </a:p>
        </p:txBody>
      </p:sp>
      <p:sp>
        <p:nvSpPr>
          <p:cNvPr id="10" name="IllusBg"/>
          <p:cNvSpPr/>
          <p:nvPr/>
        </p:nvSpPr>
        <p:spPr>
          <a:xfrm>
            <a:off x="822960" y="4297680"/>
            <a:ext cx="4860036" cy="1417320"/>
          </a:xfrm>
          <a:prstGeom prst="roundRect">
            <a:avLst>
              <a:gd name="adj" fmla="val 6452"/>
            </a:avLst>
          </a:prstGeom>
          <a:solidFill>
            <a:schemeClr val="bg2"/>
          </a:solidFill>
          <a:ln/>
        </p:spPr>
        <p:txBody>
          <a:bodyPr/>
          <a:lstStyle/>
          <a:p>
            <a:endParaRPr lang="en-US"/>
          </a:p>
        </p:txBody>
      </p:sp>
      <p:sp>
        <p:nvSpPr>
          <p:cNvPr id="11" name="KRing"/>
          <p:cNvSpPr/>
          <p:nvPr/>
        </p:nvSpPr>
        <p:spPr>
          <a:xfrm>
            <a:off x="2631186" y="4384548"/>
            <a:ext cx="1243584" cy="1243584"/>
          </a:xfrm>
          <a:prstGeom prst="ellipse">
            <a:avLst/>
          </a:prstGeom>
          <a:noFill/>
          <a:ln w="19050">
            <a:solidFill>
              <a:schemeClr val="accent2"/>
            </a:solidFill>
            <a:prstDash val="dash"/>
          </a:ln>
        </p:spPr>
        <p:txBody>
          <a:bodyPr/>
          <a:lstStyle/>
          <a:p>
            <a:endParaRPr lang="en-US"/>
          </a:p>
        </p:txBody>
      </p:sp>
      <p:sp>
        <p:nvSpPr>
          <p:cNvPr id="12" name="Dot"/>
          <p:cNvSpPr/>
          <p:nvPr/>
        </p:nvSpPr>
        <p:spPr>
          <a:xfrm>
            <a:off x="1235812" y="4649724"/>
            <a:ext cx="146304" cy="146304"/>
          </a:xfrm>
          <a:prstGeom prst="ellipse">
            <a:avLst/>
          </a:prstGeom>
          <a:solidFill>
            <a:srgbClr val="A9CCE3"/>
          </a:solidFill>
          <a:ln/>
        </p:spPr>
        <p:txBody>
          <a:bodyPr/>
          <a:lstStyle/>
          <a:p>
            <a:endParaRPr lang="en-US"/>
          </a:p>
        </p:txBody>
      </p:sp>
      <p:sp>
        <p:nvSpPr>
          <p:cNvPr id="13" name="Dot"/>
          <p:cNvSpPr/>
          <p:nvPr/>
        </p:nvSpPr>
        <p:spPr>
          <a:xfrm>
            <a:off x="1624614" y="5330038"/>
            <a:ext cx="146304" cy="146304"/>
          </a:xfrm>
          <a:prstGeom prst="ellipse">
            <a:avLst/>
          </a:prstGeom>
          <a:solidFill>
            <a:srgbClr val="A9CCE3"/>
          </a:solidFill>
          <a:ln/>
        </p:spPr>
        <p:txBody>
          <a:bodyPr/>
          <a:lstStyle/>
          <a:p>
            <a:endParaRPr lang="en-US"/>
          </a:p>
        </p:txBody>
      </p:sp>
      <p:sp>
        <p:nvSpPr>
          <p:cNvPr id="14" name="Dot"/>
          <p:cNvSpPr/>
          <p:nvPr/>
        </p:nvSpPr>
        <p:spPr>
          <a:xfrm>
            <a:off x="2110618" y="4507992"/>
            <a:ext cx="146304" cy="146304"/>
          </a:xfrm>
          <a:prstGeom prst="ellipse">
            <a:avLst/>
          </a:prstGeom>
          <a:solidFill>
            <a:srgbClr val="A9CCE3"/>
          </a:solidFill>
          <a:ln/>
        </p:spPr>
        <p:txBody>
          <a:bodyPr/>
          <a:lstStyle/>
          <a:p>
            <a:endParaRPr lang="en-US"/>
          </a:p>
        </p:txBody>
      </p:sp>
      <p:sp>
        <p:nvSpPr>
          <p:cNvPr id="15" name="Dot"/>
          <p:cNvSpPr/>
          <p:nvPr/>
        </p:nvSpPr>
        <p:spPr>
          <a:xfrm>
            <a:off x="4637837" y="5358384"/>
            <a:ext cx="146304" cy="146304"/>
          </a:xfrm>
          <a:prstGeom prst="ellipse">
            <a:avLst/>
          </a:prstGeom>
          <a:solidFill>
            <a:srgbClr val="A9CCE3"/>
          </a:solidFill>
          <a:ln/>
        </p:spPr>
        <p:txBody>
          <a:bodyPr/>
          <a:lstStyle/>
          <a:p>
            <a:endParaRPr lang="en-US"/>
          </a:p>
        </p:txBody>
      </p:sp>
      <p:sp>
        <p:nvSpPr>
          <p:cNvPr id="16" name="Dot"/>
          <p:cNvSpPr/>
          <p:nvPr/>
        </p:nvSpPr>
        <p:spPr>
          <a:xfrm>
            <a:off x="5026640" y="4649724"/>
            <a:ext cx="146304" cy="146304"/>
          </a:xfrm>
          <a:prstGeom prst="ellipse">
            <a:avLst/>
          </a:prstGeom>
          <a:solidFill>
            <a:srgbClr val="A9CCE3"/>
          </a:solidFill>
          <a:ln/>
        </p:spPr>
        <p:txBody>
          <a:bodyPr/>
          <a:lstStyle/>
          <a:p>
            <a:endParaRPr lang="en-US"/>
          </a:p>
        </p:txBody>
      </p:sp>
      <p:sp>
        <p:nvSpPr>
          <p:cNvPr id="17" name="Dot"/>
          <p:cNvSpPr/>
          <p:nvPr/>
        </p:nvSpPr>
        <p:spPr>
          <a:xfrm>
            <a:off x="4151833" y="4437126"/>
            <a:ext cx="146304" cy="146304"/>
          </a:xfrm>
          <a:prstGeom prst="ellipse">
            <a:avLst/>
          </a:prstGeom>
          <a:solidFill>
            <a:srgbClr val="A9CCE3"/>
          </a:solidFill>
          <a:ln/>
        </p:spPr>
        <p:txBody>
          <a:bodyPr/>
          <a:lstStyle/>
          <a:p>
            <a:endParaRPr lang="en-US"/>
          </a:p>
        </p:txBody>
      </p:sp>
      <p:sp>
        <p:nvSpPr>
          <p:cNvPr id="18" name="Dot"/>
          <p:cNvSpPr/>
          <p:nvPr/>
        </p:nvSpPr>
        <p:spPr>
          <a:xfrm>
            <a:off x="5221041" y="5145786"/>
            <a:ext cx="146304" cy="146304"/>
          </a:xfrm>
          <a:prstGeom prst="ellipse">
            <a:avLst/>
          </a:prstGeom>
          <a:solidFill>
            <a:srgbClr val="A9CCE3"/>
          </a:solidFill>
          <a:ln/>
        </p:spPr>
        <p:txBody>
          <a:bodyPr/>
          <a:lstStyle/>
          <a:p>
            <a:endParaRPr lang="en-US"/>
          </a:p>
        </p:txBody>
      </p:sp>
      <p:sp>
        <p:nvSpPr>
          <p:cNvPr id="19" name="Dot"/>
          <p:cNvSpPr/>
          <p:nvPr/>
        </p:nvSpPr>
        <p:spPr>
          <a:xfrm>
            <a:off x="1090011" y="5004054"/>
            <a:ext cx="146304" cy="146304"/>
          </a:xfrm>
          <a:prstGeom prst="ellipse">
            <a:avLst/>
          </a:prstGeom>
          <a:solidFill>
            <a:srgbClr val="A9CCE3"/>
          </a:solidFill>
          <a:ln/>
        </p:spPr>
        <p:txBody>
          <a:bodyPr/>
          <a:lstStyle/>
          <a:p>
            <a:endParaRPr lang="en-US"/>
          </a:p>
        </p:txBody>
      </p:sp>
      <p:sp>
        <p:nvSpPr>
          <p:cNvPr id="20" name="Dot"/>
          <p:cNvSpPr/>
          <p:nvPr/>
        </p:nvSpPr>
        <p:spPr>
          <a:xfrm>
            <a:off x="3860231" y="5471770"/>
            <a:ext cx="146304" cy="146304"/>
          </a:xfrm>
          <a:prstGeom prst="ellipse">
            <a:avLst/>
          </a:prstGeom>
          <a:solidFill>
            <a:srgbClr val="A9CCE3"/>
          </a:solidFill>
          <a:ln/>
        </p:spPr>
        <p:txBody>
          <a:bodyPr/>
          <a:lstStyle/>
          <a:p>
            <a:endParaRPr lang="en-US"/>
          </a:p>
        </p:txBody>
      </p:sp>
      <p:sp>
        <p:nvSpPr>
          <p:cNvPr id="21" name="Dot"/>
          <p:cNvSpPr/>
          <p:nvPr/>
        </p:nvSpPr>
        <p:spPr>
          <a:xfrm>
            <a:off x="2777307" y="4692701"/>
            <a:ext cx="173736" cy="173736"/>
          </a:xfrm>
          <a:prstGeom prst="ellipse">
            <a:avLst/>
          </a:prstGeom>
          <a:solidFill>
            <a:srgbClr val="F4A62A"/>
          </a:solidFill>
          <a:ln/>
        </p:spPr>
        <p:txBody>
          <a:bodyPr/>
          <a:lstStyle/>
          <a:p>
            <a:endParaRPr lang="en-US"/>
          </a:p>
        </p:txBody>
      </p:sp>
      <p:sp>
        <p:nvSpPr>
          <p:cNvPr id="22" name="Dot"/>
          <p:cNvSpPr/>
          <p:nvPr/>
        </p:nvSpPr>
        <p:spPr>
          <a:xfrm>
            <a:off x="3652114" y="4777740"/>
            <a:ext cx="173736" cy="173736"/>
          </a:xfrm>
          <a:prstGeom prst="ellipse">
            <a:avLst/>
          </a:prstGeom>
          <a:solidFill>
            <a:srgbClr val="F4A62A"/>
          </a:solidFill>
          <a:ln/>
        </p:spPr>
        <p:txBody>
          <a:bodyPr/>
          <a:lstStyle/>
          <a:p>
            <a:endParaRPr lang="en-US"/>
          </a:p>
        </p:txBody>
      </p:sp>
      <p:sp>
        <p:nvSpPr>
          <p:cNvPr id="23" name="Dot"/>
          <p:cNvSpPr/>
          <p:nvPr/>
        </p:nvSpPr>
        <p:spPr>
          <a:xfrm>
            <a:off x="3166110" y="5231282"/>
            <a:ext cx="173736" cy="173736"/>
          </a:xfrm>
          <a:prstGeom prst="ellipse">
            <a:avLst/>
          </a:prstGeom>
          <a:solidFill>
            <a:srgbClr val="F4A62A"/>
          </a:solidFill>
          <a:ln/>
        </p:spPr>
        <p:txBody>
          <a:bodyPr/>
          <a:lstStyle/>
          <a:p>
            <a:endParaRPr lang="en-US"/>
          </a:p>
        </p:txBody>
      </p:sp>
      <p:sp>
        <p:nvSpPr>
          <p:cNvPr id="24" name="Dot"/>
          <p:cNvSpPr/>
          <p:nvPr/>
        </p:nvSpPr>
        <p:spPr>
          <a:xfrm>
            <a:off x="3143250" y="4896612"/>
            <a:ext cx="219456" cy="219456"/>
          </a:xfrm>
          <a:prstGeom prst="ellipse">
            <a:avLst/>
          </a:prstGeom>
          <a:solidFill>
            <a:srgbClr val="174C6B"/>
          </a:solidFill>
          <a:ln/>
        </p:spPr>
        <p:txBody>
          <a:bodyPr/>
          <a:lstStyle/>
          <a:p>
            <a:endParaRPr lang="en-US"/>
          </a:p>
        </p:txBody>
      </p:sp>
      <p:sp>
        <p:nvSpPr>
          <p:cNvPr id="25" name="Dot"/>
          <p:cNvSpPr/>
          <p:nvPr/>
        </p:nvSpPr>
        <p:spPr>
          <a:xfrm>
            <a:off x="832104" y="5907024"/>
            <a:ext cx="128016" cy="128016"/>
          </a:xfrm>
          <a:prstGeom prst="ellipse">
            <a:avLst/>
          </a:prstGeom>
          <a:solidFill>
            <a:srgbClr val="F4A62A"/>
          </a:solidFill>
          <a:ln/>
        </p:spPr>
        <p:txBody>
          <a:bodyPr/>
          <a:lstStyle/>
          <a:p>
            <a:endParaRPr lang="en-US"/>
          </a:p>
        </p:txBody>
      </p:sp>
      <p:sp>
        <p:nvSpPr>
          <p:cNvPr id="26" name="Text 23"/>
          <p:cNvSpPr txBox="1"/>
          <p:nvPr/>
        </p:nvSpPr>
        <p:spPr>
          <a:xfrm>
            <a:off x="1024128" y="5833872"/>
            <a:ext cx="822960" cy="274320"/>
          </a:xfrm>
          <a:prstGeom prst="rect">
            <a:avLst/>
          </a:prstGeom>
          <a:noFill/>
          <a:ln/>
        </p:spPr>
        <p:txBody>
          <a:bodyPr wrap="square" lIns="0" tIns="0" rIns="0" bIns="0" rtlCol="0" anchor="ctr"/>
          <a:lstStyle/>
          <a:p>
            <a:pPr marL="0" indent="0">
              <a:buNone/>
            </a:pPr>
            <a:r>
              <a:rPr lang="en-US" sz="1100" dirty="0">
                <a:solidFill>
                  <a:schemeClr val="accent5"/>
                </a:solidFill>
              </a:rPr>
              <a:t>K hàng xóm</a:t>
            </a:r>
            <a:endParaRPr lang="en-US" sz="1100" dirty="0"/>
          </a:p>
        </p:txBody>
      </p:sp>
      <p:sp>
        <p:nvSpPr>
          <p:cNvPr id="27" name="Dot"/>
          <p:cNvSpPr/>
          <p:nvPr/>
        </p:nvSpPr>
        <p:spPr>
          <a:xfrm>
            <a:off x="2020824" y="5907024"/>
            <a:ext cx="128016" cy="128016"/>
          </a:xfrm>
          <a:prstGeom prst="ellipse">
            <a:avLst/>
          </a:prstGeom>
          <a:solidFill>
            <a:srgbClr val="174C6B"/>
          </a:solidFill>
          <a:ln/>
        </p:spPr>
        <p:txBody>
          <a:bodyPr/>
          <a:lstStyle/>
          <a:p>
            <a:endParaRPr lang="en-US"/>
          </a:p>
        </p:txBody>
      </p:sp>
      <p:sp>
        <p:nvSpPr>
          <p:cNvPr id="28" name="Text 25"/>
          <p:cNvSpPr txBox="1"/>
          <p:nvPr/>
        </p:nvSpPr>
        <p:spPr>
          <a:xfrm>
            <a:off x="2212848" y="5833872"/>
            <a:ext cx="1188720" cy="274320"/>
          </a:xfrm>
          <a:prstGeom prst="rect">
            <a:avLst/>
          </a:prstGeom>
          <a:noFill/>
          <a:ln/>
        </p:spPr>
        <p:txBody>
          <a:bodyPr wrap="square" lIns="0" tIns="0" rIns="0" bIns="0" rtlCol="0" anchor="ctr"/>
          <a:lstStyle/>
          <a:p>
            <a:pPr marL="0" indent="0">
              <a:buNone/>
            </a:pPr>
            <a:r>
              <a:rPr lang="en-US" sz="1100" dirty="0">
                <a:solidFill>
                  <a:schemeClr val="accent5"/>
                </a:solidFill>
              </a:rPr>
              <a:t>Mẫu cần dự đoán</a:t>
            </a:r>
            <a:endParaRPr lang="en-US" sz="1100" dirty="0"/>
          </a:p>
        </p:txBody>
      </p:sp>
      <p:sp>
        <p:nvSpPr>
          <p:cNvPr id="29" name="Dot"/>
          <p:cNvSpPr/>
          <p:nvPr/>
        </p:nvSpPr>
        <p:spPr>
          <a:xfrm>
            <a:off x="3575304" y="5907024"/>
            <a:ext cx="128016" cy="128016"/>
          </a:xfrm>
          <a:prstGeom prst="ellipse">
            <a:avLst/>
          </a:prstGeom>
          <a:solidFill>
            <a:srgbClr val="A9CCE3"/>
          </a:solidFill>
          <a:ln/>
        </p:spPr>
        <p:txBody>
          <a:bodyPr/>
          <a:lstStyle/>
          <a:p>
            <a:endParaRPr lang="en-US"/>
          </a:p>
        </p:txBody>
      </p:sp>
      <p:sp>
        <p:nvSpPr>
          <p:cNvPr id="30" name="Text 27"/>
          <p:cNvSpPr txBox="1"/>
          <p:nvPr/>
        </p:nvSpPr>
        <p:spPr>
          <a:xfrm>
            <a:off x="3767328" y="5833872"/>
            <a:ext cx="731520" cy="274320"/>
          </a:xfrm>
          <a:prstGeom prst="rect">
            <a:avLst/>
          </a:prstGeom>
          <a:noFill/>
          <a:ln/>
        </p:spPr>
        <p:txBody>
          <a:bodyPr wrap="square" lIns="0" tIns="0" rIns="0" bIns="0" rtlCol="0" anchor="ctr"/>
          <a:lstStyle/>
          <a:p>
            <a:pPr marL="0" indent="0">
              <a:buNone/>
            </a:pPr>
            <a:r>
              <a:rPr lang="en-US" sz="1100" dirty="0">
                <a:solidFill>
                  <a:schemeClr val="accent5"/>
                </a:solidFill>
              </a:rPr>
              <a:t>Mẫu khác</a:t>
            </a:r>
            <a:endParaRPr lang="en-US" sz="1100" dirty="0"/>
          </a:p>
        </p:txBody>
      </p:sp>
      <p:sp>
        <p:nvSpPr>
          <p:cNvPr id="31" name="ModelCard"/>
          <p:cNvSpPr/>
          <p:nvPr/>
        </p:nvSpPr>
        <p:spPr>
          <a:xfrm>
            <a:off x="6234379" y="1463040"/>
            <a:ext cx="5408676" cy="4754880"/>
          </a:xfrm>
          <a:prstGeom prst="roundRect">
            <a:avLst>
              <a:gd name="adj" fmla="val 230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32" name="IconBg"/>
          <p:cNvSpPr/>
          <p:nvPr/>
        </p:nvSpPr>
        <p:spPr>
          <a:xfrm>
            <a:off x="6508699" y="1719072"/>
            <a:ext cx="566928" cy="566928"/>
          </a:xfrm>
          <a:prstGeom prst="ellipse">
            <a:avLst/>
          </a:prstGeom>
          <a:solidFill>
            <a:srgbClr val="1F6FA8"/>
          </a:solidFill>
          <a:ln/>
        </p:spPr>
        <p:txBody>
          <a:bodyPr/>
          <a:lstStyle/>
          <a:p>
            <a:endParaRPr lang="en-US"/>
          </a:p>
        </p:txBody>
      </p:sp>
      <p:pic>
        <p:nvPicPr>
          <p:cNvPr id="33" name="Image 1" descr="SlidersH"/>
          <p:cNvPicPr>
            <a:picLocks noChangeAspect="1"/>
          </p:cNvPicPr>
          <p:nvPr/>
        </p:nvPicPr>
        <p:blipFill>
          <a:blip r:embed="rId4"/>
          <a:stretch>
            <a:fillRect/>
          </a:stretch>
        </p:blipFill>
        <p:spPr>
          <a:xfrm>
            <a:off x="6650431" y="1860804"/>
            <a:ext cx="283464" cy="283464"/>
          </a:xfrm>
          <a:prstGeom prst="rect">
            <a:avLst/>
          </a:prstGeom>
        </p:spPr>
      </p:pic>
      <p:sp>
        <p:nvSpPr>
          <p:cNvPr id="34" name="Text 30"/>
          <p:cNvSpPr txBox="1"/>
          <p:nvPr/>
        </p:nvSpPr>
        <p:spPr>
          <a:xfrm>
            <a:off x="7240219" y="1719072"/>
            <a:ext cx="4128516" cy="566928"/>
          </a:xfrm>
          <a:prstGeom prst="rect">
            <a:avLst/>
          </a:prstGeom>
          <a:noFill/>
          <a:ln/>
        </p:spPr>
        <p:txBody>
          <a:bodyPr wrap="square" lIns="0" tIns="0" rIns="0" bIns="0" rtlCol="0" anchor="ctr"/>
          <a:lstStyle/>
          <a:p>
            <a:pPr marL="0" indent="0">
              <a:buNone/>
            </a:pPr>
            <a:r>
              <a:rPr lang="en-US" sz="2200" b="1" dirty="0">
                <a:solidFill>
                  <a:schemeClr val="tx1"/>
                </a:solidFill>
                <a:latin typeface="+mj-lt" pitchFamily="34" charset="0"/>
                <a:ea typeface="+mj-lt" pitchFamily="34" charset="-122"/>
                <a:cs typeface="+mj-lt" pitchFamily="34" charset="-120"/>
              </a:rPr>
              <a:t>SVR</a:t>
            </a:r>
            <a:endParaRPr lang="en-US" sz="2200" dirty="0"/>
          </a:p>
        </p:txBody>
      </p:sp>
      <p:sp>
        <p:nvSpPr>
          <p:cNvPr id="35" name="Text 31"/>
          <p:cNvSpPr txBox="1"/>
          <p:nvPr/>
        </p:nvSpPr>
        <p:spPr>
          <a:xfrm>
            <a:off x="6508699" y="2514600"/>
            <a:ext cx="4860036" cy="1691640"/>
          </a:xfrm>
          <a:prstGeom prst="rect">
            <a:avLst/>
          </a:prstGeom>
          <a:noFill/>
          <a:ln/>
        </p:spPr>
        <p:txBody>
          <a:bodyPr wrap="square" lIns="0" tIns="0" rIns="0" bIns="0" rtlCol="0" anchor="t"/>
          <a:lstStyle/>
          <a:p>
            <a:pPr marL="0" indent="0">
              <a:spcAft>
                <a:spcPts val="700"/>
              </a:spcAft>
              <a:buNone/>
            </a:pPr>
            <a:r>
              <a:rPr lang="en-US" sz="1400" dirty="0">
                <a:solidFill>
                  <a:schemeClr val="tx1"/>
                </a:solidFill>
              </a:rPr>
              <a:t>Epsilon-tube cho phép sai số trong một vùng nhất định.</a:t>
            </a:r>
            <a:endParaRPr lang="en-US" sz="1400" dirty="0"/>
          </a:p>
          <a:p>
            <a:pPr marL="0" indent="0">
              <a:spcAft>
                <a:spcPts val="700"/>
              </a:spcAft>
              <a:buNone/>
            </a:pPr>
            <a:r>
              <a:rPr lang="en-US" sz="1400" dirty="0">
                <a:solidFill>
                  <a:schemeClr val="tx1"/>
                </a:solidFill>
              </a:rPr>
              <a:t>C phạt lỗi ngoài tube; epsilon quyết định độ rộng; gamma đặt phạm vi ảnh hưởng của RBF.</a:t>
            </a:r>
            <a:endParaRPr lang="en-US" sz="1400" dirty="0"/>
          </a:p>
          <a:p>
            <a:pPr marL="0" indent="0">
              <a:spcAft>
                <a:spcPts val="700"/>
              </a:spcAft>
              <a:buNone/>
            </a:pPr>
            <a:r>
              <a:rPr lang="en-US" sz="1400" dirty="0">
                <a:solidFill>
                  <a:schemeClr val="tx1"/>
                </a:solidFill>
              </a:rPr>
              <a:t>SVR cũng cần StandardScaler.</a:t>
            </a:r>
            <a:endParaRPr lang="en-US" sz="1400" dirty="0"/>
          </a:p>
        </p:txBody>
      </p:sp>
      <p:sp>
        <p:nvSpPr>
          <p:cNvPr id="36" name="IllusBg"/>
          <p:cNvSpPr/>
          <p:nvPr/>
        </p:nvSpPr>
        <p:spPr>
          <a:xfrm>
            <a:off x="6508699" y="4297680"/>
            <a:ext cx="4860036" cy="1417320"/>
          </a:xfrm>
          <a:prstGeom prst="roundRect">
            <a:avLst>
              <a:gd name="adj" fmla="val 6452"/>
            </a:avLst>
          </a:prstGeom>
          <a:solidFill>
            <a:schemeClr val="bg2"/>
          </a:solidFill>
          <a:ln/>
        </p:spPr>
        <p:txBody>
          <a:bodyPr/>
          <a:lstStyle/>
          <a:p>
            <a:endParaRPr lang="en-US"/>
          </a:p>
        </p:txBody>
      </p:sp>
      <p:sp>
        <p:nvSpPr>
          <p:cNvPr id="37" name="Line"/>
          <p:cNvSpPr/>
          <p:nvPr/>
        </p:nvSpPr>
        <p:spPr>
          <a:xfrm flipV="1">
            <a:off x="6703101" y="4694363"/>
            <a:ext cx="159687" cy="56860"/>
          </a:xfrm>
          <a:prstGeom prst="line">
            <a:avLst/>
          </a:prstGeom>
          <a:noFill/>
          <a:ln w="25400">
            <a:solidFill>
              <a:schemeClr val="accent2"/>
            </a:solidFill>
            <a:prstDash val="solid"/>
          </a:ln>
        </p:spPr>
        <p:txBody>
          <a:bodyPr/>
          <a:lstStyle/>
          <a:p>
            <a:endParaRPr lang="en-US"/>
          </a:p>
        </p:txBody>
      </p:sp>
      <p:sp>
        <p:nvSpPr>
          <p:cNvPr id="38" name="Line"/>
          <p:cNvSpPr/>
          <p:nvPr/>
        </p:nvSpPr>
        <p:spPr>
          <a:xfrm flipV="1">
            <a:off x="6703101" y="5261291"/>
            <a:ext cx="159687" cy="56860"/>
          </a:xfrm>
          <a:prstGeom prst="line">
            <a:avLst/>
          </a:prstGeom>
          <a:noFill/>
          <a:ln w="25400">
            <a:solidFill>
              <a:schemeClr val="accent2"/>
            </a:solidFill>
            <a:prstDash val="solid"/>
          </a:ln>
        </p:spPr>
        <p:txBody>
          <a:bodyPr/>
          <a:lstStyle/>
          <a:p>
            <a:endParaRPr lang="en-US"/>
          </a:p>
        </p:txBody>
      </p:sp>
      <p:sp>
        <p:nvSpPr>
          <p:cNvPr id="39" name="Line"/>
          <p:cNvSpPr/>
          <p:nvPr/>
        </p:nvSpPr>
        <p:spPr>
          <a:xfrm flipV="1">
            <a:off x="6703101" y="4977827"/>
            <a:ext cx="159687" cy="56860"/>
          </a:xfrm>
          <a:prstGeom prst="line">
            <a:avLst/>
          </a:prstGeom>
          <a:noFill/>
          <a:ln w="12700">
            <a:solidFill>
              <a:schemeClr val="accent5"/>
            </a:solidFill>
            <a:prstDash val="dash"/>
          </a:ln>
        </p:spPr>
        <p:txBody>
          <a:bodyPr/>
          <a:lstStyle/>
          <a:p>
            <a:endParaRPr lang="en-US"/>
          </a:p>
        </p:txBody>
      </p:sp>
      <p:sp>
        <p:nvSpPr>
          <p:cNvPr id="40" name="Line"/>
          <p:cNvSpPr/>
          <p:nvPr/>
        </p:nvSpPr>
        <p:spPr>
          <a:xfrm flipV="1">
            <a:off x="6862788" y="4639814"/>
            <a:ext cx="159687" cy="54549"/>
          </a:xfrm>
          <a:prstGeom prst="line">
            <a:avLst/>
          </a:prstGeom>
          <a:noFill/>
          <a:ln w="25400">
            <a:solidFill>
              <a:schemeClr val="accent2"/>
            </a:solidFill>
            <a:prstDash val="solid"/>
          </a:ln>
        </p:spPr>
        <p:txBody>
          <a:bodyPr/>
          <a:lstStyle/>
          <a:p>
            <a:endParaRPr lang="en-US"/>
          </a:p>
        </p:txBody>
      </p:sp>
      <p:sp>
        <p:nvSpPr>
          <p:cNvPr id="41" name="Line"/>
          <p:cNvSpPr/>
          <p:nvPr/>
        </p:nvSpPr>
        <p:spPr>
          <a:xfrm flipV="1">
            <a:off x="6862788" y="5206742"/>
            <a:ext cx="159687" cy="54549"/>
          </a:xfrm>
          <a:prstGeom prst="line">
            <a:avLst/>
          </a:prstGeom>
          <a:noFill/>
          <a:ln w="25400">
            <a:solidFill>
              <a:schemeClr val="accent2"/>
            </a:solidFill>
            <a:prstDash val="solid"/>
          </a:ln>
        </p:spPr>
        <p:txBody>
          <a:bodyPr/>
          <a:lstStyle/>
          <a:p>
            <a:endParaRPr lang="en-US"/>
          </a:p>
        </p:txBody>
      </p:sp>
      <p:sp>
        <p:nvSpPr>
          <p:cNvPr id="42" name="Line"/>
          <p:cNvSpPr/>
          <p:nvPr/>
        </p:nvSpPr>
        <p:spPr>
          <a:xfrm flipV="1">
            <a:off x="6862788" y="4923278"/>
            <a:ext cx="159687" cy="54549"/>
          </a:xfrm>
          <a:prstGeom prst="line">
            <a:avLst/>
          </a:prstGeom>
          <a:noFill/>
          <a:ln w="12700">
            <a:solidFill>
              <a:schemeClr val="accent5"/>
            </a:solidFill>
            <a:prstDash val="dash"/>
          </a:ln>
        </p:spPr>
        <p:txBody>
          <a:bodyPr/>
          <a:lstStyle/>
          <a:p>
            <a:endParaRPr lang="en-US"/>
          </a:p>
        </p:txBody>
      </p:sp>
      <p:sp>
        <p:nvSpPr>
          <p:cNvPr id="43" name="Line"/>
          <p:cNvSpPr/>
          <p:nvPr/>
        </p:nvSpPr>
        <p:spPr>
          <a:xfrm flipV="1">
            <a:off x="7022474" y="4589794"/>
            <a:ext cx="159687" cy="50020"/>
          </a:xfrm>
          <a:prstGeom prst="line">
            <a:avLst/>
          </a:prstGeom>
          <a:noFill/>
          <a:ln w="25400">
            <a:solidFill>
              <a:schemeClr val="accent2"/>
            </a:solidFill>
            <a:prstDash val="solid"/>
          </a:ln>
        </p:spPr>
        <p:txBody>
          <a:bodyPr/>
          <a:lstStyle/>
          <a:p>
            <a:endParaRPr lang="en-US"/>
          </a:p>
        </p:txBody>
      </p:sp>
      <p:sp>
        <p:nvSpPr>
          <p:cNvPr id="44" name="Line"/>
          <p:cNvSpPr/>
          <p:nvPr/>
        </p:nvSpPr>
        <p:spPr>
          <a:xfrm flipV="1">
            <a:off x="7022474" y="5156722"/>
            <a:ext cx="159687" cy="50020"/>
          </a:xfrm>
          <a:prstGeom prst="line">
            <a:avLst/>
          </a:prstGeom>
          <a:noFill/>
          <a:ln w="25400">
            <a:solidFill>
              <a:schemeClr val="accent2"/>
            </a:solidFill>
            <a:prstDash val="solid"/>
          </a:ln>
        </p:spPr>
        <p:txBody>
          <a:bodyPr/>
          <a:lstStyle/>
          <a:p>
            <a:endParaRPr lang="en-US"/>
          </a:p>
        </p:txBody>
      </p:sp>
      <p:sp>
        <p:nvSpPr>
          <p:cNvPr id="45" name="Line"/>
          <p:cNvSpPr/>
          <p:nvPr/>
        </p:nvSpPr>
        <p:spPr>
          <a:xfrm flipV="1">
            <a:off x="7022474" y="4873258"/>
            <a:ext cx="159687" cy="50020"/>
          </a:xfrm>
          <a:prstGeom prst="line">
            <a:avLst/>
          </a:prstGeom>
          <a:noFill/>
          <a:ln w="12700">
            <a:solidFill>
              <a:schemeClr val="accent5"/>
            </a:solidFill>
            <a:prstDash val="dash"/>
          </a:ln>
        </p:spPr>
        <p:txBody>
          <a:bodyPr/>
          <a:lstStyle/>
          <a:p>
            <a:endParaRPr lang="en-US"/>
          </a:p>
        </p:txBody>
      </p:sp>
      <p:sp>
        <p:nvSpPr>
          <p:cNvPr id="46" name="Line"/>
          <p:cNvSpPr/>
          <p:nvPr/>
        </p:nvSpPr>
        <p:spPr>
          <a:xfrm flipV="1">
            <a:off x="7182161" y="4546336"/>
            <a:ext cx="159687" cy="43458"/>
          </a:xfrm>
          <a:prstGeom prst="line">
            <a:avLst/>
          </a:prstGeom>
          <a:noFill/>
          <a:ln w="25400">
            <a:solidFill>
              <a:schemeClr val="accent2"/>
            </a:solidFill>
            <a:prstDash val="solid"/>
          </a:ln>
        </p:spPr>
        <p:txBody>
          <a:bodyPr/>
          <a:lstStyle/>
          <a:p>
            <a:endParaRPr lang="en-US"/>
          </a:p>
        </p:txBody>
      </p:sp>
      <p:sp>
        <p:nvSpPr>
          <p:cNvPr id="47" name="Line"/>
          <p:cNvSpPr/>
          <p:nvPr/>
        </p:nvSpPr>
        <p:spPr>
          <a:xfrm flipV="1">
            <a:off x="7182161" y="5113264"/>
            <a:ext cx="159687" cy="43458"/>
          </a:xfrm>
          <a:prstGeom prst="line">
            <a:avLst/>
          </a:prstGeom>
          <a:noFill/>
          <a:ln w="25400">
            <a:solidFill>
              <a:schemeClr val="accent2"/>
            </a:solidFill>
            <a:prstDash val="solid"/>
          </a:ln>
        </p:spPr>
        <p:txBody>
          <a:bodyPr/>
          <a:lstStyle/>
          <a:p>
            <a:endParaRPr lang="en-US"/>
          </a:p>
        </p:txBody>
      </p:sp>
      <p:sp>
        <p:nvSpPr>
          <p:cNvPr id="48" name="Line"/>
          <p:cNvSpPr/>
          <p:nvPr/>
        </p:nvSpPr>
        <p:spPr>
          <a:xfrm flipV="1">
            <a:off x="7182161" y="4829800"/>
            <a:ext cx="159687" cy="43458"/>
          </a:xfrm>
          <a:prstGeom prst="line">
            <a:avLst/>
          </a:prstGeom>
          <a:noFill/>
          <a:ln w="12700">
            <a:solidFill>
              <a:schemeClr val="accent5"/>
            </a:solidFill>
            <a:prstDash val="dash"/>
          </a:ln>
        </p:spPr>
        <p:txBody>
          <a:bodyPr/>
          <a:lstStyle/>
          <a:p>
            <a:endParaRPr lang="en-US"/>
          </a:p>
        </p:txBody>
      </p:sp>
      <p:sp>
        <p:nvSpPr>
          <p:cNvPr id="49" name="Line"/>
          <p:cNvSpPr/>
          <p:nvPr/>
        </p:nvSpPr>
        <p:spPr>
          <a:xfrm flipV="1">
            <a:off x="7341848" y="4511207"/>
            <a:ext cx="159687" cy="35130"/>
          </a:xfrm>
          <a:prstGeom prst="line">
            <a:avLst/>
          </a:prstGeom>
          <a:noFill/>
          <a:ln w="25400">
            <a:solidFill>
              <a:schemeClr val="accent2"/>
            </a:solidFill>
            <a:prstDash val="solid"/>
          </a:ln>
        </p:spPr>
        <p:txBody>
          <a:bodyPr/>
          <a:lstStyle/>
          <a:p>
            <a:endParaRPr lang="en-US"/>
          </a:p>
        </p:txBody>
      </p:sp>
      <p:sp>
        <p:nvSpPr>
          <p:cNvPr id="50" name="Line"/>
          <p:cNvSpPr/>
          <p:nvPr/>
        </p:nvSpPr>
        <p:spPr>
          <a:xfrm flipV="1">
            <a:off x="7341848" y="5078135"/>
            <a:ext cx="159687" cy="35130"/>
          </a:xfrm>
          <a:prstGeom prst="line">
            <a:avLst/>
          </a:prstGeom>
          <a:noFill/>
          <a:ln w="25400">
            <a:solidFill>
              <a:schemeClr val="accent2"/>
            </a:solidFill>
            <a:prstDash val="solid"/>
          </a:ln>
        </p:spPr>
        <p:txBody>
          <a:bodyPr/>
          <a:lstStyle/>
          <a:p>
            <a:endParaRPr lang="en-US"/>
          </a:p>
        </p:txBody>
      </p:sp>
      <p:sp>
        <p:nvSpPr>
          <p:cNvPr id="51" name="Line"/>
          <p:cNvSpPr/>
          <p:nvPr/>
        </p:nvSpPr>
        <p:spPr>
          <a:xfrm flipV="1">
            <a:off x="7341848" y="4794671"/>
            <a:ext cx="159687" cy="35130"/>
          </a:xfrm>
          <a:prstGeom prst="line">
            <a:avLst/>
          </a:prstGeom>
          <a:noFill/>
          <a:ln w="12700">
            <a:solidFill>
              <a:schemeClr val="accent5"/>
            </a:solidFill>
            <a:prstDash val="dash"/>
          </a:ln>
        </p:spPr>
        <p:txBody>
          <a:bodyPr/>
          <a:lstStyle/>
          <a:p>
            <a:endParaRPr lang="en-US"/>
          </a:p>
        </p:txBody>
      </p:sp>
      <p:sp>
        <p:nvSpPr>
          <p:cNvPr id="52" name="Line"/>
          <p:cNvSpPr/>
          <p:nvPr/>
        </p:nvSpPr>
        <p:spPr>
          <a:xfrm flipV="1">
            <a:off x="7501535" y="4485834"/>
            <a:ext cx="159687" cy="25373"/>
          </a:xfrm>
          <a:prstGeom prst="line">
            <a:avLst/>
          </a:prstGeom>
          <a:noFill/>
          <a:ln w="25400">
            <a:solidFill>
              <a:schemeClr val="accent2"/>
            </a:solidFill>
            <a:prstDash val="solid"/>
          </a:ln>
        </p:spPr>
        <p:txBody>
          <a:bodyPr/>
          <a:lstStyle/>
          <a:p>
            <a:endParaRPr lang="en-US"/>
          </a:p>
        </p:txBody>
      </p:sp>
      <p:sp>
        <p:nvSpPr>
          <p:cNvPr id="53" name="Line"/>
          <p:cNvSpPr/>
          <p:nvPr/>
        </p:nvSpPr>
        <p:spPr>
          <a:xfrm flipV="1">
            <a:off x="7501535" y="5052762"/>
            <a:ext cx="159687" cy="25373"/>
          </a:xfrm>
          <a:prstGeom prst="line">
            <a:avLst/>
          </a:prstGeom>
          <a:noFill/>
          <a:ln w="25400">
            <a:solidFill>
              <a:schemeClr val="accent2"/>
            </a:solidFill>
            <a:prstDash val="solid"/>
          </a:ln>
        </p:spPr>
        <p:txBody>
          <a:bodyPr/>
          <a:lstStyle/>
          <a:p>
            <a:endParaRPr lang="en-US"/>
          </a:p>
        </p:txBody>
      </p:sp>
      <p:sp>
        <p:nvSpPr>
          <p:cNvPr id="54" name="Line"/>
          <p:cNvSpPr/>
          <p:nvPr/>
        </p:nvSpPr>
        <p:spPr>
          <a:xfrm flipV="1">
            <a:off x="7501535" y="4769298"/>
            <a:ext cx="159687" cy="25373"/>
          </a:xfrm>
          <a:prstGeom prst="line">
            <a:avLst/>
          </a:prstGeom>
          <a:noFill/>
          <a:ln w="12700">
            <a:solidFill>
              <a:schemeClr val="accent5"/>
            </a:solidFill>
            <a:prstDash val="dash"/>
          </a:ln>
        </p:spPr>
        <p:txBody>
          <a:bodyPr/>
          <a:lstStyle/>
          <a:p>
            <a:endParaRPr lang="en-US"/>
          </a:p>
        </p:txBody>
      </p:sp>
      <p:sp>
        <p:nvSpPr>
          <p:cNvPr id="55" name="Line"/>
          <p:cNvSpPr/>
          <p:nvPr/>
        </p:nvSpPr>
        <p:spPr>
          <a:xfrm flipV="1">
            <a:off x="7661222" y="4471248"/>
            <a:ext cx="159687" cy="14585"/>
          </a:xfrm>
          <a:prstGeom prst="line">
            <a:avLst/>
          </a:prstGeom>
          <a:noFill/>
          <a:ln w="25400">
            <a:solidFill>
              <a:schemeClr val="accent2"/>
            </a:solidFill>
            <a:prstDash val="solid"/>
          </a:ln>
        </p:spPr>
        <p:txBody>
          <a:bodyPr/>
          <a:lstStyle/>
          <a:p>
            <a:endParaRPr lang="en-US"/>
          </a:p>
        </p:txBody>
      </p:sp>
      <p:sp>
        <p:nvSpPr>
          <p:cNvPr id="56" name="Line"/>
          <p:cNvSpPr/>
          <p:nvPr/>
        </p:nvSpPr>
        <p:spPr>
          <a:xfrm flipV="1">
            <a:off x="7661222" y="5038176"/>
            <a:ext cx="159687" cy="14585"/>
          </a:xfrm>
          <a:prstGeom prst="line">
            <a:avLst/>
          </a:prstGeom>
          <a:noFill/>
          <a:ln w="25400">
            <a:solidFill>
              <a:schemeClr val="accent2"/>
            </a:solidFill>
            <a:prstDash val="solid"/>
          </a:ln>
        </p:spPr>
        <p:txBody>
          <a:bodyPr/>
          <a:lstStyle/>
          <a:p>
            <a:endParaRPr lang="en-US"/>
          </a:p>
        </p:txBody>
      </p:sp>
      <p:sp>
        <p:nvSpPr>
          <p:cNvPr id="57" name="Line"/>
          <p:cNvSpPr/>
          <p:nvPr/>
        </p:nvSpPr>
        <p:spPr>
          <a:xfrm flipV="1">
            <a:off x="7661222" y="4754712"/>
            <a:ext cx="159687" cy="14585"/>
          </a:xfrm>
          <a:prstGeom prst="line">
            <a:avLst/>
          </a:prstGeom>
          <a:noFill/>
          <a:ln w="12700">
            <a:solidFill>
              <a:schemeClr val="accent5"/>
            </a:solidFill>
            <a:prstDash val="dash"/>
          </a:ln>
        </p:spPr>
        <p:txBody>
          <a:bodyPr/>
          <a:lstStyle/>
          <a:p>
            <a:endParaRPr lang="en-US"/>
          </a:p>
        </p:txBody>
      </p:sp>
      <p:sp>
        <p:nvSpPr>
          <p:cNvPr id="58" name="Line"/>
          <p:cNvSpPr/>
          <p:nvPr/>
        </p:nvSpPr>
        <p:spPr>
          <a:xfrm flipV="1">
            <a:off x="7820909" y="4468044"/>
            <a:ext cx="159687" cy="3204"/>
          </a:xfrm>
          <a:prstGeom prst="line">
            <a:avLst/>
          </a:prstGeom>
          <a:noFill/>
          <a:ln w="25400">
            <a:solidFill>
              <a:schemeClr val="accent2"/>
            </a:solidFill>
            <a:prstDash val="solid"/>
          </a:ln>
        </p:spPr>
        <p:txBody>
          <a:bodyPr/>
          <a:lstStyle/>
          <a:p>
            <a:endParaRPr lang="en-US"/>
          </a:p>
        </p:txBody>
      </p:sp>
      <p:sp>
        <p:nvSpPr>
          <p:cNvPr id="59" name="Line"/>
          <p:cNvSpPr/>
          <p:nvPr/>
        </p:nvSpPr>
        <p:spPr>
          <a:xfrm flipV="1">
            <a:off x="7820909" y="5034972"/>
            <a:ext cx="159687" cy="3204"/>
          </a:xfrm>
          <a:prstGeom prst="line">
            <a:avLst/>
          </a:prstGeom>
          <a:noFill/>
          <a:ln w="25400">
            <a:solidFill>
              <a:schemeClr val="accent2"/>
            </a:solidFill>
            <a:prstDash val="solid"/>
          </a:ln>
        </p:spPr>
        <p:txBody>
          <a:bodyPr/>
          <a:lstStyle/>
          <a:p>
            <a:endParaRPr lang="en-US"/>
          </a:p>
        </p:txBody>
      </p:sp>
      <p:sp>
        <p:nvSpPr>
          <p:cNvPr id="60" name="Line"/>
          <p:cNvSpPr/>
          <p:nvPr/>
        </p:nvSpPr>
        <p:spPr>
          <a:xfrm flipV="1">
            <a:off x="7820909" y="4751508"/>
            <a:ext cx="159687" cy="3204"/>
          </a:xfrm>
          <a:prstGeom prst="line">
            <a:avLst/>
          </a:prstGeom>
          <a:noFill/>
          <a:ln w="12700">
            <a:solidFill>
              <a:schemeClr val="accent5"/>
            </a:solidFill>
            <a:prstDash val="dash"/>
          </a:ln>
        </p:spPr>
        <p:txBody>
          <a:bodyPr/>
          <a:lstStyle/>
          <a:p>
            <a:endParaRPr lang="en-US"/>
          </a:p>
        </p:txBody>
      </p:sp>
      <p:sp>
        <p:nvSpPr>
          <p:cNvPr id="61" name="Line"/>
          <p:cNvSpPr/>
          <p:nvPr/>
        </p:nvSpPr>
        <p:spPr>
          <a:xfrm>
            <a:off x="7980596" y="4468044"/>
            <a:ext cx="159687" cy="8307"/>
          </a:xfrm>
          <a:prstGeom prst="line">
            <a:avLst/>
          </a:prstGeom>
          <a:noFill/>
          <a:ln w="25400">
            <a:solidFill>
              <a:schemeClr val="accent2"/>
            </a:solidFill>
            <a:prstDash val="solid"/>
          </a:ln>
        </p:spPr>
        <p:txBody>
          <a:bodyPr/>
          <a:lstStyle/>
          <a:p>
            <a:endParaRPr lang="en-US"/>
          </a:p>
        </p:txBody>
      </p:sp>
      <p:sp>
        <p:nvSpPr>
          <p:cNvPr id="62" name="Line"/>
          <p:cNvSpPr/>
          <p:nvPr/>
        </p:nvSpPr>
        <p:spPr>
          <a:xfrm>
            <a:off x="7980596" y="5034972"/>
            <a:ext cx="159687" cy="8307"/>
          </a:xfrm>
          <a:prstGeom prst="line">
            <a:avLst/>
          </a:prstGeom>
          <a:noFill/>
          <a:ln w="25400">
            <a:solidFill>
              <a:schemeClr val="accent2"/>
            </a:solidFill>
            <a:prstDash val="solid"/>
          </a:ln>
        </p:spPr>
        <p:txBody>
          <a:bodyPr/>
          <a:lstStyle/>
          <a:p>
            <a:endParaRPr lang="en-US"/>
          </a:p>
        </p:txBody>
      </p:sp>
      <p:sp>
        <p:nvSpPr>
          <p:cNvPr id="63" name="Line"/>
          <p:cNvSpPr/>
          <p:nvPr/>
        </p:nvSpPr>
        <p:spPr>
          <a:xfrm>
            <a:off x="7980596" y="4751508"/>
            <a:ext cx="159687" cy="8307"/>
          </a:xfrm>
          <a:prstGeom prst="line">
            <a:avLst/>
          </a:prstGeom>
          <a:noFill/>
          <a:ln w="12700">
            <a:solidFill>
              <a:schemeClr val="accent5"/>
            </a:solidFill>
            <a:prstDash val="dash"/>
          </a:ln>
        </p:spPr>
        <p:txBody>
          <a:bodyPr/>
          <a:lstStyle/>
          <a:p>
            <a:endParaRPr lang="en-US"/>
          </a:p>
        </p:txBody>
      </p:sp>
      <p:sp>
        <p:nvSpPr>
          <p:cNvPr id="64" name="Line"/>
          <p:cNvSpPr/>
          <p:nvPr/>
        </p:nvSpPr>
        <p:spPr>
          <a:xfrm>
            <a:off x="8140283" y="4476350"/>
            <a:ext cx="159687" cy="19480"/>
          </a:xfrm>
          <a:prstGeom prst="line">
            <a:avLst/>
          </a:prstGeom>
          <a:noFill/>
          <a:ln w="25400">
            <a:solidFill>
              <a:schemeClr val="accent2"/>
            </a:solidFill>
            <a:prstDash val="solid"/>
          </a:ln>
        </p:spPr>
        <p:txBody>
          <a:bodyPr/>
          <a:lstStyle/>
          <a:p>
            <a:endParaRPr lang="en-US"/>
          </a:p>
        </p:txBody>
      </p:sp>
      <p:sp>
        <p:nvSpPr>
          <p:cNvPr id="65" name="Line"/>
          <p:cNvSpPr/>
          <p:nvPr/>
        </p:nvSpPr>
        <p:spPr>
          <a:xfrm>
            <a:off x="8140283" y="5043278"/>
            <a:ext cx="159687" cy="19480"/>
          </a:xfrm>
          <a:prstGeom prst="line">
            <a:avLst/>
          </a:prstGeom>
          <a:noFill/>
          <a:ln w="25400">
            <a:solidFill>
              <a:schemeClr val="accent2"/>
            </a:solidFill>
            <a:prstDash val="solid"/>
          </a:ln>
        </p:spPr>
        <p:txBody>
          <a:bodyPr/>
          <a:lstStyle/>
          <a:p>
            <a:endParaRPr lang="en-US"/>
          </a:p>
        </p:txBody>
      </p:sp>
      <p:sp>
        <p:nvSpPr>
          <p:cNvPr id="66" name="Line"/>
          <p:cNvSpPr/>
          <p:nvPr/>
        </p:nvSpPr>
        <p:spPr>
          <a:xfrm>
            <a:off x="8140283" y="4759814"/>
            <a:ext cx="159687" cy="19480"/>
          </a:xfrm>
          <a:prstGeom prst="line">
            <a:avLst/>
          </a:prstGeom>
          <a:noFill/>
          <a:ln w="12700">
            <a:solidFill>
              <a:schemeClr val="accent5"/>
            </a:solidFill>
            <a:prstDash val="dash"/>
          </a:ln>
        </p:spPr>
        <p:txBody>
          <a:bodyPr/>
          <a:lstStyle/>
          <a:p>
            <a:endParaRPr lang="en-US"/>
          </a:p>
        </p:txBody>
      </p:sp>
      <p:sp>
        <p:nvSpPr>
          <p:cNvPr id="67" name="Line"/>
          <p:cNvSpPr/>
          <p:nvPr/>
        </p:nvSpPr>
        <p:spPr>
          <a:xfrm>
            <a:off x="8299970" y="4495830"/>
            <a:ext cx="159687" cy="29861"/>
          </a:xfrm>
          <a:prstGeom prst="line">
            <a:avLst/>
          </a:prstGeom>
          <a:noFill/>
          <a:ln w="25400">
            <a:solidFill>
              <a:schemeClr val="accent2"/>
            </a:solidFill>
            <a:prstDash val="solid"/>
          </a:ln>
        </p:spPr>
        <p:txBody>
          <a:bodyPr/>
          <a:lstStyle/>
          <a:p>
            <a:endParaRPr lang="en-US"/>
          </a:p>
        </p:txBody>
      </p:sp>
      <p:sp>
        <p:nvSpPr>
          <p:cNvPr id="68" name="Line"/>
          <p:cNvSpPr/>
          <p:nvPr/>
        </p:nvSpPr>
        <p:spPr>
          <a:xfrm>
            <a:off x="8299970" y="5062758"/>
            <a:ext cx="159687" cy="29861"/>
          </a:xfrm>
          <a:prstGeom prst="line">
            <a:avLst/>
          </a:prstGeom>
          <a:noFill/>
          <a:ln w="25400">
            <a:solidFill>
              <a:schemeClr val="accent2"/>
            </a:solidFill>
            <a:prstDash val="solid"/>
          </a:ln>
        </p:spPr>
        <p:txBody>
          <a:bodyPr/>
          <a:lstStyle/>
          <a:p>
            <a:endParaRPr lang="en-US"/>
          </a:p>
        </p:txBody>
      </p:sp>
      <p:sp>
        <p:nvSpPr>
          <p:cNvPr id="69" name="Line"/>
          <p:cNvSpPr/>
          <p:nvPr/>
        </p:nvSpPr>
        <p:spPr>
          <a:xfrm>
            <a:off x="8299970" y="4779294"/>
            <a:ext cx="159687" cy="29861"/>
          </a:xfrm>
          <a:prstGeom prst="line">
            <a:avLst/>
          </a:prstGeom>
          <a:noFill/>
          <a:ln w="12700">
            <a:solidFill>
              <a:schemeClr val="accent5"/>
            </a:solidFill>
            <a:prstDash val="dash"/>
          </a:ln>
        </p:spPr>
        <p:txBody>
          <a:bodyPr/>
          <a:lstStyle/>
          <a:p>
            <a:endParaRPr lang="en-US"/>
          </a:p>
        </p:txBody>
      </p:sp>
      <p:sp>
        <p:nvSpPr>
          <p:cNvPr id="70" name="Line"/>
          <p:cNvSpPr/>
          <p:nvPr/>
        </p:nvSpPr>
        <p:spPr>
          <a:xfrm>
            <a:off x="8459657" y="4525691"/>
            <a:ext cx="159687" cy="39029"/>
          </a:xfrm>
          <a:prstGeom prst="line">
            <a:avLst/>
          </a:prstGeom>
          <a:noFill/>
          <a:ln w="25400">
            <a:solidFill>
              <a:schemeClr val="accent2"/>
            </a:solidFill>
            <a:prstDash val="solid"/>
          </a:ln>
        </p:spPr>
        <p:txBody>
          <a:bodyPr/>
          <a:lstStyle/>
          <a:p>
            <a:endParaRPr lang="en-US"/>
          </a:p>
        </p:txBody>
      </p:sp>
      <p:sp>
        <p:nvSpPr>
          <p:cNvPr id="71" name="Line"/>
          <p:cNvSpPr/>
          <p:nvPr/>
        </p:nvSpPr>
        <p:spPr>
          <a:xfrm>
            <a:off x="8459657" y="5092619"/>
            <a:ext cx="159687" cy="39029"/>
          </a:xfrm>
          <a:prstGeom prst="line">
            <a:avLst/>
          </a:prstGeom>
          <a:noFill/>
          <a:ln w="25400">
            <a:solidFill>
              <a:schemeClr val="accent2"/>
            </a:solidFill>
            <a:prstDash val="solid"/>
          </a:ln>
        </p:spPr>
        <p:txBody>
          <a:bodyPr/>
          <a:lstStyle/>
          <a:p>
            <a:endParaRPr lang="en-US"/>
          </a:p>
        </p:txBody>
      </p:sp>
      <p:sp>
        <p:nvSpPr>
          <p:cNvPr id="72" name="Line"/>
          <p:cNvSpPr/>
          <p:nvPr/>
        </p:nvSpPr>
        <p:spPr>
          <a:xfrm>
            <a:off x="8459657" y="4809155"/>
            <a:ext cx="159687" cy="39029"/>
          </a:xfrm>
          <a:prstGeom prst="line">
            <a:avLst/>
          </a:prstGeom>
          <a:noFill/>
          <a:ln w="12700">
            <a:solidFill>
              <a:schemeClr val="accent5"/>
            </a:solidFill>
            <a:prstDash val="dash"/>
          </a:ln>
        </p:spPr>
        <p:txBody>
          <a:bodyPr/>
          <a:lstStyle/>
          <a:p>
            <a:endParaRPr lang="en-US"/>
          </a:p>
        </p:txBody>
      </p:sp>
      <p:sp>
        <p:nvSpPr>
          <p:cNvPr id="73" name="Line"/>
          <p:cNvSpPr/>
          <p:nvPr/>
        </p:nvSpPr>
        <p:spPr>
          <a:xfrm>
            <a:off x="8619343" y="4564720"/>
            <a:ext cx="159687" cy="46610"/>
          </a:xfrm>
          <a:prstGeom prst="line">
            <a:avLst/>
          </a:prstGeom>
          <a:noFill/>
          <a:ln w="25400">
            <a:solidFill>
              <a:schemeClr val="accent2"/>
            </a:solidFill>
            <a:prstDash val="solid"/>
          </a:ln>
        </p:spPr>
        <p:txBody>
          <a:bodyPr/>
          <a:lstStyle/>
          <a:p>
            <a:endParaRPr lang="en-US"/>
          </a:p>
        </p:txBody>
      </p:sp>
      <p:sp>
        <p:nvSpPr>
          <p:cNvPr id="74" name="Line"/>
          <p:cNvSpPr/>
          <p:nvPr/>
        </p:nvSpPr>
        <p:spPr>
          <a:xfrm>
            <a:off x="8619343" y="5131648"/>
            <a:ext cx="159687" cy="46610"/>
          </a:xfrm>
          <a:prstGeom prst="line">
            <a:avLst/>
          </a:prstGeom>
          <a:noFill/>
          <a:ln w="25400">
            <a:solidFill>
              <a:schemeClr val="accent2"/>
            </a:solidFill>
            <a:prstDash val="solid"/>
          </a:ln>
        </p:spPr>
        <p:txBody>
          <a:bodyPr/>
          <a:lstStyle/>
          <a:p>
            <a:endParaRPr lang="en-US"/>
          </a:p>
        </p:txBody>
      </p:sp>
      <p:sp>
        <p:nvSpPr>
          <p:cNvPr id="75" name="Line"/>
          <p:cNvSpPr/>
          <p:nvPr/>
        </p:nvSpPr>
        <p:spPr>
          <a:xfrm>
            <a:off x="8619343" y="4848184"/>
            <a:ext cx="159687" cy="46610"/>
          </a:xfrm>
          <a:prstGeom prst="line">
            <a:avLst/>
          </a:prstGeom>
          <a:noFill/>
          <a:ln w="12700">
            <a:solidFill>
              <a:schemeClr val="accent5"/>
            </a:solidFill>
            <a:prstDash val="dash"/>
          </a:ln>
        </p:spPr>
        <p:txBody>
          <a:bodyPr/>
          <a:lstStyle/>
          <a:p>
            <a:endParaRPr lang="en-US"/>
          </a:p>
        </p:txBody>
      </p:sp>
      <p:sp>
        <p:nvSpPr>
          <p:cNvPr id="76" name="Line"/>
          <p:cNvSpPr/>
          <p:nvPr/>
        </p:nvSpPr>
        <p:spPr>
          <a:xfrm>
            <a:off x="8779030" y="4611331"/>
            <a:ext cx="159687" cy="52297"/>
          </a:xfrm>
          <a:prstGeom prst="line">
            <a:avLst/>
          </a:prstGeom>
          <a:noFill/>
          <a:ln w="25400">
            <a:solidFill>
              <a:schemeClr val="accent2"/>
            </a:solidFill>
            <a:prstDash val="solid"/>
          </a:ln>
        </p:spPr>
        <p:txBody>
          <a:bodyPr/>
          <a:lstStyle/>
          <a:p>
            <a:endParaRPr lang="en-US"/>
          </a:p>
        </p:txBody>
      </p:sp>
      <p:sp>
        <p:nvSpPr>
          <p:cNvPr id="77" name="Line"/>
          <p:cNvSpPr/>
          <p:nvPr/>
        </p:nvSpPr>
        <p:spPr>
          <a:xfrm>
            <a:off x="8779030" y="5178259"/>
            <a:ext cx="159687" cy="52297"/>
          </a:xfrm>
          <a:prstGeom prst="line">
            <a:avLst/>
          </a:prstGeom>
          <a:noFill/>
          <a:ln w="25400">
            <a:solidFill>
              <a:schemeClr val="accent2"/>
            </a:solidFill>
            <a:prstDash val="solid"/>
          </a:ln>
        </p:spPr>
        <p:txBody>
          <a:bodyPr/>
          <a:lstStyle/>
          <a:p>
            <a:endParaRPr lang="en-US"/>
          </a:p>
        </p:txBody>
      </p:sp>
      <p:sp>
        <p:nvSpPr>
          <p:cNvPr id="78" name="Line"/>
          <p:cNvSpPr/>
          <p:nvPr/>
        </p:nvSpPr>
        <p:spPr>
          <a:xfrm>
            <a:off x="8779030" y="4894795"/>
            <a:ext cx="159687" cy="52297"/>
          </a:xfrm>
          <a:prstGeom prst="line">
            <a:avLst/>
          </a:prstGeom>
          <a:noFill/>
          <a:ln w="12700">
            <a:solidFill>
              <a:schemeClr val="accent5"/>
            </a:solidFill>
            <a:prstDash val="dash"/>
          </a:ln>
        </p:spPr>
        <p:txBody>
          <a:bodyPr/>
          <a:lstStyle/>
          <a:p>
            <a:endParaRPr lang="en-US"/>
          </a:p>
        </p:txBody>
      </p:sp>
      <p:sp>
        <p:nvSpPr>
          <p:cNvPr id="79" name="Line"/>
          <p:cNvSpPr/>
          <p:nvPr/>
        </p:nvSpPr>
        <p:spPr>
          <a:xfrm>
            <a:off x="8938717" y="4663627"/>
            <a:ext cx="159687" cy="55857"/>
          </a:xfrm>
          <a:prstGeom prst="line">
            <a:avLst/>
          </a:prstGeom>
          <a:noFill/>
          <a:ln w="25400">
            <a:solidFill>
              <a:schemeClr val="accent2"/>
            </a:solidFill>
            <a:prstDash val="solid"/>
          </a:ln>
        </p:spPr>
        <p:txBody>
          <a:bodyPr/>
          <a:lstStyle/>
          <a:p>
            <a:endParaRPr lang="en-US"/>
          </a:p>
        </p:txBody>
      </p:sp>
      <p:sp>
        <p:nvSpPr>
          <p:cNvPr id="80" name="Line"/>
          <p:cNvSpPr/>
          <p:nvPr/>
        </p:nvSpPr>
        <p:spPr>
          <a:xfrm>
            <a:off x="8938717" y="5230555"/>
            <a:ext cx="159687" cy="55857"/>
          </a:xfrm>
          <a:prstGeom prst="line">
            <a:avLst/>
          </a:prstGeom>
          <a:noFill/>
          <a:ln w="25400">
            <a:solidFill>
              <a:schemeClr val="accent2"/>
            </a:solidFill>
            <a:prstDash val="solid"/>
          </a:ln>
        </p:spPr>
        <p:txBody>
          <a:bodyPr/>
          <a:lstStyle/>
          <a:p>
            <a:endParaRPr lang="en-US"/>
          </a:p>
        </p:txBody>
      </p:sp>
      <p:sp>
        <p:nvSpPr>
          <p:cNvPr id="81" name="Line"/>
          <p:cNvSpPr/>
          <p:nvPr/>
        </p:nvSpPr>
        <p:spPr>
          <a:xfrm>
            <a:off x="8938717" y="4947091"/>
            <a:ext cx="159687" cy="55857"/>
          </a:xfrm>
          <a:prstGeom prst="line">
            <a:avLst/>
          </a:prstGeom>
          <a:noFill/>
          <a:ln w="12700">
            <a:solidFill>
              <a:schemeClr val="accent5"/>
            </a:solidFill>
            <a:prstDash val="dash"/>
          </a:ln>
        </p:spPr>
        <p:txBody>
          <a:bodyPr/>
          <a:lstStyle/>
          <a:p>
            <a:endParaRPr lang="en-US"/>
          </a:p>
        </p:txBody>
      </p:sp>
      <p:sp>
        <p:nvSpPr>
          <p:cNvPr id="82" name="Line"/>
          <p:cNvSpPr/>
          <p:nvPr/>
        </p:nvSpPr>
        <p:spPr>
          <a:xfrm>
            <a:off x="9098404" y="4719485"/>
            <a:ext cx="159687" cy="57147"/>
          </a:xfrm>
          <a:prstGeom prst="line">
            <a:avLst/>
          </a:prstGeom>
          <a:noFill/>
          <a:ln w="25400">
            <a:solidFill>
              <a:schemeClr val="accent2"/>
            </a:solidFill>
            <a:prstDash val="solid"/>
          </a:ln>
        </p:spPr>
        <p:txBody>
          <a:bodyPr/>
          <a:lstStyle/>
          <a:p>
            <a:endParaRPr lang="en-US"/>
          </a:p>
        </p:txBody>
      </p:sp>
      <p:sp>
        <p:nvSpPr>
          <p:cNvPr id="83" name="Line"/>
          <p:cNvSpPr/>
          <p:nvPr/>
        </p:nvSpPr>
        <p:spPr>
          <a:xfrm>
            <a:off x="9098404" y="5286413"/>
            <a:ext cx="159687" cy="57147"/>
          </a:xfrm>
          <a:prstGeom prst="line">
            <a:avLst/>
          </a:prstGeom>
          <a:noFill/>
          <a:ln w="25400">
            <a:solidFill>
              <a:schemeClr val="accent2"/>
            </a:solidFill>
            <a:prstDash val="solid"/>
          </a:ln>
        </p:spPr>
        <p:txBody>
          <a:bodyPr/>
          <a:lstStyle/>
          <a:p>
            <a:endParaRPr lang="en-US"/>
          </a:p>
        </p:txBody>
      </p:sp>
      <p:sp>
        <p:nvSpPr>
          <p:cNvPr id="84" name="Line"/>
          <p:cNvSpPr/>
          <p:nvPr/>
        </p:nvSpPr>
        <p:spPr>
          <a:xfrm>
            <a:off x="9098404" y="5002949"/>
            <a:ext cx="159687" cy="57147"/>
          </a:xfrm>
          <a:prstGeom prst="line">
            <a:avLst/>
          </a:prstGeom>
          <a:noFill/>
          <a:ln w="12700">
            <a:solidFill>
              <a:schemeClr val="accent5"/>
            </a:solidFill>
            <a:prstDash val="dash"/>
          </a:ln>
        </p:spPr>
        <p:txBody>
          <a:bodyPr/>
          <a:lstStyle/>
          <a:p>
            <a:endParaRPr lang="en-US"/>
          </a:p>
        </p:txBody>
      </p:sp>
      <p:sp>
        <p:nvSpPr>
          <p:cNvPr id="85" name="Line"/>
          <p:cNvSpPr/>
          <p:nvPr/>
        </p:nvSpPr>
        <p:spPr>
          <a:xfrm>
            <a:off x="9258091" y="4776632"/>
            <a:ext cx="159687" cy="56115"/>
          </a:xfrm>
          <a:prstGeom prst="line">
            <a:avLst/>
          </a:prstGeom>
          <a:noFill/>
          <a:ln w="25400">
            <a:solidFill>
              <a:schemeClr val="accent2"/>
            </a:solidFill>
            <a:prstDash val="solid"/>
          </a:ln>
        </p:spPr>
        <p:txBody>
          <a:bodyPr/>
          <a:lstStyle/>
          <a:p>
            <a:endParaRPr lang="en-US"/>
          </a:p>
        </p:txBody>
      </p:sp>
      <p:sp>
        <p:nvSpPr>
          <p:cNvPr id="86" name="Line"/>
          <p:cNvSpPr/>
          <p:nvPr/>
        </p:nvSpPr>
        <p:spPr>
          <a:xfrm>
            <a:off x="9258091" y="5343560"/>
            <a:ext cx="159687" cy="56115"/>
          </a:xfrm>
          <a:prstGeom prst="line">
            <a:avLst/>
          </a:prstGeom>
          <a:noFill/>
          <a:ln w="25400">
            <a:solidFill>
              <a:schemeClr val="accent2"/>
            </a:solidFill>
            <a:prstDash val="solid"/>
          </a:ln>
        </p:spPr>
        <p:txBody>
          <a:bodyPr/>
          <a:lstStyle/>
          <a:p>
            <a:endParaRPr lang="en-US"/>
          </a:p>
        </p:txBody>
      </p:sp>
      <p:sp>
        <p:nvSpPr>
          <p:cNvPr id="87" name="Line"/>
          <p:cNvSpPr/>
          <p:nvPr/>
        </p:nvSpPr>
        <p:spPr>
          <a:xfrm>
            <a:off x="9258091" y="5060096"/>
            <a:ext cx="159687" cy="56115"/>
          </a:xfrm>
          <a:prstGeom prst="line">
            <a:avLst/>
          </a:prstGeom>
          <a:noFill/>
          <a:ln w="12700">
            <a:solidFill>
              <a:schemeClr val="accent5"/>
            </a:solidFill>
            <a:prstDash val="dash"/>
          </a:ln>
        </p:spPr>
        <p:txBody>
          <a:bodyPr/>
          <a:lstStyle/>
          <a:p>
            <a:endParaRPr lang="en-US"/>
          </a:p>
        </p:txBody>
      </p:sp>
      <p:sp>
        <p:nvSpPr>
          <p:cNvPr id="88" name="Line"/>
          <p:cNvSpPr/>
          <p:nvPr/>
        </p:nvSpPr>
        <p:spPr>
          <a:xfrm>
            <a:off x="9417778" y="4832746"/>
            <a:ext cx="159687" cy="52801"/>
          </a:xfrm>
          <a:prstGeom prst="line">
            <a:avLst/>
          </a:prstGeom>
          <a:noFill/>
          <a:ln w="25400">
            <a:solidFill>
              <a:schemeClr val="accent2"/>
            </a:solidFill>
            <a:prstDash val="solid"/>
          </a:ln>
        </p:spPr>
        <p:txBody>
          <a:bodyPr/>
          <a:lstStyle/>
          <a:p>
            <a:endParaRPr lang="en-US"/>
          </a:p>
        </p:txBody>
      </p:sp>
      <p:sp>
        <p:nvSpPr>
          <p:cNvPr id="89" name="Line"/>
          <p:cNvSpPr/>
          <p:nvPr/>
        </p:nvSpPr>
        <p:spPr>
          <a:xfrm>
            <a:off x="9417778" y="5399674"/>
            <a:ext cx="159687" cy="52801"/>
          </a:xfrm>
          <a:prstGeom prst="line">
            <a:avLst/>
          </a:prstGeom>
          <a:noFill/>
          <a:ln w="25400">
            <a:solidFill>
              <a:schemeClr val="accent2"/>
            </a:solidFill>
            <a:prstDash val="solid"/>
          </a:ln>
        </p:spPr>
        <p:txBody>
          <a:bodyPr/>
          <a:lstStyle/>
          <a:p>
            <a:endParaRPr lang="en-US"/>
          </a:p>
        </p:txBody>
      </p:sp>
      <p:sp>
        <p:nvSpPr>
          <p:cNvPr id="90" name="Line"/>
          <p:cNvSpPr/>
          <p:nvPr/>
        </p:nvSpPr>
        <p:spPr>
          <a:xfrm>
            <a:off x="9417778" y="5116210"/>
            <a:ext cx="159687" cy="52801"/>
          </a:xfrm>
          <a:prstGeom prst="line">
            <a:avLst/>
          </a:prstGeom>
          <a:noFill/>
          <a:ln w="12700">
            <a:solidFill>
              <a:schemeClr val="accent5"/>
            </a:solidFill>
            <a:prstDash val="dash"/>
          </a:ln>
        </p:spPr>
        <p:txBody>
          <a:bodyPr/>
          <a:lstStyle/>
          <a:p>
            <a:endParaRPr lang="en-US"/>
          </a:p>
        </p:txBody>
      </p:sp>
      <p:sp>
        <p:nvSpPr>
          <p:cNvPr id="91" name="Line"/>
          <p:cNvSpPr/>
          <p:nvPr/>
        </p:nvSpPr>
        <p:spPr>
          <a:xfrm>
            <a:off x="9577465" y="4885547"/>
            <a:ext cx="159687" cy="47340"/>
          </a:xfrm>
          <a:prstGeom prst="line">
            <a:avLst/>
          </a:prstGeom>
          <a:noFill/>
          <a:ln w="25400">
            <a:solidFill>
              <a:schemeClr val="accent2"/>
            </a:solidFill>
            <a:prstDash val="solid"/>
          </a:ln>
        </p:spPr>
        <p:txBody>
          <a:bodyPr/>
          <a:lstStyle/>
          <a:p>
            <a:endParaRPr lang="en-US"/>
          </a:p>
        </p:txBody>
      </p:sp>
      <p:sp>
        <p:nvSpPr>
          <p:cNvPr id="92" name="Line"/>
          <p:cNvSpPr/>
          <p:nvPr/>
        </p:nvSpPr>
        <p:spPr>
          <a:xfrm>
            <a:off x="9577465" y="5452475"/>
            <a:ext cx="159687" cy="47340"/>
          </a:xfrm>
          <a:prstGeom prst="line">
            <a:avLst/>
          </a:prstGeom>
          <a:noFill/>
          <a:ln w="25400">
            <a:solidFill>
              <a:schemeClr val="accent2"/>
            </a:solidFill>
            <a:prstDash val="solid"/>
          </a:ln>
        </p:spPr>
        <p:txBody>
          <a:bodyPr/>
          <a:lstStyle/>
          <a:p>
            <a:endParaRPr lang="en-US"/>
          </a:p>
        </p:txBody>
      </p:sp>
      <p:sp>
        <p:nvSpPr>
          <p:cNvPr id="93" name="Line"/>
          <p:cNvSpPr/>
          <p:nvPr/>
        </p:nvSpPr>
        <p:spPr>
          <a:xfrm>
            <a:off x="9577465" y="5169011"/>
            <a:ext cx="159687" cy="47340"/>
          </a:xfrm>
          <a:prstGeom prst="line">
            <a:avLst/>
          </a:prstGeom>
          <a:noFill/>
          <a:ln w="12700">
            <a:solidFill>
              <a:schemeClr val="accent5"/>
            </a:solidFill>
            <a:prstDash val="dash"/>
          </a:ln>
        </p:spPr>
        <p:txBody>
          <a:bodyPr/>
          <a:lstStyle/>
          <a:p>
            <a:endParaRPr lang="en-US"/>
          </a:p>
        </p:txBody>
      </p:sp>
      <p:sp>
        <p:nvSpPr>
          <p:cNvPr id="94" name="Line"/>
          <p:cNvSpPr/>
          <p:nvPr/>
        </p:nvSpPr>
        <p:spPr>
          <a:xfrm>
            <a:off x="9737152" y="4932888"/>
            <a:ext cx="159687" cy="39956"/>
          </a:xfrm>
          <a:prstGeom prst="line">
            <a:avLst/>
          </a:prstGeom>
          <a:noFill/>
          <a:ln w="25400">
            <a:solidFill>
              <a:schemeClr val="accent2"/>
            </a:solidFill>
            <a:prstDash val="solid"/>
          </a:ln>
        </p:spPr>
        <p:txBody>
          <a:bodyPr/>
          <a:lstStyle/>
          <a:p>
            <a:endParaRPr lang="en-US"/>
          </a:p>
        </p:txBody>
      </p:sp>
      <p:sp>
        <p:nvSpPr>
          <p:cNvPr id="95" name="Line"/>
          <p:cNvSpPr/>
          <p:nvPr/>
        </p:nvSpPr>
        <p:spPr>
          <a:xfrm>
            <a:off x="9737152" y="5499816"/>
            <a:ext cx="159687" cy="39956"/>
          </a:xfrm>
          <a:prstGeom prst="line">
            <a:avLst/>
          </a:prstGeom>
          <a:noFill/>
          <a:ln w="25400">
            <a:solidFill>
              <a:schemeClr val="accent2"/>
            </a:solidFill>
            <a:prstDash val="solid"/>
          </a:ln>
        </p:spPr>
        <p:txBody>
          <a:bodyPr/>
          <a:lstStyle/>
          <a:p>
            <a:endParaRPr lang="en-US"/>
          </a:p>
        </p:txBody>
      </p:sp>
      <p:sp>
        <p:nvSpPr>
          <p:cNvPr id="96" name="Line"/>
          <p:cNvSpPr/>
          <p:nvPr/>
        </p:nvSpPr>
        <p:spPr>
          <a:xfrm>
            <a:off x="9737152" y="5216352"/>
            <a:ext cx="159687" cy="39956"/>
          </a:xfrm>
          <a:prstGeom prst="line">
            <a:avLst/>
          </a:prstGeom>
          <a:noFill/>
          <a:ln w="12700">
            <a:solidFill>
              <a:schemeClr val="accent5"/>
            </a:solidFill>
            <a:prstDash val="dash"/>
          </a:ln>
        </p:spPr>
        <p:txBody>
          <a:bodyPr/>
          <a:lstStyle/>
          <a:p>
            <a:endParaRPr lang="en-US"/>
          </a:p>
        </p:txBody>
      </p:sp>
      <p:sp>
        <p:nvSpPr>
          <p:cNvPr id="97" name="Line"/>
          <p:cNvSpPr/>
          <p:nvPr/>
        </p:nvSpPr>
        <p:spPr>
          <a:xfrm>
            <a:off x="9896839" y="4972843"/>
            <a:ext cx="159687" cy="30947"/>
          </a:xfrm>
          <a:prstGeom prst="line">
            <a:avLst/>
          </a:prstGeom>
          <a:noFill/>
          <a:ln w="25400">
            <a:solidFill>
              <a:schemeClr val="accent2"/>
            </a:solidFill>
            <a:prstDash val="solid"/>
          </a:ln>
        </p:spPr>
        <p:txBody>
          <a:bodyPr/>
          <a:lstStyle/>
          <a:p>
            <a:endParaRPr lang="en-US"/>
          </a:p>
        </p:txBody>
      </p:sp>
      <p:sp>
        <p:nvSpPr>
          <p:cNvPr id="98" name="Line"/>
          <p:cNvSpPr/>
          <p:nvPr/>
        </p:nvSpPr>
        <p:spPr>
          <a:xfrm>
            <a:off x="9896839" y="5539771"/>
            <a:ext cx="159687" cy="30947"/>
          </a:xfrm>
          <a:prstGeom prst="line">
            <a:avLst/>
          </a:prstGeom>
          <a:noFill/>
          <a:ln w="25400">
            <a:solidFill>
              <a:schemeClr val="accent2"/>
            </a:solidFill>
            <a:prstDash val="solid"/>
          </a:ln>
        </p:spPr>
        <p:txBody>
          <a:bodyPr/>
          <a:lstStyle/>
          <a:p>
            <a:endParaRPr lang="en-US"/>
          </a:p>
        </p:txBody>
      </p:sp>
      <p:sp>
        <p:nvSpPr>
          <p:cNvPr id="99" name="Line"/>
          <p:cNvSpPr/>
          <p:nvPr/>
        </p:nvSpPr>
        <p:spPr>
          <a:xfrm>
            <a:off x="9896839" y="5256307"/>
            <a:ext cx="159687" cy="30947"/>
          </a:xfrm>
          <a:prstGeom prst="line">
            <a:avLst/>
          </a:prstGeom>
          <a:noFill/>
          <a:ln w="12700">
            <a:solidFill>
              <a:schemeClr val="accent5"/>
            </a:solidFill>
            <a:prstDash val="dash"/>
          </a:ln>
        </p:spPr>
        <p:txBody>
          <a:bodyPr/>
          <a:lstStyle/>
          <a:p>
            <a:endParaRPr lang="en-US"/>
          </a:p>
        </p:txBody>
      </p:sp>
      <p:sp>
        <p:nvSpPr>
          <p:cNvPr id="100" name="Line"/>
          <p:cNvSpPr/>
          <p:nvPr/>
        </p:nvSpPr>
        <p:spPr>
          <a:xfrm>
            <a:off x="10056525" y="5003791"/>
            <a:ext cx="159687" cy="20680"/>
          </a:xfrm>
          <a:prstGeom prst="line">
            <a:avLst/>
          </a:prstGeom>
          <a:noFill/>
          <a:ln w="25400">
            <a:solidFill>
              <a:schemeClr val="accent2"/>
            </a:solidFill>
            <a:prstDash val="solid"/>
          </a:ln>
        </p:spPr>
        <p:txBody>
          <a:bodyPr/>
          <a:lstStyle/>
          <a:p>
            <a:endParaRPr lang="en-US"/>
          </a:p>
        </p:txBody>
      </p:sp>
      <p:sp>
        <p:nvSpPr>
          <p:cNvPr id="101" name="Line"/>
          <p:cNvSpPr/>
          <p:nvPr/>
        </p:nvSpPr>
        <p:spPr>
          <a:xfrm>
            <a:off x="10056525" y="5570719"/>
            <a:ext cx="159687" cy="20680"/>
          </a:xfrm>
          <a:prstGeom prst="line">
            <a:avLst/>
          </a:prstGeom>
          <a:noFill/>
          <a:ln w="25400">
            <a:solidFill>
              <a:schemeClr val="accent2"/>
            </a:solidFill>
            <a:prstDash val="solid"/>
          </a:ln>
        </p:spPr>
        <p:txBody>
          <a:bodyPr/>
          <a:lstStyle/>
          <a:p>
            <a:endParaRPr lang="en-US"/>
          </a:p>
        </p:txBody>
      </p:sp>
      <p:sp>
        <p:nvSpPr>
          <p:cNvPr id="102" name="Line"/>
          <p:cNvSpPr/>
          <p:nvPr/>
        </p:nvSpPr>
        <p:spPr>
          <a:xfrm>
            <a:off x="10056525" y="5287255"/>
            <a:ext cx="159687" cy="20680"/>
          </a:xfrm>
          <a:prstGeom prst="line">
            <a:avLst/>
          </a:prstGeom>
          <a:noFill/>
          <a:ln w="12700">
            <a:solidFill>
              <a:schemeClr val="accent5"/>
            </a:solidFill>
            <a:prstDash val="dash"/>
          </a:ln>
        </p:spPr>
        <p:txBody>
          <a:bodyPr/>
          <a:lstStyle/>
          <a:p>
            <a:endParaRPr lang="en-US"/>
          </a:p>
        </p:txBody>
      </p:sp>
      <p:sp>
        <p:nvSpPr>
          <p:cNvPr id="103" name="Line"/>
          <p:cNvSpPr/>
          <p:nvPr/>
        </p:nvSpPr>
        <p:spPr>
          <a:xfrm>
            <a:off x="10216212" y="5024471"/>
            <a:ext cx="159687" cy="9573"/>
          </a:xfrm>
          <a:prstGeom prst="line">
            <a:avLst/>
          </a:prstGeom>
          <a:noFill/>
          <a:ln w="25400">
            <a:solidFill>
              <a:schemeClr val="accent2"/>
            </a:solidFill>
            <a:prstDash val="solid"/>
          </a:ln>
        </p:spPr>
        <p:txBody>
          <a:bodyPr/>
          <a:lstStyle/>
          <a:p>
            <a:endParaRPr lang="en-US"/>
          </a:p>
        </p:txBody>
      </p:sp>
      <p:sp>
        <p:nvSpPr>
          <p:cNvPr id="104" name="Line"/>
          <p:cNvSpPr/>
          <p:nvPr/>
        </p:nvSpPr>
        <p:spPr>
          <a:xfrm>
            <a:off x="10216212" y="5591399"/>
            <a:ext cx="159687" cy="9573"/>
          </a:xfrm>
          <a:prstGeom prst="line">
            <a:avLst/>
          </a:prstGeom>
          <a:noFill/>
          <a:ln w="25400">
            <a:solidFill>
              <a:schemeClr val="accent2"/>
            </a:solidFill>
            <a:prstDash val="solid"/>
          </a:ln>
        </p:spPr>
        <p:txBody>
          <a:bodyPr/>
          <a:lstStyle/>
          <a:p>
            <a:endParaRPr lang="en-US"/>
          </a:p>
        </p:txBody>
      </p:sp>
      <p:sp>
        <p:nvSpPr>
          <p:cNvPr id="105" name="Line"/>
          <p:cNvSpPr/>
          <p:nvPr/>
        </p:nvSpPr>
        <p:spPr>
          <a:xfrm>
            <a:off x="10216212" y="5307935"/>
            <a:ext cx="159687" cy="9573"/>
          </a:xfrm>
          <a:prstGeom prst="line">
            <a:avLst/>
          </a:prstGeom>
          <a:noFill/>
          <a:ln w="12700">
            <a:solidFill>
              <a:schemeClr val="accent5"/>
            </a:solidFill>
            <a:prstDash val="dash"/>
          </a:ln>
        </p:spPr>
        <p:txBody>
          <a:bodyPr/>
          <a:lstStyle/>
          <a:p>
            <a:endParaRPr lang="en-US"/>
          </a:p>
        </p:txBody>
      </p:sp>
      <p:sp>
        <p:nvSpPr>
          <p:cNvPr id="106" name="Line"/>
          <p:cNvSpPr/>
          <p:nvPr/>
        </p:nvSpPr>
        <p:spPr>
          <a:xfrm flipV="1">
            <a:off x="10375899" y="5032121"/>
            <a:ext cx="159687" cy="1923"/>
          </a:xfrm>
          <a:prstGeom prst="line">
            <a:avLst/>
          </a:prstGeom>
          <a:noFill/>
          <a:ln w="25400">
            <a:solidFill>
              <a:schemeClr val="accent2"/>
            </a:solidFill>
            <a:prstDash val="solid"/>
          </a:ln>
        </p:spPr>
        <p:txBody>
          <a:bodyPr/>
          <a:lstStyle/>
          <a:p>
            <a:endParaRPr lang="en-US"/>
          </a:p>
        </p:txBody>
      </p:sp>
      <p:sp>
        <p:nvSpPr>
          <p:cNvPr id="107" name="Line"/>
          <p:cNvSpPr/>
          <p:nvPr/>
        </p:nvSpPr>
        <p:spPr>
          <a:xfrm flipV="1">
            <a:off x="10375899" y="5599049"/>
            <a:ext cx="159687" cy="1923"/>
          </a:xfrm>
          <a:prstGeom prst="line">
            <a:avLst/>
          </a:prstGeom>
          <a:noFill/>
          <a:ln w="25400">
            <a:solidFill>
              <a:schemeClr val="accent2"/>
            </a:solidFill>
            <a:prstDash val="solid"/>
          </a:ln>
        </p:spPr>
        <p:txBody>
          <a:bodyPr/>
          <a:lstStyle/>
          <a:p>
            <a:endParaRPr lang="en-US"/>
          </a:p>
        </p:txBody>
      </p:sp>
      <p:sp>
        <p:nvSpPr>
          <p:cNvPr id="108" name="Line"/>
          <p:cNvSpPr/>
          <p:nvPr/>
        </p:nvSpPr>
        <p:spPr>
          <a:xfrm flipV="1">
            <a:off x="10375899" y="5315585"/>
            <a:ext cx="159687" cy="1923"/>
          </a:xfrm>
          <a:prstGeom prst="line">
            <a:avLst/>
          </a:prstGeom>
          <a:noFill/>
          <a:ln w="12700">
            <a:solidFill>
              <a:schemeClr val="accent5"/>
            </a:solidFill>
            <a:prstDash val="dash"/>
          </a:ln>
        </p:spPr>
        <p:txBody>
          <a:bodyPr/>
          <a:lstStyle/>
          <a:p>
            <a:endParaRPr lang="en-US"/>
          </a:p>
        </p:txBody>
      </p:sp>
      <p:sp>
        <p:nvSpPr>
          <p:cNvPr id="109" name="Line"/>
          <p:cNvSpPr/>
          <p:nvPr/>
        </p:nvSpPr>
        <p:spPr>
          <a:xfrm flipV="1">
            <a:off x="10535586" y="5018779"/>
            <a:ext cx="159687" cy="13342"/>
          </a:xfrm>
          <a:prstGeom prst="line">
            <a:avLst/>
          </a:prstGeom>
          <a:noFill/>
          <a:ln w="25400">
            <a:solidFill>
              <a:schemeClr val="accent2"/>
            </a:solidFill>
            <a:prstDash val="solid"/>
          </a:ln>
        </p:spPr>
        <p:txBody>
          <a:bodyPr/>
          <a:lstStyle/>
          <a:p>
            <a:endParaRPr lang="en-US"/>
          </a:p>
        </p:txBody>
      </p:sp>
      <p:sp>
        <p:nvSpPr>
          <p:cNvPr id="110" name="Line"/>
          <p:cNvSpPr/>
          <p:nvPr/>
        </p:nvSpPr>
        <p:spPr>
          <a:xfrm flipV="1">
            <a:off x="10535586" y="5585707"/>
            <a:ext cx="159687" cy="13342"/>
          </a:xfrm>
          <a:prstGeom prst="line">
            <a:avLst/>
          </a:prstGeom>
          <a:noFill/>
          <a:ln w="25400">
            <a:solidFill>
              <a:schemeClr val="accent2"/>
            </a:solidFill>
            <a:prstDash val="solid"/>
          </a:ln>
        </p:spPr>
        <p:txBody>
          <a:bodyPr/>
          <a:lstStyle/>
          <a:p>
            <a:endParaRPr lang="en-US"/>
          </a:p>
        </p:txBody>
      </p:sp>
      <p:sp>
        <p:nvSpPr>
          <p:cNvPr id="111" name="Line"/>
          <p:cNvSpPr/>
          <p:nvPr/>
        </p:nvSpPr>
        <p:spPr>
          <a:xfrm flipV="1">
            <a:off x="10535586" y="5302243"/>
            <a:ext cx="159687" cy="13342"/>
          </a:xfrm>
          <a:prstGeom prst="line">
            <a:avLst/>
          </a:prstGeom>
          <a:noFill/>
          <a:ln w="12700">
            <a:solidFill>
              <a:schemeClr val="accent5"/>
            </a:solidFill>
            <a:prstDash val="dash"/>
          </a:ln>
        </p:spPr>
        <p:txBody>
          <a:bodyPr/>
          <a:lstStyle/>
          <a:p>
            <a:endParaRPr lang="en-US"/>
          </a:p>
        </p:txBody>
      </p:sp>
      <p:sp>
        <p:nvSpPr>
          <p:cNvPr id="112" name="Line"/>
          <p:cNvSpPr/>
          <p:nvPr/>
        </p:nvSpPr>
        <p:spPr>
          <a:xfrm flipV="1">
            <a:off x="10695273" y="4994562"/>
            <a:ext cx="159687" cy="24218"/>
          </a:xfrm>
          <a:prstGeom prst="line">
            <a:avLst/>
          </a:prstGeom>
          <a:noFill/>
          <a:ln w="25400">
            <a:solidFill>
              <a:schemeClr val="accent2"/>
            </a:solidFill>
            <a:prstDash val="solid"/>
          </a:ln>
        </p:spPr>
        <p:txBody>
          <a:bodyPr/>
          <a:lstStyle/>
          <a:p>
            <a:endParaRPr lang="en-US"/>
          </a:p>
        </p:txBody>
      </p:sp>
      <p:sp>
        <p:nvSpPr>
          <p:cNvPr id="113" name="Line"/>
          <p:cNvSpPr/>
          <p:nvPr/>
        </p:nvSpPr>
        <p:spPr>
          <a:xfrm flipV="1">
            <a:off x="10695273" y="5561490"/>
            <a:ext cx="159687" cy="24218"/>
          </a:xfrm>
          <a:prstGeom prst="line">
            <a:avLst/>
          </a:prstGeom>
          <a:noFill/>
          <a:ln w="25400">
            <a:solidFill>
              <a:schemeClr val="accent2"/>
            </a:solidFill>
            <a:prstDash val="solid"/>
          </a:ln>
        </p:spPr>
        <p:txBody>
          <a:bodyPr/>
          <a:lstStyle/>
          <a:p>
            <a:endParaRPr lang="en-US"/>
          </a:p>
        </p:txBody>
      </p:sp>
      <p:sp>
        <p:nvSpPr>
          <p:cNvPr id="114" name="Line"/>
          <p:cNvSpPr/>
          <p:nvPr/>
        </p:nvSpPr>
        <p:spPr>
          <a:xfrm flipV="1">
            <a:off x="10695273" y="5278026"/>
            <a:ext cx="159687" cy="24218"/>
          </a:xfrm>
          <a:prstGeom prst="line">
            <a:avLst/>
          </a:prstGeom>
          <a:noFill/>
          <a:ln w="12700">
            <a:solidFill>
              <a:schemeClr val="accent5"/>
            </a:solidFill>
            <a:prstDash val="dash"/>
          </a:ln>
        </p:spPr>
        <p:txBody>
          <a:bodyPr/>
          <a:lstStyle/>
          <a:p>
            <a:endParaRPr lang="en-US"/>
          </a:p>
        </p:txBody>
      </p:sp>
      <p:sp>
        <p:nvSpPr>
          <p:cNvPr id="115" name="Line"/>
          <p:cNvSpPr/>
          <p:nvPr/>
        </p:nvSpPr>
        <p:spPr>
          <a:xfrm flipV="1">
            <a:off x="10854960" y="4960453"/>
            <a:ext cx="159687" cy="34109"/>
          </a:xfrm>
          <a:prstGeom prst="line">
            <a:avLst/>
          </a:prstGeom>
          <a:noFill/>
          <a:ln w="25400">
            <a:solidFill>
              <a:schemeClr val="accent2"/>
            </a:solidFill>
            <a:prstDash val="solid"/>
          </a:ln>
        </p:spPr>
        <p:txBody>
          <a:bodyPr/>
          <a:lstStyle/>
          <a:p>
            <a:endParaRPr lang="en-US"/>
          </a:p>
        </p:txBody>
      </p:sp>
      <p:sp>
        <p:nvSpPr>
          <p:cNvPr id="116" name="Line"/>
          <p:cNvSpPr/>
          <p:nvPr/>
        </p:nvSpPr>
        <p:spPr>
          <a:xfrm flipV="1">
            <a:off x="10854960" y="5527381"/>
            <a:ext cx="159687" cy="34109"/>
          </a:xfrm>
          <a:prstGeom prst="line">
            <a:avLst/>
          </a:prstGeom>
          <a:noFill/>
          <a:ln w="25400">
            <a:solidFill>
              <a:schemeClr val="accent2"/>
            </a:solidFill>
            <a:prstDash val="solid"/>
          </a:ln>
        </p:spPr>
        <p:txBody>
          <a:bodyPr/>
          <a:lstStyle/>
          <a:p>
            <a:endParaRPr lang="en-US"/>
          </a:p>
        </p:txBody>
      </p:sp>
      <p:sp>
        <p:nvSpPr>
          <p:cNvPr id="117" name="Line"/>
          <p:cNvSpPr/>
          <p:nvPr/>
        </p:nvSpPr>
        <p:spPr>
          <a:xfrm flipV="1">
            <a:off x="10854960" y="5243917"/>
            <a:ext cx="159687" cy="34109"/>
          </a:xfrm>
          <a:prstGeom prst="line">
            <a:avLst/>
          </a:prstGeom>
          <a:noFill/>
          <a:ln w="12700">
            <a:solidFill>
              <a:schemeClr val="accent5"/>
            </a:solidFill>
            <a:prstDash val="dash"/>
          </a:ln>
        </p:spPr>
        <p:txBody>
          <a:bodyPr/>
          <a:lstStyle/>
          <a:p>
            <a:endParaRPr lang="en-US"/>
          </a:p>
        </p:txBody>
      </p:sp>
      <p:sp>
        <p:nvSpPr>
          <p:cNvPr id="118" name="Line"/>
          <p:cNvSpPr/>
          <p:nvPr/>
        </p:nvSpPr>
        <p:spPr>
          <a:xfrm flipV="1">
            <a:off x="11014647" y="4917838"/>
            <a:ext cx="159687" cy="42614"/>
          </a:xfrm>
          <a:prstGeom prst="line">
            <a:avLst/>
          </a:prstGeom>
          <a:noFill/>
          <a:ln w="25400">
            <a:solidFill>
              <a:schemeClr val="accent2"/>
            </a:solidFill>
            <a:prstDash val="solid"/>
          </a:ln>
        </p:spPr>
        <p:txBody>
          <a:bodyPr/>
          <a:lstStyle/>
          <a:p>
            <a:endParaRPr lang="en-US"/>
          </a:p>
        </p:txBody>
      </p:sp>
      <p:sp>
        <p:nvSpPr>
          <p:cNvPr id="119" name="Line"/>
          <p:cNvSpPr/>
          <p:nvPr/>
        </p:nvSpPr>
        <p:spPr>
          <a:xfrm flipV="1">
            <a:off x="11014647" y="5484766"/>
            <a:ext cx="159687" cy="42614"/>
          </a:xfrm>
          <a:prstGeom prst="line">
            <a:avLst/>
          </a:prstGeom>
          <a:noFill/>
          <a:ln w="25400">
            <a:solidFill>
              <a:schemeClr val="accent2"/>
            </a:solidFill>
            <a:prstDash val="solid"/>
          </a:ln>
        </p:spPr>
        <p:txBody>
          <a:bodyPr/>
          <a:lstStyle/>
          <a:p>
            <a:endParaRPr lang="en-US"/>
          </a:p>
        </p:txBody>
      </p:sp>
      <p:sp>
        <p:nvSpPr>
          <p:cNvPr id="120" name="Line"/>
          <p:cNvSpPr/>
          <p:nvPr/>
        </p:nvSpPr>
        <p:spPr>
          <a:xfrm flipV="1">
            <a:off x="11014647" y="5201302"/>
            <a:ext cx="159687" cy="42614"/>
          </a:xfrm>
          <a:prstGeom prst="line">
            <a:avLst/>
          </a:prstGeom>
          <a:noFill/>
          <a:ln w="12700">
            <a:solidFill>
              <a:schemeClr val="accent5"/>
            </a:solidFill>
            <a:prstDash val="dash"/>
          </a:ln>
        </p:spPr>
        <p:txBody>
          <a:bodyPr/>
          <a:lstStyle/>
          <a:p>
            <a:endParaRPr lang="en-US"/>
          </a:p>
        </p:txBody>
      </p:sp>
      <p:sp>
        <p:nvSpPr>
          <p:cNvPr id="121" name="Dot"/>
          <p:cNvSpPr/>
          <p:nvPr/>
        </p:nvSpPr>
        <p:spPr>
          <a:xfrm>
            <a:off x="7086216" y="4875484"/>
            <a:ext cx="128016" cy="128016"/>
          </a:xfrm>
          <a:prstGeom prst="ellipse">
            <a:avLst/>
          </a:prstGeom>
          <a:solidFill>
            <a:srgbClr val="A9CCE3"/>
          </a:solidFill>
          <a:ln/>
        </p:spPr>
        <p:txBody>
          <a:bodyPr/>
          <a:lstStyle/>
          <a:p>
            <a:endParaRPr lang="en-US"/>
          </a:p>
        </p:txBody>
      </p:sp>
      <p:sp>
        <p:nvSpPr>
          <p:cNvPr id="122" name="Dot"/>
          <p:cNvSpPr/>
          <p:nvPr/>
        </p:nvSpPr>
        <p:spPr>
          <a:xfrm>
            <a:off x="7756901" y="4619838"/>
            <a:ext cx="128016" cy="128016"/>
          </a:xfrm>
          <a:prstGeom prst="ellipse">
            <a:avLst/>
          </a:prstGeom>
          <a:solidFill>
            <a:srgbClr val="A9CCE3"/>
          </a:solidFill>
          <a:ln/>
        </p:spPr>
        <p:txBody>
          <a:bodyPr/>
          <a:lstStyle/>
          <a:p>
            <a:endParaRPr lang="en-US"/>
          </a:p>
        </p:txBody>
      </p:sp>
      <p:sp>
        <p:nvSpPr>
          <p:cNvPr id="123" name="Dot"/>
          <p:cNvSpPr/>
          <p:nvPr/>
        </p:nvSpPr>
        <p:spPr>
          <a:xfrm>
            <a:off x="8427586" y="4837305"/>
            <a:ext cx="128016" cy="128016"/>
          </a:xfrm>
          <a:prstGeom prst="ellipse">
            <a:avLst/>
          </a:prstGeom>
          <a:solidFill>
            <a:srgbClr val="A9CCE3"/>
          </a:solidFill>
          <a:ln/>
        </p:spPr>
        <p:txBody>
          <a:bodyPr/>
          <a:lstStyle/>
          <a:p>
            <a:endParaRPr lang="en-US"/>
          </a:p>
        </p:txBody>
      </p:sp>
      <p:sp>
        <p:nvSpPr>
          <p:cNvPr id="124" name="Dot"/>
          <p:cNvSpPr/>
          <p:nvPr/>
        </p:nvSpPr>
        <p:spPr>
          <a:xfrm>
            <a:off x="9098271" y="4919255"/>
            <a:ext cx="128016" cy="128016"/>
          </a:xfrm>
          <a:prstGeom prst="ellipse">
            <a:avLst/>
          </a:prstGeom>
          <a:solidFill>
            <a:srgbClr val="A9CCE3"/>
          </a:solidFill>
          <a:ln/>
        </p:spPr>
        <p:txBody>
          <a:bodyPr/>
          <a:lstStyle/>
          <a:p>
            <a:endParaRPr lang="en-US"/>
          </a:p>
        </p:txBody>
      </p:sp>
      <p:sp>
        <p:nvSpPr>
          <p:cNvPr id="125" name="Dot"/>
          <p:cNvSpPr/>
          <p:nvPr/>
        </p:nvSpPr>
        <p:spPr>
          <a:xfrm>
            <a:off x="9768956" y="5248181"/>
            <a:ext cx="128016" cy="128016"/>
          </a:xfrm>
          <a:prstGeom prst="ellipse">
            <a:avLst/>
          </a:prstGeom>
          <a:solidFill>
            <a:srgbClr val="A9CCE3"/>
          </a:solidFill>
          <a:ln/>
        </p:spPr>
        <p:txBody>
          <a:bodyPr/>
          <a:lstStyle/>
          <a:p>
            <a:endParaRPr lang="en-US"/>
          </a:p>
        </p:txBody>
      </p:sp>
      <p:sp>
        <p:nvSpPr>
          <p:cNvPr id="126" name="Dot"/>
          <p:cNvSpPr/>
          <p:nvPr/>
        </p:nvSpPr>
        <p:spPr>
          <a:xfrm>
            <a:off x="10350216" y="5169053"/>
            <a:ext cx="128016" cy="128016"/>
          </a:xfrm>
          <a:prstGeom prst="ellipse">
            <a:avLst/>
          </a:prstGeom>
          <a:solidFill>
            <a:srgbClr val="A9CCE3"/>
          </a:solidFill>
          <a:ln/>
        </p:spPr>
        <p:txBody>
          <a:bodyPr/>
          <a:lstStyle/>
          <a:p>
            <a:endParaRPr lang="en-US"/>
          </a:p>
        </p:txBody>
      </p:sp>
      <p:sp>
        <p:nvSpPr>
          <p:cNvPr id="127" name="Dot"/>
          <p:cNvSpPr/>
          <p:nvPr/>
        </p:nvSpPr>
        <p:spPr>
          <a:xfrm>
            <a:off x="10886764" y="5223005"/>
            <a:ext cx="128016" cy="128016"/>
          </a:xfrm>
          <a:prstGeom prst="ellipse">
            <a:avLst/>
          </a:prstGeom>
          <a:solidFill>
            <a:srgbClr val="A9CCE3"/>
          </a:solidFill>
          <a:ln/>
        </p:spPr>
        <p:txBody>
          <a:bodyPr/>
          <a:lstStyle/>
          <a:p>
            <a:endParaRPr lang="en-US"/>
          </a:p>
        </p:txBody>
      </p:sp>
      <p:sp>
        <p:nvSpPr>
          <p:cNvPr id="128" name="Dot"/>
          <p:cNvSpPr/>
          <p:nvPr/>
        </p:nvSpPr>
        <p:spPr>
          <a:xfrm>
            <a:off x="7425627" y="4385181"/>
            <a:ext cx="164592" cy="164592"/>
          </a:xfrm>
          <a:prstGeom prst="ellipse">
            <a:avLst/>
          </a:prstGeom>
          <a:solidFill>
            <a:srgbClr val="174C6B"/>
          </a:solidFill>
          <a:ln w="19050">
            <a:solidFill>
              <a:srgbClr val="FFFFFF"/>
            </a:solidFill>
            <a:prstDash val="solid"/>
          </a:ln>
        </p:spPr>
        <p:txBody>
          <a:bodyPr/>
          <a:lstStyle/>
          <a:p>
            <a:endParaRPr lang="en-US"/>
          </a:p>
        </p:txBody>
      </p:sp>
      <p:sp>
        <p:nvSpPr>
          <p:cNvPr id="129" name="Dot"/>
          <p:cNvSpPr/>
          <p:nvPr/>
        </p:nvSpPr>
        <p:spPr>
          <a:xfrm>
            <a:off x="8722284" y="5146520"/>
            <a:ext cx="164592" cy="164592"/>
          </a:xfrm>
          <a:prstGeom prst="ellipse">
            <a:avLst/>
          </a:prstGeom>
          <a:solidFill>
            <a:srgbClr val="174C6B"/>
          </a:solidFill>
          <a:ln w="19050">
            <a:solidFill>
              <a:srgbClr val="FFFFFF"/>
            </a:solidFill>
            <a:prstDash val="solid"/>
          </a:ln>
        </p:spPr>
        <p:txBody>
          <a:bodyPr/>
          <a:lstStyle/>
          <a:p>
            <a:endParaRPr lang="en-US"/>
          </a:p>
        </p:txBody>
      </p:sp>
      <p:sp>
        <p:nvSpPr>
          <p:cNvPr id="130" name="Dot"/>
          <p:cNvSpPr/>
          <p:nvPr/>
        </p:nvSpPr>
        <p:spPr>
          <a:xfrm>
            <a:off x="9392969" y="4727437"/>
            <a:ext cx="164592" cy="164592"/>
          </a:xfrm>
          <a:prstGeom prst="ellipse">
            <a:avLst/>
          </a:prstGeom>
          <a:solidFill>
            <a:srgbClr val="174C6B"/>
          </a:solidFill>
          <a:ln w="19050">
            <a:solidFill>
              <a:srgbClr val="FFFFFF"/>
            </a:solidFill>
            <a:prstDash val="solid"/>
          </a:ln>
        </p:spPr>
        <p:txBody>
          <a:bodyPr/>
          <a:lstStyle/>
          <a:p>
            <a:endParaRPr lang="en-US"/>
          </a:p>
        </p:txBody>
      </p:sp>
      <p:sp>
        <p:nvSpPr>
          <p:cNvPr id="131" name="Dot"/>
          <p:cNvSpPr/>
          <p:nvPr/>
        </p:nvSpPr>
        <p:spPr>
          <a:xfrm>
            <a:off x="10555490" y="5552025"/>
            <a:ext cx="164592" cy="164592"/>
          </a:xfrm>
          <a:prstGeom prst="ellipse">
            <a:avLst/>
          </a:prstGeom>
          <a:solidFill>
            <a:srgbClr val="174C6B"/>
          </a:solidFill>
          <a:ln w="19050">
            <a:solidFill>
              <a:srgbClr val="FFFFFF"/>
            </a:solidFill>
            <a:prstDash val="solid"/>
          </a:ln>
        </p:spPr>
        <p:txBody>
          <a:bodyPr/>
          <a:lstStyle/>
          <a:p>
            <a:endParaRPr lang="en-US"/>
          </a:p>
        </p:txBody>
      </p:sp>
      <p:sp>
        <p:nvSpPr>
          <p:cNvPr id="132" name="Dot"/>
          <p:cNvSpPr/>
          <p:nvPr/>
        </p:nvSpPr>
        <p:spPr>
          <a:xfrm>
            <a:off x="6517843" y="5907024"/>
            <a:ext cx="128016" cy="128016"/>
          </a:xfrm>
          <a:prstGeom prst="ellipse">
            <a:avLst/>
          </a:prstGeom>
          <a:solidFill>
            <a:srgbClr val="174C6B"/>
          </a:solidFill>
          <a:ln/>
        </p:spPr>
        <p:txBody>
          <a:bodyPr/>
          <a:lstStyle/>
          <a:p>
            <a:endParaRPr lang="en-US"/>
          </a:p>
        </p:txBody>
      </p:sp>
      <p:sp>
        <p:nvSpPr>
          <p:cNvPr id="133" name="Text 129"/>
          <p:cNvSpPr txBox="1"/>
          <p:nvPr/>
        </p:nvSpPr>
        <p:spPr>
          <a:xfrm>
            <a:off x="6709867" y="5833872"/>
            <a:ext cx="1097280" cy="274320"/>
          </a:xfrm>
          <a:prstGeom prst="rect">
            <a:avLst/>
          </a:prstGeom>
          <a:noFill/>
          <a:ln/>
        </p:spPr>
        <p:txBody>
          <a:bodyPr wrap="square" lIns="0" tIns="0" rIns="0" bIns="0" rtlCol="0" anchor="ctr"/>
          <a:lstStyle/>
          <a:p>
            <a:pPr marL="0" indent="0">
              <a:buNone/>
            </a:pPr>
            <a:r>
              <a:rPr lang="en-US" sz="1100" dirty="0">
                <a:solidFill>
                  <a:schemeClr val="accent5"/>
                </a:solidFill>
              </a:rPr>
              <a:t>Support Vectors</a:t>
            </a:r>
            <a:endParaRPr lang="en-US" sz="1100" dirty="0"/>
          </a:p>
        </p:txBody>
      </p:sp>
      <p:sp>
        <p:nvSpPr>
          <p:cNvPr id="134" name="Dot"/>
          <p:cNvSpPr/>
          <p:nvPr/>
        </p:nvSpPr>
        <p:spPr>
          <a:xfrm>
            <a:off x="7980883" y="5907024"/>
            <a:ext cx="128016" cy="128016"/>
          </a:xfrm>
          <a:prstGeom prst="ellipse">
            <a:avLst/>
          </a:prstGeom>
          <a:solidFill>
            <a:srgbClr val="F4A62A"/>
          </a:solidFill>
          <a:ln/>
        </p:spPr>
        <p:txBody>
          <a:bodyPr/>
          <a:lstStyle/>
          <a:p>
            <a:endParaRPr lang="en-US"/>
          </a:p>
        </p:txBody>
      </p:sp>
      <p:sp>
        <p:nvSpPr>
          <p:cNvPr id="135" name="Text 131"/>
          <p:cNvSpPr txBox="1"/>
          <p:nvPr/>
        </p:nvSpPr>
        <p:spPr>
          <a:xfrm>
            <a:off x="8172907" y="5833872"/>
            <a:ext cx="914400" cy="274320"/>
          </a:xfrm>
          <a:prstGeom prst="rect">
            <a:avLst/>
          </a:prstGeom>
          <a:noFill/>
          <a:ln/>
        </p:spPr>
        <p:txBody>
          <a:bodyPr wrap="square" lIns="0" tIns="0" rIns="0" bIns="0" rtlCol="0" anchor="ctr"/>
          <a:lstStyle/>
          <a:p>
            <a:pPr marL="0" indent="0">
              <a:buNone/>
            </a:pPr>
            <a:r>
              <a:rPr lang="en-US" sz="1100" dirty="0">
                <a:solidFill>
                  <a:schemeClr val="accent5"/>
                </a:solidFill>
              </a:rPr>
              <a:t>Epsilon-tube</a:t>
            </a:r>
            <a:endParaRPr lang="en-US" sz="1100" dirty="0"/>
          </a:p>
        </p:txBody>
      </p:sp>
      <p:sp>
        <p:nvSpPr>
          <p:cNvPr id="136" name="Dot"/>
          <p:cNvSpPr/>
          <p:nvPr/>
        </p:nvSpPr>
        <p:spPr>
          <a:xfrm>
            <a:off x="9261043" y="5907024"/>
            <a:ext cx="128016" cy="128016"/>
          </a:xfrm>
          <a:prstGeom prst="ellipse">
            <a:avLst/>
          </a:prstGeom>
          <a:solidFill>
            <a:srgbClr val="A9CCE3"/>
          </a:solidFill>
          <a:ln/>
        </p:spPr>
        <p:txBody>
          <a:bodyPr/>
          <a:lstStyle/>
          <a:p>
            <a:endParaRPr lang="en-US"/>
          </a:p>
        </p:txBody>
      </p:sp>
      <p:sp>
        <p:nvSpPr>
          <p:cNvPr id="137" name="Text 133"/>
          <p:cNvSpPr txBox="1"/>
          <p:nvPr/>
        </p:nvSpPr>
        <p:spPr>
          <a:xfrm>
            <a:off x="9453067" y="5833872"/>
            <a:ext cx="1097280" cy="274320"/>
          </a:xfrm>
          <a:prstGeom prst="rect">
            <a:avLst/>
          </a:prstGeom>
          <a:noFill/>
          <a:ln/>
        </p:spPr>
        <p:txBody>
          <a:bodyPr wrap="square" lIns="0" tIns="0" rIns="0" bIns="0" rtlCol="0" anchor="ctr"/>
          <a:lstStyle/>
          <a:p>
            <a:pPr marL="0" indent="0">
              <a:buNone/>
            </a:pPr>
            <a:r>
              <a:rPr lang="en-US" sz="1100" dirty="0">
                <a:solidFill>
                  <a:schemeClr val="accent5"/>
                </a:solidFill>
              </a:rPr>
              <a:t>Điểm trong tube</a:t>
            </a:r>
            <a:endParaRPr lang="en-US" sz="1100" dirty="0"/>
          </a:p>
        </p:txBody>
      </p:sp>
      <p:sp>
        <p:nvSpPr>
          <p:cNvPr id="13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Tinh chỉnh siêu tham số và Cross Validation</a:t>
            </a:r>
            <a:endParaRPr lang="en-US" sz="3000" dirty="0"/>
          </a:p>
        </p:txBody>
      </p:sp>
      <p:sp>
        <p:nvSpPr>
          <p:cNvPr id="5" name="FoldCard"/>
          <p:cNvSpPr/>
          <p:nvPr/>
        </p:nvSpPr>
        <p:spPr>
          <a:xfrm>
            <a:off x="548640" y="1463040"/>
            <a:ext cx="6675120" cy="3611880"/>
          </a:xfrm>
          <a:prstGeom prst="roundRect">
            <a:avLst>
              <a:gd name="adj" fmla="val 303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Text 4"/>
          <p:cNvSpPr txBox="1"/>
          <p:nvPr/>
        </p:nvSpPr>
        <p:spPr>
          <a:xfrm>
            <a:off x="777240" y="1691640"/>
            <a:ext cx="914400" cy="475488"/>
          </a:xfrm>
          <a:prstGeom prst="rect">
            <a:avLst/>
          </a:prstGeom>
          <a:noFill/>
          <a:ln/>
        </p:spPr>
        <p:txBody>
          <a:bodyPr wrap="square" lIns="0" tIns="0" rIns="0" bIns="0" rtlCol="0" anchor="ctr"/>
          <a:lstStyle/>
          <a:p>
            <a:pPr marL="0" indent="0">
              <a:buNone/>
            </a:pPr>
            <a:r>
              <a:rPr lang="en-US" sz="1400" b="1" dirty="0">
                <a:solidFill>
                  <a:schemeClr val="tx1"/>
                </a:solidFill>
              </a:rPr>
              <a:t>Fold 1</a:t>
            </a:r>
            <a:endParaRPr lang="en-US" sz="1400" dirty="0"/>
          </a:p>
        </p:txBody>
      </p:sp>
      <p:sp>
        <p:nvSpPr>
          <p:cNvPr id="7" name="Text 5"/>
          <p:cNvSpPr txBox="1"/>
          <p:nvPr/>
        </p:nvSpPr>
        <p:spPr>
          <a:xfrm>
            <a:off x="1737360" y="1691640"/>
            <a:ext cx="960120" cy="475488"/>
          </a:xfrm>
          <a:prstGeom prst="roundRect">
            <a:avLst>
              <a:gd name="adj" fmla="val 13462"/>
            </a:avLst>
          </a:prstGeom>
          <a:solidFill>
            <a:schemeClr val="accent2"/>
          </a:solidFill>
          <a:ln/>
        </p:spPr>
        <p:txBody>
          <a:bodyPr wrap="square" lIns="0" tIns="0" rIns="0" bIns="0" rtlCol="0" anchor="ctr"/>
          <a:lstStyle/>
          <a:p>
            <a:pPr marL="0" indent="0" algn="ctr">
              <a:buNone/>
            </a:pPr>
            <a:r>
              <a:rPr lang="en-US" sz="1200" b="1" dirty="0">
                <a:solidFill>
                  <a:schemeClr val="tx1"/>
                </a:solidFill>
              </a:rPr>
              <a:t>Validation</a:t>
            </a:r>
            <a:endParaRPr lang="en-US" sz="1200" dirty="0"/>
          </a:p>
        </p:txBody>
      </p:sp>
      <p:sp>
        <p:nvSpPr>
          <p:cNvPr id="8" name="Text 6"/>
          <p:cNvSpPr txBox="1"/>
          <p:nvPr/>
        </p:nvSpPr>
        <p:spPr>
          <a:xfrm>
            <a:off x="2788920" y="1691640"/>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9" name="Text 7"/>
          <p:cNvSpPr txBox="1"/>
          <p:nvPr/>
        </p:nvSpPr>
        <p:spPr>
          <a:xfrm>
            <a:off x="3840480" y="1691640"/>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0" name="Text 8"/>
          <p:cNvSpPr txBox="1"/>
          <p:nvPr/>
        </p:nvSpPr>
        <p:spPr>
          <a:xfrm>
            <a:off x="4892040" y="1691640"/>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1" name="Text 9"/>
          <p:cNvSpPr txBox="1"/>
          <p:nvPr/>
        </p:nvSpPr>
        <p:spPr>
          <a:xfrm>
            <a:off x="5943600" y="1691640"/>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2" name="Text 10"/>
          <p:cNvSpPr txBox="1"/>
          <p:nvPr/>
        </p:nvSpPr>
        <p:spPr>
          <a:xfrm>
            <a:off x="777240" y="2295144"/>
            <a:ext cx="914400" cy="475488"/>
          </a:xfrm>
          <a:prstGeom prst="rect">
            <a:avLst/>
          </a:prstGeom>
          <a:noFill/>
          <a:ln/>
        </p:spPr>
        <p:txBody>
          <a:bodyPr wrap="square" lIns="0" tIns="0" rIns="0" bIns="0" rtlCol="0" anchor="ctr"/>
          <a:lstStyle/>
          <a:p>
            <a:pPr marL="0" indent="0">
              <a:buNone/>
            </a:pPr>
            <a:r>
              <a:rPr lang="en-US" sz="1400" b="1" dirty="0">
                <a:solidFill>
                  <a:schemeClr val="tx1"/>
                </a:solidFill>
              </a:rPr>
              <a:t>Fold 2</a:t>
            </a:r>
            <a:endParaRPr lang="en-US" sz="1400" dirty="0"/>
          </a:p>
        </p:txBody>
      </p:sp>
      <p:sp>
        <p:nvSpPr>
          <p:cNvPr id="13" name="Text 11"/>
          <p:cNvSpPr txBox="1"/>
          <p:nvPr/>
        </p:nvSpPr>
        <p:spPr>
          <a:xfrm>
            <a:off x="1737360" y="2295144"/>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4" name="Text 12"/>
          <p:cNvSpPr txBox="1"/>
          <p:nvPr/>
        </p:nvSpPr>
        <p:spPr>
          <a:xfrm>
            <a:off x="2788920" y="2295144"/>
            <a:ext cx="960120" cy="475488"/>
          </a:xfrm>
          <a:prstGeom prst="roundRect">
            <a:avLst>
              <a:gd name="adj" fmla="val 13462"/>
            </a:avLst>
          </a:prstGeom>
          <a:solidFill>
            <a:schemeClr val="accent2"/>
          </a:solidFill>
          <a:ln/>
        </p:spPr>
        <p:txBody>
          <a:bodyPr wrap="square" lIns="0" tIns="0" rIns="0" bIns="0" rtlCol="0" anchor="ctr"/>
          <a:lstStyle/>
          <a:p>
            <a:pPr marL="0" indent="0" algn="ctr">
              <a:buNone/>
            </a:pPr>
            <a:r>
              <a:rPr lang="en-US" sz="1200" b="1" dirty="0">
                <a:solidFill>
                  <a:schemeClr val="tx1"/>
                </a:solidFill>
              </a:rPr>
              <a:t>Validation</a:t>
            </a:r>
            <a:endParaRPr lang="en-US" sz="1200" dirty="0"/>
          </a:p>
        </p:txBody>
      </p:sp>
      <p:sp>
        <p:nvSpPr>
          <p:cNvPr id="15" name="Text 13"/>
          <p:cNvSpPr txBox="1"/>
          <p:nvPr/>
        </p:nvSpPr>
        <p:spPr>
          <a:xfrm>
            <a:off x="3840480" y="2295144"/>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6" name="Text 14"/>
          <p:cNvSpPr txBox="1"/>
          <p:nvPr/>
        </p:nvSpPr>
        <p:spPr>
          <a:xfrm>
            <a:off x="4892040" y="2295144"/>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7" name="Text 15"/>
          <p:cNvSpPr txBox="1"/>
          <p:nvPr/>
        </p:nvSpPr>
        <p:spPr>
          <a:xfrm>
            <a:off x="5943600" y="2295144"/>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18" name="Text 16"/>
          <p:cNvSpPr txBox="1"/>
          <p:nvPr/>
        </p:nvSpPr>
        <p:spPr>
          <a:xfrm>
            <a:off x="777240" y="2898648"/>
            <a:ext cx="914400" cy="475488"/>
          </a:xfrm>
          <a:prstGeom prst="rect">
            <a:avLst/>
          </a:prstGeom>
          <a:noFill/>
          <a:ln/>
        </p:spPr>
        <p:txBody>
          <a:bodyPr wrap="square" lIns="0" tIns="0" rIns="0" bIns="0" rtlCol="0" anchor="ctr"/>
          <a:lstStyle/>
          <a:p>
            <a:pPr marL="0" indent="0">
              <a:buNone/>
            </a:pPr>
            <a:r>
              <a:rPr lang="en-US" sz="1400" b="1" dirty="0">
                <a:solidFill>
                  <a:schemeClr val="tx1"/>
                </a:solidFill>
              </a:rPr>
              <a:t>Fold 3</a:t>
            </a:r>
            <a:endParaRPr lang="en-US" sz="1400" dirty="0"/>
          </a:p>
        </p:txBody>
      </p:sp>
      <p:sp>
        <p:nvSpPr>
          <p:cNvPr id="19" name="Text 17"/>
          <p:cNvSpPr txBox="1"/>
          <p:nvPr/>
        </p:nvSpPr>
        <p:spPr>
          <a:xfrm>
            <a:off x="1737360" y="2898648"/>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0" name="Text 18"/>
          <p:cNvSpPr txBox="1"/>
          <p:nvPr/>
        </p:nvSpPr>
        <p:spPr>
          <a:xfrm>
            <a:off x="2788920" y="2898648"/>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1" name="Text 19"/>
          <p:cNvSpPr txBox="1"/>
          <p:nvPr/>
        </p:nvSpPr>
        <p:spPr>
          <a:xfrm>
            <a:off x="3840480" y="2898648"/>
            <a:ext cx="960120" cy="475488"/>
          </a:xfrm>
          <a:prstGeom prst="roundRect">
            <a:avLst>
              <a:gd name="adj" fmla="val 13462"/>
            </a:avLst>
          </a:prstGeom>
          <a:solidFill>
            <a:schemeClr val="accent2"/>
          </a:solidFill>
          <a:ln/>
        </p:spPr>
        <p:txBody>
          <a:bodyPr wrap="square" lIns="0" tIns="0" rIns="0" bIns="0" rtlCol="0" anchor="ctr"/>
          <a:lstStyle/>
          <a:p>
            <a:pPr marL="0" indent="0" algn="ctr">
              <a:buNone/>
            </a:pPr>
            <a:r>
              <a:rPr lang="en-US" sz="1200" b="1" dirty="0">
                <a:solidFill>
                  <a:schemeClr val="tx1"/>
                </a:solidFill>
              </a:rPr>
              <a:t>Validation</a:t>
            </a:r>
            <a:endParaRPr lang="en-US" sz="1200" dirty="0"/>
          </a:p>
        </p:txBody>
      </p:sp>
      <p:sp>
        <p:nvSpPr>
          <p:cNvPr id="22" name="Text 20"/>
          <p:cNvSpPr txBox="1"/>
          <p:nvPr/>
        </p:nvSpPr>
        <p:spPr>
          <a:xfrm>
            <a:off x="4892040" y="2898648"/>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3" name="Text 21"/>
          <p:cNvSpPr txBox="1"/>
          <p:nvPr/>
        </p:nvSpPr>
        <p:spPr>
          <a:xfrm>
            <a:off x="5943600" y="2898648"/>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4" name="Text 22"/>
          <p:cNvSpPr txBox="1"/>
          <p:nvPr/>
        </p:nvSpPr>
        <p:spPr>
          <a:xfrm>
            <a:off x="777240" y="3502152"/>
            <a:ext cx="914400" cy="475488"/>
          </a:xfrm>
          <a:prstGeom prst="rect">
            <a:avLst/>
          </a:prstGeom>
          <a:noFill/>
          <a:ln/>
        </p:spPr>
        <p:txBody>
          <a:bodyPr wrap="square" lIns="0" tIns="0" rIns="0" bIns="0" rtlCol="0" anchor="ctr"/>
          <a:lstStyle/>
          <a:p>
            <a:pPr marL="0" indent="0">
              <a:buNone/>
            </a:pPr>
            <a:r>
              <a:rPr lang="en-US" sz="1400" b="1" dirty="0">
                <a:solidFill>
                  <a:schemeClr val="tx1"/>
                </a:solidFill>
              </a:rPr>
              <a:t>Fold 4</a:t>
            </a:r>
            <a:endParaRPr lang="en-US" sz="1400" dirty="0"/>
          </a:p>
        </p:txBody>
      </p:sp>
      <p:sp>
        <p:nvSpPr>
          <p:cNvPr id="25" name="Text 23"/>
          <p:cNvSpPr txBox="1"/>
          <p:nvPr/>
        </p:nvSpPr>
        <p:spPr>
          <a:xfrm>
            <a:off x="1737360" y="3502152"/>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6" name="Text 24"/>
          <p:cNvSpPr txBox="1"/>
          <p:nvPr/>
        </p:nvSpPr>
        <p:spPr>
          <a:xfrm>
            <a:off x="2788920" y="3502152"/>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7" name="Text 25"/>
          <p:cNvSpPr txBox="1"/>
          <p:nvPr/>
        </p:nvSpPr>
        <p:spPr>
          <a:xfrm>
            <a:off x="3840480" y="3502152"/>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28" name="Text 26"/>
          <p:cNvSpPr txBox="1"/>
          <p:nvPr/>
        </p:nvSpPr>
        <p:spPr>
          <a:xfrm>
            <a:off x="4892040" y="3502152"/>
            <a:ext cx="960120" cy="475488"/>
          </a:xfrm>
          <a:prstGeom prst="roundRect">
            <a:avLst>
              <a:gd name="adj" fmla="val 13462"/>
            </a:avLst>
          </a:prstGeom>
          <a:solidFill>
            <a:schemeClr val="accent2"/>
          </a:solidFill>
          <a:ln/>
        </p:spPr>
        <p:txBody>
          <a:bodyPr wrap="square" lIns="0" tIns="0" rIns="0" bIns="0" rtlCol="0" anchor="ctr"/>
          <a:lstStyle/>
          <a:p>
            <a:pPr marL="0" indent="0" algn="ctr">
              <a:buNone/>
            </a:pPr>
            <a:r>
              <a:rPr lang="en-US" sz="1200" b="1" dirty="0">
                <a:solidFill>
                  <a:schemeClr val="tx1"/>
                </a:solidFill>
              </a:rPr>
              <a:t>Validation</a:t>
            </a:r>
            <a:endParaRPr lang="en-US" sz="1200" dirty="0"/>
          </a:p>
        </p:txBody>
      </p:sp>
      <p:sp>
        <p:nvSpPr>
          <p:cNvPr id="29" name="Text 27"/>
          <p:cNvSpPr txBox="1"/>
          <p:nvPr/>
        </p:nvSpPr>
        <p:spPr>
          <a:xfrm>
            <a:off x="5943600" y="3502152"/>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30" name="Text 28"/>
          <p:cNvSpPr txBox="1"/>
          <p:nvPr/>
        </p:nvSpPr>
        <p:spPr>
          <a:xfrm>
            <a:off x="777240" y="4105656"/>
            <a:ext cx="914400" cy="475488"/>
          </a:xfrm>
          <a:prstGeom prst="rect">
            <a:avLst/>
          </a:prstGeom>
          <a:noFill/>
          <a:ln/>
        </p:spPr>
        <p:txBody>
          <a:bodyPr wrap="square" lIns="0" tIns="0" rIns="0" bIns="0" rtlCol="0" anchor="ctr"/>
          <a:lstStyle/>
          <a:p>
            <a:pPr marL="0" indent="0">
              <a:buNone/>
            </a:pPr>
            <a:r>
              <a:rPr lang="en-US" sz="1400" b="1" dirty="0">
                <a:solidFill>
                  <a:schemeClr val="tx1"/>
                </a:solidFill>
              </a:rPr>
              <a:t>Fold 5</a:t>
            </a:r>
            <a:endParaRPr lang="en-US" sz="1400" dirty="0"/>
          </a:p>
        </p:txBody>
      </p:sp>
      <p:sp>
        <p:nvSpPr>
          <p:cNvPr id="31" name="Text 29"/>
          <p:cNvSpPr txBox="1"/>
          <p:nvPr/>
        </p:nvSpPr>
        <p:spPr>
          <a:xfrm>
            <a:off x="1737360" y="4105656"/>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32" name="Text 30"/>
          <p:cNvSpPr txBox="1"/>
          <p:nvPr/>
        </p:nvSpPr>
        <p:spPr>
          <a:xfrm>
            <a:off x="2788920" y="4105656"/>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33" name="Text 31"/>
          <p:cNvSpPr txBox="1"/>
          <p:nvPr/>
        </p:nvSpPr>
        <p:spPr>
          <a:xfrm>
            <a:off x="3840480" y="4105656"/>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34" name="Text 32"/>
          <p:cNvSpPr txBox="1"/>
          <p:nvPr/>
        </p:nvSpPr>
        <p:spPr>
          <a:xfrm>
            <a:off x="4892040" y="4105656"/>
            <a:ext cx="960120" cy="475488"/>
          </a:xfrm>
          <a:prstGeom prst="roundRect">
            <a:avLst>
              <a:gd name="adj" fmla="val 13462"/>
            </a:avLst>
          </a:prstGeom>
          <a:solidFill>
            <a:schemeClr val="accent6"/>
          </a:solidFill>
          <a:ln/>
        </p:spPr>
        <p:txBody>
          <a:bodyPr wrap="square" lIns="0" tIns="0" rIns="0" bIns="0" rtlCol="0" anchor="ctr"/>
          <a:lstStyle/>
          <a:p>
            <a:pPr marL="0" indent="0" algn="ctr">
              <a:buNone/>
            </a:pPr>
            <a:r>
              <a:rPr lang="en-US" sz="1200" dirty="0">
                <a:solidFill>
                  <a:schemeClr val="tx1"/>
                </a:solidFill>
              </a:rPr>
              <a:t>Train</a:t>
            </a:r>
            <a:endParaRPr lang="en-US" sz="1200" dirty="0"/>
          </a:p>
        </p:txBody>
      </p:sp>
      <p:sp>
        <p:nvSpPr>
          <p:cNvPr id="35" name="Text 33"/>
          <p:cNvSpPr txBox="1"/>
          <p:nvPr/>
        </p:nvSpPr>
        <p:spPr>
          <a:xfrm>
            <a:off x="5943600" y="4105656"/>
            <a:ext cx="960120" cy="475488"/>
          </a:xfrm>
          <a:prstGeom prst="roundRect">
            <a:avLst>
              <a:gd name="adj" fmla="val 13462"/>
            </a:avLst>
          </a:prstGeom>
          <a:solidFill>
            <a:schemeClr val="accent2"/>
          </a:solidFill>
          <a:ln/>
        </p:spPr>
        <p:txBody>
          <a:bodyPr wrap="square" lIns="0" tIns="0" rIns="0" bIns="0" rtlCol="0" anchor="ctr"/>
          <a:lstStyle/>
          <a:p>
            <a:pPr marL="0" indent="0" algn="ctr">
              <a:buNone/>
            </a:pPr>
            <a:r>
              <a:rPr lang="en-US" sz="1200" b="1" dirty="0">
                <a:solidFill>
                  <a:schemeClr val="tx1"/>
                </a:solidFill>
              </a:rPr>
              <a:t>Validation</a:t>
            </a:r>
            <a:endParaRPr lang="en-US" sz="1200" dirty="0"/>
          </a:p>
        </p:txBody>
      </p:sp>
      <p:sp>
        <p:nvSpPr>
          <p:cNvPr id="36" name="Dot"/>
          <p:cNvSpPr/>
          <p:nvPr/>
        </p:nvSpPr>
        <p:spPr>
          <a:xfrm>
            <a:off x="777240" y="4773168"/>
            <a:ext cx="146304" cy="146304"/>
          </a:xfrm>
          <a:prstGeom prst="ellipse">
            <a:avLst/>
          </a:prstGeom>
          <a:solidFill>
            <a:srgbClr val="F4A62A"/>
          </a:solidFill>
          <a:ln/>
        </p:spPr>
        <p:txBody>
          <a:bodyPr/>
          <a:lstStyle/>
          <a:p>
            <a:endParaRPr lang="en-US"/>
          </a:p>
        </p:txBody>
      </p:sp>
      <p:sp>
        <p:nvSpPr>
          <p:cNvPr id="37" name="Text 35"/>
          <p:cNvSpPr txBox="1"/>
          <p:nvPr/>
        </p:nvSpPr>
        <p:spPr>
          <a:xfrm>
            <a:off x="1005840" y="4709160"/>
            <a:ext cx="1097280" cy="274320"/>
          </a:xfrm>
          <a:prstGeom prst="rect">
            <a:avLst/>
          </a:prstGeom>
          <a:noFill/>
          <a:ln/>
        </p:spPr>
        <p:txBody>
          <a:bodyPr wrap="square" lIns="0" tIns="0" rIns="0" bIns="0" rtlCol="0" anchor="ctr"/>
          <a:lstStyle/>
          <a:p>
            <a:pPr marL="0" indent="0">
              <a:buNone/>
            </a:pPr>
            <a:r>
              <a:rPr lang="en-US" sz="1100" dirty="0">
                <a:solidFill>
                  <a:schemeClr val="accent5"/>
                </a:solidFill>
              </a:rPr>
              <a:t>Validation</a:t>
            </a:r>
            <a:endParaRPr lang="en-US" sz="1100" dirty="0"/>
          </a:p>
        </p:txBody>
      </p:sp>
      <p:sp>
        <p:nvSpPr>
          <p:cNvPr id="38" name="Dot"/>
          <p:cNvSpPr/>
          <p:nvPr/>
        </p:nvSpPr>
        <p:spPr>
          <a:xfrm>
            <a:off x="2121408" y="4773168"/>
            <a:ext cx="146304" cy="146304"/>
          </a:xfrm>
          <a:prstGeom prst="ellipse">
            <a:avLst/>
          </a:prstGeom>
          <a:solidFill>
            <a:srgbClr val="A9CCE3"/>
          </a:solidFill>
          <a:ln/>
        </p:spPr>
        <p:txBody>
          <a:bodyPr/>
          <a:lstStyle/>
          <a:p>
            <a:endParaRPr lang="en-US"/>
          </a:p>
        </p:txBody>
      </p:sp>
      <p:sp>
        <p:nvSpPr>
          <p:cNvPr id="39" name="Text 37"/>
          <p:cNvSpPr txBox="1"/>
          <p:nvPr/>
        </p:nvSpPr>
        <p:spPr>
          <a:xfrm>
            <a:off x="2350008" y="4709160"/>
            <a:ext cx="914400" cy="274320"/>
          </a:xfrm>
          <a:prstGeom prst="rect">
            <a:avLst/>
          </a:prstGeom>
          <a:noFill/>
          <a:ln/>
        </p:spPr>
        <p:txBody>
          <a:bodyPr wrap="square" lIns="0" tIns="0" rIns="0" bIns="0" rtlCol="0" anchor="ctr"/>
          <a:lstStyle/>
          <a:p>
            <a:pPr marL="0" indent="0">
              <a:buNone/>
            </a:pPr>
            <a:r>
              <a:rPr lang="en-US" sz="1100" dirty="0">
                <a:solidFill>
                  <a:schemeClr val="accent5"/>
                </a:solidFill>
              </a:rPr>
              <a:t>Train</a:t>
            </a:r>
            <a:endParaRPr lang="en-US" sz="1100" dirty="0"/>
          </a:p>
        </p:txBody>
      </p:sp>
      <p:sp>
        <p:nvSpPr>
          <p:cNvPr id="40" name="PointCard"/>
          <p:cNvSpPr/>
          <p:nvPr/>
        </p:nvSpPr>
        <p:spPr>
          <a:xfrm>
            <a:off x="548640" y="5257800"/>
            <a:ext cx="6675120" cy="960120"/>
          </a:xfrm>
          <a:prstGeom prst="roundRect">
            <a:avLst>
              <a:gd name="adj" fmla="val 11429"/>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41" name="IconBg"/>
          <p:cNvSpPr/>
          <p:nvPr/>
        </p:nvSpPr>
        <p:spPr>
          <a:xfrm>
            <a:off x="731520" y="5527548"/>
            <a:ext cx="420624" cy="420624"/>
          </a:xfrm>
          <a:prstGeom prst="ellipse">
            <a:avLst/>
          </a:prstGeom>
          <a:solidFill>
            <a:schemeClr val="accent1"/>
          </a:solidFill>
          <a:ln/>
        </p:spPr>
        <p:txBody>
          <a:bodyPr/>
          <a:lstStyle/>
          <a:p>
            <a:endParaRPr lang="en-US"/>
          </a:p>
        </p:txBody>
      </p:sp>
      <p:pic>
        <p:nvPicPr>
          <p:cNvPr id="42" name="Image 0" descr="Random"/>
          <p:cNvPicPr>
            <a:picLocks noChangeAspect="1"/>
          </p:cNvPicPr>
          <p:nvPr/>
        </p:nvPicPr>
        <p:blipFill>
          <a:blip r:embed="rId3"/>
          <a:stretch>
            <a:fillRect/>
          </a:stretch>
        </p:blipFill>
        <p:spPr>
          <a:xfrm>
            <a:off x="836676" y="5632704"/>
            <a:ext cx="210312" cy="210312"/>
          </a:xfrm>
          <a:prstGeom prst="rect">
            <a:avLst/>
          </a:prstGeom>
        </p:spPr>
      </p:pic>
      <p:sp>
        <p:nvSpPr>
          <p:cNvPr id="43" name="PointText"/>
          <p:cNvSpPr txBox="1"/>
          <p:nvPr/>
        </p:nvSpPr>
        <p:spPr>
          <a:xfrm>
            <a:off x="1325880" y="5330952"/>
            <a:ext cx="5733288" cy="813816"/>
          </a:xfrm>
          <a:prstGeom prst="rect">
            <a:avLst/>
          </a:prstGeom>
          <a:noFill/>
          <a:ln/>
        </p:spPr>
        <p:txBody>
          <a:bodyPr wrap="square" lIns="0" tIns="0" rIns="0" bIns="0" rtlCol="0" anchor="ctr"/>
          <a:lstStyle/>
          <a:p>
            <a:pPr marL="0" indent="0">
              <a:spcAft>
                <a:spcPts val="400"/>
              </a:spcAft>
              <a:buNone/>
            </a:pPr>
            <a:r>
              <a:rPr lang="en-US" sz="1400" dirty="0">
                <a:solidFill>
                  <a:schemeClr val="tx1"/>
                </a:solidFill>
              </a:rPr>
              <a:t>Train set được chia thành 5 phần; mỗi lượt dùng 4 Fold huấn luyện, 1 Fold validation; lặp lại 5 lần.</a:t>
            </a:r>
            <a:endParaRPr lang="en-US" sz="1400" dirty="0"/>
          </a:p>
        </p:txBody>
      </p:sp>
      <p:sp>
        <p:nvSpPr>
          <p:cNvPr id="44" name="PointCard"/>
          <p:cNvSpPr/>
          <p:nvPr/>
        </p:nvSpPr>
        <p:spPr>
          <a:xfrm>
            <a:off x="7498080" y="1463040"/>
            <a:ext cx="4144975" cy="1362625"/>
          </a:xfrm>
          <a:prstGeom prst="roundRect">
            <a:avLst>
              <a:gd name="adj" fmla="val 805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45" name="IconBg"/>
          <p:cNvSpPr/>
          <p:nvPr/>
        </p:nvSpPr>
        <p:spPr>
          <a:xfrm>
            <a:off x="7680960" y="1934041"/>
            <a:ext cx="420624" cy="420624"/>
          </a:xfrm>
          <a:prstGeom prst="ellipse">
            <a:avLst/>
          </a:prstGeom>
          <a:solidFill>
            <a:schemeClr val="accent1"/>
          </a:solidFill>
          <a:ln/>
        </p:spPr>
        <p:txBody>
          <a:bodyPr/>
          <a:lstStyle/>
          <a:p>
            <a:endParaRPr lang="en-US"/>
          </a:p>
        </p:txBody>
      </p:sp>
      <p:pic>
        <p:nvPicPr>
          <p:cNvPr id="46" name="Image 1" descr="Search"/>
          <p:cNvPicPr>
            <a:picLocks noChangeAspect="1"/>
          </p:cNvPicPr>
          <p:nvPr/>
        </p:nvPicPr>
        <p:blipFill>
          <a:blip r:embed="rId4"/>
          <a:stretch>
            <a:fillRect/>
          </a:stretch>
        </p:blipFill>
        <p:spPr>
          <a:xfrm>
            <a:off x="7786116" y="2039197"/>
            <a:ext cx="210312" cy="210312"/>
          </a:xfrm>
          <a:prstGeom prst="rect">
            <a:avLst/>
          </a:prstGeom>
        </p:spPr>
      </p:pic>
      <p:sp>
        <p:nvSpPr>
          <p:cNvPr id="47" name="PointText"/>
          <p:cNvSpPr txBox="1"/>
          <p:nvPr/>
        </p:nvSpPr>
        <p:spPr>
          <a:xfrm>
            <a:off x="8275320" y="1536192"/>
            <a:ext cx="3203143" cy="1216321"/>
          </a:xfrm>
          <a:prstGeom prst="rect">
            <a:avLst/>
          </a:prstGeom>
          <a:noFill/>
          <a:ln/>
        </p:spPr>
        <p:txBody>
          <a:bodyPr wrap="square" lIns="0" tIns="0" rIns="0" bIns="0" rtlCol="0" anchor="ctr"/>
          <a:lstStyle/>
          <a:p>
            <a:pPr marL="0" indent="0">
              <a:spcAft>
                <a:spcPts val="400"/>
              </a:spcAft>
              <a:buNone/>
            </a:pPr>
            <a:r>
              <a:rPr lang="en-US" sz="1400" b="1" dirty="0">
                <a:solidFill>
                  <a:schemeClr val="accent1"/>
                </a:solidFill>
              </a:rPr>
              <a:t>GridSearchCV </a:t>
            </a:r>
            <a:r>
              <a:rPr lang="en-US" sz="1400" dirty="0">
                <a:solidFill>
                  <a:schemeClr val="tx1"/>
                </a:solidFill>
              </a:rPr>
              <a:t>chọn hyperparameter theo neg_mean_absolute_error (MAE thấp nhất).</a:t>
            </a:r>
            <a:endParaRPr lang="en-US" sz="1400" dirty="0"/>
          </a:p>
        </p:txBody>
      </p:sp>
      <p:sp>
        <p:nvSpPr>
          <p:cNvPr id="48" name="PointCard"/>
          <p:cNvSpPr/>
          <p:nvPr/>
        </p:nvSpPr>
        <p:spPr>
          <a:xfrm>
            <a:off x="7498080" y="3008545"/>
            <a:ext cx="4144975" cy="1663869"/>
          </a:xfrm>
          <a:prstGeom prst="roundRect">
            <a:avLst>
              <a:gd name="adj" fmla="val 6595"/>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49" name="IconBg"/>
          <p:cNvSpPr/>
          <p:nvPr/>
        </p:nvSpPr>
        <p:spPr>
          <a:xfrm>
            <a:off x="7680960" y="3630168"/>
            <a:ext cx="420624" cy="420624"/>
          </a:xfrm>
          <a:prstGeom prst="ellipse">
            <a:avLst/>
          </a:prstGeom>
          <a:solidFill>
            <a:schemeClr val="accent1"/>
          </a:solidFill>
          <a:ln/>
        </p:spPr>
        <p:txBody>
          <a:bodyPr/>
          <a:lstStyle/>
          <a:p>
            <a:endParaRPr lang="en-US"/>
          </a:p>
        </p:txBody>
      </p:sp>
      <p:pic>
        <p:nvPicPr>
          <p:cNvPr id="50" name="Image 2" descr="SlidersH"/>
          <p:cNvPicPr>
            <a:picLocks noChangeAspect="1"/>
          </p:cNvPicPr>
          <p:nvPr/>
        </p:nvPicPr>
        <p:blipFill>
          <a:blip r:embed="rId5"/>
          <a:stretch>
            <a:fillRect/>
          </a:stretch>
        </p:blipFill>
        <p:spPr>
          <a:xfrm>
            <a:off x="7786116" y="3735324"/>
            <a:ext cx="210312" cy="210312"/>
          </a:xfrm>
          <a:prstGeom prst="rect">
            <a:avLst/>
          </a:prstGeom>
        </p:spPr>
      </p:pic>
      <p:sp>
        <p:nvSpPr>
          <p:cNvPr id="51" name="PointText"/>
          <p:cNvSpPr txBox="1"/>
          <p:nvPr/>
        </p:nvSpPr>
        <p:spPr>
          <a:xfrm>
            <a:off x="8275320" y="3081697"/>
            <a:ext cx="3203143" cy="1517565"/>
          </a:xfrm>
          <a:prstGeom prst="rect">
            <a:avLst/>
          </a:prstGeom>
          <a:noFill/>
          <a:ln/>
        </p:spPr>
        <p:txBody>
          <a:bodyPr wrap="square" lIns="0" tIns="0" rIns="0" bIns="0" rtlCol="0" anchor="ctr"/>
          <a:lstStyle/>
          <a:p>
            <a:pPr marL="0" indent="0">
              <a:spcAft>
                <a:spcPts val="400"/>
              </a:spcAft>
              <a:buNone/>
            </a:pPr>
            <a:r>
              <a:rPr lang="en-US" sz="1300" b="1" dirty="0">
                <a:solidFill>
                  <a:schemeClr val="accent1"/>
                </a:solidFill>
              </a:rPr>
              <a:t>Decision Tree: </a:t>
            </a:r>
            <a:r>
              <a:rPr lang="en-US" sz="1300" dirty="0">
                <a:solidFill>
                  <a:schemeClr val="tx1"/>
                </a:solidFill>
              </a:rPr>
              <a:t>max_depth, min_samples_split, min_samples_leaf.</a:t>
            </a:r>
            <a:endParaRPr lang="en-US" sz="1300" dirty="0"/>
          </a:p>
          <a:p>
            <a:pPr marL="0" indent="0">
              <a:spcAft>
                <a:spcPts val="400"/>
              </a:spcAft>
              <a:buNone/>
            </a:pPr>
            <a:r>
              <a:rPr lang="en-US" sz="1300" b="1" dirty="0">
                <a:solidFill>
                  <a:schemeClr val="accent1"/>
                </a:solidFill>
              </a:rPr>
              <a:t>KNN: </a:t>
            </a:r>
            <a:r>
              <a:rPr lang="en-US" sz="1300" dirty="0">
                <a:solidFill>
                  <a:schemeClr val="tx1"/>
                </a:solidFill>
              </a:rPr>
              <a:t>n_neighbors, weights, p.</a:t>
            </a:r>
            <a:endParaRPr lang="en-US" sz="1300" dirty="0"/>
          </a:p>
          <a:p>
            <a:pPr marL="0" indent="0">
              <a:spcAft>
                <a:spcPts val="400"/>
              </a:spcAft>
              <a:buNone/>
            </a:pPr>
            <a:r>
              <a:rPr lang="en-US" sz="1300" b="1" dirty="0">
                <a:solidFill>
                  <a:schemeClr val="accent1"/>
                </a:solidFill>
              </a:rPr>
              <a:t>SVR: </a:t>
            </a:r>
            <a:r>
              <a:rPr lang="en-US" sz="1300" dirty="0">
                <a:solidFill>
                  <a:schemeClr val="tx1"/>
                </a:solidFill>
              </a:rPr>
              <a:t>C, epsilon, gamma.</a:t>
            </a:r>
            <a:endParaRPr lang="en-US" sz="1300" dirty="0"/>
          </a:p>
        </p:txBody>
      </p:sp>
      <p:sp>
        <p:nvSpPr>
          <p:cNvPr id="52" name="PointCard"/>
          <p:cNvSpPr/>
          <p:nvPr/>
        </p:nvSpPr>
        <p:spPr>
          <a:xfrm>
            <a:off x="7498080" y="4855295"/>
            <a:ext cx="4144975" cy="1362625"/>
          </a:xfrm>
          <a:prstGeom prst="roundRect">
            <a:avLst>
              <a:gd name="adj" fmla="val 8053"/>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53" name="IconBg"/>
          <p:cNvSpPr/>
          <p:nvPr/>
        </p:nvSpPr>
        <p:spPr>
          <a:xfrm>
            <a:off x="7680960" y="5326295"/>
            <a:ext cx="420624" cy="420624"/>
          </a:xfrm>
          <a:prstGeom prst="ellipse">
            <a:avLst/>
          </a:prstGeom>
          <a:solidFill>
            <a:schemeClr val="accent2"/>
          </a:solidFill>
          <a:ln/>
        </p:spPr>
        <p:txBody>
          <a:bodyPr/>
          <a:lstStyle/>
          <a:p>
            <a:endParaRPr lang="en-US"/>
          </a:p>
        </p:txBody>
      </p:sp>
      <p:pic>
        <p:nvPicPr>
          <p:cNvPr id="54" name="Image 3" descr="Lock"/>
          <p:cNvPicPr>
            <a:picLocks noChangeAspect="1"/>
          </p:cNvPicPr>
          <p:nvPr/>
        </p:nvPicPr>
        <p:blipFill>
          <a:blip r:embed="rId6"/>
          <a:stretch>
            <a:fillRect/>
          </a:stretch>
        </p:blipFill>
        <p:spPr>
          <a:xfrm>
            <a:off x="7786116" y="5431451"/>
            <a:ext cx="210312" cy="210312"/>
          </a:xfrm>
          <a:prstGeom prst="rect">
            <a:avLst/>
          </a:prstGeom>
        </p:spPr>
      </p:pic>
      <p:sp>
        <p:nvSpPr>
          <p:cNvPr id="55" name="PointText"/>
          <p:cNvSpPr txBox="1"/>
          <p:nvPr/>
        </p:nvSpPr>
        <p:spPr>
          <a:xfrm>
            <a:off x="8275320" y="4928447"/>
            <a:ext cx="3203143" cy="1216321"/>
          </a:xfrm>
          <a:prstGeom prst="rect">
            <a:avLst/>
          </a:prstGeom>
          <a:noFill/>
          <a:ln/>
        </p:spPr>
        <p:txBody>
          <a:bodyPr wrap="square" lIns="0" tIns="0" rIns="0" bIns="0" rtlCol="0" anchor="ctr"/>
          <a:lstStyle/>
          <a:p>
            <a:pPr marL="0" indent="0">
              <a:spcAft>
                <a:spcPts val="400"/>
              </a:spcAft>
              <a:buNone/>
            </a:pPr>
            <a:r>
              <a:rPr lang="en-US" sz="1400" dirty="0">
                <a:solidFill>
                  <a:schemeClr val="bg1"/>
                </a:solidFill>
              </a:rPr>
              <a:t>Tuning chỉ dùng Train set; Test set chỉ dùng đánh giá cuối cùng, không tham gia chọn hyperparameter.</a:t>
            </a:r>
            <a:endParaRPr lang="en-US" sz="1400" dirty="0"/>
          </a:p>
        </p:txBody>
      </p:sp>
      <p:sp>
        <p:nvSpPr>
          <p:cNvPr id="56"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03  ·  TIỀN XỬ LÝ VÀ MÔ HÌNH</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Các metric đánh giá</a:t>
            </a:r>
            <a:endParaRPr lang="en-US" sz="3000" dirty="0"/>
          </a:p>
        </p:txBody>
      </p:sp>
      <p:sp>
        <p:nvSpPr>
          <p:cNvPr id="5" name="MetricCard"/>
          <p:cNvSpPr/>
          <p:nvPr/>
        </p:nvSpPr>
        <p:spPr>
          <a:xfrm>
            <a:off x="548640" y="1508760"/>
            <a:ext cx="2560320" cy="3520440"/>
          </a:xfrm>
          <a:prstGeom prst="roundRect">
            <a:avLst>
              <a:gd name="adj" fmla="val 428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6" name="Text 4"/>
          <p:cNvSpPr txBox="1"/>
          <p:nvPr/>
        </p:nvSpPr>
        <p:spPr>
          <a:xfrm>
            <a:off x="822960" y="1691640"/>
            <a:ext cx="2011680" cy="822960"/>
          </a:xfrm>
          <a:prstGeom prst="rect">
            <a:avLst/>
          </a:prstGeom>
          <a:noFill/>
          <a:ln/>
        </p:spPr>
        <p:txBody>
          <a:bodyPr wrap="square" lIns="0" tIns="0" rIns="0" bIns="0" rtlCol="0" anchor="ctr"/>
          <a:lstStyle/>
          <a:p>
            <a:pPr marL="0" indent="0">
              <a:buNone/>
            </a:pPr>
            <a:r>
              <a:rPr lang="en-US" sz="4400" b="1" dirty="0">
                <a:solidFill>
                  <a:schemeClr val="accent1"/>
                </a:solidFill>
                <a:latin typeface="+mj-lt" pitchFamily="34" charset="0"/>
                <a:ea typeface="+mj-lt" pitchFamily="34" charset="-122"/>
                <a:cs typeface="+mj-lt" pitchFamily="34" charset="-120"/>
              </a:rPr>
              <a:t>MAE</a:t>
            </a:r>
            <a:endParaRPr lang="en-US" sz="4400" dirty="0"/>
          </a:p>
        </p:txBody>
      </p:sp>
      <p:sp>
        <p:nvSpPr>
          <p:cNvPr id="7" name="Text 5"/>
          <p:cNvSpPr txBox="1"/>
          <p:nvPr/>
        </p:nvSpPr>
        <p:spPr>
          <a:xfrm>
            <a:off x="822960" y="2651760"/>
            <a:ext cx="2011680" cy="1371600"/>
          </a:xfrm>
          <a:prstGeom prst="rect">
            <a:avLst/>
          </a:prstGeom>
          <a:noFill/>
          <a:ln/>
        </p:spPr>
        <p:txBody>
          <a:bodyPr wrap="square" lIns="0" tIns="0" rIns="0" bIns="0" rtlCol="0" anchor="t"/>
          <a:lstStyle/>
          <a:p>
            <a:pPr marL="0" indent="0">
              <a:buNone/>
            </a:pPr>
            <a:r>
              <a:rPr lang="en-US" sz="1500" dirty="0">
                <a:solidFill>
                  <a:schemeClr val="tx1"/>
                </a:solidFill>
              </a:rPr>
              <a:t>Sai số tuyệt đối trung bình giữa dự đoán và thực tế; dễ diễn giải.</a:t>
            </a:r>
            <a:endParaRPr lang="en-US" sz="1500" dirty="0"/>
          </a:p>
        </p:txBody>
      </p:sp>
      <p:sp>
        <p:nvSpPr>
          <p:cNvPr id="8" name="Chip"/>
          <p:cNvSpPr/>
          <p:nvPr/>
        </p:nvSpPr>
        <p:spPr>
          <a:xfrm>
            <a:off x="822960" y="4206240"/>
            <a:ext cx="2011680" cy="457200"/>
          </a:xfrm>
          <a:prstGeom prst="roundRect">
            <a:avLst>
              <a:gd name="adj" fmla="val 50000"/>
            </a:avLst>
          </a:prstGeom>
          <a:solidFill>
            <a:schemeClr val="accent1"/>
          </a:solidFill>
          <a:ln/>
        </p:spPr>
        <p:txBody>
          <a:bodyPr/>
          <a:lstStyle/>
          <a:p>
            <a:endParaRPr lang="en-US"/>
          </a:p>
        </p:txBody>
      </p:sp>
      <p:pic>
        <p:nvPicPr>
          <p:cNvPr id="9" name="Image 0" descr="Giảm"/>
          <p:cNvPicPr>
            <a:picLocks noChangeAspect="1"/>
          </p:cNvPicPr>
          <p:nvPr/>
        </p:nvPicPr>
        <p:blipFill>
          <a:blip r:embed="rId3"/>
          <a:stretch>
            <a:fillRect/>
          </a:stretch>
        </p:blipFill>
        <p:spPr>
          <a:xfrm>
            <a:off x="1005840" y="4334256"/>
            <a:ext cx="201168" cy="201168"/>
          </a:xfrm>
          <a:prstGeom prst="rect">
            <a:avLst/>
          </a:prstGeom>
        </p:spPr>
      </p:pic>
      <p:sp>
        <p:nvSpPr>
          <p:cNvPr id="10" name="Text 7"/>
          <p:cNvSpPr txBox="1"/>
          <p:nvPr/>
        </p:nvSpPr>
        <p:spPr>
          <a:xfrm>
            <a:off x="1280160" y="4206240"/>
            <a:ext cx="1463040" cy="457200"/>
          </a:xfrm>
          <a:prstGeom prst="rect">
            <a:avLst/>
          </a:prstGeom>
          <a:noFill/>
          <a:ln/>
        </p:spPr>
        <p:txBody>
          <a:bodyPr wrap="square" lIns="0" tIns="0" rIns="0" bIns="0" rtlCol="0" anchor="ctr"/>
          <a:lstStyle/>
          <a:p>
            <a:pPr marL="0" indent="0">
              <a:buNone/>
            </a:pPr>
            <a:r>
              <a:rPr lang="en-US" sz="1300" b="1" dirty="0">
                <a:solidFill>
                  <a:schemeClr val="bg1"/>
                </a:solidFill>
              </a:rPr>
              <a:t>Càng thấp càng tốt</a:t>
            </a:r>
            <a:endParaRPr lang="en-US" sz="1300" dirty="0"/>
          </a:p>
        </p:txBody>
      </p:sp>
      <p:sp>
        <p:nvSpPr>
          <p:cNvPr id="11" name="MetricCard"/>
          <p:cNvSpPr/>
          <p:nvPr/>
        </p:nvSpPr>
        <p:spPr>
          <a:xfrm>
            <a:off x="3393338" y="1508760"/>
            <a:ext cx="2560320" cy="3520440"/>
          </a:xfrm>
          <a:prstGeom prst="roundRect">
            <a:avLst>
              <a:gd name="adj" fmla="val 428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Text 9"/>
          <p:cNvSpPr txBox="1"/>
          <p:nvPr/>
        </p:nvSpPr>
        <p:spPr>
          <a:xfrm>
            <a:off x="3667658" y="1691640"/>
            <a:ext cx="2011680" cy="822960"/>
          </a:xfrm>
          <a:prstGeom prst="rect">
            <a:avLst/>
          </a:prstGeom>
          <a:noFill/>
          <a:ln/>
        </p:spPr>
        <p:txBody>
          <a:bodyPr wrap="square" lIns="0" tIns="0" rIns="0" bIns="0" rtlCol="0" anchor="ctr"/>
          <a:lstStyle/>
          <a:p>
            <a:pPr marL="0" indent="0">
              <a:buNone/>
            </a:pPr>
            <a:r>
              <a:rPr lang="en-US" sz="4400" b="1" dirty="0">
                <a:solidFill>
                  <a:schemeClr val="accent1"/>
                </a:solidFill>
                <a:latin typeface="+mj-lt" pitchFamily="34" charset="0"/>
                <a:ea typeface="+mj-lt" pitchFamily="34" charset="-122"/>
                <a:cs typeface="+mj-lt" pitchFamily="34" charset="-120"/>
              </a:rPr>
              <a:t>MSE</a:t>
            </a:r>
            <a:endParaRPr lang="en-US" sz="4400" dirty="0"/>
          </a:p>
        </p:txBody>
      </p:sp>
      <p:sp>
        <p:nvSpPr>
          <p:cNvPr id="13" name="Text 10"/>
          <p:cNvSpPr txBox="1"/>
          <p:nvPr/>
        </p:nvSpPr>
        <p:spPr>
          <a:xfrm>
            <a:off x="3667658" y="2651760"/>
            <a:ext cx="2011680" cy="1371600"/>
          </a:xfrm>
          <a:prstGeom prst="rect">
            <a:avLst/>
          </a:prstGeom>
          <a:noFill/>
          <a:ln/>
        </p:spPr>
        <p:txBody>
          <a:bodyPr wrap="square" lIns="0" tIns="0" rIns="0" bIns="0" rtlCol="0" anchor="t"/>
          <a:lstStyle/>
          <a:p>
            <a:pPr marL="0" indent="0">
              <a:buNone/>
            </a:pPr>
            <a:r>
              <a:rPr lang="en-US" sz="1500" dirty="0">
                <a:solidFill>
                  <a:schemeClr val="tx1"/>
                </a:solidFill>
              </a:rPr>
              <a:t>Bình phương sai số rồi lấy trung bình; phạt mạnh lỗi lớn.</a:t>
            </a:r>
            <a:endParaRPr lang="en-US" sz="1500" dirty="0"/>
          </a:p>
        </p:txBody>
      </p:sp>
      <p:sp>
        <p:nvSpPr>
          <p:cNvPr id="14" name="Chip"/>
          <p:cNvSpPr/>
          <p:nvPr/>
        </p:nvSpPr>
        <p:spPr>
          <a:xfrm>
            <a:off x="3667658" y="4206240"/>
            <a:ext cx="2011680" cy="457200"/>
          </a:xfrm>
          <a:prstGeom prst="roundRect">
            <a:avLst>
              <a:gd name="adj" fmla="val 50000"/>
            </a:avLst>
          </a:prstGeom>
          <a:solidFill>
            <a:schemeClr val="accent1"/>
          </a:solidFill>
          <a:ln/>
        </p:spPr>
        <p:txBody>
          <a:bodyPr/>
          <a:lstStyle/>
          <a:p>
            <a:endParaRPr lang="en-US"/>
          </a:p>
        </p:txBody>
      </p:sp>
      <p:pic>
        <p:nvPicPr>
          <p:cNvPr id="15" name="Image 1" descr="Giảm"/>
          <p:cNvPicPr>
            <a:picLocks noChangeAspect="1"/>
          </p:cNvPicPr>
          <p:nvPr/>
        </p:nvPicPr>
        <p:blipFill>
          <a:blip r:embed="rId3"/>
          <a:stretch>
            <a:fillRect/>
          </a:stretch>
        </p:blipFill>
        <p:spPr>
          <a:xfrm>
            <a:off x="3850538" y="4334256"/>
            <a:ext cx="201168" cy="201168"/>
          </a:xfrm>
          <a:prstGeom prst="rect">
            <a:avLst/>
          </a:prstGeom>
        </p:spPr>
      </p:pic>
      <p:sp>
        <p:nvSpPr>
          <p:cNvPr id="16" name="Text 12"/>
          <p:cNvSpPr txBox="1"/>
          <p:nvPr/>
        </p:nvSpPr>
        <p:spPr>
          <a:xfrm>
            <a:off x="4124858" y="4206240"/>
            <a:ext cx="1463040" cy="457200"/>
          </a:xfrm>
          <a:prstGeom prst="rect">
            <a:avLst/>
          </a:prstGeom>
          <a:noFill/>
          <a:ln/>
        </p:spPr>
        <p:txBody>
          <a:bodyPr wrap="square" lIns="0" tIns="0" rIns="0" bIns="0" rtlCol="0" anchor="ctr"/>
          <a:lstStyle/>
          <a:p>
            <a:pPr marL="0" indent="0">
              <a:buNone/>
            </a:pPr>
            <a:r>
              <a:rPr lang="en-US" sz="1300" b="1" dirty="0">
                <a:solidFill>
                  <a:schemeClr val="bg1"/>
                </a:solidFill>
              </a:rPr>
              <a:t>Càng thấp càng tốt</a:t>
            </a:r>
            <a:endParaRPr lang="en-US" sz="1300" dirty="0"/>
          </a:p>
        </p:txBody>
      </p:sp>
      <p:sp>
        <p:nvSpPr>
          <p:cNvPr id="17" name="MetricCard"/>
          <p:cNvSpPr/>
          <p:nvPr/>
        </p:nvSpPr>
        <p:spPr>
          <a:xfrm>
            <a:off x="6238037" y="1508760"/>
            <a:ext cx="2560320" cy="3520440"/>
          </a:xfrm>
          <a:prstGeom prst="roundRect">
            <a:avLst>
              <a:gd name="adj" fmla="val 428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8" name="Text 14"/>
          <p:cNvSpPr txBox="1"/>
          <p:nvPr/>
        </p:nvSpPr>
        <p:spPr>
          <a:xfrm>
            <a:off x="6512357" y="1691640"/>
            <a:ext cx="2011680" cy="822960"/>
          </a:xfrm>
          <a:prstGeom prst="rect">
            <a:avLst/>
          </a:prstGeom>
          <a:noFill/>
          <a:ln/>
        </p:spPr>
        <p:txBody>
          <a:bodyPr wrap="square" lIns="0" tIns="0" rIns="0" bIns="0" rtlCol="0" anchor="ctr"/>
          <a:lstStyle/>
          <a:p>
            <a:pPr marL="0" indent="0">
              <a:buNone/>
            </a:pPr>
            <a:r>
              <a:rPr lang="en-US" sz="4400" b="1" dirty="0">
                <a:solidFill>
                  <a:schemeClr val="accent1"/>
                </a:solidFill>
                <a:latin typeface="+mj-lt" pitchFamily="34" charset="0"/>
                <a:ea typeface="+mj-lt" pitchFamily="34" charset="-122"/>
                <a:cs typeface="+mj-lt" pitchFamily="34" charset="-120"/>
              </a:rPr>
              <a:t>RMSE</a:t>
            </a:r>
            <a:endParaRPr lang="en-US" sz="4400" dirty="0"/>
          </a:p>
        </p:txBody>
      </p:sp>
      <p:sp>
        <p:nvSpPr>
          <p:cNvPr id="19" name="Text 15"/>
          <p:cNvSpPr txBox="1"/>
          <p:nvPr/>
        </p:nvSpPr>
        <p:spPr>
          <a:xfrm>
            <a:off x="6512357" y="2651760"/>
            <a:ext cx="2011680" cy="1371600"/>
          </a:xfrm>
          <a:prstGeom prst="rect">
            <a:avLst/>
          </a:prstGeom>
          <a:noFill/>
          <a:ln/>
        </p:spPr>
        <p:txBody>
          <a:bodyPr wrap="square" lIns="0" tIns="0" rIns="0" bIns="0" rtlCol="0" anchor="t"/>
          <a:lstStyle/>
          <a:p>
            <a:pPr marL="0" indent="0">
              <a:buNone/>
            </a:pPr>
            <a:r>
              <a:rPr lang="en-US" sz="1500" dirty="0">
                <a:solidFill>
                  <a:schemeClr val="tx1"/>
                </a:solidFill>
              </a:rPr>
              <a:t>Căn bậc hai của MSE; cùng đơn vị L/100 km với target.</a:t>
            </a:r>
            <a:endParaRPr lang="en-US" sz="1500" dirty="0"/>
          </a:p>
        </p:txBody>
      </p:sp>
      <p:sp>
        <p:nvSpPr>
          <p:cNvPr id="20" name="Chip"/>
          <p:cNvSpPr/>
          <p:nvPr/>
        </p:nvSpPr>
        <p:spPr>
          <a:xfrm>
            <a:off x="6512357" y="4206240"/>
            <a:ext cx="2011680" cy="457200"/>
          </a:xfrm>
          <a:prstGeom prst="roundRect">
            <a:avLst>
              <a:gd name="adj" fmla="val 50000"/>
            </a:avLst>
          </a:prstGeom>
          <a:solidFill>
            <a:schemeClr val="accent1"/>
          </a:solidFill>
          <a:ln/>
        </p:spPr>
        <p:txBody>
          <a:bodyPr/>
          <a:lstStyle/>
          <a:p>
            <a:endParaRPr lang="en-US"/>
          </a:p>
        </p:txBody>
      </p:sp>
      <p:pic>
        <p:nvPicPr>
          <p:cNvPr id="21" name="Image 2" descr="Giảm"/>
          <p:cNvPicPr>
            <a:picLocks noChangeAspect="1"/>
          </p:cNvPicPr>
          <p:nvPr/>
        </p:nvPicPr>
        <p:blipFill>
          <a:blip r:embed="rId3"/>
          <a:stretch>
            <a:fillRect/>
          </a:stretch>
        </p:blipFill>
        <p:spPr>
          <a:xfrm>
            <a:off x="6695237" y="4334256"/>
            <a:ext cx="201168" cy="201168"/>
          </a:xfrm>
          <a:prstGeom prst="rect">
            <a:avLst/>
          </a:prstGeom>
        </p:spPr>
      </p:pic>
      <p:sp>
        <p:nvSpPr>
          <p:cNvPr id="22" name="Text 17"/>
          <p:cNvSpPr txBox="1"/>
          <p:nvPr/>
        </p:nvSpPr>
        <p:spPr>
          <a:xfrm>
            <a:off x="6969557" y="4206240"/>
            <a:ext cx="1463040" cy="457200"/>
          </a:xfrm>
          <a:prstGeom prst="rect">
            <a:avLst/>
          </a:prstGeom>
          <a:noFill/>
          <a:ln/>
        </p:spPr>
        <p:txBody>
          <a:bodyPr wrap="square" lIns="0" tIns="0" rIns="0" bIns="0" rtlCol="0" anchor="ctr"/>
          <a:lstStyle/>
          <a:p>
            <a:pPr marL="0" indent="0">
              <a:buNone/>
            </a:pPr>
            <a:r>
              <a:rPr lang="en-US" sz="1300" b="1" dirty="0">
                <a:solidFill>
                  <a:schemeClr val="bg1"/>
                </a:solidFill>
              </a:rPr>
              <a:t>Càng thấp càng tốt</a:t>
            </a:r>
            <a:endParaRPr lang="en-US" sz="1300" dirty="0"/>
          </a:p>
        </p:txBody>
      </p:sp>
      <p:sp>
        <p:nvSpPr>
          <p:cNvPr id="23" name="MetricCard"/>
          <p:cNvSpPr/>
          <p:nvPr/>
        </p:nvSpPr>
        <p:spPr>
          <a:xfrm>
            <a:off x="9082735" y="1508760"/>
            <a:ext cx="2560320" cy="3520440"/>
          </a:xfrm>
          <a:prstGeom prst="roundRect">
            <a:avLst>
              <a:gd name="adj" fmla="val 428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4" name="Text 19"/>
          <p:cNvSpPr txBox="1"/>
          <p:nvPr/>
        </p:nvSpPr>
        <p:spPr>
          <a:xfrm>
            <a:off x="9357055" y="1691640"/>
            <a:ext cx="2011680" cy="822960"/>
          </a:xfrm>
          <a:prstGeom prst="rect">
            <a:avLst/>
          </a:prstGeom>
          <a:noFill/>
          <a:ln/>
        </p:spPr>
        <p:txBody>
          <a:bodyPr wrap="square" lIns="0" tIns="0" rIns="0" bIns="0" rtlCol="0" anchor="ctr"/>
          <a:lstStyle/>
          <a:p>
            <a:pPr marL="0" indent="0">
              <a:buNone/>
            </a:pPr>
            <a:r>
              <a:rPr lang="en-US" sz="4400" b="1" dirty="0">
                <a:solidFill>
                  <a:schemeClr val="accent3"/>
                </a:solidFill>
                <a:latin typeface="+mj-lt" pitchFamily="34" charset="0"/>
                <a:ea typeface="+mj-lt" pitchFamily="34" charset="-122"/>
                <a:cs typeface="+mj-lt" pitchFamily="34" charset="-120"/>
              </a:rPr>
              <a:t>R²</a:t>
            </a:r>
            <a:endParaRPr lang="en-US" sz="4400" dirty="0"/>
          </a:p>
        </p:txBody>
      </p:sp>
      <p:sp>
        <p:nvSpPr>
          <p:cNvPr id="25" name="Text 20"/>
          <p:cNvSpPr txBox="1"/>
          <p:nvPr/>
        </p:nvSpPr>
        <p:spPr>
          <a:xfrm>
            <a:off x="9357055" y="2651760"/>
            <a:ext cx="2011680" cy="1371600"/>
          </a:xfrm>
          <a:prstGeom prst="rect">
            <a:avLst/>
          </a:prstGeom>
          <a:noFill/>
          <a:ln/>
        </p:spPr>
        <p:txBody>
          <a:bodyPr wrap="square" lIns="0" tIns="0" rIns="0" bIns="0" rtlCol="0" anchor="t"/>
          <a:lstStyle/>
          <a:p>
            <a:pPr marL="0" indent="0">
              <a:buNone/>
            </a:pPr>
            <a:r>
              <a:rPr lang="en-US" sz="1500" dirty="0">
                <a:solidFill>
                  <a:schemeClr val="tx1"/>
                </a:solidFill>
              </a:rPr>
              <a:t>Mức độ mô hình giải thích biến thiên của target.</a:t>
            </a:r>
            <a:endParaRPr lang="en-US" sz="1500" dirty="0"/>
          </a:p>
        </p:txBody>
      </p:sp>
      <p:sp>
        <p:nvSpPr>
          <p:cNvPr id="26" name="Chip"/>
          <p:cNvSpPr/>
          <p:nvPr/>
        </p:nvSpPr>
        <p:spPr>
          <a:xfrm>
            <a:off x="9357055" y="4206240"/>
            <a:ext cx="2011680" cy="457200"/>
          </a:xfrm>
          <a:prstGeom prst="roundRect">
            <a:avLst>
              <a:gd name="adj" fmla="val 50000"/>
            </a:avLst>
          </a:prstGeom>
          <a:solidFill>
            <a:schemeClr val="accent3"/>
          </a:solidFill>
          <a:ln/>
        </p:spPr>
        <p:txBody>
          <a:bodyPr/>
          <a:lstStyle/>
          <a:p>
            <a:endParaRPr lang="en-US"/>
          </a:p>
        </p:txBody>
      </p:sp>
      <p:pic>
        <p:nvPicPr>
          <p:cNvPr id="27" name="Image 3" descr="Tăng"/>
          <p:cNvPicPr>
            <a:picLocks noChangeAspect="1"/>
          </p:cNvPicPr>
          <p:nvPr/>
        </p:nvPicPr>
        <p:blipFill>
          <a:blip r:embed="rId4"/>
          <a:stretch>
            <a:fillRect/>
          </a:stretch>
        </p:blipFill>
        <p:spPr>
          <a:xfrm>
            <a:off x="9539935" y="4334256"/>
            <a:ext cx="201168" cy="201168"/>
          </a:xfrm>
          <a:prstGeom prst="rect">
            <a:avLst/>
          </a:prstGeom>
        </p:spPr>
      </p:pic>
      <p:sp>
        <p:nvSpPr>
          <p:cNvPr id="28" name="Text 22"/>
          <p:cNvSpPr txBox="1"/>
          <p:nvPr/>
        </p:nvSpPr>
        <p:spPr>
          <a:xfrm>
            <a:off x="9814255" y="4206240"/>
            <a:ext cx="1463040" cy="457200"/>
          </a:xfrm>
          <a:prstGeom prst="rect">
            <a:avLst/>
          </a:prstGeom>
          <a:noFill/>
          <a:ln/>
        </p:spPr>
        <p:txBody>
          <a:bodyPr wrap="square" lIns="0" tIns="0" rIns="0" bIns="0" rtlCol="0" anchor="ctr"/>
          <a:lstStyle/>
          <a:p>
            <a:pPr marL="0" indent="0">
              <a:buNone/>
            </a:pPr>
            <a:r>
              <a:rPr lang="en-US" sz="1300" b="1" dirty="0">
                <a:solidFill>
                  <a:schemeClr val="bg1"/>
                </a:solidFill>
              </a:rPr>
              <a:t>Càng cao càng tốt</a:t>
            </a:r>
            <a:endParaRPr lang="en-US" sz="1300" dirty="0"/>
          </a:p>
        </p:txBody>
      </p:sp>
      <p:sp>
        <p:nvSpPr>
          <p:cNvPr id="29" name="Banner"/>
          <p:cNvSpPr/>
          <p:nvPr/>
        </p:nvSpPr>
        <p:spPr>
          <a:xfrm>
            <a:off x="548640" y="5257800"/>
            <a:ext cx="11094415" cy="960120"/>
          </a:xfrm>
          <a:prstGeom prst="roundRect">
            <a:avLst>
              <a:gd name="adj" fmla="val 11429"/>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30" name="Text 24"/>
          <p:cNvSpPr txBox="1"/>
          <p:nvPr/>
        </p:nvSpPr>
        <p:spPr>
          <a:xfrm>
            <a:off x="822960" y="5257800"/>
            <a:ext cx="10545775" cy="960120"/>
          </a:xfrm>
          <a:prstGeom prst="rect">
            <a:avLst/>
          </a:prstGeom>
          <a:noFill/>
          <a:ln/>
        </p:spPr>
        <p:txBody>
          <a:bodyPr wrap="square" lIns="0" tIns="0" rIns="0" bIns="0" rtlCol="0" anchor="ctr"/>
          <a:lstStyle/>
          <a:p>
            <a:pPr marL="0" indent="0" algn="ctr">
              <a:buNone/>
            </a:pPr>
            <a:r>
              <a:rPr lang="en-US" sz="1600" dirty="0">
                <a:solidFill>
                  <a:schemeClr val="bg1"/>
                </a:solidFill>
              </a:rPr>
              <a:t>MAE, MSE, RMSE → càng thấp càng tốt;  R² → càng cao càng tốt.   </a:t>
            </a:r>
            <a:r>
              <a:rPr lang="en-US" sz="1800" b="1" dirty="0">
                <a:solidFill>
                  <a:schemeClr val="accent2"/>
                </a:solidFill>
              </a:rPr>
              <a:t>R² KHÔNG PHẢI ACCURACY</a:t>
            </a:r>
            <a:endParaRPr lang="en-US" sz="1600" dirty="0"/>
          </a:p>
        </p:txBody>
      </p:sp>
      <p:sp>
        <p:nvSpPr>
          <p:cNvPr id="31"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04  ·  KẾT QUẢ VÀ KẾT LUẬN</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Kết quả và so sánh 4 mô hình</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675120" cy="914400"/>
        </p:xfrm>
        <a:graphic>
          <a:graphicData uri="http://schemas.openxmlformats.org/drawingml/2006/table">
            <a:tbl>
              <a:tblPr/>
              <a:tblGrid>
                <a:gridCol w="246888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402336">
                <a:tc>
                  <a:txBody>
                    <a:bodyPr/>
                    <a:lstStyle/>
                    <a:p>
                      <a:pPr marL="0" indent="0" algn="l">
                        <a:buNone/>
                      </a:pPr>
                      <a:r>
                        <a:rPr lang="en-US" sz="1300" b="1" dirty="0">
                          <a:solidFill>
                            <a:srgbClr val="FFFFFF"/>
                          </a:solidFill>
                        </a:rPr>
                        <a:t>Mô hình</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tc>
                  <a:txBody>
                    <a:bodyPr/>
                    <a:lstStyle/>
                    <a:p>
                      <a:pPr marL="0" indent="0" algn="ctr">
                        <a:buNone/>
                      </a:pPr>
                      <a:r>
                        <a:rPr lang="en-US" sz="1300" b="1" dirty="0">
                          <a:solidFill>
                            <a:srgbClr val="FFFFFF"/>
                          </a:solidFill>
                        </a:rPr>
                        <a:t>MAE</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tc>
                  <a:txBody>
                    <a:bodyPr/>
                    <a:lstStyle/>
                    <a:p>
                      <a:pPr marL="0" indent="0" algn="ctr">
                        <a:buNone/>
                      </a:pPr>
                      <a:r>
                        <a:rPr lang="en-US" sz="1300" b="1" dirty="0">
                          <a:solidFill>
                            <a:srgbClr val="FFFFFF"/>
                          </a:solidFill>
                        </a:rPr>
                        <a:t>MSE</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tc>
                  <a:txBody>
                    <a:bodyPr/>
                    <a:lstStyle/>
                    <a:p>
                      <a:pPr marL="0" indent="0" algn="ctr">
                        <a:buNone/>
                      </a:pPr>
                      <a:r>
                        <a:rPr lang="en-US" sz="1300" b="1" dirty="0">
                          <a:solidFill>
                            <a:srgbClr val="FFFFFF"/>
                          </a:solidFill>
                        </a:rPr>
                        <a:t>RMSE</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tc>
                  <a:txBody>
                    <a:bodyPr/>
                    <a:lstStyle/>
                    <a:p>
                      <a:pPr marL="0" indent="0" algn="ctr">
                        <a:buNone/>
                      </a:pPr>
                      <a:r>
                        <a:rPr lang="en-US" sz="1300" b="1" dirty="0">
                          <a:solidFill>
                            <a:srgbClr val="FFFFFF"/>
                          </a:solidFill>
                        </a:rPr>
                        <a:t>R²</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74C6B"/>
                    </a:solidFill>
                  </a:tcPr>
                </a:tc>
                <a:extLst>
                  <a:ext uri="{0D108BD9-81ED-4DB2-BD59-A6C34878D82A}">
                    <a16:rowId xmlns:a16="http://schemas.microsoft.com/office/drawing/2014/main" val="10000"/>
                  </a:ext>
                </a:extLst>
              </a:tr>
              <a:tr h="402336">
                <a:tc>
                  <a:txBody>
                    <a:bodyPr/>
                    <a:lstStyle/>
                    <a:p>
                      <a:pPr marL="0" indent="0" algn="l">
                        <a:buNone/>
                      </a:pPr>
                      <a:r>
                        <a:rPr lang="en-US" sz="1300" b="1" dirty="0">
                          <a:solidFill>
                            <a:srgbClr val="0E2A3B"/>
                          </a:solidFill>
                        </a:rPr>
                        <a:t>Linear Regression</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0.7839</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1.1048</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1.0506</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0.8909</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lgn="l">
                        <a:buNone/>
                      </a:pPr>
                      <a:r>
                        <a:rPr lang="en-US" sz="1300" b="1" dirty="0">
                          <a:solidFill>
                            <a:srgbClr val="0E2A3B"/>
                          </a:solidFill>
                        </a:rPr>
                        <a:t>Decision Tree Regressor</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0.4665</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0.4793</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0.6923</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0.9526</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lgn="l">
                        <a:buNone/>
                      </a:pPr>
                      <a:r>
                        <a:rPr lang="en-US" sz="1300" b="1" dirty="0">
                          <a:solidFill>
                            <a:srgbClr val="0E2A3B"/>
                          </a:solidFill>
                        </a:rPr>
                        <a:t>KNN Regressor</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0.4351</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0.4405</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0.6637</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E2A3B"/>
                          </a:solidFill>
                        </a:rPr>
                        <a:t>0.9565</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lgn="l">
                        <a:buNone/>
                      </a:pPr>
                      <a:r>
                        <a:rPr lang="en-US" sz="1300" b="1" dirty="0">
                          <a:solidFill>
                            <a:srgbClr val="0E2A3B"/>
                          </a:solidFill>
                        </a:rPr>
                        <a:t>SVR</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CE7BE"/>
                    </a:solidFill>
                  </a:tcPr>
                </a:tc>
                <a:tc>
                  <a:txBody>
                    <a:bodyPr/>
                    <a:lstStyle/>
                    <a:p>
                      <a:pPr marL="0" indent="0" algn="ctr">
                        <a:buNone/>
                      </a:pPr>
                      <a:r>
                        <a:rPr lang="en-US" sz="1300" b="1" dirty="0">
                          <a:solidFill>
                            <a:srgbClr val="0E2A3B"/>
                          </a:solidFill>
                        </a:rPr>
                        <a:t>0.4293</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CE7BE"/>
                    </a:solidFill>
                  </a:tcPr>
                </a:tc>
                <a:tc>
                  <a:txBody>
                    <a:bodyPr/>
                    <a:lstStyle/>
                    <a:p>
                      <a:pPr marL="0" indent="0" algn="ctr">
                        <a:buNone/>
                      </a:pPr>
                      <a:r>
                        <a:rPr lang="en-US" sz="1300" b="1" dirty="0">
                          <a:solidFill>
                            <a:srgbClr val="0E2A3B"/>
                          </a:solidFill>
                        </a:rPr>
                        <a:t>0.4222</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CE7BE"/>
                    </a:solidFill>
                  </a:tcPr>
                </a:tc>
                <a:tc>
                  <a:txBody>
                    <a:bodyPr/>
                    <a:lstStyle/>
                    <a:p>
                      <a:pPr marL="0" indent="0" algn="ctr">
                        <a:buNone/>
                      </a:pPr>
                      <a:r>
                        <a:rPr lang="en-US" sz="1300" b="1" dirty="0">
                          <a:solidFill>
                            <a:srgbClr val="0E2A3B"/>
                          </a:solidFill>
                        </a:rPr>
                        <a:t>0.6498</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CE7BE"/>
                    </a:solidFill>
                  </a:tcPr>
                </a:tc>
                <a:tc>
                  <a:txBody>
                    <a:bodyPr/>
                    <a:lstStyle/>
                    <a:p>
                      <a:pPr marL="0" indent="0" algn="ctr">
                        <a:buNone/>
                      </a:pPr>
                      <a:r>
                        <a:rPr lang="en-US" sz="1300" b="1" dirty="0">
                          <a:solidFill>
                            <a:srgbClr val="0E2A3B"/>
                          </a:solidFill>
                        </a:rPr>
                        <a:t>0.9583</a:t>
                      </a:r>
                      <a:endParaRPr lang="en-US" sz="1300" dirty="0"/>
                    </a:p>
                  </a:txBody>
                  <a:tcPr marL="109728" marR="109728" marT="0" marB="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CE7BE"/>
                    </a:solidFill>
                  </a:tcPr>
                </a:tc>
                <a:extLst>
                  <a:ext uri="{0D108BD9-81ED-4DB2-BD59-A6C34878D82A}">
                    <a16:rowId xmlns:a16="http://schemas.microsoft.com/office/drawing/2014/main" val="10004"/>
                  </a:ext>
                </a:extLst>
              </a:tr>
            </a:tbl>
          </a:graphicData>
        </a:graphic>
      </p:graphicFrame>
      <p:sp>
        <p:nvSpPr>
          <p:cNvPr id="6" name="ChartCard"/>
          <p:cNvSpPr/>
          <p:nvPr/>
        </p:nvSpPr>
        <p:spPr>
          <a:xfrm>
            <a:off x="548640" y="3703320"/>
            <a:ext cx="6675120" cy="2486677"/>
          </a:xfrm>
          <a:prstGeom prst="roundRect">
            <a:avLst>
              <a:gd name="adj" fmla="val 4413"/>
            </a:avLst>
          </a:prstGeom>
          <a:solidFill>
            <a:schemeClr val="bg1"/>
          </a:solidFill>
          <a:ln/>
          <a:effectLst>
            <a:outerShdw blurRad="101600" dist="25400" dir="5400000" algn="bl" rotWithShape="0">
              <a:srgbClr val="0E2A3B">
                <a:alpha val="13000"/>
              </a:srgbClr>
            </a:outerShdw>
          </a:effectLst>
        </p:spPr>
        <p:txBody>
          <a:bodyPr/>
          <a:lstStyle/>
          <a:p>
            <a:endParaRPr lang="en-US"/>
          </a:p>
        </p:txBody>
      </p:sp>
      <p:pic>
        <p:nvPicPr>
          <p:cNvPr id="7" name="Image 0" descr="Biểu đồ models"/>
          <p:cNvPicPr>
            <a:picLocks noChangeAspect="1"/>
          </p:cNvPicPr>
          <p:nvPr/>
        </p:nvPicPr>
        <p:blipFill>
          <a:blip r:embed="rId3"/>
          <a:stretch>
            <a:fillRect/>
          </a:stretch>
        </p:blipFill>
        <p:spPr>
          <a:xfrm>
            <a:off x="685800" y="3840480"/>
            <a:ext cx="6400800" cy="2212357"/>
          </a:xfrm>
          <a:prstGeom prst="rect">
            <a:avLst/>
          </a:prstGeom>
        </p:spPr>
      </p:pic>
      <p:sp>
        <p:nvSpPr>
          <p:cNvPr id="8" name="PointCard"/>
          <p:cNvSpPr/>
          <p:nvPr/>
        </p:nvSpPr>
        <p:spPr>
          <a:xfrm>
            <a:off x="7498080" y="1463040"/>
            <a:ext cx="4144975" cy="903427"/>
          </a:xfrm>
          <a:prstGeom prst="roundRect">
            <a:avLst>
              <a:gd name="adj" fmla="val 12146"/>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9" name="Number"/>
          <p:cNvSpPr txBox="1"/>
          <p:nvPr/>
        </p:nvSpPr>
        <p:spPr>
          <a:xfrm>
            <a:off x="7680960" y="1759306"/>
            <a:ext cx="310896" cy="310896"/>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1</a:t>
            </a:r>
            <a:endParaRPr lang="en-US" sz="1200" dirty="0"/>
          </a:p>
        </p:txBody>
      </p:sp>
      <p:sp>
        <p:nvSpPr>
          <p:cNvPr id="10" name="PointText"/>
          <p:cNvSpPr txBox="1"/>
          <p:nvPr/>
        </p:nvSpPr>
        <p:spPr>
          <a:xfrm>
            <a:off x="8138160" y="1536192"/>
            <a:ext cx="3340303" cy="757123"/>
          </a:xfrm>
          <a:prstGeom prst="rect">
            <a:avLst/>
          </a:prstGeom>
          <a:noFill/>
          <a:ln/>
        </p:spPr>
        <p:txBody>
          <a:bodyPr wrap="square" lIns="0" tIns="0" rIns="0" bIns="0" rtlCol="0" anchor="ctr"/>
          <a:lstStyle/>
          <a:p>
            <a:pPr marL="0" indent="0">
              <a:spcAft>
                <a:spcPts val="400"/>
              </a:spcAft>
              <a:buNone/>
            </a:pPr>
            <a:r>
              <a:rPr lang="en-US" sz="1200" b="1" dirty="0">
                <a:solidFill>
                  <a:schemeClr val="accent1"/>
                </a:solidFill>
              </a:rPr>
              <a:t>Linear Regression: </a:t>
            </a:r>
            <a:r>
              <a:rPr lang="en-US" sz="1200" dirty="0">
                <a:solidFill>
                  <a:schemeClr val="tx1"/>
                </a:solidFill>
              </a:rPr>
              <a:t>MAE/RMSE cao hơn đáng kể; R² = 0.8909, quan hệ tuyến tính chưa mô tả hết dữ liệu.</a:t>
            </a:r>
            <a:endParaRPr lang="en-US" sz="1200" dirty="0"/>
          </a:p>
        </p:txBody>
      </p:sp>
      <p:sp>
        <p:nvSpPr>
          <p:cNvPr id="11" name="PointCard"/>
          <p:cNvSpPr/>
          <p:nvPr/>
        </p:nvSpPr>
        <p:spPr>
          <a:xfrm>
            <a:off x="7498080" y="2494483"/>
            <a:ext cx="4144975" cy="811987"/>
          </a:xfrm>
          <a:prstGeom prst="roundRect">
            <a:avLst>
              <a:gd name="adj" fmla="val 13514"/>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2" name="Number"/>
          <p:cNvSpPr txBox="1"/>
          <p:nvPr/>
        </p:nvSpPr>
        <p:spPr>
          <a:xfrm>
            <a:off x="7680960" y="2745029"/>
            <a:ext cx="310896" cy="310896"/>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2</a:t>
            </a:r>
            <a:endParaRPr lang="en-US" sz="1200" dirty="0"/>
          </a:p>
        </p:txBody>
      </p:sp>
      <p:sp>
        <p:nvSpPr>
          <p:cNvPr id="13" name="PointText"/>
          <p:cNvSpPr txBox="1"/>
          <p:nvPr/>
        </p:nvSpPr>
        <p:spPr>
          <a:xfrm>
            <a:off x="8138160" y="2567635"/>
            <a:ext cx="3340303" cy="665683"/>
          </a:xfrm>
          <a:prstGeom prst="rect">
            <a:avLst/>
          </a:prstGeom>
          <a:noFill/>
          <a:ln/>
        </p:spPr>
        <p:txBody>
          <a:bodyPr wrap="square" lIns="0" tIns="0" rIns="0" bIns="0" rtlCol="0" anchor="ctr"/>
          <a:lstStyle/>
          <a:p>
            <a:pPr marL="0" indent="0">
              <a:spcAft>
                <a:spcPts val="400"/>
              </a:spcAft>
              <a:buNone/>
            </a:pPr>
            <a:r>
              <a:rPr lang="en-US" sz="1200" b="1" dirty="0">
                <a:solidFill>
                  <a:schemeClr val="accent1"/>
                </a:solidFill>
              </a:rPr>
              <a:t>Decision Tree: </a:t>
            </a:r>
            <a:r>
              <a:rPr lang="en-US" sz="1200" dirty="0">
                <a:solidFill>
                  <a:schemeClr val="tx1"/>
                </a:solidFill>
              </a:rPr>
              <a:t>cải thiện mạnh, R² = 0.9526; vẫn cần kiểm soát overfitting.</a:t>
            </a:r>
            <a:endParaRPr lang="en-US" sz="1200" dirty="0"/>
          </a:p>
        </p:txBody>
      </p:sp>
      <p:sp>
        <p:nvSpPr>
          <p:cNvPr id="14" name="PointCard"/>
          <p:cNvSpPr/>
          <p:nvPr/>
        </p:nvSpPr>
        <p:spPr>
          <a:xfrm>
            <a:off x="7498080" y="3434486"/>
            <a:ext cx="4144975" cy="811987"/>
          </a:xfrm>
          <a:prstGeom prst="roundRect">
            <a:avLst>
              <a:gd name="adj" fmla="val 13514"/>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5" name="Number"/>
          <p:cNvSpPr txBox="1"/>
          <p:nvPr/>
        </p:nvSpPr>
        <p:spPr>
          <a:xfrm>
            <a:off x="7680960" y="3685032"/>
            <a:ext cx="310896" cy="310896"/>
          </a:xfrm>
          <a:prstGeom prst="ellipse">
            <a:avLst/>
          </a:prstGeom>
          <a:solidFill>
            <a:schemeClr val="accent1"/>
          </a:solidFill>
          <a:ln/>
        </p:spPr>
        <p:txBody>
          <a:bodyPr wrap="square" lIns="0" tIns="0" rIns="0" bIns="0" rtlCol="0" anchor="ctr"/>
          <a:lstStyle/>
          <a:p>
            <a:pPr marL="0" indent="0" algn="ctr">
              <a:buNone/>
            </a:pPr>
            <a:r>
              <a:rPr lang="en-US" sz="1200" b="1" dirty="0">
                <a:solidFill>
                  <a:schemeClr val="bg1"/>
                </a:solidFill>
              </a:rPr>
              <a:t>3</a:t>
            </a:r>
            <a:endParaRPr lang="en-US" sz="1200" dirty="0"/>
          </a:p>
        </p:txBody>
      </p:sp>
      <p:sp>
        <p:nvSpPr>
          <p:cNvPr id="16" name="PointText"/>
          <p:cNvSpPr txBox="1"/>
          <p:nvPr/>
        </p:nvSpPr>
        <p:spPr>
          <a:xfrm>
            <a:off x="8138160" y="3507638"/>
            <a:ext cx="3340303" cy="665683"/>
          </a:xfrm>
          <a:prstGeom prst="rect">
            <a:avLst/>
          </a:prstGeom>
          <a:noFill/>
          <a:ln/>
        </p:spPr>
        <p:txBody>
          <a:bodyPr wrap="square" lIns="0" tIns="0" rIns="0" bIns="0" rtlCol="0" anchor="ctr"/>
          <a:lstStyle/>
          <a:p>
            <a:pPr marL="0" indent="0">
              <a:spcAft>
                <a:spcPts val="400"/>
              </a:spcAft>
              <a:buNone/>
            </a:pPr>
            <a:r>
              <a:rPr lang="en-US" sz="1200" b="1" dirty="0">
                <a:solidFill>
                  <a:schemeClr val="accent1"/>
                </a:solidFill>
              </a:rPr>
              <a:t>KNN: </a:t>
            </a:r>
            <a:r>
              <a:rPr lang="en-US" sz="1200" dirty="0">
                <a:solidFill>
                  <a:schemeClr val="tx1"/>
                </a:solidFill>
              </a:rPr>
              <a:t>MAE = 0.4351, RMSE = 0.6637, R² = 0.9565; kết quả tốt và khá sát SVR.</a:t>
            </a:r>
            <a:endParaRPr lang="en-US" sz="1200" dirty="0"/>
          </a:p>
        </p:txBody>
      </p:sp>
      <p:sp>
        <p:nvSpPr>
          <p:cNvPr id="17" name="PointCard"/>
          <p:cNvSpPr/>
          <p:nvPr/>
        </p:nvSpPr>
        <p:spPr>
          <a:xfrm>
            <a:off x="7498080" y="4374490"/>
            <a:ext cx="4144975" cy="811987"/>
          </a:xfrm>
          <a:prstGeom prst="roundRect">
            <a:avLst>
              <a:gd name="adj" fmla="val 13514"/>
            </a:avLst>
          </a:prstGeom>
          <a:solidFill>
            <a:srgbClr val="FDF1D6"/>
          </a:solidFill>
          <a:ln/>
          <a:effectLst>
            <a:outerShdw blurRad="101600" dist="25400" dir="5400000" algn="bl" rotWithShape="0">
              <a:srgbClr val="0E2A3B">
                <a:alpha val="13000"/>
              </a:srgbClr>
            </a:outerShdw>
          </a:effectLst>
        </p:spPr>
        <p:txBody>
          <a:bodyPr/>
          <a:lstStyle/>
          <a:p>
            <a:endParaRPr lang="en-US"/>
          </a:p>
        </p:txBody>
      </p:sp>
      <p:sp>
        <p:nvSpPr>
          <p:cNvPr id="5" name="Number"/>
          <p:cNvSpPr txBox="1"/>
          <p:nvPr/>
        </p:nvSpPr>
        <p:spPr>
          <a:xfrm>
            <a:off x="7680960" y="4625035"/>
            <a:ext cx="310896" cy="310896"/>
          </a:xfrm>
          <a:prstGeom prst="ellipse">
            <a:avLst/>
          </a:prstGeom>
          <a:solidFill>
            <a:schemeClr val="accent2"/>
          </a:solidFill>
          <a:ln/>
        </p:spPr>
        <p:txBody>
          <a:bodyPr wrap="square" lIns="0" tIns="0" rIns="0" bIns="0" rtlCol="0" anchor="ctr"/>
          <a:lstStyle/>
          <a:p>
            <a:pPr marL="0" indent="0" algn="ctr">
              <a:buNone/>
            </a:pPr>
            <a:r>
              <a:rPr lang="en-US" sz="1200" b="1" dirty="0">
                <a:solidFill>
                  <a:schemeClr val="bg1"/>
                </a:solidFill>
              </a:rPr>
              <a:t>4</a:t>
            </a:r>
            <a:endParaRPr lang="en-US" sz="1200" dirty="0"/>
          </a:p>
        </p:txBody>
      </p:sp>
      <p:sp>
        <p:nvSpPr>
          <p:cNvPr id="19" name="PointText"/>
          <p:cNvSpPr txBox="1"/>
          <p:nvPr/>
        </p:nvSpPr>
        <p:spPr>
          <a:xfrm>
            <a:off x="8138160" y="4447642"/>
            <a:ext cx="3340303" cy="665683"/>
          </a:xfrm>
          <a:prstGeom prst="rect">
            <a:avLst/>
          </a:prstGeom>
          <a:noFill/>
          <a:ln/>
        </p:spPr>
        <p:txBody>
          <a:bodyPr wrap="square" lIns="0" tIns="0" rIns="0" bIns="0" rtlCol="0" anchor="ctr"/>
          <a:lstStyle/>
          <a:p>
            <a:pPr marL="0" indent="0">
              <a:spcAft>
                <a:spcPts val="400"/>
              </a:spcAft>
              <a:buNone/>
            </a:pPr>
            <a:r>
              <a:rPr lang="en-US" sz="1200" b="1" dirty="0">
                <a:solidFill>
                  <a:schemeClr val="accent1"/>
                </a:solidFill>
              </a:rPr>
              <a:t>SVR: </a:t>
            </a:r>
            <a:r>
              <a:rPr lang="en-US" sz="1200" dirty="0">
                <a:solidFill>
                  <a:schemeClr val="tx1"/>
                </a:solidFill>
              </a:rPr>
              <a:t>MAE = 0.4293, RMSE = 0.6498, R² = 0.9583; tốt nhất trong bảng thực nghiệm.</a:t>
            </a:r>
            <a:endParaRPr lang="en-US" sz="1200" dirty="0"/>
          </a:p>
        </p:txBody>
      </p:sp>
      <p:sp>
        <p:nvSpPr>
          <p:cNvPr id="20" name="PointCard"/>
          <p:cNvSpPr/>
          <p:nvPr/>
        </p:nvSpPr>
        <p:spPr>
          <a:xfrm>
            <a:off x="7498080" y="5314493"/>
            <a:ext cx="4144975" cy="903427"/>
          </a:xfrm>
          <a:prstGeom prst="roundRect">
            <a:avLst>
              <a:gd name="adj" fmla="val 12146"/>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21" name="IconBg"/>
          <p:cNvSpPr/>
          <p:nvPr/>
        </p:nvSpPr>
        <p:spPr>
          <a:xfrm>
            <a:off x="7680960" y="5610758"/>
            <a:ext cx="310896" cy="310896"/>
          </a:xfrm>
          <a:prstGeom prst="ellipse">
            <a:avLst/>
          </a:prstGeom>
          <a:solidFill>
            <a:schemeClr val="accent2"/>
          </a:solidFill>
          <a:ln/>
        </p:spPr>
        <p:txBody>
          <a:bodyPr/>
          <a:lstStyle/>
          <a:p>
            <a:endParaRPr lang="en-US"/>
          </a:p>
        </p:txBody>
      </p:sp>
      <p:pic>
        <p:nvPicPr>
          <p:cNvPr id="22" name="Image 1" descr="Lightbulb"/>
          <p:cNvPicPr>
            <a:picLocks noChangeAspect="1"/>
          </p:cNvPicPr>
          <p:nvPr/>
        </p:nvPicPr>
        <p:blipFill>
          <a:blip r:embed="rId4"/>
          <a:stretch>
            <a:fillRect/>
          </a:stretch>
        </p:blipFill>
        <p:spPr>
          <a:xfrm>
            <a:off x="7758684" y="5688482"/>
            <a:ext cx="155448" cy="155448"/>
          </a:xfrm>
          <a:prstGeom prst="rect">
            <a:avLst/>
          </a:prstGeom>
        </p:spPr>
      </p:pic>
      <p:sp>
        <p:nvSpPr>
          <p:cNvPr id="23" name="PointText"/>
          <p:cNvSpPr txBox="1"/>
          <p:nvPr/>
        </p:nvSpPr>
        <p:spPr>
          <a:xfrm>
            <a:off x="8138160" y="5387645"/>
            <a:ext cx="3340303" cy="757123"/>
          </a:xfrm>
          <a:prstGeom prst="rect">
            <a:avLst/>
          </a:prstGeom>
          <a:noFill/>
          <a:ln/>
        </p:spPr>
        <p:txBody>
          <a:bodyPr wrap="square" lIns="0" tIns="0" rIns="0" bIns="0" rtlCol="0" anchor="ctr"/>
          <a:lstStyle/>
          <a:p>
            <a:pPr marL="0" indent="0">
              <a:spcAft>
                <a:spcPts val="400"/>
              </a:spcAft>
              <a:buNone/>
            </a:pPr>
            <a:r>
              <a:rPr lang="en-US" sz="1200" dirty="0">
                <a:solidFill>
                  <a:schemeClr val="bg1"/>
                </a:solidFill>
              </a:rPr>
              <a:t>Không chọn model chỉ dựa trên một metric; cân nhắc MAE, RMSE, R², Cross Validation, overfitting và thời gian dự đoán.</a:t>
            </a:r>
            <a:endParaRPr lang="en-US" sz="12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04  ·  KẾT QUẢ VÀ KẾT LUẬN</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Mô hình được chọn và kiến trúc hệ thống</a:t>
            </a:r>
            <a:endParaRPr lang="en-US" sz="3000" dirty="0"/>
          </a:p>
        </p:txBody>
      </p:sp>
      <p:sp>
        <p:nvSpPr>
          <p:cNvPr id="5" name="ModelHero"/>
          <p:cNvSpPr/>
          <p:nvPr/>
        </p:nvSpPr>
        <p:spPr>
          <a:xfrm>
            <a:off x="548640" y="1463040"/>
            <a:ext cx="3566160" cy="2103120"/>
          </a:xfrm>
          <a:prstGeom prst="roundRect">
            <a:avLst>
              <a:gd name="adj" fmla="val 5217"/>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6" name="Text 4"/>
          <p:cNvSpPr txBox="1"/>
          <p:nvPr/>
        </p:nvSpPr>
        <p:spPr>
          <a:xfrm>
            <a:off x="822960" y="1600200"/>
            <a:ext cx="3017520" cy="365760"/>
          </a:xfrm>
          <a:prstGeom prst="rect">
            <a:avLst/>
          </a:prstGeom>
          <a:noFill/>
          <a:ln/>
        </p:spPr>
        <p:txBody>
          <a:bodyPr wrap="square" lIns="0" tIns="0" rIns="0" bIns="0" rtlCol="0" anchor="ctr"/>
          <a:lstStyle/>
          <a:p>
            <a:pPr marL="0" indent="0">
              <a:buNone/>
            </a:pPr>
            <a:r>
              <a:rPr lang="en-US" sz="1300" b="1" kern="0" spc="200" dirty="0">
                <a:solidFill>
                  <a:schemeClr val="accent2"/>
                </a:solidFill>
              </a:rPr>
              <a:t>MÔ HÌNH CUỐI CÙNG</a:t>
            </a:r>
            <a:endParaRPr lang="en-US" sz="1300" dirty="0"/>
          </a:p>
        </p:txBody>
      </p:sp>
      <p:sp>
        <p:nvSpPr>
          <p:cNvPr id="7" name="Text 5"/>
          <p:cNvSpPr txBox="1"/>
          <p:nvPr/>
        </p:nvSpPr>
        <p:spPr>
          <a:xfrm>
            <a:off x="822960" y="1965960"/>
            <a:ext cx="3017520" cy="868680"/>
          </a:xfrm>
          <a:prstGeom prst="rect">
            <a:avLst/>
          </a:prstGeom>
          <a:noFill/>
          <a:ln/>
        </p:spPr>
        <p:txBody>
          <a:bodyPr wrap="square" lIns="0" tIns="0" rIns="0" bIns="0" rtlCol="0" anchor="ctr"/>
          <a:lstStyle/>
          <a:p>
            <a:pPr marL="0" indent="0">
              <a:buNone/>
            </a:pPr>
            <a:r>
              <a:rPr lang="en-US" sz="5800" b="1" dirty="0">
                <a:solidFill>
                  <a:schemeClr val="bg1"/>
                </a:solidFill>
                <a:latin typeface="+mj-lt" pitchFamily="34" charset="0"/>
                <a:ea typeface="+mj-lt" pitchFamily="34" charset="-122"/>
                <a:cs typeface="+mj-lt" pitchFamily="34" charset="-120"/>
              </a:rPr>
              <a:t>SVR</a:t>
            </a:r>
            <a:endParaRPr lang="en-US" sz="5800" dirty="0"/>
          </a:p>
        </p:txBody>
      </p:sp>
      <p:sp>
        <p:nvSpPr>
          <p:cNvPr id="8" name="Text 6"/>
          <p:cNvSpPr txBox="1"/>
          <p:nvPr/>
        </p:nvSpPr>
        <p:spPr>
          <a:xfrm>
            <a:off x="822960" y="2880360"/>
            <a:ext cx="3017520" cy="548640"/>
          </a:xfrm>
          <a:prstGeom prst="rect">
            <a:avLst/>
          </a:prstGeom>
          <a:noFill/>
          <a:ln/>
        </p:spPr>
        <p:txBody>
          <a:bodyPr wrap="square" lIns="0" tIns="0" rIns="0" bIns="0" rtlCol="0" anchor="t"/>
          <a:lstStyle/>
          <a:p>
            <a:pPr marL="0" indent="0">
              <a:buNone/>
            </a:pPr>
            <a:r>
              <a:rPr lang="en-US" sz="1400" dirty="0">
                <a:solidFill>
                  <a:schemeClr val="accent6"/>
                </a:solidFill>
              </a:rPr>
              <a:t>Tốt nhất trong 4 model ở thí nghiệm hiện tại.</a:t>
            </a:r>
            <a:endParaRPr lang="en-US" sz="1400" dirty="0"/>
          </a:p>
        </p:txBody>
      </p:sp>
      <p:sp>
        <p:nvSpPr>
          <p:cNvPr id="9" name="StatTile"/>
          <p:cNvSpPr/>
          <p:nvPr/>
        </p:nvSpPr>
        <p:spPr>
          <a:xfrm>
            <a:off x="4389120" y="1463040"/>
            <a:ext cx="2265578" cy="2103120"/>
          </a:xfrm>
          <a:prstGeom prst="roundRect">
            <a:avLst>
              <a:gd name="adj" fmla="val 5217"/>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0" name="Text 8"/>
          <p:cNvSpPr txBox="1"/>
          <p:nvPr/>
        </p:nvSpPr>
        <p:spPr>
          <a:xfrm>
            <a:off x="4480560" y="1572768"/>
            <a:ext cx="2082698" cy="1051560"/>
          </a:xfrm>
          <a:prstGeom prst="rect">
            <a:avLst/>
          </a:prstGeom>
          <a:noFill/>
          <a:ln/>
        </p:spPr>
        <p:txBody>
          <a:bodyPr wrap="square" lIns="0" tIns="0" rIns="0" bIns="0" rtlCol="0" anchor="b"/>
          <a:lstStyle/>
          <a:p>
            <a:pPr marL="0" indent="0" algn="ctr">
              <a:buNone/>
            </a:pPr>
            <a:r>
              <a:rPr lang="en-US" sz="3400" b="1" dirty="0">
                <a:solidFill>
                  <a:schemeClr val="accent1"/>
                </a:solidFill>
                <a:latin typeface="+mj-lt" pitchFamily="34" charset="0"/>
                <a:ea typeface="+mj-lt" pitchFamily="34" charset="-122"/>
                <a:cs typeface="+mj-lt" pitchFamily="34" charset="-120"/>
              </a:rPr>
              <a:t>0.4293</a:t>
            </a:r>
            <a:endParaRPr lang="en-US" sz="3400" dirty="0"/>
          </a:p>
        </p:txBody>
      </p:sp>
      <p:sp>
        <p:nvSpPr>
          <p:cNvPr id="11" name="Text 9"/>
          <p:cNvSpPr txBox="1"/>
          <p:nvPr/>
        </p:nvSpPr>
        <p:spPr>
          <a:xfrm>
            <a:off x="4480560" y="2624328"/>
            <a:ext cx="2082698" cy="868680"/>
          </a:xfrm>
          <a:prstGeom prst="rect">
            <a:avLst/>
          </a:prstGeom>
          <a:noFill/>
          <a:ln/>
        </p:spPr>
        <p:txBody>
          <a:bodyPr wrap="square" lIns="0" tIns="0" rIns="0" bIns="0" rtlCol="0" anchor="t"/>
          <a:lstStyle/>
          <a:p>
            <a:pPr marL="0" indent="0" algn="ctr">
              <a:buNone/>
            </a:pPr>
            <a:r>
              <a:rPr lang="en-US" sz="1300" b="1" dirty="0">
                <a:solidFill>
                  <a:schemeClr val="tx1"/>
                </a:solidFill>
              </a:rPr>
              <a:t>MAE</a:t>
            </a:r>
            <a:endParaRPr lang="en-US" sz="1300" dirty="0"/>
          </a:p>
        </p:txBody>
      </p:sp>
      <p:sp>
        <p:nvSpPr>
          <p:cNvPr id="12" name="Text 10"/>
          <p:cNvSpPr txBox="1"/>
          <p:nvPr/>
        </p:nvSpPr>
        <p:spPr>
          <a:xfrm>
            <a:off x="4480560" y="3182112"/>
            <a:ext cx="2082698" cy="274320"/>
          </a:xfrm>
          <a:prstGeom prst="rect">
            <a:avLst/>
          </a:prstGeom>
          <a:noFill/>
          <a:ln/>
        </p:spPr>
        <p:txBody>
          <a:bodyPr wrap="square" lIns="0" tIns="0" rIns="0" bIns="0" rtlCol="0" anchor="ctr"/>
          <a:lstStyle/>
          <a:p>
            <a:pPr marL="0" indent="0" algn="ctr">
              <a:buNone/>
            </a:pPr>
            <a:r>
              <a:rPr lang="en-US" sz="1100" dirty="0">
                <a:solidFill>
                  <a:schemeClr val="accent5"/>
                </a:solidFill>
              </a:rPr>
              <a:t>thấp nhất</a:t>
            </a:r>
            <a:endParaRPr lang="en-US" sz="1100" dirty="0"/>
          </a:p>
        </p:txBody>
      </p:sp>
      <p:sp>
        <p:nvSpPr>
          <p:cNvPr id="13" name="StatTile"/>
          <p:cNvSpPr/>
          <p:nvPr/>
        </p:nvSpPr>
        <p:spPr>
          <a:xfrm>
            <a:off x="6883298" y="1463040"/>
            <a:ext cx="2265578" cy="2103120"/>
          </a:xfrm>
          <a:prstGeom prst="roundRect">
            <a:avLst>
              <a:gd name="adj" fmla="val 5217"/>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4" name="Text 12"/>
          <p:cNvSpPr txBox="1"/>
          <p:nvPr/>
        </p:nvSpPr>
        <p:spPr>
          <a:xfrm>
            <a:off x="6974738" y="1572768"/>
            <a:ext cx="2082698" cy="1051560"/>
          </a:xfrm>
          <a:prstGeom prst="rect">
            <a:avLst/>
          </a:prstGeom>
          <a:noFill/>
          <a:ln/>
        </p:spPr>
        <p:txBody>
          <a:bodyPr wrap="square" lIns="0" tIns="0" rIns="0" bIns="0" rtlCol="0" anchor="b"/>
          <a:lstStyle/>
          <a:p>
            <a:pPr marL="0" indent="0" algn="ctr">
              <a:buNone/>
            </a:pPr>
            <a:r>
              <a:rPr lang="en-US" sz="3400" b="1" dirty="0">
                <a:solidFill>
                  <a:schemeClr val="accent1"/>
                </a:solidFill>
                <a:latin typeface="+mj-lt" pitchFamily="34" charset="0"/>
                <a:ea typeface="+mj-lt" pitchFamily="34" charset="-122"/>
                <a:cs typeface="+mj-lt" pitchFamily="34" charset="-120"/>
              </a:rPr>
              <a:t>0.6498</a:t>
            </a:r>
            <a:endParaRPr lang="en-US" sz="3400" dirty="0"/>
          </a:p>
        </p:txBody>
      </p:sp>
      <p:sp>
        <p:nvSpPr>
          <p:cNvPr id="15" name="Text 13"/>
          <p:cNvSpPr txBox="1"/>
          <p:nvPr/>
        </p:nvSpPr>
        <p:spPr>
          <a:xfrm>
            <a:off x="6974738" y="2624328"/>
            <a:ext cx="2082698" cy="868680"/>
          </a:xfrm>
          <a:prstGeom prst="rect">
            <a:avLst/>
          </a:prstGeom>
          <a:noFill/>
          <a:ln/>
        </p:spPr>
        <p:txBody>
          <a:bodyPr wrap="square" lIns="0" tIns="0" rIns="0" bIns="0" rtlCol="0" anchor="t"/>
          <a:lstStyle/>
          <a:p>
            <a:pPr marL="0" indent="0" algn="ctr">
              <a:buNone/>
            </a:pPr>
            <a:r>
              <a:rPr lang="en-US" sz="1300" b="1" dirty="0">
                <a:solidFill>
                  <a:schemeClr val="tx1"/>
                </a:solidFill>
              </a:rPr>
              <a:t>RMSE</a:t>
            </a:r>
            <a:endParaRPr lang="en-US" sz="1300" dirty="0"/>
          </a:p>
        </p:txBody>
      </p:sp>
      <p:sp>
        <p:nvSpPr>
          <p:cNvPr id="16" name="Text 14"/>
          <p:cNvSpPr txBox="1"/>
          <p:nvPr/>
        </p:nvSpPr>
        <p:spPr>
          <a:xfrm>
            <a:off x="6974738" y="3182112"/>
            <a:ext cx="2082698" cy="274320"/>
          </a:xfrm>
          <a:prstGeom prst="rect">
            <a:avLst/>
          </a:prstGeom>
          <a:noFill/>
          <a:ln/>
        </p:spPr>
        <p:txBody>
          <a:bodyPr wrap="square" lIns="0" tIns="0" rIns="0" bIns="0" rtlCol="0" anchor="ctr"/>
          <a:lstStyle/>
          <a:p>
            <a:pPr marL="0" indent="0" algn="ctr">
              <a:buNone/>
            </a:pPr>
            <a:r>
              <a:rPr lang="en-US" sz="1100" dirty="0">
                <a:solidFill>
                  <a:schemeClr val="accent5"/>
                </a:solidFill>
              </a:rPr>
              <a:t>thấp nhất</a:t>
            </a:r>
            <a:endParaRPr lang="en-US" sz="1100" dirty="0"/>
          </a:p>
        </p:txBody>
      </p:sp>
      <p:sp>
        <p:nvSpPr>
          <p:cNvPr id="17" name="StatTile"/>
          <p:cNvSpPr/>
          <p:nvPr/>
        </p:nvSpPr>
        <p:spPr>
          <a:xfrm>
            <a:off x="9377477" y="1463040"/>
            <a:ext cx="2265578" cy="2103120"/>
          </a:xfrm>
          <a:prstGeom prst="roundRect">
            <a:avLst>
              <a:gd name="adj" fmla="val 5217"/>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8" name="Text 16"/>
          <p:cNvSpPr txBox="1"/>
          <p:nvPr/>
        </p:nvSpPr>
        <p:spPr>
          <a:xfrm>
            <a:off x="9468917" y="1572768"/>
            <a:ext cx="2082698" cy="1051560"/>
          </a:xfrm>
          <a:prstGeom prst="rect">
            <a:avLst/>
          </a:prstGeom>
          <a:noFill/>
          <a:ln/>
        </p:spPr>
        <p:txBody>
          <a:bodyPr wrap="square" lIns="0" tIns="0" rIns="0" bIns="0" rtlCol="0" anchor="b"/>
          <a:lstStyle/>
          <a:p>
            <a:pPr marL="0" indent="0" algn="ctr">
              <a:buNone/>
            </a:pPr>
            <a:r>
              <a:rPr lang="en-US" sz="3400" b="1" dirty="0">
                <a:solidFill>
                  <a:schemeClr val="accent1"/>
                </a:solidFill>
                <a:latin typeface="+mj-lt" pitchFamily="34" charset="0"/>
                <a:ea typeface="+mj-lt" pitchFamily="34" charset="-122"/>
                <a:cs typeface="+mj-lt" pitchFamily="34" charset="-120"/>
              </a:rPr>
              <a:t>0.9583</a:t>
            </a:r>
            <a:endParaRPr lang="en-US" sz="3400" dirty="0"/>
          </a:p>
        </p:txBody>
      </p:sp>
      <p:sp>
        <p:nvSpPr>
          <p:cNvPr id="19" name="Text 17"/>
          <p:cNvSpPr txBox="1"/>
          <p:nvPr/>
        </p:nvSpPr>
        <p:spPr>
          <a:xfrm>
            <a:off x="9468917" y="2624328"/>
            <a:ext cx="2082698" cy="868680"/>
          </a:xfrm>
          <a:prstGeom prst="rect">
            <a:avLst/>
          </a:prstGeom>
          <a:noFill/>
          <a:ln/>
        </p:spPr>
        <p:txBody>
          <a:bodyPr wrap="square" lIns="0" tIns="0" rIns="0" bIns="0" rtlCol="0" anchor="t"/>
          <a:lstStyle/>
          <a:p>
            <a:pPr marL="0" indent="0" algn="ctr">
              <a:buNone/>
            </a:pPr>
            <a:r>
              <a:rPr lang="en-US" sz="1300" b="1" dirty="0">
                <a:solidFill>
                  <a:schemeClr val="tx1"/>
                </a:solidFill>
              </a:rPr>
              <a:t>R²</a:t>
            </a:r>
            <a:endParaRPr lang="en-US" sz="1300" dirty="0"/>
          </a:p>
        </p:txBody>
      </p:sp>
      <p:sp>
        <p:nvSpPr>
          <p:cNvPr id="20" name="Text 18"/>
          <p:cNvSpPr txBox="1"/>
          <p:nvPr/>
        </p:nvSpPr>
        <p:spPr>
          <a:xfrm>
            <a:off x="9468917" y="3182112"/>
            <a:ext cx="2082698" cy="274320"/>
          </a:xfrm>
          <a:prstGeom prst="rect">
            <a:avLst/>
          </a:prstGeom>
          <a:noFill/>
          <a:ln/>
        </p:spPr>
        <p:txBody>
          <a:bodyPr wrap="square" lIns="0" tIns="0" rIns="0" bIns="0" rtlCol="0" anchor="ctr"/>
          <a:lstStyle/>
          <a:p>
            <a:pPr marL="0" indent="0" algn="ctr">
              <a:buNone/>
            </a:pPr>
            <a:r>
              <a:rPr lang="en-US" sz="1100" dirty="0">
                <a:solidFill>
                  <a:schemeClr val="accent5"/>
                </a:solidFill>
              </a:rPr>
              <a:t>cao nhất</a:t>
            </a:r>
            <a:endParaRPr lang="en-US" sz="1100" dirty="0"/>
          </a:p>
        </p:txBody>
      </p:sp>
      <p:sp>
        <p:nvSpPr>
          <p:cNvPr id="21" name="ArchCard"/>
          <p:cNvSpPr/>
          <p:nvPr/>
        </p:nvSpPr>
        <p:spPr>
          <a:xfrm>
            <a:off x="548640" y="3794760"/>
            <a:ext cx="11094415" cy="2423160"/>
          </a:xfrm>
          <a:prstGeom prst="roundRect">
            <a:avLst>
              <a:gd name="adj" fmla="val 4528"/>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22" name="Text 20"/>
          <p:cNvSpPr txBox="1"/>
          <p:nvPr/>
        </p:nvSpPr>
        <p:spPr>
          <a:xfrm>
            <a:off x="822960" y="4434840"/>
            <a:ext cx="1371600" cy="685800"/>
          </a:xfrm>
          <a:prstGeom prst="roundRect">
            <a:avLst>
              <a:gd name="adj" fmla="val 13333"/>
            </a:avLst>
          </a:prstGeom>
          <a:solidFill>
            <a:schemeClr val="accent1"/>
          </a:solidFill>
          <a:ln/>
        </p:spPr>
        <p:txBody>
          <a:bodyPr wrap="square" lIns="0" tIns="0" rIns="0" bIns="0" rtlCol="0" anchor="ctr"/>
          <a:lstStyle/>
          <a:p>
            <a:pPr marL="0" indent="0" algn="ctr">
              <a:buNone/>
            </a:pPr>
            <a:r>
              <a:rPr lang="en-US" sz="1400" b="1" dirty="0">
                <a:solidFill>
                  <a:schemeClr val="bg1"/>
                </a:solidFill>
              </a:rPr>
              <a:t>Người dùng</a:t>
            </a:r>
            <a:endParaRPr lang="en-US" sz="1400" dirty="0"/>
          </a:p>
        </p:txBody>
      </p:sp>
      <p:sp>
        <p:nvSpPr>
          <p:cNvPr id="23" name="Arrow"/>
          <p:cNvSpPr/>
          <p:nvPr/>
        </p:nvSpPr>
        <p:spPr>
          <a:xfrm>
            <a:off x="2231136" y="4677156"/>
            <a:ext cx="201168" cy="201168"/>
          </a:xfrm>
          <a:prstGeom prst="rightArrow">
            <a:avLst/>
          </a:prstGeom>
          <a:solidFill>
            <a:schemeClr val="accent5"/>
          </a:solidFill>
          <a:ln/>
        </p:spPr>
        <p:txBody>
          <a:bodyPr/>
          <a:lstStyle/>
          <a:p>
            <a:endParaRPr lang="en-US"/>
          </a:p>
        </p:txBody>
      </p:sp>
      <p:sp>
        <p:nvSpPr>
          <p:cNvPr id="24" name="Text 22"/>
          <p:cNvSpPr txBox="1"/>
          <p:nvPr/>
        </p:nvSpPr>
        <p:spPr>
          <a:xfrm>
            <a:off x="2468880" y="4434840"/>
            <a:ext cx="1371600" cy="685800"/>
          </a:xfrm>
          <a:prstGeom prst="roundRect">
            <a:avLst>
              <a:gd name="adj" fmla="val 13333"/>
            </a:avLst>
          </a:prstGeom>
          <a:solidFill>
            <a:schemeClr val="accent1"/>
          </a:solidFill>
          <a:ln/>
        </p:spPr>
        <p:txBody>
          <a:bodyPr wrap="square" lIns="0" tIns="0" rIns="0" bIns="0" rtlCol="0" anchor="ctr"/>
          <a:lstStyle/>
          <a:p>
            <a:pPr marL="0" indent="0" algn="ctr">
              <a:buNone/>
            </a:pPr>
            <a:r>
              <a:rPr lang="en-US" sz="1400" b="1" dirty="0">
                <a:solidFill>
                  <a:schemeClr val="bg1"/>
                </a:solidFill>
              </a:rPr>
              <a:t>Frontend</a:t>
            </a:r>
            <a:endParaRPr lang="en-US" sz="1400" dirty="0"/>
          </a:p>
        </p:txBody>
      </p:sp>
      <p:sp>
        <p:nvSpPr>
          <p:cNvPr id="25" name="Arrow"/>
          <p:cNvSpPr/>
          <p:nvPr/>
        </p:nvSpPr>
        <p:spPr>
          <a:xfrm>
            <a:off x="3877056" y="4677156"/>
            <a:ext cx="201168" cy="201168"/>
          </a:xfrm>
          <a:prstGeom prst="rightArrow">
            <a:avLst/>
          </a:prstGeom>
          <a:solidFill>
            <a:schemeClr val="accent5"/>
          </a:solidFill>
          <a:ln/>
        </p:spPr>
        <p:txBody>
          <a:bodyPr/>
          <a:lstStyle/>
          <a:p>
            <a:endParaRPr lang="en-US"/>
          </a:p>
        </p:txBody>
      </p:sp>
      <p:sp>
        <p:nvSpPr>
          <p:cNvPr id="26" name="Text 24"/>
          <p:cNvSpPr txBox="1"/>
          <p:nvPr/>
        </p:nvSpPr>
        <p:spPr>
          <a:xfrm>
            <a:off x="4114800" y="4434840"/>
            <a:ext cx="1371600" cy="685800"/>
          </a:xfrm>
          <a:prstGeom prst="roundRect">
            <a:avLst>
              <a:gd name="adj" fmla="val 13333"/>
            </a:avLst>
          </a:prstGeom>
          <a:solidFill>
            <a:schemeClr val="accent1"/>
          </a:solidFill>
          <a:ln/>
        </p:spPr>
        <p:txBody>
          <a:bodyPr wrap="square" lIns="0" tIns="0" rIns="0" bIns="0" rtlCol="0" anchor="ctr"/>
          <a:lstStyle/>
          <a:p>
            <a:pPr marL="0" indent="0" algn="ctr">
              <a:buNone/>
            </a:pPr>
            <a:r>
              <a:rPr lang="en-US" sz="1400" b="1" dirty="0">
                <a:solidFill>
                  <a:schemeClr val="bg1"/>
                </a:solidFill>
              </a:rPr>
              <a:t>Backend</a:t>
            </a:r>
            <a:endParaRPr lang="en-US" sz="1400" dirty="0"/>
          </a:p>
        </p:txBody>
      </p:sp>
      <p:sp>
        <p:nvSpPr>
          <p:cNvPr id="27" name="Arrow"/>
          <p:cNvSpPr/>
          <p:nvPr/>
        </p:nvSpPr>
        <p:spPr>
          <a:xfrm>
            <a:off x="5522976" y="4677156"/>
            <a:ext cx="201168" cy="201168"/>
          </a:xfrm>
          <a:prstGeom prst="rightArrow">
            <a:avLst/>
          </a:prstGeom>
          <a:solidFill>
            <a:schemeClr val="accent5"/>
          </a:solidFill>
          <a:ln/>
        </p:spPr>
        <p:txBody>
          <a:bodyPr/>
          <a:lstStyle/>
          <a:p>
            <a:endParaRPr lang="en-US"/>
          </a:p>
        </p:txBody>
      </p:sp>
      <p:sp>
        <p:nvSpPr>
          <p:cNvPr id="28" name="AIService"/>
          <p:cNvSpPr/>
          <p:nvPr/>
        </p:nvSpPr>
        <p:spPr>
          <a:xfrm>
            <a:off x="5760720" y="4023360"/>
            <a:ext cx="5760720" cy="1325880"/>
          </a:xfrm>
          <a:prstGeom prst="roundRect">
            <a:avLst>
              <a:gd name="adj" fmla="val 8276"/>
            </a:avLst>
          </a:prstGeom>
          <a:solidFill>
            <a:schemeClr val="bg2"/>
          </a:solidFill>
          <a:ln w="19050">
            <a:solidFill>
              <a:schemeClr val="accent1"/>
            </a:solidFill>
            <a:prstDash val="solid"/>
          </a:ln>
        </p:spPr>
        <p:txBody>
          <a:bodyPr/>
          <a:lstStyle/>
          <a:p>
            <a:endParaRPr lang="en-US"/>
          </a:p>
        </p:txBody>
      </p:sp>
      <p:sp>
        <p:nvSpPr>
          <p:cNvPr id="29" name="Text 27"/>
          <p:cNvSpPr txBox="1"/>
          <p:nvPr/>
        </p:nvSpPr>
        <p:spPr>
          <a:xfrm>
            <a:off x="5943600" y="4069080"/>
            <a:ext cx="2743200" cy="329184"/>
          </a:xfrm>
          <a:prstGeom prst="rect">
            <a:avLst/>
          </a:prstGeom>
          <a:noFill/>
          <a:ln/>
        </p:spPr>
        <p:txBody>
          <a:bodyPr wrap="square" lIns="0" tIns="0" rIns="0" bIns="0" rtlCol="0" anchor="ctr"/>
          <a:lstStyle/>
          <a:p>
            <a:pPr marL="0" indent="0">
              <a:buNone/>
            </a:pPr>
            <a:r>
              <a:rPr lang="en-US" sz="1300" b="1" dirty="0">
                <a:solidFill>
                  <a:schemeClr val="accent1"/>
                </a:solidFill>
              </a:rPr>
              <a:t>AI Service</a:t>
            </a:r>
            <a:endParaRPr lang="en-US" sz="1300" dirty="0"/>
          </a:p>
        </p:txBody>
      </p:sp>
      <p:sp>
        <p:nvSpPr>
          <p:cNvPr id="30" name="Text 28"/>
          <p:cNvSpPr txBox="1"/>
          <p:nvPr/>
        </p:nvSpPr>
        <p:spPr>
          <a:xfrm>
            <a:off x="5943600" y="4434840"/>
            <a:ext cx="1600200" cy="685800"/>
          </a:xfrm>
          <a:prstGeom prst="roundRect">
            <a:avLst>
              <a:gd name="adj" fmla="val 10667"/>
            </a:avLst>
          </a:prstGeom>
          <a:solidFill>
            <a:schemeClr val="bg1"/>
          </a:solidFill>
          <a:ln/>
        </p:spPr>
        <p:txBody>
          <a:bodyPr wrap="square" lIns="635" tIns="635" rIns="635" bIns="635" rtlCol="0" anchor="ctr"/>
          <a:lstStyle/>
          <a:p>
            <a:pPr marL="0" indent="0" algn="ctr">
              <a:buNone/>
            </a:pPr>
            <a:r>
              <a:rPr lang="en-US" sz="1200" b="1" dirty="0">
                <a:solidFill>
                  <a:schemeClr val="tx1"/>
                </a:solidFill>
              </a:rPr>
              <a:t>Input</a:t>
            </a:r>
            <a:endParaRPr lang="en-US" sz="1200" dirty="0"/>
          </a:p>
        </p:txBody>
      </p:sp>
      <p:sp>
        <p:nvSpPr>
          <p:cNvPr id="31" name="Arrow"/>
          <p:cNvSpPr/>
          <p:nvPr/>
        </p:nvSpPr>
        <p:spPr>
          <a:xfrm>
            <a:off x="7557516" y="4677156"/>
            <a:ext cx="201168" cy="201168"/>
          </a:xfrm>
          <a:prstGeom prst="rightArrow">
            <a:avLst/>
          </a:prstGeom>
          <a:solidFill>
            <a:schemeClr val="accent1"/>
          </a:solidFill>
          <a:ln/>
        </p:spPr>
        <p:txBody>
          <a:bodyPr/>
          <a:lstStyle/>
          <a:p>
            <a:endParaRPr lang="en-US"/>
          </a:p>
        </p:txBody>
      </p:sp>
      <p:sp>
        <p:nvSpPr>
          <p:cNvPr id="32" name="Text 30"/>
          <p:cNvSpPr txBox="1"/>
          <p:nvPr/>
        </p:nvSpPr>
        <p:spPr>
          <a:xfrm>
            <a:off x="7772400" y="4434840"/>
            <a:ext cx="1600200" cy="685800"/>
          </a:xfrm>
          <a:prstGeom prst="roundRect">
            <a:avLst>
              <a:gd name="adj" fmla="val 10667"/>
            </a:avLst>
          </a:prstGeom>
          <a:solidFill>
            <a:schemeClr val="accent2"/>
          </a:solidFill>
          <a:ln/>
        </p:spPr>
        <p:txBody>
          <a:bodyPr wrap="square" lIns="635" tIns="635" rIns="635" bIns="635" rtlCol="0" anchor="ctr"/>
          <a:lstStyle/>
          <a:p>
            <a:pPr marL="0" indent="0" algn="ctr">
              <a:buNone/>
            </a:pPr>
            <a:r>
              <a:rPr lang="en-US" sz="1200" b="1" dirty="0">
                <a:solidFill>
                  <a:schemeClr val="tx1"/>
                </a:solidFill>
              </a:rPr>
              <a:t>Preprocessing Pipeline → SVR Model</a:t>
            </a:r>
            <a:endParaRPr lang="en-US" sz="1200" dirty="0"/>
          </a:p>
        </p:txBody>
      </p:sp>
      <p:sp>
        <p:nvSpPr>
          <p:cNvPr id="33" name="Arrow"/>
          <p:cNvSpPr/>
          <p:nvPr/>
        </p:nvSpPr>
        <p:spPr>
          <a:xfrm>
            <a:off x="9386316" y="4677156"/>
            <a:ext cx="201168" cy="201168"/>
          </a:xfrm>
          <a:prstGeom prst="rightArrow">
            <a:avLst/>
          </a:prstGeom>
          <a:solidFill>
            <a:schemeClr val="accent1"/>
          </a:solidFill>
          <a:ln/>
        </p:spPr>
        <p:txBody>
          <a:bodyPr/>
          <a:lstStyle/>
          <a:p>
            <a:endParaRPr lang="en-US"/>
          </a:p>
        </p:txBody>
      </p:sp>
      <p:sp>
        <p:nvSpPr>
          <p:cNvPr id="34" name="Text 32"/>
          <p:cNvSpPr txBox="1"/>
          <p:nvPr/>
        </p:nvSpPr>
        <p:spPr>
          <a:xfrm>
            <a:off x="9601200" y="4434840"/>
            <a:ext cx="1600200" cy="685800"/>
          </a:xfrm>
          <a:prstGeom prst="roundRect">
            <a:avLst>
              <a:gd name="adj" fmla="val 10667"/>
            </a:avLst>
          </a:prstGeom>
          <a:solidFill>
            <a:schemeClr val="bg1"/>
          </a:solidFill>
          <a:ln/>
        </p:spPr>
        <p:txBody>
          <a:bodyPr wrap="square" lIns="635" tIns="635" rIns="635" bIns="635" rtlCol="0" anchor="ctr"/>
          <a:lstStyle/>
          <a:p>
            <a:pPr marL="0" indent="0" algn="ctr">
              <a:buNone/>
            </a:pPr>
            <a:r>
              <a:rPr lang="en-US" sz="1200" b="1" dirty="0">
                <a:solidFill>
                  <a:schemeClr val="tx1"/>
                </a:solidFill>
              </a:rPr>
              <a:t>Prediction (L/100 km)</a:t>
            </a:r>
            <a:endParaRPr lang="en-US" sz="1200" dirty="0"/>
          </a:p>
        </p:txBody>
      </p:sp>
      <p:sp>
        <p:nvSpPr>
          <p:cNvPr id="35" name="Line"/>
          <p:cNvSpPr/>
          <p:nvPr/>
        </p:nvSpPr>
        <p:spPr>
          <a:xfrm>
            <a:off x="4800600" y="5138928"/>
            <a:ext cx="0" cy="438912"/>
          </a:xfrm>
          <a:prstGeom prst="line">
            <a:avLst/>
          </a:prstGeom>
          <a:noFill/>
          <a:ln w="19050">
            <a:solidFill>
              <a:schemeClr val="accent5"/>
            </a:solidFill>
            <a:prstDash val="solid"/>
            <a:tailEnd type="triangle"/>
          </a:ln>
        </p:spPr>
        <p:txBody>
          <a:bodyPr/>
          <a:lstStyle/>
          <a:p>
            <a:endParaRPr lang="en-US"/>
          </a:p>
        </p:txBody>
      </p:sp>
      <p:sp>
        <p:nvSpPr>
          <p:cNvPr id="36" name="Text 34"/>
          <p:cNvSpPr txBox="1"/>
          <p:nvPr/>
        </p:nvSpPr>
        <p:spPr>
          <a:xfrm>
            <a:off x="4114800" y="5577840"/>
            <a:ext cx="1371600" cy="457200"/>
          </a:xfrm>
          <a:prstGeom prst="roundRect">
            <a:avLst>
              <a:gd name="adj" fmla="val 20000"/>
            </a:avLst>
          </a:prstGeom>
          <a:solidFill>
            <a:schemeClr val="accent3"/>
          </a:solidFill>
          <a:ln/>
        </p:spPr>
        <p:txBody>
          <a:bodyPr wrap="square" lIns="0" tIns="0" rIns="0" bIns="0" rtlCol="0" anchor="ctr"/>
          <a:lstStyle/>
          <a:p>
            <a:pPr marL="0" indent="0" algn="ctr">
              <a:buNone/>
            </a:pPr>
            <a:r>
              <a:rPr lang="en-US" sz="1400" b="1" dirty="0">
                <a:solidFill>
                  <a:schemeClr val="bg1"/>
                </a:solidFill>
              </a:rPr>
              <a:t>MongoDB</a:t>
            </a:r>
            <a:endParaRPr lang="en-US" sz="1400" dirty="0"/>
          </a:p>
        </p:txBody>
      </p:sp>
      <p:sp>
        <p:nvSpPr>
          <p:cNvPr id="37" name="Text 35"/>
          <p:cNvSpPr txBox="1"/>
          <p:nvPr/>
        </p:nvSpPr>
        <p:spPr>
          <a:xfrm>
            <a:off x="5943600" y="5577840"/>
            <a:ext cx="5486400" cy="457200"/>
          </a:xfrm>
          <a:prstGeom prst="rect">
            <a:avLst/>
          </a:prstGeom>
          <a:noFill/>
          <a:ln/>
        </p:spPr>
        <p:txBody>
          <a:bodyPr wrap="square" lIns="0" tIns="0" rIns="0" bIns="0" rtlCol="0" anchor="ctr"/>
          <a:lstStyle/>
          <a:p>
            <a:pPr marL="0" indent="0">
              <a:buNone/>
            </a:pPr>
            <a:r>
              <a:rPr lang="en-US" sz="1200" dirty="0">
                <a:solidFill>
                  <a:schemeClr val="accent5"/>
                </a:solidFill>
              </a:rPr>
              <a:t>AI Service trả prediction về Backend → Backend lưu MongoDB → trả kết quả qua Frontend → Người dùng.</a:t>
            </a:r>
            <a:endParaRPr lang="en-US" sz="1200" dirty="0"/>
          </a:p>
        </p:txBody>
      </p:sp>
      <p:sp>
        <p:nvSpPr>
          <p:cNvPr id="3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EyebrowDot"/>
          <p:cNvSpPr/>
          <p:nvPr/>
        </p:nvSpPr>
        <p:spPr>
          <a:xfrm>
            <a:off x="548640" y="393192"/>
            <a:ext cx="128016" cy="128016"/>
          </a:xfrm>
          <a:prstGeom prst="ellipse">
            <a:avLst/>
          </a:prstGeom>
          <a:solidFill>
            <a:schemeClr val="accent2"/>
          </a:solidFill>
          <a:ln/>
        </p:spPr>
        <p:txBody>
          <a:bodyPr/>
          <a:lstStyle/>
          <a:p>
            <a:endParaRPr lang="en-US"/>
          </a:p>
        </p:txBody>
      </p:sp>
      <p:sp>
        <p:nvSpPr>
          <p:cNvPr id="3" name="Text 1"/>
          <p:cNvSpPr txBox="1"/>
          <p:nvPr/>
        </p:nvSpPr>
        <p:spPr>
          <a:xfrm>
            <a:off x="768096" y="310896"/>
            <a:ext cx="8229600" cy="292608"/>
          </a:xfrm>
          <a:prstGeom prst="rect">
            <a:avLst/>
          </a:prstGeom>
          <a:noFill/>
          <a:ln/>
        </p:spPr>
        <p:txBody>
          <a:bodyPr wrap="square" lIns="0" tIns="0" rIns="0" bIns="0" rtlCol="0" anchor="ctr"/>
          <a:lstStyle/>
          <a:p>
            <a:pPr marL="0" indent="0">
              <a:buNone/>
            </a:pPr>
            <a:r>
              <a:rPr lang="en-US" sz="1200" b="1" kern="0" spc="200" dirty="0">
                <a:solidFill>
                  <a:schemeClr val="accent1"/>
                </a:solidFill>
              </a:rPr>
              <a:t>04  ·  KẾT QUẢ VÀ KẾT LUẬN</a:t>
            </a:r>
            <a:endParaRPr lang="en-US" sz="1200" dirty="0"/>
          </a:p>
        </p:txBody>
      </p:sp>
      <p:sp>
        <p:nvSpPr>
          <p:cNvPr id="4" name="Text 1"/>
          <p:cNvSpPr>
            <a:spLocks noGrp="1"/>
          </p:cNvSpPr>
          <p:nvPr>
            <p:ph type="title" idx="101" hasCustomPrompt="1"/>
          </p:nvPr>
        </p:nvSpPr>
        <p:spPr>
          <a:xfrm>
            <a:off x="548640" y="640080"/>
            <a:ext cx="11094415" cy="685800"/>
          </a:xfrm>
          <a:prstGeom prst="rect">
            <a:avLst/>
          </a:prstGeom>
          <a:noFill/>
          <a:ln/>
        </p:spPr>
        <p:txBody>
          <a:bodyPr wrap="square" lIns="0" tIns="0" rIns="0" bIns="0" rtlCol="0" anchor="ctr"/>
          <a:lstStyle/>
          <a:p>
            <a:pPr marL="0" indent="0" algn="l">
              <a:buNone/>
            </a:pPr>
            <a:r>
              <a:rPr lang="en-US" sz="3000" b="1" dirty="0">
                <a:solidFill>
                  <a:schemeClr val="tx1"/>
                </a:solidFill>
              </a:rPr>
              <a:t>Kết luận và hướng phát triển</a:t>
            </a:r>
            <a:endParaRPr lang="en-US" sz="3000" dirty="0"/>
          </a:p>
        </p:txBody>
      </p:sp>
      <p:sp>
        <p:nvSpPr>
          <p:cNvPr id="5" name="ConclusionCard"/>
          <p:cNvSpPr/>
          <p:nvPr/>
        </p:nvSpPr>
        <p:spPr>
          <a:xfrm>
            <a:off x="548640" y="1463040"/>
            <a:ext cx="3931920" cy="4023360"/>
          </a:xfrm>
          <a:prstGeom prst="roundRect">
            <a:avLst>
              <a:gd name="adj" fmla="val 2791"/>
            </a:avLst>
          </a:prstGeom>
          <a:solidFill>
            <a:schemeClr val="tx1"/>
          </a:solidFill>
          <a:ln/>
          <a:effectLst>
            <a:outerShdw blurRad="101600" dist="25400" dir="5400000" algn="bl" rotWithShape="0">
              <a:srgbClr val="0E2A3B">
                <a:alpha val="13000"/>
              </a:srgbClr>
            </a:outerShdw>
          </a:effectLst>
        </p:spPr>
        <p:txBody>
          <a:bodyPr/>
          <a:lstStyle/>
          <a:p>
            <a:endParaRPr lang="en-US"/>
          </a:p>
        </p:txBody>
      </p:sp>
      <p:sp>
        <p:nvSpPr>
          <p:cNvPr id="6" name="IconBg"/>
          <p:cNvSpPr/>
          <p:nvPr/>
        </p:nvSpPr>
        <p:spPr>
          <a:xfrm>
            <a:off x="822960" y="1691640"/>
            <a:ext cx="502920" cy="502920"/>
          </a:xfrm>
          <a:prstGeom prst="ellipse">
            <a:avLst/>
          </a:prstGeom>
          <a:solidFill>
            <a:srgbClr val="F4A62A"/>
          </a:solidFill>
          <a:ln/>
        </p:spPr>
        <p:txBody>
          <a:bodyPr/>
          <a:lstStyle/>
          <a:p>
            <a:endParaRPr lang="en-US"/>
          </a:p>
        </p:txBody>
      </p:sp>
      <p:pic>
        <p:nvPicPr>
          <p:cNvPr id="7" name="Image 0" descr="CheckCircle"/>
          <p:cNvPicPr>
            <a:picLocks noChangeAspect="1"/>
          </p:cNvPicPr>
          <p:nvPr/>
        </p:nvPicPr>
        <p:blipFill>
          <a:blip r:embed="rId3"/>
          <a:stretch>
            <a:fillRect/>
          </a:stretch>
        </p:blipFill>
        <p:spPr>
          <a:xfrm>
            <a:off x="948690" y="1817370"/>
            <a:ext cx="251460" cy="251460"/>
          </a:xfrm>
          <a:prstGeom prst="rect">
            <a:avLst/>
          </a:prstGeom>
        </p:spPr>
      </p:pic>
      <p:sp>
        <p:nvSpPr>
          <p:cNvPr id="8" name="Text 5"/>
          <p:cNvSpPr txBox="1"/>
          <p:nvPr/>
        </p:nvSpPr>
        <p:spPr>
          <a:xfrm>
            <a:off x="1463040" y="1691640"/>
            <a:ext cx="2743200" cy="502920"/>
          </a:xfrm>
          <a:prstGeom prst="rect">
            <a:avLst/>
          </a:prstGeom>
          <a:noFill/>
          <a:ln/>
        </p:spPr>
        <p:txBody>
          <a:bodyPr wrap="square" lIns="0" tIns="0" rIns="0" bIns="0" rtlCol="0" anchor="ctr"/>
          <a:lstStyle/>
          <a:p>
            <a:pPr marL="0" indent="0">
              <a:buNone/>
            </a:pPr>
            <a:r>
              <a:rPr lang="en-US" sz="2000" b="1" dirty="0">
                <a:solidFill>
                  <a:schemeClr val="bg1"/>
                </a:solidFill>
                <a:latin typeface="+mj-lt" pitchFamily="34" charset="0"/>
                <a:ea typeface="+mj-lt" pitchFamily="34" charset="-122"/>
                <a:cs typeface="+mj-lt" pitchFamily="34" charset="-120"/>
              </a:rPr>
              <a:t>Kết luận</a:t>
            </a:r>
            <a:endParaRPr lang="en-US" sz="2000" dirty="0"/>
          </a:p>
        </p:txBody>
      </p:sp>
      <p:sp>
        <p:nvSpPr>
          <p:cNvPr id="9" name="Text 6"/>
          <p:cNvSpPr txBox="1"/>
          <p:nvPr/>
        </p:nvSpPr>
        <p:spPr>
          <a:xfrm>
            <a:off x="822960" y="2377440"/>
            <a:ext cx="3383280" cy="2971800"/>
          </a:xfrm>
          <a:prstGeom prst="rect">
            <a:avLst/>
          </a:prstGeom>
          <a:noFill/>
          <a:ln/>
        </p:spPr>
        <p:txBody>
          <a:bodyPr wrap="square" lIns="0" tIns="0" rIns="0" bIns="0" rtlCol="0" anchor="t"/>
          <a:lstStyle/>
          <a:p>
            <a:pPr marL="0" indent="0">
              <a:spcAft>
                <a:spcPts val="700"/>
              </a:spcAft>
              <a:buNone/>
            </a:pPr>
            <a:r>
              <a:rPr lang="en-US" sz="1400" dirty="0">
                <a:solidFill>
                  <a:schemeClr val="bg1"/>
                </a:solidFill>
              </a:rPr>
              <a:t>Đề tài xây dựng quy trình Machine Learning dự đoán mức tiêu hao nhiên liệu của xe.</a:t>
            </a:r>
            <a:endParaRPr lang="en-US" sz="1400" dirty="0"/>
          </a:p>
          <a:p>
            <a:pPr marL="0" indent="0">
              <a:spcAft>
                <a:spcPts val="700"/>
              </a:spcAft>
              <a:buNone/>
            </a:pPr>
            <a:r>
              <a:rPr lang="en-US" sz="1400" dirty="0">
                <a:solidFill>
                  <a:schemeClr val="bg1"/>
                </a:solidFill>
              </a:rPr>
              <a:t>Qua thực nghiệm trên dataset hiện tại, SVR cho kết quả tốt nhất trong bốn mô hình được thử nghiệm và được chọn để tích hợp vào AI Service.</a:t>
            </a:r>
            <a:endParaRPr lang="en-US" sz="1400" dirty="0"/>
          </a:p>
          <a:p>
            <a:pPr marL="0" indent="0">
              <a:spcAft>
                <a:spcPts val="700"/>
              </a:spcAft>
              <a:buNone/>
            </a:pPr>
            <a:r>
              <a:rPr lang="en-US" sz="1400" dirty="0">
                <a:solidFill>
                  <a:schemeClr val="bg1"/>
                </a:solidFill>
              </a:rPr>
              <a:t>Kết luận chỉ áp dụng cho dữ liệu và thí nghiệm của project, không khẳng định mô hình tốt nhất trong mọi trường hợp.</a:t>
            </a:r>
            <a:endParaRPr lang="en-US" sz="1400" dirty="0"/>
          </a:p>
          <a:p>
            <a:pPr marL="0" indent="0">
              <a:spcAft>
                <a:spcPts val="700"/>
              </a:spcAft>
              <a:buNone/>
            </a:pPr>
            <a:r>
              <a:rPr lang="en-US" sz="1400" dirty="0">
                <a:solidFill>
                  <a:schemeClr val="bg1"/>
                </a:solidFill>
              </a:rPr>
              <a:t>Pipeline giúp thống nhất tiền xử lý và hạn chế Data Leakage.</a:t>
            </a:r>
            <a:endParaRPr lang="en-US" sz="1400" dirty="0"/>
          </a:p>
        </p:txBody>
      </p:sp>
      <p:sp>
        <p:nvSpPr>
          <p:cNvPr id="10" name="LimitCard"/>
          <p:cNvSpPr/>
          <p:nvPr/>
        </p:nvSpPr>
        <p:spPr>
          <a:xfrm>
            <a:off x="4678528" y="1463040"/>
            <a:ext cx="3383280" cy="4023360"/>
          </a:xfrm>
          <a:prstGeom prst="roundRect">
            <a:avLst>
              <a:gd name="adj" fmla="val 324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1" name="IconBg"/>
          <p:cNvSpPr/>
          <p:nvPr/>
        </p:nvSpPr>
        <p:spPr>
          <a:xfrm>
            <a:off x="4952848" y="1691640"/>
            <a:ext cx="502920" cy="502920"/>
          </a:xfrm>
          <a:prstGeom prst="ellipse">
            <a:avLst/>
          </a:prstGeom>
          <a:solidFill>
            <a:srgbClr val="D9532C"/>
          </a:solidFill>
          <a:ln/>
        </p:spPr>
        <p:txBody>
          <a:bodyPr/>
          <a:lstStyle/>
          <a:p>
            <a:endParaRPr lang="en-US"/>
          </a:p>
        </p:txBody>
      </p:sp>
      <p:pic>
        <p:nvPicPr>
          <p:cNvPr id="12" name="Image 1" descr="ExclamationTriangle"/>
          <p:cNvPicPr>
            <a:picLocks noChangeAspect="1"/>
          </p:cNvPicPr>
          <p:nvPr/>
        </p:nvPicPr>
        <p:blipFill>
          <a:blip r:embed="rId4"/>
          <a:stretch>
            <a:fillRect/>
          </a:stretch>
        </p:blipFill>
        <p:spPr>
          <a:xfrm>
            <a:off x="5078578" y="1817370"/>
            <a:ext cx="251460" cy="251460"/>
          </a:xfrm>
          <a:prstGeom prst="rect">
            <a:avLst/>
          </a:prstGeom>
        </p:spPr>
      </p:pic>
      <p:sp>
        <p:nvSpPr>
          <p:cNvPr id="13" name="Text 9"/>
          <p:cNvSpPr txBox="1"/>
          <p:nvPr/>
        </p:nvSpPr>
        <p:spPr>
          <a:xfrm>
            <a:off x="5592928" y="1691640"/>
            <a:ext cx="2286000" cy="502920"/>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Hạn chế</a:t>
            </a:r>
            <a:endParaRPr lang="en-US" sz="2000" dirty="0"/>
          </a:p>
        </p:txBody>
      </p:sp>
      <p:sp>
        <p:nvSpPr>
          <p:cNvPr id="14" name="Text 10"/>
          <p:cNvSpPr txBox="1"/>
          <p:nvPr/>
        </p:nvSpPr>
        <p:spPr>
          <a:xfrm>
            <a:off x="4952848" y="2377440"/>
            <a:ext cx="2834640" cy="2971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2A3B"/>
                </a:solidFill>
              </a:rPr>
              <a:t>Kết quả phụ thuộc vào phạm vi dữ liệu của dataset.</a:t>
            </a:r>
            <a:endParaRPr lang="en-US" sz="1400" dirty="0"/>
          </a:p>
          <a:p>
            <a:pPr marL="342900" indent="-342900">
              <a:spcAft>
                <a:spcPts val="800"/>
              </a:spcAft>
              <a:buSzPct val="100000"/>
              <a:buChar char="•"/>
            </a:pPr>
            <a:r>
              <a:rPr lang="en-US" sz="1400" dirty="0">
                <a:solidFill>
                  <a:srgbClr val="0E2A3B"/>
                </a:solidFill>
              </a:rPr>
              <a:t>Các yếu tố thực tế như điều kiện đường, tải trọng và hành vi lái xe chưa được phản ánh đầy đủ.</a:t>
            </a:r>
            <a:endParaRPr lang="en-US" sz="1400" dirty="0"/>
          </a:p>
          <a:p>
            <a:pPr marL="342900" indent="-342900">
              <a:spcAft>
                <a:spcPts val="800"/>
              </a:spcAft>
              <a:buSzPct val="100000"/>
              <a:buChar char="•"/>
            </a:pPr>
            <a:r>
              <a:rPr lang="en-US" sz="1400" dirty="0">
                <a:solidFill>
                  <a:srgbClr val="0E2A3B"/>
                </a:solidFill>
              </a:rPr>
              <a:t>Mô hình dự đoán dựa trên dữ liệu lịch sử và không thay thế kết quả đo thực tế.</a:t>
            </a:r>
            <a:endParaRPr lang="en-US" sz="1400" dirty="0"/>
          </a:p>
        </p:txBody>
      </p:sp>
      <p:sp>
        <p:nvSpPr>
          <p:cNvPr id="15" name="FutureCard"/>
          <p:cNvSpPr/>
          <p:nvPr/>
        </p:nvSpPr>
        <p:spPr>
          <a:xfrm>
            <a:off x="8259775" y="1463040"/>
            <a:ext cx="3383280" cy="4023360"/>
          </a:xfrm>
          <a:prstGeom prst="roundRect">
            <a:avLst>
              <a:gd name="adj" fmla="val 3243"/>
            </a:avLst>
          </a:prstGeom>
          <a:solidFill>
            <a:schemeClr val="bg1"/>
          </a:solidFill>
          <a:ln/>
          <a:effectLst>
            <a:outerShdw blurRad="101600" dist="25400" dir="5400000" algn="bl" rotWithShape="0">
              <a:srgbClr val="0E2A3B">
                <a:alpha val="13000"/>
              </a:srgbClr>
            </a:outerShdw>
          </a:effectLst>
        </p:spPr>
        <p:txBody>
          <a:bodyPr/>
          <a:lstStyle/>
          <a:p>
            <a:endParaRPr lang="en-US"/>
          </a:p>
        </p:txBody>
      </p:sp>
      <p:sp>
        <p:nvSpPr>
          <p:cNvPr id="16" name="IconBg"/>
          <p:cNvSpPr/>
          <p:nvPr/>
        </p:nvSpPr>
        <p:spPr>
          <a:xfrm>
            <a:off x="8534095" y="1691640"/>
            <a:ext cx="502920" cy="502920"/>
          </a:xfrm>
          <a:prstGeom prst="ellipse">
            <a:avLst/>
          </a:prstGeom>
          <a:solidFill>
            <a:srgbClr val="1E9E8F"/>
          </a:solidFill>
          <a:ln/>
        </p:spPr>
        <p:txBody>
          <a:bodyPr/>
          <a:lstStyle/>
          <a:p>
            <a:endParaRPr lang="en-US"/>
          </a:p>
        </p:txBody>
      </p:sp>
      <p:pic>
        <p:nvPicPr>
          <p:cNvPr id="17" name="Image 2" descr="Lightbulb"/>
          <p:cNvPicPr>
            <a:picLocks noChangeAspect="1"/>
          </p:cNvPicPr>
          <p:nvPr/>
        </p:nvPicPr>
        <p:blipFill>
          <a:blip r:embed="rId5"/>
          <a:stretch>
            <a:fillRect/>
          </a:stretch>
        </p:blipFill>
        <p:spPr>
          <a:xfrm>
            <a:off x="8659825" y="1817370"/>
            <a:ext cx="251460" cy="251460"/>
          </a:xfrm>
          <a:prstGeom prst="rect">
            <a:avLst/>
          </a:prstGeom>
        </p:spPr>
      </p:pic>
      <p:sp>
        <p:nvSpPr>
          <p:cNvPr id="18" name="Text 13"/>
          <p:cNvSpPr txBox="1"/>
          <p:nvPr/>
        </p:nvSpPr>
        <p:spPr>
          <a:xfrm>
            <a:off x="9174175" y="1691640"/>
            <a:ext cx="2377440" cy="502920"/>
          </a:xfrm>
          <a:prstGeom prst="rect">
            <a:avLst/>
          </a:prstGeom>
          <a:noFill/>
          <a:ln/>
        </p:spPr>
        <p:txBody>
          <a:bodyPr wrap="square" lIns="0" tIns="0" rIns="0" bIns="0" rtlCol="0" anchor="ctr"/>
          <a:lstStyle/>
          <a:p>
            <a:pPr marL="0" indent="0">
              <a:buNone/>
            </a:pPr>
            <a:r>
              <a:rPr lang="en-US" sz="2000" b="1" dirty="0">
                <a:solidFill>
                  <a:schemeClr val="tx1"/>
                </a:solidFill>
                <a:latin typeface="+mj-lt" pitchFamily="34" charset="0"/>
                <a:ea typeface="+mj-lt" pitchFamily="34" charset="-122"/>
                <a:cs typeface="+mj-lt" pitchFamily="34" charset="-120"/>
              </a:rPr>
              <a:t>Hướng phát triển</a:t>
            </a:r>
            <a:endParaRPr lang="en-US" sz="2000" dirty="0"/>
          </a:p>
        </p:txBody>
      </p:sp>
      <p:sp>
        <p:nvSpPr>
          <p:cNvPr id="19" name="Text 14"/>
          <p:cNvSpPr txBox="1"/>
          <p:nvPr/>
        </p:nvSpPr>
        <p:spPr>
          <a:xfrm>
            <a:off x="8534095" y="2377440"/>
            <a:ext cx="2834640" cy="2971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E2A3B"/>
                </a:solidFill>
              </a:rPr>
              <a:t>Cập nhật thêm dữ liệu xe mới.</a:t>
            </a:r>
            <a:endParaRPr lang="en-US" sz="1400" dirty="0"/>
          </a:p>
          <a:p>
            <a:pPr marL="342900" indent="-342900">
              <a:spcAft>
                <a:spcPts val="800"/>
              </a:spcAft>
              <a:buSzPct val="100000"/>
              <a:buChar char="•"/>
            </a:pPr>
            <a:r>
              <a:rPr lang="en-US" sz="1400" dirty="0">
                <a:solidFill>
                  <a:srgbClr val="0E2A3B"/>
                </a:solidFill>
              </a:rPr>
              <a:t>Bổ sung thêm các đặc trưng liên quan đến điều kiện vận hành.</a:t>
            </a:r>
            <a:endParaRPr lang="en-US" sz="1400" dirty="0"/>
          </a:p>
          <a:p>
            <a:pPr marL="342900" indent="-342900">
              <a:spcAft>
                <a:spcPts val="800"/>
              </a:spcAft>
              <a:buSzPct val="100000"/>
              <a:buChar char="•"/>
            </a:pPr>
            <a:r>
              <a:rPr lang="en-US" sz="1400" dirty="0">
                <a:solidFill>
                  <a:srgbClr val="0E2A3B"/>
                </a:solidFill>
              </a:rPr>
              <a:t>Thử nghiệm thêm các thuật toán khác.</a:t>
            </a:r>
            <a:endParaRPr lang="en-US" sz="1400" dirty="0"/>
          </a:p>
          <a:p>
            <a:pPr marL="342900" indent="-342900">
              <a:spcAft>
                <a:spcPts val="800"/>
              </a:spcAft>
              <a:buSzPct val="100000"/>
              <a:buChar char="•"/>
            </a:pPr>
            <a:r>
              <a:rPr lang="en-US" sz="1400" dirty="0">
                <a:solidFill>
                  <a:srgbClr val="0E2A3B"/>
                </a:solidFill>
              </a:rPr>
              <a:t>Nghiên cứu Feature Importance hoặc SHAP.</a:t>
            </a:r>
            <a:endParaRPr lang="en-US" sz="1400" dirty="0"/>
          </a:p>
          <a:p>
            <a:pPr marL="342900" indent="-342900">
              <a:spcAft>
                <a:spcPts val="800"/>
              </a:spcAft>
              <a:buSzPct val="100000"/>
              <a:buChar char="•"/>
            </a:pPr>
            <a:r>
              <a:rPr lang="en-US" sz="1400" dirty="0">
                <a:solidFill>
                  <a:srgbClr val="0E2A3B"/>
                </a:solidFill>
              </a:rPr>
              <a:t>Hoàn thiện giao diện và hệ thống lưu lịch sử dự đoán.</a:t>
            </a:r>
            <a:endParaRPr lang="en-US" sz="1400" dirty="0"/>
          </a:p>
        </p:txBody>
      </p:sp>
      <p:sp>
        <p:nvSpPr>
          <p:cNvPr id="20" name="Text 15"/>
          <p:cNvSpPr txBox="1"/>
          <p:nvPr/>
        </p:nvSpPr>
        <p:spPr>
          <a:xfrm>
            <a:off x="548640" y="5669280"/>
            <a:ext cx="11094415" cy="594360"/>
          </a:xfrm>
          <a:prstGeom prst="roundRect">
            <a:avLst>
              <a:gd name="adj" fmla="val 18462"/>
            </a:avLst>
          </a:prstGeom>
          <a:solidFill>
            <a:schemeClr val="accent2"/>
          </a:solidFill>
          <a:ln/>
        </p:spPr>
        <p:txBody>
          <a:bodyPr wrap="square" lIns="0" tIns="0" rIns="0" bIns="0" rtlCol="0" anchor="ctr"/>
          <a:lstStyle/>
          <a:p>
            <a:pPr marL="0" indent="0" algn="ctr">
              <a:buNone/>
            </a:pPr>
            <a:r>
              <a:rPr lang="en-US" sz="1800" b="1" dirty="0">
                <a:solidFill>
                  <a:schemeClr val="tx1"/>
                </a:solidFill>
              </a:rPr>
              <a:t>Xin cảm ơn thầy/cô và các bạn đã lắng nghe.</a:t>
            </a: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E7487"/>
                </a:solidFill>
              </a:defRPr>
            </a:lvl1pPr>
          </a:lstStyle>
          <a:p>
            <a:pPr algn="r"/>
            <a:fld id="{F7021451-1387-4CA6-816F-3879F97B5CBC}" type="slidenum">
              <a:rPr lang="en-US" b="0"/>
              <a:t>19</a:t>
            </a:fld>
            <a:endParaRPr lang="en-US"/>
          </a:p>
        </p:txBody>
      </p:sp>
    </p:spTree>
  </p:cSld>
  <p:clrMapOvr>
    <a:masterClrMapping/>
  </p:clrMapOvr>
</p:sld>
</file>

<file path=ppt/theme/theme1.xml><?xml version="1.0" encoding="utf-8"?>
<a:theme xmlns:a="http://schemas.openxmlformats.org/drawingml/2006/main" name="Fuel Insight">
  <a:themeElements>
    <a:clrScheme name="Fuel Insight">
      <a:dk1>
        <a:srgbClr val="0E2A3B"/>
      </a:dk1>
      <a:lt1>
        <a:srgbClr val="FFFFFF"/>
      </a:lt1>
      <a:dk2>
        <a:srgbClr val="174C6B"/>
      </a:dk2>
      <a:lt2>
        <a:srgbClr val="F1F5F9"/>
      </a:lt2>
      <a:accent1>
        <a:srgbClr val="1F6FA8"/>
      </a:accent1>
      <a:accent2>
        <a:srgbClr val="F4A62A"/>
      </a:accent2>
      <a:accent3>
        <a:srgbClr val="1E9E8F"/>
      </a:accent3>
      <a:accent4>
        <a:srgbClr val="D9532C"/>
      </a:accent4>
      <a:accent5>
        <a:srgbClr val="5E7487"/>
      </a:accent5>
      <a:accent6>
        <a:srgbClr val="A9CCE3"/>
      </a:accent6>
      <a:hlink>
        <a:srgbClr val="1F6FA8"/>
      </a:hlink>
      <a:folHlink>
        <a:srgbClr val="5E7487"/>
      </a:folHlink>
    </a:clrScheme>
    <a:fontScheme name="Fuel Ins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2084</Words>
  <Application>Microsoft Office PowerPoint</Application>
  <PresentationFormat>Widescreen</PresentationFormat>
  <Paragraphs>349</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Fuel Insight</vt:lpstr>
      <vt:lpstr>XÂY DỰNG HỆ THỐNG DỰ ĐOÁN MỨC TIÊU HAO NHIÊN LIỆU CỦA XE</vt:lpstr>
      <vt:lpstr>Giới thiệu đề tài</vt:lpstr>
      <vt:lpstr>Dataset và nguồn dữ liệu</vt:lpstr>
      <vt:lpstr>Phân bố mức tiêu hao nhiên liệu</vt:lpstr>
      <vt:lpstr>Phát hiện giá trị ngoại lai của target</vt:lpstr>
      <vt:lpstr>Kiểm tra giá trị thiếu</vt:lpstr>
      <vt:lpstr>Tiền xử lý dữ liệu</vt:lpstr>
      <vt:lpstr>Số xi-lanh và mức tiêu hao</vt:lpstr>
      <vt:lpstr>Loại nhiên liệu và phân khúc xe</vt:lpstr>
      <vt:lpstr>Ma trận tương quan</vt:lpstr>
      <vt:lpstr>Dung tích động cơ và mức tiêu hao</vt:lpstr>
      <vt:lpstr>Ngăn ngừa data leakage và pipeline</vt:lpstr>
      <vt:lpstr>Linear Regression và Decision Tree Regressor</vt:lpstr>
      <vt:lpstr>KNN Regressor và SVR</vt:lpstr>
      <vt:lpstr>Tinh chỉnh siêu tham số và Cross Validation</vt:lpstr>
      <vt:lpstr>Các metric đánh giá</vt:lpstr>
      <vt:lpstr>Kết quả và so sánh 4 mô hình</vt:lpstr>
      <vt:lpstr>Mô hình được chọn và kiến trúc hệ thống</vt:lpstr>
      <vt:lpstr>Kết luận và hướng phát triển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Xây dựng hệ thống dự đoán mức tiêu hao nhiên liệu của xe</dc:title>
  <dc:subject>PptxGenJS Presentation</dc:subject>
  <dc:creator>PptxGenJS</dc:creator>
  <cp:lastModifiedBy>Phạm Sáng</cp:lastModifiedBy>
  <cp:revision>2</cp:revision>
  <dcterms:created xsi:type="dcterms:W3CDTF">2026-10-02T22:35:49Z</dcterms:created>
  <dcterms:modified xsi:type="dcterms:W3CDTF">2026-10-02T22:42:20Z</dcterms:modified>
</cp:coreProperties>
</file>