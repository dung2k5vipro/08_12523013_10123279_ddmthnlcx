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280160"/>
            <a:ext cx="5394960" cy="4297680"/>
          </a:xfrm>
          <a:prstGeom prst="rect">
            <a:avLst/>
          </a:prstGeom>
          <a:solidFill>
            <a:srgbClr val="F2F6FA"/>
          </a:solidFill>
          <a:ln w="12700">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4663440" cy="2468880"/>
          </a:xfrm>
          <a:prstGeom prst="rect">
            <a:avLst/>
          </a:prstGeom>
          <a:noFill/>
        </p:spPr>
        <p:txBody>
          <a:bodyPr wrap="none">
            <a:spAutoFit/>
          </a:bodyPr>
          <a:lstStyle/>
          <a:p>
            <a:pPr algn="l"/>
            <a:r>
              <a:rPr sz="2600" b="1">
                <a:solidFill>
                  <a:srgbClr val="131921"/>
                </a:solidFill>
                <a:latin typeface="Arial"/>
              </a:rPr>
              <a:t>XÂY DỰNG HỆ THỐNG</a:t>
            </a:r>
            <a:br/>
            <a:r>
              <a:t>DỰ ĐOÁN MỨC TIÊU HAO</a:t>
            </a:r>
            <a:br/>
            <a:r>
              <a:t>NHIÊN LIỆU CỦA XE</a:t>
            </a:r>
          </a:p>
        </p:txBody>
      </p:sp>
      <p:sp>
        <p:nvSpPr>
          <p:cNvPr id="5" name="TextBox 4"/>
          <p:cNvSpPr txBox="1"/>
          <p:nvPr/>
        </p:nvSpPr>
        <p:spPr>
          <a:xfrm>
            <a:off x="1005840" y="4297680"/>
            <a:ext cx="4389120" cy="292608"/>
          </a:xfrm>
          <a:prstGeom prst="rect">
            <a:avLst/>
          </a:prstGeom>
          <a:noFill/>
        </p:spPr>
        <p:txBody>
          <a:bodyPr wrap="none">
            <a:spAutoFit/>
          </a:bodyPr>
          <a:lstStyle/>
          <a:p>
            <a:r>
              <a:rPr sz="1500">
                <a:solidFill>
                  <a:srgbClr val="131921"/>
                </a:solidFill>
                <a:latin typeface="Arial"/>
              </a:rPr>
              <a:t>Môn học: Học máy cơ bản</a:t>
            </a:r>
          </a:p>
        </p:txBody>
      </p:sp>
      <p:sp>
        <p:nvSpPr>
          <p:cNvPr id="6" name="TextBox 5"/>
          <p:cNvSpPr txBox="1"/>
          <p:nvPr/>
        </p:nvSpPr>
        <p:spPr>
          <a:xfrm>
            <a:off x="1005840" y="4681728"/>
            <a:ext cx="4389120" cy="292608"/>
          </a:xfrm>
          <a:prstGeom prst="rect">
            <a:avLst/>
          </a:prstGeom>
          <a:noFill/>
        </p:spPr>
        <p:txBody>
          <a:bodyPr wrap="none">
            <a:spAutoFit/>
          </a:bodyPr>
          <a:lstStyle/>
          <a:p>
            <a:r>
              <a:rPr sz="1500">
                <a:solidFill>
                  <a:srgbClr val="131921"/>
                </a:solidFill>
                <a:latin typeface="Arial"/>
              </a:rPr>
              <a:t>Nhóm sinh viên: [điền thành viên]</a:t>
            </a:r>
          </a:p>
        </p:txBody>
      </p:sp>
      <p:sp>
        <p:nvSpPr>
          <p:cNvPr id="7" name="TextBox 6"/>
          <p:cNvSpPr txBox="1"/>
          <p:nvPr/>
        </p:nvSpPr>
        <p:spPr>
          <a:xfrm>
            <a:off x="1005840" y="5065776"/>
            <a:ext cx="4389120" cy="292608"/>
          </a:xfrm>
          <a:prstGeom prst="rect">
            <a:avLst/>
          </a:prstGeom>
          <a:noFill/>
        </p:spPr>
        <p:txBody>
          <a:bodyPr wrap="none">
            <a:spAutoFit/>
          </a:bodyPr>
          <a:lstStyle/>
          <a:p>
            <a:r>
              <a:rPr sz="1500">
                <a:solidFill>
                  <a:srgbClr val="131921"/>
                </a:solidFill>
                <a:latin typeface="Arial"/>
              </a:rPr>
              <a:t>Giảng viên hướng dẫn: [điền]</a:t>
            </a:r>
          </a:p>
        </p:txBody>
      </p:sp>
      <p:sp>
        <p:nvSpPr>
          <p:cNvPr id="8" name="TextBox 7"/>
          <p:cNvSpPr txBox="1"/>
          <p:nvPr/>
        </p:nvSpPr>
        <p:spPr>
          <a:xfrm>
            <a:off x="1005840" y="5449824"/>
            <a:ext cx="4389120" cy="292608"/>
          </a:xfrm>
          <a:prstGeom prst="rect">
            <a:avLst/>
          </a:prstGeom>
          <a:noFill/>
        </p:spPr>
        <p:txBody>
          <a:bodyPr wrap="none">
            <a:spAutoFit/>
          </a:bodyPr>
          <a:lstStyle/>
          <a:p>
            <a:r>
              <a:rPr sz="1500">
                <a:solidFill>
                  <a:srgbClr val="131921"/>
                </a:solidFill>
                <a:latin typeface="Arial"/>
              </a:rPr>
              <a:t>Lớp: [điền]</a:t>
            </a:r>
          </a:p>
        </p:txBody>
      </p:sp>
      <p:sp>
        <p:nvSpPr>
          <p:cNvPr id="9" name="Rounded Rectangle 8"/>
          <p:cNvSpPr/>
          <p:nvPr/>
        </p:nvSpPr>
        <p:spPr>
          <a:xfrm>
            <a:off x="7680960" y="1645920"/>
            <a:ext cx="3383280" cy="4023360"/>
          </a:xfrm>
          <a:prstGeom prst="round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58200" y="2560320"/>
            <a:ext cx="1828800" cy="1828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69680" y="292608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62288" y="268833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15984" y="301752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08592" y="277977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62288" y="310896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54896" y="287121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308592" y="320040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0" y="296265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4896" y="329184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747504" y="305409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GIỚI THIỆU ĐỀ TÀI</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607040" cy="4480560"/>
          </a:xfrm>
          <a:prstGeom prst="rect">
            <a:avLst/>
          </a:prstGeom>
          <a:noFill/>
        </p:spPr>
        <p:txBody>
          <a:bodyPr wrap="square" lIns="6" rIns="6">
            <a:spAutoFit/>
          </a:bodyPr>
          <a:lstStyle/>
          <a:p>
            <a:pPr algn="l">
              <a:spcAft>
                <a:spcPts val="700"/>
              </a:spcAft>
            </a:pPr>
            <a:r>
              <a:rPr sz="1800">
                <a:solidFill>
                  <a:srgbClr val="131921"/>
                </a:solidFill>
                <a:latin typeface="Arial"/>
              </a:rPr>
              <a:t>Mức tiêu hao nhiên liệu là một thông số quan trọng để đánh giá khả năng sử dụng nhiên liệu của phương tiện.</a:t>
            </a:r>
          </a:p>
          <a:p>
            <a:pPr algn="l">
              <a:spcAft>
                <a:spcPts val="700"/>
              </a:spcAft>
            </a:pPr>
            <a:r>
              <a:rPr sz="1800">
                <a:solidFill>
                  <a:srgbClr val="131921"/>
                </a:solidFill>
                <a:latin typeface="Arial"/>
              </a:rPr>
              <a:t>Mức tiêu hao của một chiếc xe chịu ảnh hưởng bởi nhiều yếu tố như dung tích động cơ, số xi-lanh, loại nhiên liệu, hộp số và phân khúc xe.</a:t>
            </a:r>
          </a:p>
          <a:p>
            <a:pPr algn="l">
              <a:spcAft>
                <a:spcPts val="700"/>
              </a:spcAft>
            </a:pPr>
            <a:r>
              <a:rPr sz="1800">
                <a:solidFill>
                  <a:srgbClr val="131921"/>
                </a:solidFill>
                <a:latin typeface="Arial"/>
              </a:rPr>
              <a:t>Với số lượng lớn mẫu xe khác nhau, việc ước lượng thủ công mức tiêu hao nhiên liệu không đơn giản.</a:t>
            </a:r>
          </a:p>
          <a:p>
            <a:pPr algn="l">
              <a:spcAft>
                <a:spcPts val="700"/>
              </a:spcAft>
            </a:pPr>
            <a:r>
              <a:rPr sz="1800">
                <a:solidFill>
                  <a:srgbClr val="131921"/>
                </a:solidFill>
                <a:latin typeface="Arial"/>
              </a:rPr>
              <a:t>Machine Learning có thể học mối quan hệ giữa các đặc trưng kỹ thuật của xe và lượng nhiên liệu tiêu thụ trong dữ liệu lịch sử.</a:t>
            </a:r>
          </a:p>
          <a:p>
            <a:pPr algn="l">
              <a:spcAft>
                <a:spcPts val="700"/>
              </a:spcAft>
            </a:pPr>
            <a:r>
              <a:rPr sz="1800">
                <a:solidFill>
                  <a:srgbClr val="131921"/>
                </a:solidFill>
                <a:latin typeface="Arial"/>
              </a:rPr>
              <a:t>Trong đề tài này, nhóm xây dựng quy trình từ phân tích dữ liệu, tiền xử lý, huấn luyện nhiều mô hình, đánh giá và lựa chọn mô hình phù hợp để tích hợp vào hệ thống dự đoán.</a:t>
            </a:r>
          </a:p>
          <a:p>
            <a:pPr algn="l">
              <a:spcAft>
                <a:spcPts val="700"/>
              </a:spcAft>
            </a:pPr>
            <a:r>
              <a:rPr sz="1800">
                <a:solidFill>
                  <a:srgbClr val="131921"/>
                </a:solidFill>
                <a:latin typeface="Arial"/>
              </a:rPr>
              <a:t>Kết quả dự đoán được biểu diễn theo đơn vị L/100 km.</a:t>
            </a:r>
          </a:p>
        </p:txBody>
      </p:sp>
      <p:sp>
        <p:nvSpPr>
          <p:cNvPr id="5" name="TextBox 4"/>
          <p:cNvSpPr txBox="1"/>
          <p:nvPr/>
        </p:nvSpPr>
        <p:spPr>
          <a:xfrm>
            <a:off x="11384280" y="6446520"/>
            <a:ext cx="548640" cy="228600"/>
          </a:xfrm>
          <a:prstGeom prst="rect">
            <a:avLst/>
          </a:prstGeom>
          <a:noFill/>
        </p:spPr>
        <p:txBody>
          <a:bodyPr wrap="none">
            <a:spAutoFit/>
          </a:bodyPr>
          <a:lstStyle/>
          <a:p>
            <a:pPr algn="r"/>
            <a:r>
              <a:rPr sz="900" b="1">
                <a:solidFill>
                  <a:srgbClr val="545D6B"/>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DATASET VÀ NGUỒN DỮ LIỆU</a:t>
            </a:r>
          </a:p>
        </p:txBody>
      </p:sp>
      <p:sp>
        <p:nvSpPr>
          <p:cNvPr id="3" name="TextBox 2"/>
          <p:cNvSpPr txBox="1"/>
          <p:nvPr/>
        </p:nvSpPr>
        <p:spPr>
          <a:xfrm>
            <a:off x="640080" y="868680"/>
            <a:ext cx="7315200" cy="320040"/>
          </a:xfrm>
          <a:prstGeom prst="rect">
            <a:avLst/>
          </a:prstGeom>
          <a:noFill/>
        </p:spPr>
        <p:txBody>
          <a:bodyPr wrap="none">
            <a:spAutoFit/>
          </a:bodyPr>
          <a:lstStyle/>
          <a:p>
            <a:r>
              <a:rPr sz="1000">
                <a:solidFill>
                  <a:srgbClr val="545D6B"/>
                </a:solidFill>
                <a:latin typeface="Arial"/>
              </a:rPr>
              <a:t>MY1995–2023 Fuel Consumption Ratings</a:t>
            </a:r>
          </a:p>
        </p:txBody>
      </p:sp>
      <p:sp>
        <p:nvSpPr>
          <p:cNvPr id="4" name="Rectangle 3"/>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6583680" cy="3017520"/>
          </a:xfrm>
          <a:prstGeom prst="rect">
            <a:avLst/>
          </a:prstGeom>
          <a:noFill/>
        </p:spPr>
        <p:txBody>
          <a:bodyPr wrap="square" lIns="6" rIns="6">
            <a:spAutoFit/>
          </a:bodyPr>
          <a:lstStyle/>
          <a:p>
            <a:pPr algn="l">
              <a:spcAft>
                <a:spcPts val="700"/>
              </a:spcAft>
            </a:pPr>
            <a:r>
              <a:rPr sz="1700">
                <a:solidFill>
                  <a:srgbClr val="131921"/>
                </a:solidFill>
                <a:latin typeface="Arial"/>
              </a:rPr>
              <a:t>Dataset được sử dụng là MY1995–2023 Fuel Consumption Ratings.</a:t>
            </a:r>
          </a:p>
          <a:p>
            <a:pPr algn="l">
              <a:spcAft>
                <a:spcPts val="700"/>
              </a:spcAft>
            </a:pPr>
            <a:r>
              <a:rPr sz="1700">
                <a:solidFill>
                  <a:srgbClr val="131921"/>
                </a:solidFill>
                <a:latin typeface="Arial"/>
              </a:rPr>
              <a:t>Nguồn dữ liệu: Kaggle.</a:t>
            </a:r>
          </a:p>
          <a:p>
            <a:pPr algn="l">
              <a:spcAft>
                <a:spcPts val="700"/>
              </a:spcAft>
            </a:pPr>
            <a:r>
              <a:rPr sz="1700">
                <a:solidFill>
                  <a:srgbClr val="131921"/>
                </a:solidFill>
                <a:latin typeface="Arial"/>
              </a:rPr>
              <a:t>Dữ liệu chứa thông tin các mẫu xe trong nhiều năm sản xuất.</a:t>
            </a:r>
          </a:p>
          <a:p>
            <a:pPr algn="l">
              <a:spcAft>
                <a:spcPts val="700"/>
              </a:spcAft>
            </a:pPr>
            <a:r>
              <a:rPr sz="1700">
                <a:solidFill>
                  <a:srgbClr val="131921"/>
                </a:solidFill>
                <a:latin typeface="Arial"/>
              </a:rPr>
              <a:t>Các thuộc tính gồm năm sản xuất, hãng xe, phân khúc xe, dung tích động cơ, số xi-lanh, hộp số và loại nhiên liệu.</a:t>
            </a:r>
          </a:p>
          <a:p>
            <a:pPr algn="l">
              <a:spcAft>
                <a:spcPts val="700"/>
              </a:spcAft>
            </a:pPr>
            <a:r>
              <a:rPr sz="1700">
                <a:solidFill>
                  <a:srgbClr val="131921"/>
                </a:solidFill>
                <a:latin typeface="Arial"/>
              </a:rPr>
              <a:t>Biến mục tiêu của bài toán là Fuel Consumption Comb (L/100 km).</a:t>
            </a:r>
          </a:p>
          <a:p>
            <a:pPr algn="l">
              <a:spcAft>
                <a:spcPts val="700"/>
              </a:spcAft>
            </a:pPr>
            <a:r>
              <a:rPr sz="1700">
                <a:solidFill>
                  <a:srgbClr val="131921"/>
                </a:solidFill>
                <a:latin typeface="Arial"/>
              </a:rPr>
              <a:t>Đây là bài toán Regression vì giá trị cần dự đoán là một số liên tục.</a:t>
            </a:r>
          </a:p>
        </p:txBody>
      </p:sp>
      <p:graphicFrame>
        <p:nvGraphicFramePr>
          <p:cNvPr id="6" name="Table 5"/>
          <p:cNvGraphicFramePr>
            <a:graphicFrameLocks noGrp="1"/>
          </p:cNvGraphicFramePr>
          <p:nvPr/>
        </p:nvGraphicFramePr>
        <p:xfrm>
          <a:off x="7955279" y="1645920"/>
          <a:ext cx="3474720" cy="2560320"/>
        </p:xfrm>
        <a:graphic>
          <a:graphicData uri="http://schemas.openxmlformats.org/drawingml/2006/table">
            <a:tbl>
              <a:tblPr firstRow="1" bandRow="1">
                <a:tableStyleId>{5C22544A-7EE6-4342-B048-85BDC9FD1C3A}</a:tableStyleId>
              </a:tblPr>
              <a:tblGrid>
                <a:gridCol w="1737360"/>
                <a:gridCol w="1737360"/>
              </a:tblGrid>
              <a:tr h="365760">
                <a:tc>
                  <a:txBody>
                    <a:bodyPr/>
                    <a:lstStyle/>
                    <a:p>
                      <a:r>
                        <a:rPr sz="1200" b="1">
                          <a:solidFill>
                            <a:srgbClr val="131921"/>
                          </a:solidFill>
                        </a:rPr>
                        <a:t>Thành phần</a:t>
                      </a:r>
                    </a:p>
                  </a:txBody>
                  <a:tcPr/>
                </a:tc>
                <a:tc>
                  <a:txBody>
                    <a:bodyPr/>
                    <a:lstStyle/>
                    <a:p>
                      <a:r>
                        <a:rPr sz="1200" b="1">
                          <a:solidFill>
                            <a:srgbClr val="131921"/>
                          </a:solidFill>
                        </a:rPr>
                        <a:t>Nội dung</a:t>
                      </a:r>
                    </a:p>
                  </a:txBody>
                  <a:tcPr/>
                </a:tc>
              </a:tr>
              <a:tr h="365760">
                <a:tc>
                  <a:txBody>
                    <a:bodyPr/>
                    <a:lstStyle/>
                    <a:p>
                      <a:r>
                        <a:rPr sz="1100">
                          <a:solidFill>
                            <a:srgbClr val="131921"/>
                          </a:solidFill>
                        </a:rPr>
                        <a:t>Số mẫu</a:t>
                      </a:r>
                    </a:p>
                  </a:txBody>
                  <a:tcPr/>
                </a:tc>
                <a:tc>
                  <a:txBody>
                    <a:bodyPr/>
                    <a:lstStyle/>
                    <a:p>
                      <a:r>
                        <a:rPr sz="1100">
                          <a:solidFill>
                            <a:srgbClr val="131921"/>
                          </a:solidFill>
                        </a:rPr>
                        <a:t>[điền thực tế]</a:t>
                      </a:r>
                    </a:p>
                  </a:txBody>
                  <a:tcPr/>
                </a:tc>
              </a:tr>
              <a:tr h="365760">
                <a:tc>
                  <a:txBody>
                    <a:bodyPr/>
                    <a:lstStyle/>
                    <a:p>
                      <a:r>
                        <a:rPr sz="1100">
                          <a:solidFill>
                            <a:srgbClr val="131921"/>
                          </a:solidFill>
                        </a:rPr>
                        <a:t>Số cột</a:t>
                      </a:r>
                    </a:p>
                  </a:txBody>
                  <a:tcPr/>
                </a:tc>
                <a:tc>
                  <a:txBody>
                    <a:bodyPr/>
                    <a:lstStyle/>
                    <a:p>
                      <a:r>
                        <a:rPr sz="1100">
                          <a:solidFill>
                            <a:srgbClr val="131921"/>
                          </a:solidFill>
                        </a:rPr>
                        <a:t>[điền thực tế]</a:t>
                      </a:r>
                    </a:p>
                  </a:txBody>
                  <a:tcPr/>
                </a:tc>
              </a:tr>
              <a:tr h="365760">
                <a:tc>
                  <a:txBody>
                    <a:bodyPr/>
                    <a:lstStyle/>
                    <a:p>
                      <a:r>
                        <a:rPr sz="1100">
                          <a:solidFill>
                            <a:srgbClr val="131921"/>
                          </a:solidFill>
                        </a:rPr>
                        <a:t>Loại bài toán</a:t>
                      </a:r>
                    </a:p>
                  </a:txBody>
                  <a:tcPr/>
                </a:tc>
                <a:tc>
                  <a:txBody>
                    <a:bodyPr/>
                    <a:lstStyle/>
                    <a:p>
                      <a:r>
                        <a:rPr sz="1100">
                          <a:solidFill>
                            <a:srgbClr val="131921"/>
                          </a:solidFill>
                        </a:rPr>
                        <a:t>Regression</a:t>
                      </a:r>
                    </a:p>
                  </a:txBody>
                  <a:tcPr/>
                </a:tc>
              </a:tr>
              <a:tr h="365760">
                <a:tc>
                  <a:txBody>
                    <a:bodyPr/>
                    <a:lstStyle/>
                    <a:p>
                      <a:r>
                        <a:rPr sz="1100">
                          <a:solidFill>
                            <a:srgbClr val="131921"/>
                          </a:solidFill>
                        </a:rPr>
                        <a:t>Target</a:t>
                      </a:r>
                    </a:p>
                  </a:txBody>
                  <a:tcPr/>
                </a:tc>
                <a:tc>
                  <a:txBody>
                    <a:bodyPr/>
                    <a:lstStyle/>
                    <a:p>
                      <a:r>
                        <a:rPr sz="1100">
                          <a:solidFill>
                            <a:srgbClr val="131921"/>
                          </a:solidFill>
                        </a:rPr>
                        <a:t>Fuel Consumption Comb</a:t>
                      </a:r>
                    </a:p>
                  </a:txBody>
                  <a:tcPr/>
                </a:tc>
              </a:tr>
              <a:tr h="365760">
                <a:tc>
                  <a:txBody>
                    <a:bodyPr/>
                    <a:lstStyle/>
                    <a:p>
                      <a:r>
                        <a:rPr sz="1100">
                          <a:solidFill>
                            <a:srgbClr val="131921"/>
                          </a:solidFill>
                        </a:rPr>
                        <a:t>Đơn vị</a:t>
                      </a:r>
                    </a:p>
                  </a:txBody>
                  <a:tcPr/>
                </a:tc>
                <a:tc>
                  <a:txBody>
                    <a:bodyPr/>
                    <a:lstStyle/>
                    <a:p>
                      <a:r>
                        <a:rPr sz="1100">
                          <a:solidFill>
                            <a:srgbClr val="131921"/>
                          </a:solidFill>
                        </a:rPr>
                        <a:t>L/100 km</a:t>
                      </a:r>
                    </a:p>
                  </a:txBody>
                  <a:tcPr/>
                </a:tc>
              </a:tr>
              <a:tr h="365760">
                <a:tc>
                  <a:txBody>
                    <a:bodyPr/>
                    <a:lstStyle/>
                    <a:p>
                      <a:r>
                        <a:rPr sz="1100">
                          <a:solidFill>
                            <a:srgbClr val="131921"/>
                          </a:solidFill>
                        </a:rPr>
                        <a:t>Nguồn</a:t>
                      </a:r>
                    </a:p>
                  </a:txBody>
                  <a:tcPr/>
                </a:tc>
                <a:tc>
                  <a:txBody>
                    <a:bodyPr/>
                    <a:lstStyle/>
                    <a:p>
                      <a:r>
                        <a:rPr sz="1100">
                          <a:solidFill>
                            <a:srgbClr val="131921"/>
                          </a:solidFill>
                        </a:rPr>
                        <a:t>Kaggle</a:t>
                      </a:r>
                    </a:p>
                  </a:txBody>
                  <a:tcPr/>
                </a:tc>
              </a:tr>
            </a:tbl>
          </a:graphicData>
        </a:graphic>
      </p:graphicFrame>
      <p:sp>
        <p:nvSpPr>
          <p:cNvPr id="7" name="TextBox 6"/>
          <p:cNvSpPr txBox="1"/>
          <p:nvPr/>
        </p:nvSpPr>
        <p:spPr>
          <a:xfrm>
            <a:off x="8046720" y="4480560"/>
            <a:ext cx="3383280" cy="274320"/>
          </a:xfrm>
          <a:prstGeom prst="rect">
            <a:avLst/>
          </a:prstGeom>
          <a:noFill/>
        </p:spPr>
        <p:txBody>
          <a:bodyPr wrap="none">
            <a:spAutoFit/>
          </a:bodyPr>
          <a:lstStyle/>
          <a:p>
            <a:r>
              <a:rPr sz="1000">
                <a:solidFill>
                  <a:srgbClr val="545D6B"/>
                </a:solidFill>
              </a:rPr>
              <a:t>Nguồn: Kaggle – MY1995–2023 Fuel Consumption Ratings</a:t>
            </a:r>
          </a:p>
        </p:txBody>
      </p:sp>
      <p:sp>
        <p:nvSpPr>
          <p:cNvPr id="8" name="TextBox 7"/>
          <p:cNvSpPr txBox="1"/>
          <p:nvPr/>
        </p:nvSpPr>
        <p:spPr>
          <a:xfrm>
            <a:off x="11384280" y="6446520"/>
            <a:ext cx="548640" cy="228600"/>
          </a:xfrm>
          <a:prstGeom prst="rect">
            <a:avLst/>
          </a:prstGeom>
          <a:noFill/>
        </p:spPr>
        <p:txBody>
          <a:bodyPr wrap="none">
            <a:spAutoFit/>
          </a:bodyPr>
          <a:lstStyle/>
          <a:p>
            <a:pPr algn="r"/>
            <a:r>
              <a:rPr sz="900" b="1">
                <a:solidFill>
                  <a:srgbClr val="545D6B"/>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PHÂN BỐ MỨC TIÊU HAO NHIÊN LIỆU</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_distribution.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Biểu đồ cho thấy cách các giá trị mức tiêu hao nhiên liệu phân bố trong toàn bộ dataset.</a:t>
            </a:r>
          </a:p>
          <a:p>
            <a:pPr algn="l">
              <a:spcAft>
                <a:spcPts val="700"/>
              </a:spcAft>
            </a:pPr>
            <a:r>
              <a:rPr sz="1500">
                <a:solidFill>
                  <a:srgbClr val="131921"/>
                </a:solidFill>
                <a:latin typeface="Arial"/>
              </a:rPr>
              <a:t>Có thể xác định khoảng tiêu hao xuất hiện phổ biến nhất và các vùng có ít mẫu hơn.</a:t>
            </a:r>
          </a:p>
          <a:p>
            <a:pPr algn="l">
              <a:spcAft>
                <a:spcPts val="700"/>
              </a:spcAft>
            </a:pPr>
            <a:r>
              <a:rPr sz="1500">
                <a:solidFill>
                  <a:srgbClr val="131921"/>
                </a:solidFill>
                <a:latin typeface="Arial"/>
              </a:rPr>
              <a:t>Biểu đồ cũng giúp phát hiện phân bố lệch hoặc những giá trị nằm xa phần lớn dữ liệu.</a:t>
            </a:r>
          </a:p>
          <a:p>
            <a:pPr algn="l">
              <a:spcAft>
                <a:spcPts val="700"/>
              </a:spcAft>
            </a:pPr>
            <a:r>
              <a:rPr sz="1500">
                <a:solidFill>
                  <a:srgbClr val="131921"/>
                </a:solidFill>
                <a:latin typeface="Arial"/>
              </a:rPr>
              <a:t>Đây là cơ sở để hiểu đặc điểm của biến mục tiêu trước khi huấn luyện mô hình.</a:t>
            </a:r>
          </a:p>
        </p:txBody>
      </p:sp>
      <p:sp>
        <p:nvSpPr>
          <p:cNvPr id="6" name="TextBox 5"/>
          <p:cNvSpPr txBox="1"/>
          <p:nvPr/>
        </p:nvSpPr>
        <p:spPr>
          <a:xfrm>
            <a:off x="731520" y="6126480"/>
            <a:ext cx="6766560" cy="228600"/>
          </a:xfrm>
          <a:prstGeom prst="rect">
            <a:avLst/>
          </a:prstGeom>
          <a:noFill/>
        </p:spPr>
        <p:txBody>
          <a:bodyPr wrap="none">
            <a:spAutoFit/>
          </a:bodyPr>
          <a:lstStyle/>
          <a:p>
            <a:r>
              <a:rPr sz="1000">
                <a:solidFill>
                  <a:srgbClr val="545D6B"/>
                </a:solidFill>
              </a:rPr>
              <a:t>Biểu đồ: Histogram của Fuel Consumption Comb (L/100 km)</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PHÁT HIỆN GIÁ TRỊ NGOẠI LAI CỦA TARGET</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_boxplot.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Boxplot giúp quan sát trung vị, khoảng phân bố chính và các giá trị nằm ngoài phạm vi phổ biến.</a:t>
            </a:r>
          </a:p>
          <a:p>
            <a:pPr algn="l">
              <a:spcAft>
                <a:spcPts val="700"/>
              </a:spcAft>
            </a:pPr>
            <a:r>
              <a:rPr sz="1500">
                <a:solidFill>
                  <a:srgbClr val="131921"/>
                </a:solidFill>
                <a:latin typeface="Arial"/>
              </a:rPr>
              <a:t>Một số xe có thể có mức tiêu hao nhiên liệu cao hoặc thấp hơn đáng kể so với phần lớn dataset.</a:t>
            </a:r>
          </a:p>
          <a:p>
            <a:pPr algn="l">
              <a:spcAft>
                <a:spcPts val="700"/>
              </a:spcAft>
            </a:pPr>
            <a:r>
              <a:rPr sz="1500">
                <a:solidFill>
                  <a:srgbClr val="131921"/>
                </a:solidFill>
                <a:latin typeface="Arial"/>
              </a:rPr>
              <a:t>Không nên tự động xóa toàn bộ các điểm ngoại lai vì một số giá trị vẫn có thể đại diện cho những loại xe thực tế.</a:t>
            </a:r>
          </a:p>
          <a:p>
            <a:pPr algn="l">
              <a:spcAft>
                <a:spcPts val="700"/>
              </a:spcAft>
            </a:pPr>
            <a:r>
              <a:rPr sz="1500">
                <a:solidFill>
                  <a:srgbClr val="131921"/>
                </a:solidFill>
                <a:latin typeface="Arial"/>
              </a:rPr>
              <a:t>Việc xử lý outlier cần dựa trên ý nghĩa thực tế của dữ liệu.</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KIỂM TRA GIÁ TRỊ THIẾU</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issing_values.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Biểu đồ cho biết số lượng hoặc tỷ lệ missing value của từng thuộc tính.</a:t>
            </a:r>
          </a:p>
          <a:p>
            <a:pPr algn="l">
              <a:spcAft>
                <a:spcPts val="700"/>
              </a:spcAft>
            </a:pPr>
            <a:r>
              <a:rPr sz="1500">
                <a:solidFill>
                  <a:srgbClr val="131921"/>
                </a:solidFill>
                <a:latin typeface="Arial"/>
              </a:rPr>
              <a:t>Việc kiểm tra missing value được thực hiện trước khi xây dựng pipeline tiền xử lý.</a:t>
            </a:r>
          </a:p>
          <a:p>
            <a:pPr algn="l">
              <a:spcAft>
                <a:spcPts val="700"/>
              </a:spcAft>
            </a:pPr>
            <a:r>
              <a:rPr sz="1500">
                <a:solidFill>
                  <a:srgbClr val="131921"/>
                </a:solidFill>
                <a:latin typeface="Arial"/>
              </a:rPr>
              <a:t>Đối với biến số, có thể sử dụng giá trị trung vị nếu cần thay thế dữ liệu thiếu.</a:t>
            </a:r>
          </a:p>
          <a:p>
            <a:pPr algn="l">
              <a:spcAft>
                <a:spcPts val="700"/>
              </a:spcAft>
            </a:pPr>
            <a:r>
              <a:rPr sz="1500">
                <a:solidFill>
                  <a:srgbClr val="131921"/>
                </a:solidFill>
                <a:latin typeface="Arial"/>
              </a:rPr>
              <a:t>Đối với biến phân loại, có thể sử dụng giá trị xuất hiện thường xuyên nhất.</a:t>
            </a:r>
          </a:p>
          <a:p>
            <a:pPr algn="l">
              <a:spcAft>
                <a:spcPts val="700"/>
              </a:spcAft>
            </a:pPr>
            <a:r>
              <a:rPr sz="1500">
                <a:solidFill>
                  <a:srgbClr val="131921"/>
                </a:solidFill>
                <a:latin typeface="Arial"/>
              </a:rPr>
              <a:t>Nếu dữ liệu thực tế không có missing value thì cần ghi rõ kết quả này trên slide.</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DUNG TÍCH ĐỘNG CƠ VÀ MỨC TIÊU HAO</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ngine_size_vs_target.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Biểu đồ được sử dụng để quan sát mối quan hệ giữa dung tích động cơ và mức tiêu hao nhiên liệu.</a:t>
            </a:r>
          </a:p>
          <a:p>
            <a:pPr algn="l">
              <a:spcAft>
                <a:spcPts val="700"/>
              </a:spcAft>
            </a:pPr>
            <a:r>
              <a:rPr sz="1500">
                <a:solidFill>
                  <a:srgbClr val="131921"/>
                </a:solidFill>
                <a:latin typeface="Arial"/>
              </a:rPr>
              <a:t>Dựa trên dữ liệu thực tế, trình bày xu hướng mức tiêu hao thay đổi khi dung tích động cơ tăng.</a:t>
            </a:r>
          </a:p>
          <a:p>
            <a:pPr algn="l">
              <a:spcAft>
                <a:spcPts val="700"/>
              </a:spcAft>
            </a:pPr>
            <a:r>
              <a:rPr sz="1500">
                <a:solidFill>
                  <a:srgbClr val="131921"/>
                </a:solidFill>
                <a:latin typeface="Arial"/>
              </a:rPr>
              <a:t>Các điểm dữ liệu không nằm hoàn toàn trên một đường thẳng, cho thấy mức tiêu hao còn chịu tác động của nhiều đặc trưng khác.</a:t>
            </a:r>
          </a:p>
          <a:p>
            <a:pPr algn="l">
              <a:spcAft>
                <a:spcPts val="700"/>
              </a:spcAft>
            </a:pPr>
            <a:r>
              <a:rPr sz="1500">
                <a:solidFill>
                  <a:srgbClr val="131921"/>
                </a:solidFill>
                <a:latin typeface="Arial"/>
              </a:rPr>
              <a:t>Engine Size vì vậy là một đặc trưng quan trọng nhưng không thể sử dụng riêng để dự đoán chính xác.</a:t>
            </a:r>
          </a:p>
        </p:txBody>
      </p:sp>
      <p:sp>
        <p:nvSpPr>
          <p:cNvPr id="6" name="TextBox 5"/>
          <p:cNvSpPr txBox="1"/>
          <p:nvPr/>
        </p:nvSpPr>
        <p:spPr>
          <a:xfrm>
            <a:off x="731520" y="6126480"/>
            <a:ext cx="6766560" cy="228600"/>
          </a:xfrm>
          <a:prstGeom prst="rect">
            <a:avLst/>
          </a:prstGeom>
          <a:noFill/>
        </p:spPr>
        <p:txBody>
          <a:bodyPr wrap="none">
            <a:spAutoFit/>
          </a:bodyPr>
          <a:lstStyle/>
          <a:p>
            <a:r>
              <a:rPr sz="1000">
                <a:solidFill>
                  <a:srgbClr val="545D6B"/>
                </a:solidFill>
              </a:rPr>
              <a:t>Trục X: Engine Size (L)    Trục Y: Fuel Consumption Comb (L/100 km)</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SỐ XI-LANH VÀ MỨC TIÊU HAO</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ylinders_vs_target.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Biểu đồ so sánh mức tiêu hao nhiên liệu giữa các nhóm xe có số xi-lanh khác nhau.</a:t>
            </a:r>
          </a:p>
          <a:p>
            <a:pPr algn="l">
              <a:spcAft>
                <a:spcPts val="700"/>
              </a:spcAft>
            </a:pPr>
            <a:r>
              <a:rPr sz="1500">
                <a:solidFill>
                  <a:srgbClr val="131921"/>
                </a:solidFill>
                <a:latin typeface="Arial"/>
              </a:rPr>
              <a:t>Qua biểu đồ có thể quan sát sự khác biệt về phân bố mức tiêu hao giữa từng nhóm xi-lanh.</a:t>
            </a:r>
          </a:p>
          <a:p>
            <a:pPr algn="l">
              <a:spcAft>
                <a:spcPts val="700"/>
              </a:spcAft>
            </a:pPr>
            <a:r>
              <a:rPr sz="1500">
                <a:solidFill>
                  <a:srgbClr val="131921"/>
                </a:solidFill>
                <a:latin typeface="Arial"/>
              </a:rPr>
              <a:t>Số xi-lanh có liên quan đến đặc điểm động cơ và khả năng tiêu thụ nhiên liệu của xe.</a:t>
            </a:r>
          </a:p>
          <a:p>
            <a:pPr algn="l">
              <a:spcAft>
                <a:spcPts val="700"/>
              </a:spcAft>
            </a:pPr>
            <a:r>
              <a:rPr sz="1500">
                <a:solidFill>
                  <a:srgbClr val="131921"/>
                </a:solidFill>
                <a:latin typeface="Arial"/>
              </a:rPr>
              <a:t>Tuy nhiên các nhóm vẫn có thể chồng lấn vì mức tiêu hao còn phụ thuộc vào dung tích động cơ, hộp số, loại xe và nhiên liệu.</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LOẠI NHIÊN LIỆU VÀ PHÂN KHÚC XE</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el_type_vs_target.png"/>
          <p:cNvPicPr>
            <a:picLocks noChangeAspect="1"/>
          </p:cNvPicPr>
          <p:nvPr/>
        </p:nvPicPr>
        <p:blipFill>
          <a:blip r:embed="rId2"/>
          <a:stretch>
            <a:fillRect/>
          </a:stretch>
        </p:blipFill>
        <p:spPr>
          <a:xfrm>
            <a:off x="640080" y="1554480"/>
            <a:ext cx="4937760" cy="3931920"/>
          </a:xfrm>
          <a:prstGeom prst="rect">
            <a:avLst/>
          </a:prstGeom>
        </p:spPr>
      </p:pic>
      <p:pic>
        <p:nvPicPr>
          <p:cNvPr id="5" name="Picture 4" descr="vehicle_class_vs_target.png"/>
          <p:cNvPicPr>
            <a:picLocks noChangeAspect="1"/>
          </p:cNvPicPr>
          <p:nvPr/>
        </p:nvPicPr>
        <p:blipFill>
          <a:blip r:embed="rId3"/>
          <a:stretch>
            <a:fillRect/>
          </a:stretch>
        </p:blipFill>
        <p:spPr>
          <a:xfrm>
            <a:off x="6035040" y="1554480"/>
            <a:ext cx="5303520" cy="3931920"/>
          </a:xfrm>
          <a:prstGeom prst="rect">
            <a:avLst/>
          </a:prstGeom>
        </p:spPr>
      </p:pic>
      <p:sp>
        <p:nvSpPr>
          <p:cNvPr id="6" name="TextBox 5"/>
          <p:cNvSpPr txBox="1"/>
          <p:nvPr/>
        </p:nvSpPr>
        <p:spPr>
          <a:xfrm>
            <a:off x="731520" y="5577840"/>
            <a:ext cx="10698480" cy="731520"/>
          </a:xfrm>
          <a:prstGeom prst="rect">
            <a:avLst/>
          </a:prstGeom>
          <a:noFill/>
        </p:spPr>
        <p:txBody>
          <a:bodyPr wrap="square" lIns="6" rIns="6">
            <a:spAutoFit/>
          </a:bodyPr>
          <a:lstStyle/>
          <a:p>
            <a:pPr algn="l">
              <a:spcAft>
                <a:spcPts val="700"/>
              </a:spcAft>
            </a:pPr>
            <a:r>
              <a:rPr sz="1400">
                <a:solidFill>
                  <a:srgbClr val="131921"/>
                </a:solidFill>
                <a:latin typeface="Arial"/>
              </a:rPr>
              <a:t>Fuel Type giúp quan sát sự khác biệt mức tiêu hao giữa các loại nhiên liệu.</a:t>
            </a:r>
          </a:p>
          <a:p>
            <a:pPr algn="l">
              <a:spcAft>
                <a:spcPts val="700"/>
              </a:spcAft>
            </a:pPr>
            <a:r>
              <a:rPr sz="1400">
                <a:solidFill>
                  <a:srgbClr val="131921"/>
                </a:solidFill>
                <a:latin typeface="Arial"/>
              </a:rPr>
              <a:t>Vehicle Class cho thấy mức tiêu hao thay đổi giữa các nhóm xe như xe nhỏ, SUV, pickup hoặc các phân khúc khác có trong dataset.</a:t>
            </a:r>
          </a:p>
          <a:p>
            <a:pPr algn="l">
              <a:spcAft>
                <a:spcPts val="700"/>
              </a:spcAft>
            </a:pPr>
            <a:r>
              <a:rPr sz="1400">
                <a:solidFill>
                  <a:srgbClr val="131921"/>
                </a:solidFill>
                <a:latin typeface="Arial"/>
              </a:rPr>
              <a:t>Hai đặc trưng này đều là biến phân loại và cần được mã hóa trước khi đưa vào các mô hình Machine Learning.</a:t>
            </a:r>
          </a:p>
          <a:p>
            <a:pPr algn="l">
              <a:spcAft>
                <a:spcPts val="700"/>
              </a:spcAft>
            </a:pPr>
            <a:r>
              <a:rPr sz="1400">
                <a:solidFill>
                  <a:srgbClr val="131921"/>
                </a:solidFill>
                <a:latin typeface="Arial"/>
              </a:rPr>
              <a:t>One-Hot Encoding có thể được sử dụng để chuyển các giá trị phân loại thành dạng phù hợp với mô hình.</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MA TRẬN TƯƠNG QUAN</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rrelation_heatmap.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Correlation Heatmap giúp quan sát mức độ tương quan tuyến tính giữa các biến số.</a:t>
            </a:r>
          </a:p>
          <a:p>
            <a:pPr algn="l">
              <a:spcAft>
                <a:spcPts val="700"/>
              </a:spcAft>
            </a:pPr>
            <a:r>
              <a:rPr sz="1500">
                <a:solidFill>
                  <a:srgbClr val="131921"/>
                </a:solidFill>
                <a:latin typeface="Arial"/>
              </a:rPr>
              <a:t>Có thể sử dụng heatmap để xác định những đặc trưng có mối liên hệ mạnh hơn với mức tiêu hao nhiên liệu.</a:t>
            </a:r>
          </a:p>
          <a:p>
            <a:pPr algn="l">
              <a:spcAft>
                <a:spcPts val="700"/>
              </a:spcAft>
            </a:pPr>
            <a:r>
              <a:rPr sz="1500">
                <a:solidFill>
                  <a:srgbClr val="131921"/>
                </a:solidFill>
                <a:latin typeface="Arial"/>
              </a:rPr>
              <a:t>Heatmap cũng giúp phát hiện các biến đầu vào có tương quan mạnh với nhau.</a:t>
            </a:r>
          </a:p>
          <a:p>
            <a:pPr algn="l">
              <a:spcAft>
                <a:spcPts val="700"/>
              </a:spcAft>
            </a:pPr>
            <a:r>
              <a:rPr sz="1500">
                <a:solidFill>
                  <a:srgbClr val="131921"/>
                </a:solidFill>
                <a:latin typeface="Arial"/>
              </a:rPr>
              <a:t>Đây là thông tin hỗ trợ việc phân tích đặc trưng trước khi xây dựng mô hình.</a:t>
            </a:r>
          </a:p>
          <a:p>
            <a:pPr algn="l">
              <a:spcAft>
                <a:spcPts val="700"/>
              </a:spcAft>
            </a:pPr>
            <a:r>
              <a:rPr sz="1500">
                <a:solidFill>
                  <a:srgbClr val="131921"/>
                </a:solidFill>
                <a:latin typeface="Arial"/>
              </a:rPr>
              <a:t>Tương quan không đồng nghĩa với quan hệ nguyên nhân – kết quả.</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TIỀN XỬ LÝ DỮ LIỆU</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Dữ liệu gốc</a:t>
            </a:r>
          </a:p>
        </p:txBody>
      </p:sp>
      <p:sp>
        <p:nvSpPr>
          <p:cNvPr id="5" name="Rounded Rectangle 4"/>
          <p:cNvSpPr/>
          <p:nvPr/>
        </p:nvSpPr>
        <p:spPr>
          <a:xfrm>
            <a:off x="22860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Kiểm tra dữ liệu</a:t>
            </a:r>
          </a:p>
        </p:txBody>
      </p:sp>
      <p:sp>
        <p:nvSpPr>
          <p:cNvPr id="6" name="Rounded Rectangle 5"/>
          <p:cNvSpPr/>
          <p:nvPr/>
        </p:nvSpPr>
        <p:spPr>
          <a:xfrm>
            <a:off x="41148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Làm sạch</a:t>
            </a:r>
          </a:p>
        </p:txBody>
      </p:sp>
      <p:sp>
        <p:nvSpPr>
          <p:cNvPr id="7" name="Rounded Rectangle 6"/>
          <p:cNvSpPr/>
          <p:nvPr/>
        </p:nvSpPr>
        <p:spPr>
          <a:xfrm>
            <a:off x="59436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Chọn đặc trưng</a:t>
            </a:r>
          </a:p>
        </p:txBody>
      </p:sp>
      <p:sp>
        <p:nvSpPr>
          <p:cNvPr id="8" name="Rounded Rectangle 7"/>
          <p:cNvSpPr/>
          <p:nvPr/>
        </p:nvSpPr>
        <p:spPr>
          <a:xfrm>
            <a:off x="77724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Chia Train/Test</a:t>
            </a:r>
          </a:p>
        </p:txBody>
      </p:sp>
      <p:sp>
        <p:nvSpPr>
          <p:cNvPr id="9" name="Rounded Rectangle 8"/>
          <p:cNvSpPr/>
          <p:nvPr/>
        </p:nvSpPr>
        <p:spPr>
          <a:xfrm>
            <a:off x="96012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Pipeline tiền xử lý</a:t>
            </a:r>
          </a:p>
        </p:txBody>
      </p:sp>
      <p:sp>
        <p:nvSpPr>
          <p:cNvPr id="10" name="TextBox 9"/>
          <p:cNvSpPr txBox="1"/>
          <p:nvPr/>
        </p:nvSpPr>
        <p:spPr>
          <a:xfrm>
            <a:off x="731520" y="3474720"/>
            <a:ext cx="10789920" cy="2377440"/>
          </a:xfrm>
          <a:prstGeom prst="rect">
            <a:avLst/>
          </a:prstGeom>
          <a:noFill/>
        </p:spPr>
        <p:txBody>
          <a:bodyPr wrap="square" lIns="6" rIns="6">
            <a:spAutoFit/>
          </a:bodyPr>
          <a:lstStyle/>
          <a:p>
            <a:pPr algn="l">
              <a:spcAft>
                <a:spcPts val="700"/>
              </a:spcAft>
            </a:pPr>
            <a:r>
              <a:rPr sz="1500">
                <a:solidFill>
                  <a:srgbClr val="131921"/>
                </a:solidFill>
                <a:latin typeface="Arial"/>
              </a:rPr>
              <a:t>Làm sạch dữ liệu: kiểm tra kiểu dữ liệu, dữ liệu trùng lặp, missing value và giá trị bất thường.</a:t>
            </a:r>
          </a:p>
          <a:p>
            <a:pPr algn="l">
              <a:spcAft>
                <a:spcPts val="700"/>
              </a:spcAft>
            </a:pPr>
            <a:r>
              <a:rPr sz="1500">
                <a:solidFill>
                  <a:srgbClr val="131921"/>
                </a:solidFill>
                <a:latin typeface="Arial"/>
              </a:rPr>
              <a:t>Chọn đặc trưng: Model Year, Make, Vehicle Class, Engine Size (L), Cylinders, Transmission, Fuel Type.</a:t>
            </a:r>
          </a:p>
          <a:p>
            <a:pPr algn="l">
              <a:spcAft>
                <a:spcPts val="700"/>
              </a:spcAft>
            </a:pPr>
            <a:r>
              <a:rPr sz="1500">
                <a:solidFill>
                  <a:srgbClr val="131921"/>
                </a:solidFill>
                <a:latin typeface="Arial"/>
              </a:rPr>
              <a:t>Target: Fuel Consumption Comb (L/100 km).</a:t>
            </a:r>
          </a:p>
          <a:p>
            <a:pPr algn="l">
              <a:spcAft>
                <a:spcPts val="700"/>
              </a:spcAft>
            </a:pPr>
            <a:r>
              <a:rPr sz="1500">
                <a:solidFill>
                  <a:srgbClr val="131921"/>
                </a:solidFill>
                <a:latin typeface="Arial"/>
              </a:rPr>
              <a:t>Chia dữ liệu thành Train và Test theo tỷ lệ 80/20 với random_state = 42.</a:t>
            </a:r>
          </a:p>
          <a:p>
            <a:pPr algn="l">
              <a:spcAft>
                <a:spcPts val="700"/>
              </a:spcAft>
            </a:pPr>
            <a:r>
              <a:rPr sz="1500">
                <a:solidFill>
                  <a:srgbClr val="131921"/>
                </a:solidFill>
                <a:latin typeface="Arial"/>
              </a:rPr>
              <a:t>Test set chỉ được sử dụng để đánh giá cuối cùng.</a:t>
            </a:r>
          </a:p>
        </p:txBody>
      </p:sp>
      <p:sp>
        <p:nvSpPr>
          <p:cNvPr id="11" name="TextBox 10"/>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NGĂN NGỪA DATA LEAKAGE VÀ PIPELINE</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920240"/>
            <a:ext cx="1554480"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Dataset</a:t>
            </a:r>
          </a:p>
        </p:txBody>
      </p:sp>
      <p:sp>
        <p:nvSpPr>
          <p:cNvPr id="5" name="Rounded Rectangle 4"/>
          <p:cNvSpPr/>
          <p:nvPr/>
        </p:nvSpPr>
        <p:spPr>
          <a:xfrm>
            <a:off x="2560320" y="1920240"/>
            <a:ext cx="1554480"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Train / Test</a:t>
            </a:r>
          </a:p>
        </p:txBody>
      </p:sp>
      <p:sp>
        <p:nvSpPr>
          <p:cNvPr id="6" name="Rounded Rectangle 5"/>
          <p:cNvSpPr/>
          <p:nvPr/>
        </p:nvSpPr>
        <p:spPr>
          <a:xfrm>
            <a:off x="4480560" y="1920240"/>
            <a:ext cx="1554480"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FIT preprocessing</a:t>
            </a:r>
            <a:br/>
            <a:r>
              <a:t>chỉ trên TRAIN</a:t>
            </a:r>
          </a:p>
        </p:txBody>
      </p:sp>
      <p:sp>
        <p:nvSpPr>
          <p:cNvPr id="7" name="Rounded Rectangle 6"/>
          <p:cNvSpPr/>
          <p:nvPr/>
        </p:nvSpPr>
        <p:spPr>
          <a:xfrm>
            <a:off x="6400800" y="1920240"/>
            <a:ext cx="1554480"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Transform Train</a:t>
            </a:r>
          </a:p>
        </p:txBody>
      </p:sp>
      <p:sp>
        <p:nvSpPr>
          <p:cNvPr id="8" name="Rounded Rectangle 7"/>
          <p:cNvSpPr/>
          <p:nvPr/>
        </p:nvSpPr>
        <p:spPr>
          <a:xfrm>
            <a:off x="8321040" y="1920240"/>
            <a:ext cx="1554480"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Transform Test</a:t>
            </a:r>
          </a:p>
        </p:txBody>
      </p:sp>
      <p:sp>
        <p:nvSpPr>
          <p:cNvPr id="9" name="Rectangle 8"/>
          <p:cNvSpPr/>
          <p:nvPr/>
        </p:nvSpPr>
        <p:spPr>
          <a:xfrm>
            <a:off x="1828800" y="3749039"/>
            <a:ext cx="8321040" cy="548640"/>
          </a:xfrm>
          <a:prstGeom prst="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409F"/>
                </a:solidFill>
              </a:rPr>
              <a:t>Numeric: Median Imputer → StandardScaler    |    Categorical: Most Frequent Imputer → OneHotEncoder</a:t>
            </a:r>
          </a:p>
        </p:txBody>
      </p:sp>
      <p:sp>
        <p:nvSpPr>
          <p:cNvPr id="10" name="TextBox 9"/>
          <p:cNvSpPr txBox="1"/>
          <p:nvPr/>
        </p:nvSpPr>
        <p:spPr>
          <a:xfrm>
            <a:off x="731520" y="4480560"/>
            <a:ext cx="10972800" cy="1828800"/>
          </a:xfrm>
          <a:prstGeom prst="rect">
            <a:avLst/>
          </a:prstGeom>
          <a:noFill/>
        </p:spPr>
        <p:txBody>
          <a:bodyPr wrap="square" lIns="6" rIns="6">
            <a:spAutoFit/>
          </a:bodyPr>
          <a:lstStyle/>
          <a:p>
            <a:pPr algn="l">
              <a:spcAft>
                <a:spcPts val="700"/>
              </a:spcAft>
            </a:pPr>
            <a:r>
              <a:rPr sz="1300">
                <a:solidFill>
                  <a:srgbClr val="131921"/>
                </a:solidFill>
                <a:latin typeface="Arial"/>
              </a:rPr>
              <a:t>Dataset phải được chia Train/Test trước khi học các tham số tiền xử lý.</a:t>
            </a:r>
          </a:p>
          <a:p>
            <a:pPr algn="l">
              <a:spcAft>
                <a:spcPts val="700"/>
              </a:spcAft>
            </a:pPr>
            <a:r>
              <a:rPr sz="1300">
                <a:solidFill>
                  <a:srgbClr val="131921"/>
                </a:solidFill>
                <a:latin typeface="Arial"/>
              </a:rPr>
              <a:t>Scaler, Imputer và Encoder chỉ được fit bằng Train set.</a:t>
            </a:r>
          </a:p>
          <a:p>
            <a:pPr algn="l">
              <a:spcAft>
                <a:spcPts val="700"/>
              </a:spcAft>
            </a:pPr>
            <a:r>
              <a:rPr sz="1300">
                <a:solidFill>
                  <a:srgbClr val="131921"/>
                </a:solidFill>
                <a:latin typeface="Arial"/>
              </a:rPr>
              <a:t>Test set chỉ sử dụng transform bằng pipeline đã học từ Train.</a:t>
            </a:r>
          </a:p>
          <a:p>
            <a:pPr algn="l">
              <a:spcAft>
                <a:spcPts val="700"/>
              </a:spcAft>
            </a:pPr>
            <a:r>
              <a:rPr sz="1300">
                <a:solidFill>
                  <a:srgbClr val="131921"/>
                </a:solidFill>
                <a:latin typeface="Arial"/>
              </a:rPr>
              <a:t>ColumnTransformer và Pipeline được sử dụng để đảm bảo preprocessing lúc dự đoán giống preprocessing lúc training.</a:t>
            </a:r>
          </a:p>
          <a:p>
            <a:pPr algn="l">
              <a:spcAft>
                <a:spcPts val="700"/>
              </a:spcAft>
            </a:pPr>
            <a:r>
              <a:rPr sz="1300">
                <a:solidFill>
                  <a:srgbClr val="131921"/>
                </a:solidFill>
                <a:latin typeface="Arial"/>
              </a:rPr>
              <a:t>TEST SET PHẢI ĐƯỢC XEM LÀ DỮ LIỆU CHƯA TỪNG XUẤT HIỆN TRONG QUÁ TRÌNH HUẤN LUYỆN.</a:t>
            </a:r>
          </a:p>
        </p:txBody>
      </p:sp>
      <p:sp>
        <p:nvSpPr>
          <p:cNvPr id="11" name="TextBox 10"/>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LINEAR REGRESSION VÀ DECISION TREE REGRESSOR</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31921"/>
                </a:solidFill>
              </a:rPr>
              <a:t>Linear Regression</a:t>
            </a:r>
          </a:p>
          <a:p>
            <a:pPr>
              <a:spcAft>
                <a:spcPts val="800"/>
              </a:spcAft>
            </a:pPr>
            <a:r>
              <a:rPr sz="1300">
                <a:solidFill>
                  <a:srgbClr val="131921"/>
                </a:solidFill>
              </a:rPr>
              <a:t>• Linear Regression tìm mối quan hệ tuyến tính giữa các đặc trưng đầu vào và mức tiêu hao nhiên liệu.</a:t>
            </a:r>
          </a:p>
          <a:p>
            <a:pPr>
              <a:spcAft>
                <a:spcPts val="800"/>
              </a:spcAft>
            </a:pPr>
            <a:r>
              <a:rPr sz="1300">
                <a:solidFill>
                  <a:srgbClr val="131921"/>
                </a:solidFill>
              </a:rPr>
              <a:t>• Mô hình học các hệ số để giảm sai số giữa giá trị dự đoán và giá trị thực tế.</a:t>
            </a:r>
          </a:p>
          <a:p>
            <a:pPr>
              <a:spcAft>
                <a:spcPts val="800"/>
              </a:spcAft>
            </a:pPr>
            <a:r>
              <a:rPr sz="1300">
                <a:solidFill>
                  <a:srgbClr val="131921"/>
                </a:solidFill>
              </a:rPr>
              <a:t>• Ưu điểm là đơn giản, nhanh và dễ giải thích.</a:t>
            </a:r>
          </a:p>
          <a:p>
            <a:pPr>
              <a:spcAft>
                <a:spcPts val="800"/>
              </a:spcAft>
            </a:pPr>
            <a:r>
              <a:rPr sz="1300">
                <a:solidFill>
                  <a:srgbClr val="131921"/>
                </a:solidFill>
              </a:rPr>
              <a:t>• Đây cũng là mô hình cơ sở để so sánh với các thuật toán phức tạp hơn.</a:t>
            </a:r>
          </a:p>
        </p:txBody>
      </p:sp>
      <p:sp>
        <p:nvSpPr>
          <p:cNvPr id="5" name="Rounded Rectangle 4"/>
          <p:cNvSpPr/>
          <p:nvPr/>
        </p:nvSpPr>
        <p:spPr>
          <a:xfrm>
            <a:off x="62179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31921"/>
                </a:solidFill>
              </a:rPr>
              <a:t>Decision Tree Regressor</a:t>
            </a:r>
          </a:p>
          <a:p>
            <a:pPr>
              <a:spcAft>
                <a:spcPts val="800"/>
              </a:spcAft>
            </a:pPr>
            <a:r>
              <a:rPr sz="1300">
                <a:solidFill>
                  <a:srgbClr val="131921"/>
                </a:solidFill>
              </a:rPr>
              <a:t>• Decision Tree chia dữ liệu thành nhiều nhánh dựa trên các điều kiện của đặc trưng.</a:t>
            </a:r>
          </a:p>
          <a:p>
            <a:pPr>
              <a:spcAft>
                <a:spcPts val="800"/>
              </a:spcAft>
            </a:pPr>
            <a:r>
              <a:rPr sz="1300">
                <a:solidFill>
                  <a:srgbClr val="131921"/>
                </a:solidFill>
              </a:rPr>
              <a:t>• Mỗi vùng cuối của cây đưa ra một giá trị dự đoán.</a:t>
            </a:r>
          </a:p>
          <a:p>
            <a:pPr>
              <a:spcAft>
                <a:spcPts val="800"/>
              </a:spcAft>
            </a:pPr>
            <a:r>
              <a:rPr sz="1300">
                <a:solidFill>
                  <a:srgbClr val="131921"/>
                </a:solidFill>
              </a:rPr>
              <a:t>• Mô hình có thể học các quan hệ phi tuyến.</a:t>
            </a:r>
          </a:p>
          <a:p>
            <a:pPr>
              <a:spcAft>
                <a:spcPts val="800"/>
              </a:spcAft>
            </a:pPr>
            <a:r>
              <a:rPr sz="1300">
                <a:solidFill>
                  <a:srgbClr val="131921"/>
                </a:solidFill>
              </a:rPr>
              <a:t>• Nếu cây quá sâu, mô hình có nguy cơ overfitting.</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KNN REGRESSOR VÀ SVR</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31921"/>
                </a:solidFill>
              </a:rPr>
              <a:t>KNN Regressor</a:t>
            </a:r>
          </a:p>
          <a:p>
            <a:pPr>
              <a:spcAft>
                <a:spcPts val="800"/>
              </a:spcAft>
            </a:pPr>
            <a:r>
              <a:rPr sz="1300">
                <a:solidFill>
                  <a:srgbClr val="131921"/>
                </a:solidFill>
              </a:rPr>
              <a:t>• KNN dự đoán một mẫu mới dựa trên những mẫu có đặc điểm gần nhất trong dữ liệu huấn luyện.</a:t>
            </a:r>
          </a:p>
          <a:p>
            <a:pPr>
              <a:spcAft>
                <a:spcPts val="800"/>
              </a:spcAft>
            </a:pPr>
            <a:r>
              <a:rPr sz="1300">
                <a:solidFill>
                  <a:srgbClr val="131921"/>
                </a:solidFill>
              </a:rPr>
              <a:t>• Với bài toán Regression, giá trị dự đoán thường được tổng hợp từ K hàng xóm gần nhất.</a:t>
            </a:r>
          </a:p>
          <a:p>
            <a:pPr>
              <a:spcAft>
                <a:spcPts val="800"/>
              </a:spcAft>
            </a:pPr>
            <a:r>
              <a:rPr sz="1300">
                <a:solidFill>
                  <a:srgbClr val="131921"/>
                </a:solidFill>
              </a:rPr>
              <a:t>• K là một siêu tham số quan trọng.</a:t>
            </a:r>
          </a:p>
          <a:p>
            <a:pPr>
              <a:spcAft>
                <a:spcPts val="800"/>
              </a:spcAft>
            </a:pPr>
            <a:r>
              <a:rPr sz="1300">
                <a:solidFill>
                  <a:srgbClr val="131921"/>
                </a:solidFill>
              </a:rPr>
              <a:t>• KNN nhạy cảm với thang đo nên dữ liệu số cần được chuẩn hóa.</a:t>
            </a:r>
          </a:p>
        </p:txBody>
      </p:sp>
      <p:sp>
        <p:nvSpPr>
          <p:cNvPr id="5" name="Rounded Rectangle 4"/>
          <p:cNvSpPr/>
          <p:nvPr/>
        </p:nvSpPr>
        <p:spPr>
          <a:xfrm>
            <a:off x="62179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31921"/>
                </a:solidFill>
              </a:rPr>
              <a:t>SVR</a:t>
            </a:r>
          </a:p>
          <a:p>
            <a:pPr>
              <a:spcAft>
                <a:spcPts val="800"/>
              </a:spcAft>
            </a:pPr>
            <a:r>
              <a:rPr sz="1300">
                <a:solidFill>
                  <a:srgbClr val="131921"/>
                </a:solidFill>
              </a:rPr>
              <a:t>• Support Vector Regression tìm một hàm dự đoán sao cho phần lớn sai số nằm trong một giới hạn cho phép.</a:t>
            </a:r>
          </a:p>
          <a:p>
            <a:pPr>
              <a:spcAft>
                <a:spcPts val="800"/>
              </a:spcAft>
            </a:pPr>
            <a:r>
              <a:rPr sz="1300">
                <a:solidFill>
                  <a:srgbClr val="131921"/>
                </a:solidFill>
              </a:rPr>
              <a:t>• Kernel cho phép SVR mô hình hóa các quan hệ phi tuyến.</a:t>
            </a:r>
          </a:p>
          <a:p>
            <a:pPr>
              <a:spcAft>
                <a:spcPts val="800"/>
              </a:spcAft>
            </a:pPr>
            <a:r>
              <a:rPr sz="1300">
                <a:solidFill>
                  <a:srgbClr val="131921"/>
                </a:solidFill>
              </a:rPr>
              <a:t>• Các siêu tham số như C, epsilon và gamma ảnh hưởng mạnh đến kết quả.</a:t>
            </a:r>
          </a:p>
          <a:p>
            <a:pPr>
              <a:spcAft>
                <a:spcPts val="800"/>
              </a:spcAft>
            </a:pPr>
            <a:r>
              <a:rPr sz="1300">
                <a:solidFill>
                  <a:srgbClr val="131921"/>
                </a:solidFill>
              </a:rPr>
              <a:t>• SVR cũng nhạy cảm với scale nên cần chuẩn hóa đặc trưng.</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TINH CHỈNH SIÊU THAM SỐ VÀ CROSS VALIDATION</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1</a:t>
            </a:r>
            <a:br/>
            <a:r>
              <a:t>Validation | Train | Train | Train | Train</a:t>
            </a:r>
          </a:p>
        </p:txBody>
      </p:sp>
      <p:sp>
        <p:nvSpPr>
          <p:cNvPr id="5" name="Rounded Rectangle 4"/>
          <p:cNvSpPr/>
          <p:nvPr/>
        </p:nvSpPr>
        <p:spPr>
          <a:xfrm>
            <a:off x="265176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2</a:t>
            </a:r>
            <a:br/>
            <a:r>
              <a:t>Train | Validation | Train | Train | Train</a:t>
            </a:r>
          </a:p>
        </p:txBody>
      </p:sp>
      <p:sp>
        <p:nvSpPr>
          <p:cNvPr id="6" name="Rounded Rectangle 5"/>
          <p:cNvSpPr/>
          <p:nvPr/>
        </p:nvSpPr>
        <p:spPr>
          <a:xfrm>
            <a:off x="457200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3</a:t>
            </a:r>
            <a:br/>
            <a:r>
              <a:t>Train | Validation | Train | Train | Train</a:t>
            </a:r>
          </a:p>
        </p:txBody>
      </p:sp>
      <p:sp>
        <p:nvSpPr>
          <p:cNvPr id="7" name="Rounded Rectangle 6"/>
          <p:cNvSpPr/>
          <p:nvPr/>
        </p:nvSpPr>
        <p:spPr>
          <a:xfrm>
            <a:off x="649224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4</a:t>
            </a:r>
            <a:br/>
            <a:r>
              <a:t>Train | Validation | Train | Train | Train</a:t>
            </a:r>
          </a:p>
        </p:txBody>
      </p:sp>
      <p:sp>
        <p:nvSpPr>
          <p:cNvPr id="8" name="Rounded Rectangle 7"/>
          <p:cNvSpPr/>
          <p:nvPr/>
        </p:nvSpPr>
        <p:spPr>
          <a:xfrm>
            <a:off x="841248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5</a:t>
            </a:r>
            <a:br/>
            <a:r>
              <a:t>Train | Validation | Train | Train | Train</a:t>
            </a:r>
          </a:p>
        </p:txBody>
      </p:sp>
      <p:sp>
        <p:nvSpPr>
          <p:cNvPr id="9" name="TextBox 8"/>
          <p:cNvSpPr txBox="1"/>
          <p:nvPr/>
        </p:nvSpPr>
        <p:spPr>
          <a:xfrm>
            <a:off x="731520" y="3749039"/>
            <a:ext cx="10972800" cy="2011680"/>
          </a:xfrm>
          <a:prstGeom prst="rect">
            <a:avLst/>
          </a:prstGeom>
          <a:noFill/>
        </p:spPr>
        <p:txBody>
          <a:bodyPr wrap="square" lIns="6" rIns="6">
            <a:spAutoFit/>
          </a:bodyPr>
          <a:lstStyle/>
          <a:p>
            <a:pPr algn="l">
              <a:spcAft>
                <a:spcPts val="700"/>
              </a:spcAft>
            </a:pPr>
            <a:r>
              <a:rPr sz="1400">
                <a:solidFill>
                  <a:srgbClr val="131921"/>
                </a:solidFill>
                <a:latin typeface="Arial"/>
              </a:rPr>
              <a:t>Train set được chia thành 5 phần.</a:t>
            </a:r>
          </a:p>
          <a:p>
            <a:pPr algn="l">
              <a:spcAft>
                <a:spcPts val="700"/>
              </a:spcAft>
            </a:pPr>
            <a:r>
              <a:rPr sz="1400">
                <a:solidFill>
                  <a:srgbClr val="131921"/>
                </a:solidFill>
                <a:latin typeface="Arial"/>
              </a:rPr>
              <a:t>Mỗi lần sử dụng 4 Fold để huấn luyện và 1 Fold để validation.</a:t>
            </a:r>
          </a:p>
          <a:p>
            <a:pPr algn="l">
              <a:spcAft>
                <a:spcPts val="700"/>
              </a:spcAft>
            </a:pPr>
            <a:r>
              <a:rPr sz="1400">
                <a:solidFill>
                  <a:srgbClr val="131921"/>
                </a:solidFill>
                <a:latin typeface="Arial"/>
              </a:rPr>
              <a:t>Quá trình lặp lại 5 lần.</a:t>
            </a:r>
          </a:p>
          <a:p>
            <a:pPr algn="l">
              <a:spcAft>
                <a:spcPts val="700"/>
              </a:spcAft>
            </a:pPr>
            <a:r>
              <a:rPr sz="1400">
                <a:solidFill>
                  <a:srgbClr val="131921"/>
                </a:solidFill>
                <a:latin typeface="Arial"/>
              </a:rPr>
              <a:t>Kết quả trung bình giúp đánh giá mô hình ổn định hơn.</a:t>
            </a:r>
          </a:p>
          <a:p>
            <a:pPr algn="l">
              <a:spcAft>
                <a:spcPts val="700"/>
              </a:spcAft>
            </a:pPr>
            <a:r>
              <a:rPr sz="1400">
                <a:solidFill>
                  <a:srgbClr val="131921"/>
                </a:solidFill>
                <a:latin typeface="Arial"/>
              </a:rPr>
              <a:t>Tuning: Decision Tree: max_depth, min_samples_split, min_samples_leaf; KNN: n_neighbors, weights, p; SVR: C, epsilon, gamma.</a:t>
            </a:r>
          </a:p>
          <a:p>
            <a:pPr algn="l">
              <a:spcAft>
                <a:spcPts val="700"/>
              </a:spcAft>
            </a:pPr>
            <a:r>
              <a:rPr sz="1400">
                <a:solidFill>
                  <a:srgbClr val="131921"/>
                </a:solidFill>
                <a:latin typeface="Arial"/>
              </a:rPr>
              <a:t>Các cấu hình được đánh giá bằng Cross Validation.</a:t>
            </a:r>
          </a:p>
          <a:p>
            <a:pPr algn="l">
              <a:spcAft>
                <a:spcPts val="700"/>
              </a:spcAft>
            </a:pPr>
            <a:r>
              <a:rPr sz="1400">
                <a:solidFill>
                  <a:srgbClr val="131921"/>
                </a:solidFill>
                <a:latin typeface="Arial"/>
              </a:rPr>
              <a:t>Việc tuning chỉ được thực hiện trên Train set. Test set không tham gia vào quá trình chọn siêu tham số.</a:t>
            </a:r>
          </a:p>
        </p:txBody>
      </p:sp>
      <p:sp>
        <p:nvSpPr>
          <p:cNvPr id="10" name="TextBox 9"/>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CÁC METRIC ĐÁNH GIÁ</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2148840" cy="3749039"/>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363D3"/>
                </a:solidFill>
              </a:rPr>
              <a:t>MAE</a:t>
            </a:r>
          </a:p>
          <a:p>
            <a:pPr algn="ctr">
              <a:spcAft>
                <a:spcPts val="800"/>
              </a:spcAft>
            </a:pPr>
            <a:r>
              <a:rPr sz="1100">
                <a:solidFill>
                  <a:srgbClr val="131921"/>
                </a:solidFill>
              </a:rPr>
              <a:t>Trung bình sai số tuyệt đối giữa giá trị thực và dự đoán.</a:t>
            </a:r>
          </a:p>
          <a:p>
            <a:pPr algn="ctr">
              <a:spcAft>
                <a:spcPts val="800"/>
              </a:spcAft>
            </a:pPr>
            <a:r>
              <a:rPr sz="1100">
                <a:solidFill>
                  <a:srgbClr val="131921"/>
                </a:solidFill>
              </a:rPr>
              <a:t>MAE càng thấp càng tốt.</a:t>
            </a:r>
          </a:p>
        </p:txBody>
      </p:sp>
      <p:sp>
        <p:nvSpPr>
          <p:cNvPr id="5" name="Rounded Rectangle 4"/>
          <p:cNvSpPr/>
          <p:nvPr/>
        </p:nvSpPr>
        <p:spPr>
          <a:xfrm>
            <a:off x="3429000" y="1645920"/>
            <a:ext cx="2148840" cy="3749039"/>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363D3"/>
                </a:solidFill>
              </a:rPr>
              <a:t>MSE</a:t>
            </a:r>
          </a:p>
          <a:p>
            <a:pPr algn="ctr">
              <a:spcAft>
                <a:spcPts val="800"/>
              </a:spcAft>
            </a:pPr>
            <a:r>
              <a:rPr sz="1100">
                <a:solidFill>
                  <a:srgbClr val="131921"/>
                </a:solidFill>
              </a:rPr>
              <a:t>Bình phương sai số trước khi lấy trung bình.</a:t>
            </a:r>
          </a:p>
          <a:p>
            <a:pPr algn="ctr">
              <a:spcAft>
                <a:spcPts val="800"/>
              </a:spcAft>
            </a:pPr>
            <a:r>
              <a:rPr sz="1100">
                <a:solidFill>
                  <a:srgbClr val="131921"/>
                </a:solidFill>
              </a:rPr>
              <a:t>Các dự đoán sai nhiều sẽ bị phạt mạnh hơn.</a:t>
            </a:r>
          </a:p>
        </p:txBody>
      </p:sp>
      <p:sp>
        <p:nvSpPr>
          <p:cNvPr id="6" name="Rounded Rectangle 5"/>
          <p:cNvSpPr/>
          <p:nvPr/>
        </p:nvSpPr>
        <p:spPr>
          <a:xfrm>
            <a:off x="6172200" y="1645920"/>
            <a:ext cx="2148840" cy="3749039"/>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363D3"/>
                </a:solidFill>
              </a:rPr>
              <a:t>RMSE</a:t>
            </a:r>
          </a:p>
          <a:p>
            <a:pPr algn="ctr">
              <a:spcAft>
                <a:spcPts val="800"/>
              </a:spcAft>
            </a:pPr>
            <a:r>
              <a:rPr sz="1100">
                <a:solidFill>
                  <a:srgbClr val="131921"/>
                </a:solidFill>
              </a:rPr>
              <a:t>Là căn bậc hai của MSE.</a:t>
            </a:r>
          </a:p>
          <a:p>
            <a:pPr algn="ctr">
              <a:spcAft>
                <a:spcPts val="800"/>
              </a:spcAft>
            </a:pPr>
            <a:r>
              <a:rPr sz="1100">
                <a:solidFill>
                  <a:srgbClr val="131921"/>
                </a:solidFill>
              </a:rPr>
              <a:t>Có cùng đơn vị L/100 km với target.</a:t>
            </a:r>
          </a:p>
          <a:p>
            <a:pPr algn="ctr">
              <a:spcAft>
                <a:spcPts val="800"/>
              </a:spcAft>
            </a:pPr>
            <a:r>
              <a:rPr sz="1100">
                <a:solidFill>
                  <a:srgbClr val="131921"/>
                </a:solidFill>
              </a:rPr>
              <a:t>RMSE càng thấp càng tốt.</a:t>
            </a:r>
          </a:p>
        </p:txBody>
      </p:sp>
      <p:sp>
        <p:nvSpPr>
          <p:cNvPr id="7" name="Rounded Rectangle 6"/>
          <p:cNvSpPr/>
          <p:nvPr/>
        </p:nvSpPr>
        <p:spPr>
          <a:xfrm>
            <a:off x="8915400" y="1645920"/>
            <a:ext cx="2148840" cy="3749039"/>
          </a:xfrm>
          <a:prstGeom prst="roundRect">
            <a:avLst/>
          </a:prstGeom>
          <a:solidFill>
            <a:srgbClr val="F2F6FA"/>
          </a:solidFill>
          <a:ln>
            <a:solidFill>
              <a:srgbClr val="1F80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F805C"/>
                </a:solidFill>
              </a:rPr>
              <a:t>R²</a:t>
            </a:r>
          </a:p>
          <a:p>
            <a:pPr algn="ctr">
              <a:spcAft>
                <a:spcPts val="800"/>
              </a:spcAft>
            </a:pPr>
            <a:r>
              <a:rPr sz="1100">
                <a:solidFill>
                  <a:srgbClr val="131921"/>
                </a:solidFill>
              </a:rPr>
              <a:t>Đánh giá khả năng mô hình giải thích sự biến thiên của dữ liệu.</a:t>
            </a:r>
          </a:p>
          <a:p>
            <a:pPr algn="ctr">
              <a:spcAft>
                <a:spcPts val="800"/>
              </a:spcAft>
            </a:pPr>
            <a:r>
              <a:rPr sz="1100">
                <a:solidFill>
                  <a:srgbClr val="131921"/>
                </a:solidFill>
              </a:rPr>
              <a:t>R² càng cao thường cho thấy mô hình phù hợp hơn.</a:t>
            </a:r>
          </a:p>
        </p:txBody>
      </p:sp>
      <p:sp>
        <p:nvSpPr>
          <p:cNvPr id="8" name="TextBox 7"/>
          <p:cNvSpPr txBox="1"/>
          <p:nvPr/>
        </p:nvSpPr>
        <p:spPr>
          <a:xfrm>
            <a:off x="822960" y="5852160"/>
            <a:ext cx="10241280" cy="457200"/>
          </a:xfrm>
          <a:prstGeom prst="rect">
            <a:avLst/>
          </a:prstGeom>
          <a:noFill/>
        </p:spPr>
        <p:txBody>
          <a:bodyPr wrap="none">
            <a:spAutoFit/>
          </a:bodyPr>
          <a:lstStyle/>
          <a:p>
            <a:r>
              <a:rPr sz="1100" b="1">
                <a:solidFill>
                  <a:srgbClr val="131921"/>
                </a:solidFill>
              </a:rPr>
              <a:t>Làm nổi bật: MAE, MSE, RMSE → càng thấp càng tốt; R² → càng cao càng tốt; R² KHÔNG PHẢI ACCURACY.</a:t>
            </a:r>
          </a:p>
        </p:txBody>
      </p:sp>
      <p:sp>
        <p:nvSpPr>
          <p:cNvPr id="9" name="TextBox 8"/>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KẾT QUẢ VÀ SO SÁNH 4 MÔ HÌNH</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463040"/>
          <a:ext cx="6675120" cy="3749039"/>
        </p:xfrm>
        <a:graphic>
          <a:graphicData uri="http://schemas.openxmlformats.org/drawingml/2006/table">
            <a:tbl>
              <a:tblPr firstRow="1" bandRow="1">
                <a:tableStyleId>{5C22544A-7EE6-4342-B048-85BDC9FD1C3A}</a:tableStyleId>
              </a:tblPr>
              <a:tblGrid>
                <a:gridCol w="1335024"/>
                <a:gridCol w="1335024"/>
                <a:gridCol w="1335024"/>
                <a:gridCol w="1335024"/>
                <a:gridCol w="1335024"/>
              </a:tblGrid>
              <a:tr h="624839">
                <a:tc>
                  <a:txBody>
                    <a:bodyPr/>
                    <a:lstStyle/>
                    <a:p>
                      <a:r>
                        <a:rPr sz="1100" b="1">
                          <a:solidFill>
                            <a:srgbClr val="131921"/>
                          </a:solidFill>
                        </a:rPr>
                        <a:t>Mô hình</a:t>
                      </a:r>
                    </a:p>
                  </a:txBody>
                  <a:tcPr/>
                </a:tc>
                <a:tc>
                  <a:txBody>
                    <a:bodyPr/>
                    <a:lstStyle/>
                    <a:p>
                      <a:r>
                        <a:rPr sz="1100" b="1">
                          <a:solidFill>
                            <a:srgbClr val="131921"/>
                          </a:solidFill>
                        </a:rPr>
                        <a:t>MAE</a:t>
                      </a:r>
                    </a:p>
                  </a:txBody>
                  <a:tcPr/>
                </a:tc>
                <a:tc>
                  <a:txBody>
                    <a:bodyPr/>
                    <a:lstStyle/>
                    <a:p>
                      <a:r>
                        <a:rPr sz="1100" b="1">
                          <a:solidFill>
                            <a:srgbClr val="131921"/>
                          </a:solidFill>
                        </a:rPr>
                        <a:t>MSE</a:t>
                      </a:r>
                    </a:p>
                  </a:txBody>
                  <a:tcPr/>
                </a:tc>
                <a:tc>
                  <a:txBody>
                    <a:bodyPr/>
                    <a:lstStyle/>
                    <a:p>
                      <a:r>
                        <a:rPr sz="1100" b="1">
                          <a:solidFill>
                            <a:srgbClr val="131921"/>
                          </a:solidFill>
                        </a:rPr>
                        <a:t>RMSE</a:t>
                      </a:r>
                    </a:p>
                  </a:txBody>
                  <a:tcPr/>
                </a:tc>
                <a:tc>
                  <a:txBody>
                    <a:bodyPr/>
                    <a:lstStyle/>
                    <a:p>
                      <a:r>
                        <a:rPr sz="1100" b="1">
                          <a:solidFill>
                            <a:srgbClr val="131921"/>
                          </a:solidFill>
                        </a:rPr>
                        <a:t>R²</a:t>
                      </a:r>
                    </a:p>
                  </a:txBody>
                  <a:tcPr/>
                </a:tc>
              </a:tr>
              <a:tr h="624839">
                <a:tc>
                  <a:txBody>
                    <a:bodyPr/>
                    <a:lstStyle/>
                    <a:p>
                      <a:r>
                        <a:rPr sz="1000">
                          <a:solidFill>
                            <a:srgbClr val="131921"/>
                          </a:solidFill>
                        </a:rPr>
                        <a:t>Linear Regression</a:t>
                      </a:r>
                    </a:p>
                  </a:txBody>
                  <a:tcPr/>
                </a:tc>
                <a:tc>
                  <a:txBody>
                    <a:bodyPr/>
                    <a:lstStyle/>
                    <a:p>
                      <a:r>
                        <a:rPr sz="1000">
                          <a:solidFill>
                            <a:srgbClr val="131921"/>
                          </a:solidFill>
                        </a:rPr>
                        <a:t>0.7839</a:t>
                      </a:r>
                    </a:p>
                  </a:txBody>
                  <a:tcPr/>
                </a:tc>
                <a:tc>
                  <a:txBody>
                    <a:bodyPr/>
                    <a:lstStyle/>
                    <a:p>
                      <a:r>
                        <a:rPr sz="1000">
                          <a:solidFill>
                            <a:srgbClr val="131921"/>
                          </a:solidFill>
                        </a:rPr>
                        <a:t>1.1048</a:t>
                      </a:r>
                    </a:p>
                  </a:txBody>
                  <a:tcPr/>
                </a:tc>
                <a:tc>
                  <a:txBody>
                    <a:bodyPr/>
                    <a:lstStyle/>
                    <a:p>
                      <a:r>
                        <a:rPr sz="1000">
                          <a:solidFill>
                            <a:srgbClr val="131921"/>
                          </a:solidFill>
                        </a:rPr>
                        <a:t>1.0506</a:t>
                      </a:r>
                    </a:p>
                  </a:txBody>
                  <a:tcPr/>
                </a:tc>
                <a:tc>
                  <a:txBody>
                    <a:bodyPr/>
                    <a:lstStyle/>
                    <a:p>
                      <a:r>
                        <a:rPr sz="1000">
                          <a:solidFill>
                            <a:srgbClr val="131921"/>
                          </a:solidFill>
                        </a:rPr>
                        <a:t>0.8909</a:t>
                      </a:r>
                    </a:p>
                  </a:txBody>
                  <a:tcPr/>
                </a:tc>
              </a:tr>
              <a:tr h="624839">
                <a:tc>
                  <a:txBody>
                    <a:bodyPr/>
                    <a:lstStyle/>
                    <a:p>
                      <a:r>
                        <a:rPr sz="1000">
                          <a:solidFill>
                            <a:srgbClr val="131921"/>
                          </a:solidFill>
                        </a:rPr>
                        <a:t>Decision Tree Regressor</a:t>
                      </a:r>
                    </a:p>
                  </a:txBody>
                  <a:tcPr/>
                </a:tc>
                <a:tc>
                  <a:txBody>
                    <a:bodyPr/>
                    <a:lstStyle/>
                    <a:p>
                      <a:r>
                        <a:rPr sz="1000">
                          <a:solidFill>
                            <a:srgbClr val="131921"/>
                          </a:solidFill>
                        </a:rPr>
                        <a:t>0.4665</a:t>
                      </a:r>
                    </a:p>
                  </a:txBody>
                  <a:tcPr/>
                </a:tc>
                <a:tc>
                  <a:txBody>
                    <a:bodyPr/>
                    <a:lstStyle/>
                    <a:p>
                      <a:r>
                        <a:rPr sz="1000">
                          <a:solidFill>
                            <a:srgbClr val="131921"/>
                          </a:solidFill>
                        </a:rPr>
                        <a:t>0.4793</a:t>
                      </a:r>
                    </a:p>
                  </a:txBody>
                  <a:tcPr/>
                </a:tc>
                <a:tc>
                  <a:txBody>
                    <a:bodyPr/>
                    <a:lstStyle/>
                    <a:p>
                      <a:r>
                        <a:rPr sz="1000">
                          <a:solidFill>
                            <a:srgbClr val="131921"/>
                          </a:solidFill>
                        </a:rPr>
                        <a:t>0.6923</a:t>
                      </a:r>
                    </a:p>
                  </a:txBody>
                  <a:tcPr/>
                </a:tc>
                <a:tc>
                  <a:txBody>
                    <a:bodyPr/>
                    <a:lstStyle/>
                    <a:p>
                      <a:r>
                        <a:rPr sz="1000">
                          <a:solidFill>
                            <a:srgbClr val="131921"/>
                          </a:solidFill>
                        </a:rPr>
                        <a:t>0.9526</a:t>
                      </a:r>
                    </a:p>
                  </a:txBody>
                  <a:tcPr/>
                </a:tc>
              </a:tr>
              <a:tr h="624839">
                <a:tc>
                  <a:txBody>
                    <a:bodyPr/>
                    <a:lstStyle/>
                    <a:p>
                      <a:r>
                        <a:rPr sz="1000">
                          <a:solidFill>
                            <a:srgbClr val="131921"/>
                          </a:solidFill>
                        </a:rPr>
                        <a:t>KNN Regressor</a:t>
                      </a:r>
                    </a:p>
                  </a:txBody>
                  <a:tcPr/>
                </a:tc>
                <a:tc>
                  <a:txBody>
                    <a:bodyPr/>
                    <a:lstStyle/>
                    <a:p>
                      <a:r>
                        <a:rPr sz="1000">
                          <a:solidFill>
                            <a:srgbClr val="131921"/>
                          </a:solidFill>
                        </a:rPr>
                        <a:t>0.4351</a:t>
                      </a:r>
                    </a:p>
                  </a:txBody>
                  <a:tcPr/>
                </a:tc>
                <a:tc>
                  <a:txBody>
                    <a:bodyPr/>
                    <a:lstStyle/>
                    <a:p>
                      <a:r>
                        <a:rPr sz="1000">
                          <a:solidFill>
                            <a:srgbClr val="131921"/>
                          </a:solidFill>
                        </a:rPr>
                        <a:t>0.4405</a:t>
                      </a:r>
                    </a:p>
                  </a:txBody>
                  <a:tcPr/>
                </a:tc>
                <a:tc>
                  <a:txBody>
                    <a:bodyPr/>
                    <a:lstStyle/>
                    <a:p>
                      <a:r>
                        <a:rPr sz="1000">
                          <a:solidFill>
                            <a:srgbClr val="131921"/>
                          </a:solidFill>
                        </a:rPr>
                        <a:t>0.6637</a:t>
                      </a:r>
                    </a:p>
                  </a:txBody>
                  <a:tcPr/>
                </a:tc>
                <a:tc>
                  <a:txBody>
                    <a:bodyPr/>
                    <a:lstStyle/>
                    <a:p>
                      <a:r>
                        <a:rPr sz="1000">
                          <a:solidFill>
                            <a:srgbClr val="131921"/>
                          </a:solidFill>
                        </a:rPr>
                        <a:t>0.9565</a:t>
                      </a:r>
                    </a:p>
                  </a:txBody>
                  <a:tcPr/>
                </a:tc>
              </a:tr>
              <a:tr h="624839">
                <a:tc>
                  <a:txBody>
                    <a:bodyPr/>
                    <a:lstStyle/>
                    <a:p>
                      <a:r>
                        <a:rPr sz="1000">
                          <a:solidFill>
                            <a:srgbClr val="131921"/>
                          </a:solidFill>
                        </a:rPr>
                        <a:t>SVR</a:t>
                      </a:r>
                    </a:p>
                  </a:txBody>
                  <a:tcPr/>
                </a:tc>
                <a:tc>
                  <a:txBody>
                    <a:bodyPr/>
                    <a:lstStyle/>
                    <a:p>
                      <a:r>
                        <a:rPr sz="1000">
                          <a:solidFill>
                            <a:srgbClr val="131921"/>
                          </a:solidFill>
                        </a:rPr>
                        <a:t>0.4293</a:t>
                      </a:r>
                    </a:p>
                  </a:txBody>
                  <a:tcPr/>
                </a:tc>
                <a:tc>
                  <a:txBody>
                    <a:bodyPr/>
                    <a:lstStyle/>
                    <a:p>
                      <a:r>
                        <a:rPr sz="1000">
                          <a:solidFill>
                            <a:srgbClr val="131921"/>
                          </a:solidFill>
                        </a:rPr>
                        <a:t>0.4222</a:t>
                      </a:r>
                    </a:p>
                  </a:txBody>
                  <a:tcPr/>
                </a:tc>
                <a:tc>
                  <a:txBody>
                    <a:bodyPr/>
                    <a:lstStyle/>
                    <a:p>
                      <a:r>
                        <a:rPr sz="1000">
                          <a:solidFill>
                            <a:srgbClr val="131921"/>
                          </a:solidFill>
                        </a:rPr>
                        <a:t>0.6498</a:t>
                      </a:r>
                    </a:p>
                  </a:txBody>
                  <a:tcPr/>
                </a:tc>
                <a:tc>
                  <a:txBody>
                    <a:bodyPr/>
                    <a:lstStyle/>
                    <a:p>
                      <a:r>
                        <a:rPr sz="1000">
                          <a:solidFill>
                            <a:srgbClr val="131921"/>
                          </a:solidFill>
                        </a:rPr>
                        <a:t>0.9583</a:t>
                      </a:r>
                    </a:p>
                  </a:txBody>
                  <a:tcPr/>
                </a:tc>
              </a:tr>
              <a:tr h="624844">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pic>
        <p:nvPicPr>
          <p:cNvPr id="5" name="Picture 4" descr="model_comparison.png"/>
          <p:cNvPicPr>
            <a:picLocks noChangeAspect="1"/>
          </p:cNvPicPr>
          <p:nvPr/>
        </p:nvPicPr>
        <p:blipFill>
          <a:blip r:embed="rId2"/>
          <a:stretch>
            <a:fillRect/>
          </a:stretch>
        </p:blipFill>
        <p:spPr>
          <a:xfrm>
            <a:off x="7863840" y="1645920"/>
            <a:ext cx="3474720" cy="2926080"/>
          </a:xfrm>
          <a:prstGeom prst="rect">
            <a:avLst/>
          </a:prstGeom>
        </p:spPr>
      </p:pic>
      <p:sp>
        <p:nvSpPr>
          <p:cNvPr id="6" name="TextBox 5"/>
          <p:cNvSpPr txBox="1"/>
          <p:nvPr/>
        </p:nvSpPr>
        <p:spPr>
          <a:xfrm>
            <a:off x="731520" y="5577840"/>
            <a:ext cx="10972800" cy="731520"/>
          </a:xfrm>
          <a:prstGeom prst="rect">
            <a:avLst/>
          </a:prstGeom>
          <a:noFill/>
        </p:spPr>
        <p:txBody>
          <a:bodyPr wrap="square" lIns="6" rIns="6">
            <a:spAutoFit/>
          </a:bodyPr>
          <a:lstStyle/>
          <a:p>
            <a:pPr algn="l">
              <a:spcAft>
                <a:spcPts val="700"/>
              </a:spcAft>
            </a:pPr>
            <a:r>
              <a:rPr sz="1100">
                <a:solidFill>
                  <a:srgbClr val="131921"/>
                </a:solidFill>
                <a:latin typeface="Arial"/>
              </a:rPr>
              <a:t>Linear Regression: [điền nhận xét thực tế].</a:t>
            </a:r>
          </a:p>
          <a:p>
            <a:pPr algn="l">
              <a:spcAft>
                <a:spcPts val="700"/>
              </a:spcAft>
            </a:pPr>
            <a:r>
              <a:rPr sz="1100">
                <a:solidFill>
                  <a:srgbClr val="131921"/>
                </a:solidFill>
                <a:latin typeface="Arial"/>
              </a:rPr>
              <a:t>Decision Tree: [điền nhận xét thực tế].</a:t>
            </a:r>
          </a:p>
          <a:p>
            <a:pPr algn="l">
              <a:spcAft>
                <a:spcPts val="700"/>
              </a:spcAft>
            </a:pPr>
            <a:r>
              <a:rPr sz="1100">
                <a:solidFill>
                  <a:srgbClr val="131921"/>
                </a:solidFill>
                <a:latin typeface="Arial"/>
              </a:rPr>
              <a:t>KNN: [điền nhận xét thực tế].</a:t>
            </a:r>
          </a:p>
          <a:p>
            <a:pPr algn="l">
              <a:spcAft>
                <a:spcPts val="700"/>
              </a:spcAft>
            </a:pPr>
            <a:r>
              <a:rPr sz="1100">
                <a:solidFill>
                  <a:srgbClr val="131921"/>
                </a:solidFill>
                <a:latin typeface="Arial"/>
              </a:rPr>
              <a:t>SVR: [điền nhận xét thực tế].</a:t>
            </a:r>
          </a:p>
          <a:p>
            <a:pPr algn="l">
              <a:spcAft>
                <a:spcPts val="700"/>
              </a:spcAft>
            </a:pPr>
            <a:r>
              <a:rPr sz="1100">
                <a:solidFill>
                  <a:srgbClr val="131921"/>
                </a:solidFill>
                <a:latin typeface="Arial"/>
              </a:rPr>
              <a:t>Không lựa chọn model chỉ dựa trên một metric. Cần xem xét đồng thời MAE, RMSE, R², Cross Validation, khả năng overfitting và thời gian dự đoán.</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MÔ HÌNH ĐƯỢC CHỌN VÀ KIẾN TRÚC HỆ THỐNG</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4389120" cy="13716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0F409F"/>
                </a:solidFill>
              </a:rPr>
              <a:t>MÔ HÌNH CUỐI CÙNG:</a:t>
            </a:r>
            <a:br/>
            <a:r>
              <a:t>SVR</a:t>
            </a:r>
          </a:p>
        </p:txBody>
      </p:sp>
      <p:sp>
        <p:nvSpPr>
          <p:cNvPr id="5" name="TextBox 4"/>
          <p:cNvSpPr txBox="1"/>
          <p:nvPr/>
        </p:nvSpPr>
        <p:spPr>
          <a:xfrm>
            <a:off x="5303520" y="1554480"/>
            <a:ext cx="5943600" cy="1737360"/>
          </a:xfrm>
          <a:prstGeom prst="rect">
            <a:avLst/>
          </a:prstGeom>
          <a:noFill/>
        </p:spPr>
        <p:txBody>
          <a:bodyPr wrap="square" lIns="6" rIns="6">
            <a:spAutoFit/>
          </a:bodyPr>
          <a:lstStyle/>
          <a:p>
            <a:pPr algn="l">
              <a:spcAft>
                <a:spcPts val="700"/>
              </a:spcAft>
            </a:pPr>
            <a:r>
              <a:rPr sz="1500">
                <a:solidFill>
                  <a:srgbClr val="131921"/>
                </a:solidFill>
                <a:latin typeface="Arial"/>
              </a:rPr>
              <a:t>Có kết quả MAE/RMSE phù hợp.</a:t>
            </a:r>
          </a:p>
          <a:p>
            <a:pPr algn="l">
              <a:spcAft>
                <a:spcPts val="700"/>
              </a:spcAft>
            </a:pPr>
            <a:r>
              <a:rPr sz="1500">
                <a:solidFill>
                  <a:srgbClr val="131921"/>
                </a:solidFill>
                <a:latin typeface="Arial"/>
              </a:rPr>
              <a:t>R² đạt 0.9583 trong thực nghiệm.</a:t>
            </a:r>
          </a:p>
          <a:p>
            <a:pPr algn="l">
              <a:spcAft>
                <a:spcPts val="700"/>
              </a:spcAft>
            </a:pPr>
            <a:r>
              <a:rPr sz="1500">
                <a:solidFill>
                  <a:srgbClr val="131921"/>
                </a:solidFill>
                <a:latin typeface="Arial"/>
              </a:rPr>
              <a:t>Cross Validation tương đối ổn định.</a:t>
            </a:r>
          </a:p>
          <a:p>
            <a:pPr algn="l">
              <a:spcAft>
                <a:spcPts val="700"/>
              </a:spcAft>
            </a:pPr>
            <a:r>
              <a:rPr sz="1500">
                <a:solidFill>
                  <a:srgbClr val="131921"/>
                </a:solidFill>
                <a:latin typeface="Arial"/>
              </a:rPr>
              <a:t>Khoảng cách giữa Train và Test hợp lý.</a:t>
            </a:r>
          </a:p>
          <a:p>
            <a:pPr algn="l">
              <a:spcAft>
                <a:spcPts val="700"/>
              </a:spcAft>
            </a:pPr>
            <a:r>
              <a:rPr sz="1500">
                <a:solidFill>
                  <a:srgbClr val="131921"/>
                </a:solidFill>
                <a:latin typeface="Arial"/>
              </a:rPr>
              <a:t>Có khả năng tích hợp vào AI Service.</a:t>
            </a:r>
          </a:p>
        </p:txBody>
      </p:sp>
      <p:sp>
        <p:nvSpPr>
          <p:cNvPr id="6" name="Rounded Rectangle 5"/>
          <p:cNvSpPr/>
          <p:nvPr/>
        </p:nvSpPr>
        <p:spPr>
          <a:xfrm>
            <a:off x="640080" y="3840480"/>
            <a:ext cx="118872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Người dùng</a:t>
            </a:r>
          </a:p>
        </p:txBody>
      </p:sp>
      <p:sp>
        <p:nvSpPr>
          <p:cNvPr id="7" name="Rounded Rectangle 6"/>
          <p:cNvSpPr/>
          <p:nvPr/>
        </p:nvSpPr>
        <p:spPr>
          <a:xfrm>
            <a:off x="2194560" y="3840480"/>
            <a:ext cx="118872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Frontend</a:t>
            </a:r>
          </a:p>
        </p:txBody>
      </p:sp>
      <p:sp>
        <p:nvSpPr>
          <p:cNvPr id="8" name="Rounded Rectangle 7"/>
          <p:cNvSpPr/>
          <p:nvPr/>
        </p:nvSpPr>
        <p:spPr>
          <a:xfrm>
            <a:off x="3749039" y="3840480"/>
            <a:ext cx="118872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Backend</a:t>
            </a:r>
          </a:p>
        </p:txBody>
      </p:sp>
      <p:sp>
        <p:nvSpPr>
          <p:cNvPr id="9" name="Rounded Rectangle 8"/>
          <p:cNvSpPr/>
          <p:nvPr/>
        </p:nvSpPr>
        <p:spPr>
          <a:xfrm>
            <a:off x="5303520" y="3840480"/>
            <a:ext cx="118872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AI Service</a:t>
            </a:r>
          </a:p>
        </p:txBody>
      </p:sp>
      <p:sp>
        <p:nvSpPr>
          <p:cNvPr id="10" name="Rounded Rectangle 9"/>
          <p:cNvSpPr/>
          <p:nvPr/>
        </p:nvSpPr>
        <p:spPr>
          <a:xfrm>
            <a:off x="6858000" y="3840480"/>
            <a:ext cx="118872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Preprocessing + Model</a:t>
            </a:r>
          </a:p>
        </p:txBody>
      </p:sp>
      <p:sp>
        <p:nvSpPr>
          <p:cNvPr id="11" name="Rounded Rectangle 10"/>
          <p:cNvSpPr/>
          <p:nvPr/>
        </p:nvSpPr>
        <p:spPr>
          <a:xfrm>
            <a:off x="1920240" y="5212080"/>
            <a:ext cx="182880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t>Prediction: L/100 km</a:t>
            </a:r>
          </a:p>
        </p:txBody>
      </p:sp>
      <p:sp>
        <p:nvSpPr>
          <p:cNvPr id="12" name="Rounded Rectangle 11"/>
          <p:cNvSpPr/>
          <p:nvPr/>
        </p:nvSpPr>
        <p:spPr>
          <a:xfrm>
            <a:off x="4206240" y="5212080"/>
            <a:ext cx="182880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t>Backend</a:t>
            </a:r>
          </a:p>
        </p:txBody>
      </p:sp>
      <p:sp>
        <p:nvSpPr>
          <p:cNvPr id="13" name="Rounded Rectangle 12"/>
          <p:cNvSpPr/>
          <p:nvPr/>
        </p:nvSpPr>
        <p:spPr>
          <a:xfrm>
            <a:off x="6492240" y="5212080"/>
            <a:ext cx="1828800" cy="7315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t>MongoDB + trả kết quả</a:t>
            </a:r>
          </a:p>
        </p:txBody>
      </p:sp>
      <p:sp>
        <p:nvSpPr>
          <p:cNvPr id="14" name="TextBox 13"/>
          <p:cNvSpPr txBox="1"/>
          <p:nvPr/>
        </p:nvSpPr>
        <p:spPr>
          <a:xfrm>
            <a:off x="731520" y="6126480"/>
            <a:ext cx="10972800" cy="320040"/>
          </a:xfrm>
          <a:prstGeom prst="rect">
            <a:avLst/>
          </a:prstGeom>
          <a:noFill/>
        </p:spPr>
        <p:txBody>
          <a:bodyPr wrap="none">
            <a:spAutoFit/>
          </a:bodyPr>
          <a:lstStyle/>
          <a:p>
            <a:r>
              <a:rPr sz="1100">
                <a:solidFill>
                  <a:srgbClr val="131921"/>
                </a:solidFill>
              </a:rPr>
              <a:t>Giải thích: Người dùng nhập thông số của xe. Frontend gửi dữ liệu tới Backend. Backend kiểm tra dữ liệu, gọi AI Service và lưu lịch sử vào MongoDB.</a:t>
            </a:r>
          </a:p>
        </p:txBody>
      </p:sp>
      <p:sp>
        <p:nvSpPr>
          <p:cNvPr id="15" name="TextBox 14"/>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KẾT LUẬN VÀ HƯỚNG PHÁT TRIỂN</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943600" cy="2560320"/>
          </a:xfrm>
          <a:prstGeom prst="rect">
            <a:avLst/>
          </a:prstGeom>
          <a:noFill/>
        </p:spPr>
        <p:txBody>
          <a:bodyPr wrap="square" lIns="6" rIns="6">
            <a:spAutoFit/>
          </a:bodyPr>
          <a:lstStyle/>
          <a:p>
            <a:pPr algn="l">
              <a:spcAft>
                <a:spcPts val="700"/>
              </a:spcAft>
            </a:pPr>
            <a:r>
              <a:rPr sz="1400">
                <a:solidFill>
                  <a:srgbClr val="131921"/>
                </a:solidFill>
                <a:latin typeface="Arial"/>
              </a:rPr>
              <a:t>Đề tài đã xây dựng quy trình Machine Learning cho bài toán dự đoán mức tiêu hao nhiên liệu của xe.</a:t>
            </a:r>
          </a:p>
          <a:p>
            <a:pPr algn="l">
              <a:spcAft>
                <a:spcPts val="700"/>
              </a:spcAft>
            </a:pPr>
            <a:r>
              <a:rPr sz="1400">
                <a:solidFill>
                  <a:srgbClr val="131921"/>
                </a:solidFill>
                <a:latin typeface="Arial"/>
              </a:rPr>
              <a:t>Dataset được phân tích bằng EDA để tìm hiểu phân bố và mối quan hệ giữa các đặc trưng.</a:t>
            </a:r>
          </a:p>
          <a:p>
            <a:pPr algn="l">
              <a:spcAft>
                <a:spcPts val="700"/>
              </a:spcAft>
            </a:pPr>
            <a:r>
              <a:rPr sz="1400">
                <a:solidFill>
                  <a:srgbClr val="131921"/>
                </a:solidFill>
                <a:latin typeface="Arial"/>
              </a:rPr>
              <a:t>Dữ liệu được làm sạch và tiền xử lý bằng Pipeline nhằm hạn chế Data Leakage.</a:t>
            </a:r>
          </a:p>
          <a:p>
            <a:pPr algn="l">
              <a:spcAft>
                <a:spcPts val="700"/>
              </a:spcAft>
            </a:pPr>
            <a:r>
              <a:rPr sz="1400">
                <a:solidFill>
                  <a:srgbClr val="131921"/>
                </a:solidFill>
                <a:latin typeface="Arial"/>
              </a:rPr>
              <a:t>Bốn mô hình gồm Linear Regression, Decision Tree Regressor, KNN Regressor và SVR được huấn luyện và đánh giá.</a:t>
            </a:r>
          </a:p>
          <a:p>
            <a:pPr algn="l">
              <a:spcAft>
                <a:spcPts val="700"/>
              </a:spcAft>
            </a:pPr>
            <a:r>
              <a:rPr sz="1400">
                <a:solidFill>
                  <a:srgbClr val="131921"/>
                </a:solidFill>
                <a:latin typeface="Arial"/>
              </a:rPr>
              <a:t>Mô hình cuối được lựa chọn dựa trên kết quả thực nghiệm.</a:t>
            </a:r>
          </a:p>
          <a:p>
            <a:pPr algn="l">
              <a:spcAft>
                <a:spcPts val="700"/>
              </a:spcAft>
            </a:pPr>
            <a:r>
              <a:rPr sz="1400">
                <a:solidFill>
                  <a:srgbClr val="131921"/>
                </a:solidFill>
                <a:latin typeface="Arial"/>
              </a:rPr>
              <a:t>Mô hình được đóng gói thành model.joblib để AI Service sử dụng khi dự đoán.</a:t>
            </a:r>
          </a:p>
        </p:txBody>
      </p:sp>
      <p:sp>
        <p:nvSpPr>
          <p:cNvPr id="5" name="Rectangle 4"/>
          <p:cNvSpPr/>
          <p:nvPr/>
        </p:nvSpPr>
        <p:spPr>
          <a:xfrm>
            <a:off x="7040880" y="1645920"/>
            <a:ext cx="4114800" cy="3017520"/>
          </a:xfrm>
          <a:prstGeom prst="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500"/>
              </a:spcAft>
            </a:pPr>
            <a:r>
              <a:rPr sz="1200" b="1">
                <a:solidFill>
                  <a:srgbClr val="131921"/>
                </a:solidFill>
              </a:rPr>
              <a:t>Hạn chế:</a:t>
            </a:r>
          </a:p>
          <a:p>
            <a:pPr algn="l">
              <a:spcAft>
                <a:spcPts val="500"/>
              </a:spcAft>
            </a:pPr>
            <a:r>
              <a:rPr sz="1050" b="0">
                <a:solidFill>
                  <a:srgbClr val="131921"/>
                </a:solidFill>
              </a:rPr>
              <a:t>Kết quả phụ thuộc vào phạm vi dữ liệu của dataset.</a:t>
            </a:r>
          </a:p>
          <a:p>
            <a:pPr algn="l">
              <a:spcAft>
                <a:spcPts val="500"/>
              </a:spcAft>
            </a:pPr>
            <a:r>
              <a:rPr sz="1050" b="0">
                <a:solidFill>
                  <a:srgbClr val="131921"/>
                </a:solidFill>
              </a:rPr>
              <a:t>Các yếu tố thực tế như điều kiện đường, tải trọng và hành vi lái xe chưa được phản ánh đầy đủ.</a:t>
            </a:r>
          </a:p>
          <a:p>
            <a:pPr algn="l">
              <a:spcAft>
                <a:spcPts val="500"/>
              </a:spcAft>
            </a:pPr>
            <a:r>
              <a:rPr sz="1050" b="0">
                <a:solidFill>
                  <a:srgbClr val="131921"/>
                </a:solidFill>
              </a:rPr>
              <a:t>Mô hình dự đoán dựa trên dữ liệu lịch sử và không thay thế kết quả đo thực tế.</a:t>
            </a:r>
          </a:p>
          <a:p>
            <a:pPr algn="l">
              <a:spcAft>
                <a:spcPts val="500"/>
              </a:spcAft>
            </a:pPr>
            <a:r>
              <a:rPr sz="1200" b="1">
                <a:solidFill>
                  <a:srgbClr val="131921"/>
                </a:solidFill>
              </a:rPr>
              <a:t>Hướng phát triển:</a:t>
            </a:r>
          </a:p>
          <a:p>
            <a:pPr algn="l">
              <a:spcAft>
                <a:spcPts val="500"/>
              </a:spcAft>
            </a:pPr>
            <a:r>
              <a:rPr sz="1050" b="0">
                <a:solidFill>
                  <a:srgbClr val="131921"/>
                </a:solidFill>
              </a:rPr>
              <a:t>Cập nhật thêm dữ liệu xe mới.</a:t>
            </a:r>
          </a:p>
          <a:p>
            <a:pPr algn="l">
              <a:spcAft>
                <a:spcPts val="500"/>
              </a:spcAft>
            </a:pPr>
            <a:r>
              <a:rPr sz="1050" b="0">
                <a:solidFill>
                  <a:srgbClr val="131921"/>
                </a:solidFill>
              </a:rPr>
              <a:t>Bổ sung thêm các đặc trưng liên quan đến điều kiện vận hành.</a:t>
            </a:r>
          </a:p>
          <a:p>
            <a:pPr algn="l">
              <a:spcAft>
                <a:spcPts val="500"/>
              </a:spcAft>
            </a:pPr>
            <a:r>
              <a:rPr sz="1050" b="0">
                <a:solidFill>
                  <a:srgbClr val="131921"/>
                </a:solidFill>
              </a:rPr>
              <a:t>Thử nghiệm thêm các thuật toán khác.</a:t>
            </a:r>
          </a:p>
          <a:p>
            <a:pPr algn="l">
              <a:spcAft>
                <a:spcPts val="500"/>
              </a:spcAft>
            </a:pPr>
            <a:r>
              <a:rPr sz="1050" b="0">
                <a:solidFill>
                  <a:srgbClr val="131921"/>
                </a:solidFill>
              </a:rPr>
              <a:t>Nghiên cứu Feature Importance hoặc SHAP.</a:t>
            </a:r>
          </a:p>
          <a:p>
            <a:pPr algn="l">
              <a:spcAft>
                <a:spcPts val="500"/>
              </a:spcAft>
            </a:pPr>
            <a:r>
              <a:rPr sz="1050" b="0">
                <a:solidFill>
                  <a:srgbClr val="131921"/>
                </a:solidFill>
              </a:rPr>
              <a:t>Hoàn thiện giao diện và hệ thống lưu lịch sử dự đoán.</a:t>
            </a:r>
          </a:p>
        </p:txBody>
      </p:sp>
      <p:sp>
        <p:nvSpPr>
          <p:cNvPr id="6" name="TextBox 5"/>
          <p:cNvSpPr txBox="1"/>
          <p:nvPr/>
        </p:nvSpPr>
        <p:spPr>
          <a:xfrm>
            <a:off x="731520" y="4846320"/>
            <a:ext cx="10515600" cy="685800"/>
          </a:xfrm>
          <a:prstGeom prst="rect">
            <a:avLst/>
          </a:prstGeom>
          <a:noFill/>
        </p:spPr>
        <p:txBody>
          <a:bodyPr wrap="none">
            <a:spAutoFit/>
          </a:bodyPr>
          <a:lstStyle/>
          <a:p>
            <a:r>
              <a:rPr sz="1800" b="1">
                <a:solidFill>
                  <a:srgbClr val="131921"/>
                </a:solidFill>
              </a:rPr>
              <a:t>Kết thúc: Xin cảm ơn thầy/cô và các bạn đã lắng nghe.</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