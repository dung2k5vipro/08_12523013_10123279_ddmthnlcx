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280160"/>
            <a:ext cx="5394960" cy="4297680"/>
          </a:xfrm>
          <a:prstGeom prst="rect">
            <a:avLst/>
          </a:prstGeom>
          <a:solidFill>
            <a:srgbClr val="F2F6FA"/>
          </a:solidFill>
          <a:ln w="12700">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4663440" cy="2468880"/>
          </a:xfrm>
          <a:prstGeom prst="rect">
            <a:avLst/>
          </a:prstGeom>
          <a:noFill/>
        </p:spPr>
        <p:txBody>
          <a:bodyPr wrap="none">
            <a:spAutoFit/>
          </a:bodyPr>
          <a:lstStyle/>
          <a:p>
            <a:pPr algn="l"/>
            <a:r>
              <a:rPr sz="2600" b="1">
                <a:solidFill>
                  <a:srgbClr val="131921"/>
                </a:solidFill>
                <a:latin typeface="Arial"/>
              </a:rPr>
              <a:t>XÂY DỰNG HỆ THỐNG</a:t>
            </a:r>
            <a:br/>
            <a:r>
              <a:t>DỰ ĐOÁN MỨC TIÊU HAO</a:t>
            </a:r>
            <a:br/>
            <a:r>
              <a:t>NHIÊN LIỆU CỦA XE</a:t>
            </a:r>
          </a:p>
        </p:txBody>
      </p:sp>
      <p:sp>
        <p:nvSpPr>
          <p:cNvPr id="5" name="TextBox 4"/>
          <p:cNvSpPr txBox="1"/>
          <p:nvPr/>
        </p:nvSpPr>
        <p:spPr>
          <a:xfrm>
            <a:off x="1005840" y="4297680"/>
            <a:ext cx="4389120" cy="292608"/>
          </a:xfrm>
          <a:prstGeom prst="rect">
            <a:avLst/>
          </a:prstGeom>
          <a:noFill/>
        </p:spPr>
        <p:txBody>
          <a:bodyPr wrap="none">
            <a:spAutoFit/>
          </a:bodyPr>
          <a:lstStyle/>
          <a:p>
            <a:r>
              <a:rPr sz="1500">
                <a:solidFill>
                  <a:srgbClr val="131921"/>
                </a:solidFill>
                <a:latin typeface="Arial"/>
              </a:rPr>
              <a:t>Môn học: Học máy cơ bản</a:t>
            </a:r>
          </a:p>
        </p:txBody>
      </p:sp>
      <p:sp>
        <p:nvSpPr>
          <p:cNvPr id="6" name="TextBox 5"/>
          <p:cNvSpPr txBox="1"/>
          <p:nvPr/>
        </p:nvSpPr>
        <p:spPr>
          <a:xfrm>
            <a:off x="1005840" y="4681728"/>
            <a:ext cx="4389120" cy="292608"/>
          </a:xfrm>
          <a:prstGeom prst="rect">
            <a:avLst/>
          </a:prstGeom>
          <a:noFill/>
        </p:spPr>
        <p:txBody>
          <a:bodyPr wrap="square">
            <a:spAutoFit/>
          </a:bodyPr>
          <a:lstStyle/>
          <a:p>
            <a:r>
              <a:rPr sz="1500">
                <a:solidFill>
                  <a:srgbClr val="131921"/>
                </a:solidFill>
                <a:latin typeface="Arial"/>
              </a:rPr>
              <a:t>Nhóm sinh viên: ...</a:t>
            </a:r>
          </a:p>
        </p:txBody>
      </p:sp>
      <p:sp>
        <p:nvSpPr>
          <p:cNvPr id="7" name="TextBox 6"/>
          <p:cNvSpPr txBox="1"/>
          <p:nvPr/>
        </p:nvSpPr>
        <p:spPr>
          <a:xfrm>
            <a:off x="1005840" y="5065776"/>
            <a:ext cx="4389120" cy="292608"/>
          </a:xfrm>
          <a:prstGeom prst="rect">
            <a:avLst/>
          </a:prstGeom>
          <a:noFill/>
        </p:spPr>
        <p:txBody>
          <a:bodyPr wrap="square">
            <a:spAutoFit/>
          </a:bodyPr>
          <a:lstStyle/>
          <a:p>
            <a:r>
              <a:rPr sz="1500">
                <a:solidFill>
                  <a:srgbClr val="131921"/>
                </a:solidFill>
                <a:latin typeface="Arial"/>
              </a:rPr>
              <a:t>Giảng viên hướng dẫn: ...</a:t>
            </a:r>
          </a:p>
        </p:txBody>
      </p:sp>
      <p:sp>
        <p:nvSpPr>
          <p:cNvPr id="8" name="TextBox 7"/>
          <p:cNvSpPr txBox="1"/>
          <p:nvPr/>
        </p:nvSpPr>
        <p:spPr>
          <a:xfrm>
            <a:off x="1005840" y="5449824"/>
            <a:ext cx="4389120" cy="292608"/>
          </a:xfrm>
          <a:prstGeom prst="rect">
            <a:avLst/>
          </a:prstGeom>
          <a:noFill/>
        </p:spPr>
        <p:txBody>
          <a:bodyPr wrap="square">
            <a:spAutoFit/>
          </a:bodyPr>
          <a:lstStyle/>
          <a:p>
            <a:r>
              <a:rPr sz="1500">
                <a:solidFill>
                  <a:srgbClr val="131921"/>
                </a:solidFill>
                <a:latin typeface="Arial"/>
              </a:rPr>
              <a:t>Lớp: ...</a:t>
            </a:r>
          </a:p>
        </p:txBody>
      </p:sp>
      <p:sp>
        <p:nvSpPr>
          <p:cNvPr id="9" name="Rounded Rectangle 8"/>
          <p:cNvSpPr/>
          <p:nvPr/>
        </p:nvSpPr>
        <p:spPr>
          <a:xfrm>
            <a:off x="7680960" y="1645920"/>
            <a:ext cx="3383280" cy="4023360"/>
          </a:xfrm>
          <a:prstGeom prst="round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58200" y="2560320"/>
            <a:ext cx="1828800" cy="18288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869680" y="2926080"/>
            <a:ext cx="64008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62288" y="2688336"/>
            <a:ext cx="73152" cy="640080"/>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015984" y="3017520"/>
            <a:ext cx="64008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308592" y="2779776"/>
            <a:ext cx="73152" cy="640080"/>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62288" y="3108960"/>
            <a:ext cx="64008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454896" y="2871216"/>
            <a:ext cx="73152" cy="640080"/>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308592" y="3200400"/>
            <a:ext cx="64008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01200" y="2962656"/>
            <a:ext cx="73152" cy="640080"/>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54896" y="3291840"/>
            <a:ext cx="64008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747504" y="3054096"/>
            <a:ext cx="73152" cy="640080"/>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GIỚI THIỆU ĐỀ TÀI</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607040" cy="4480560"/>
          </a:xfrm>
          <a:prstGeom prst="rect">
            <a:avLst/>
          </a:prstGeom>
          <a:noFill/>
        </p:spPr>
        <p:txBody>
          <a:bodyPr wrap="square" lIns="6" rIns="6">
            <a:spAutoFit/>
          </a:bodyPr>
          <a:lstStyle/>
          <a:p>
            <a:pPr algn="l">
              <a:spcAft>
                <a:spcPts val="700"/>
              </a:spcAft>
            </a:pPr>
            <a:r>
              <a:rPr sz="1800">
                <a:solidFill>
                  <a:srgbClr val="131921"/>
                </a:solidFill>
                <a:latin typeface="Arial"/>
              </a:rPr>
              <a:t>Mức tiêu hao nhiên liệu là một thông số quan trọng để đánh giá khả năng sử dụng nhiên liệu của phương tiện.</a:t>
            </a:r>
          </a:p>
          <a:p>
            <a:pPr algn="l">
              <a:spcAft>
                <a:spcPts val="700"/>
              </a:spcAft>
            </a:pPr>
            <a:r>
              <a:rPr sz="1800">
                <a:solidFill>
                  <a:srgbClr val="131921"/>
                </a:solidFill>
                <a:latin typeface="Arial"/>
              </a:rPr>
              <a:t>Mức tiêu hao của một chiếc xe chịu ảnh hưởng bởi nhiều yếu tố như dung tích động cơ, số xi-lanh, loại nhiên liệu, hộp số và phân khúc xe.</a:t>
            </a:r>
          </a:p>
          <a:p>
            <a:pPr algn="l">
              <a:spcAft>
                <a:spcPts val="700"/>
              </a:spcAft>
            </a:pPr>
            <a:r>
              <a:rPr sz="1800">
                <a:solidFill>
                  <a:srgbClr val="131921"/>
                </a:solidFill>
                <a:latin typeface="Arial"/>
              </a:rPr>
              <a:t>Với số lượng lớn mẫu xe khác nhau, việc ước lượng thủ công mức tiêu hao nhiên liệu không đơn giản.</a:t>
            </a:r>
          </a:p>
          <a:p>
            <a:pPr algn="l">
              <a:spcAft>
                <a:spcPts val="700"/>
              </a:spcAft>
            </a:pPr>
            <a:r>
              <a:rPr sz="1800">
                <a:solidFill>
                  <a:srgbClr val="131921"/>
                </a:solidFill>
                <a:latin typeface="Arial"/>
              </a:rPr>
              <a:t>Machine Learning có thể học mối quan hệ giữa các đặc trưng kỹ thuật của xe và lượng nhiên liệu tiêu thụ trong dữ liệu lịch sử.</a:t>
            </a:r>
          </a:p>
          <a:p>
            <a:pPr algn="l">
              <a:spcAft>
                <a:spcPts val="700"/>
              </a:spcAft>
            </a:pPr>
            <a:r>
              <a:rPr sz="1800">
                <a:solidFill>
                  <a:srgbClr val="131921"/>
                </a:solidFill>
                <a:latin typeface="Arial"/>
              </a:rPr>
              <a:t>Trong đề tài này, nhóm xây dựng quy trình từ phân tích dữ liệu, tiền xử lý, huấn luyện nhiều mô hình, đánh giá và lựa chọn mô hình phù hợp để tích hợp vào hệ thống dự đoán.</a:t>
            </a:r>
          </a:p>
          <a:p>
            <a:pPr algn="l">
              <a:spcAft>
                <a:spcPts val="700"/>
              </a:spcAft>
            </a:pPr>
            <a:r>
              <a:rPr sz="1800">
                <a:solidFill>
                  <a:srgbClr val="131921"/>
                </a:solidFill>
                <a:latin typeface="Arial"/>
              </a:rPr>
              <a:t>Kết quả dự đoán được biểu diễn theo đơn vị L/100 km.</a:t>
            </a:r>
          </a:p>
        </p:txBody>
      </p:sp>
      <p:sp>
        <p:nvSpPr>
          <p:cNvPr id="5" name="TextBox 4"/>
          <p:cNvSpPr txBox="1"/>
          <p:nvPr/>
        </p:nvSpPr>
        <p:spPr>
          <a:xfrm>
            <a:off x="11384280" y="6446520"/>
            <a:ext cx="548640" cy="228600"/>
          </a:xfrm>
          <a:prstGeom prst="rect">
            <a:avLst/>
          </a:prstGeom>
          <a:noFill/>
        </p:spPr>
        <p:txBody>
          <a:bodyPr wrap="none">
            <a:spAutoFit/>
          </a:bodyPr>
          <a:lstStyle/>
          <a:p>
            <a:pPr algn="r"/>
            <a:r>
              <a:rPr sz="900" b="1">
                <a:solidFill>
                  <a:srgbClr val="545D6B"/>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DATASET VÀ NGUỒN DỮ LIỆU</a:t>
            </a:r>
          </a:p>
        </p:txBody>
      </p:sp>
      <p:sp>
        <p:nvSpPr>
          <p:cNvPr id="3" name="TextBox 2"/>
          <p:cNvSpPr txBox="1"/>
          <p:nvPr/>
        </p:nvSpPr>
        <p:spPr>
          <a:xfrm>
            <a:off x="640080" y="868680"/>
            <a:ext cx="7315200" cy="320040"/>
          </a:xfrm>
          <a:prstGeom prst="rect">
            <a:avLst/>
          </a:prstGeom>
          <a:noFill/>
        </p:spPr>
        <p:txBody>
          <a:bodyPr wrap="none">
            <a:spAutoFit/>
          </a:bodyPr>
          <a:lstStyle/>
          <a:p>
            <a:r>
              <a:rPr sz="1000">
                <a:solidFill>
                  <a:srgbClr val="545D6B"/>
                </a:solidFill>
                <a:latin typeface="Arial"/>
              </a:rPr>
              <a:t>MY1995–2023 Fuel Consumption Ratings</a:t>
            </a:r>
          </a:p>
        </p:txBody>
      </p:sp>
      <p:sp>
        <p:nvSpPr>
          <p:cNvPr id="4" name="Rectangle 3"/>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6583680" cy="3017520"/>
          </a:xfrm>
          <a:prstGeom prst="rect">
            <a:avLst/>
          </a:prstGeom>
          <a:noFill/>
        </p:spPr>
        <p:txBody>
          <a:bodyPr wrap="square" lIns="6" rIns="6">
            <a:spAutoFit/>
          </a:bodyPr>
          <a:lstStyle/>
          <a:p>
            <a:pPr algn="l">
              <a:spcAft>
                <a:spcPts val="700"/>
              </a:spcAft>
            </a:pPr>
            <a:r>
              <a:rPr sz="1700">
                <a:solidFill>
                  <a:srgbClr val="131921"/>
                </a:solidFill>
                <a:latin typeface="Arial"/>
              </a:rPr>
              <a:t>Dataset: MY1995–2023 Fuel Consumption Ratings.</a:t>
            </a:r>
          </a:p>
          <a:p>
            <a:pPr algn="l">
              <a:spcAft>
                <a:spcPts val="700"/>
              </a:spcAft>
            </a:pPr>
            <a:r>
              <a:rPr sz="1700">
                <a:solidFill>
                  <a:srgbClr val="131921"/>
                </a:solidFill>
                <a:latin typeface="Arial"/>
              </a:rPr>
              <a:t>Nguồn: Kaggle. CSV gốc có 27.001 mẫu và 15 cột; sau chuẩn hóa và loại 3 dòng trùng theo code còn 26.998 mẫu.</a:t>
            </a:r>
          </a:p>
          <a:p>
            <a:pPr algn="l">
              <a:spcAft>
                <a:spcPts val="700"/>
              </a:spcAft>
            </a:pPr>
            <a:r>
              <a:rPr sz="1700">
                <a:solidFill>
                  <a:srgbClr val="131921"/>
                </a:solidFill>
                <a:latin typeface="Arial"/>
              </a:rPr>
              <a:t>Bài toán: Regression. Target: Fuel Consumption Comb (L/100 km).</a:t>
            </a:r>
          </a:p>
          <a:p>
            <a:pPr algn="l">
              <a:spcAft>
                <a:spcPts val="700"/>
              </a:spcAft>
            </a:pPr>
            <a:r>
              <a:rPr sz="1700">
                <a:solidFill>
                  <a:srgbClr val="131921"/>
                </a:solidFill>
                <a:latin typeface="Arial"/>
              </a:rPr>
              <a:t>Mục tiêu: dự đoán mức tiêu hao nhiên liệu kết hợp của xe theo L/100 km.</a:t>
            </a:r>
          </a:p>
        </p:txBody>
      </p:sp>
      <p:graphicFrame>
        <p:nvGraphicFramePr>
          <p:cNvPr id="6" name="Table 5"/>
          <p:cNvGraphicFramePr>
            <a:graphicFrameLocks noGrp="1"/>
          </p:cNvGraphicFramePr>
          <p:nvPr/>
        </p:nvGraphicFramePr>
        <p:xfrm>
          <a:off x="7955279" y="1645920"/>
          <a:ext cx="3474720" cy="2560320"/>
        </p:xfrm>
        <a:graphic>
          <a:graphicData uri="http://schemas.openxmlformats.org/drawingml/2006/table">
            <a:tbl>
              <a:tblPr firstRow="1" bandRow="1">
                <a:tableStyleId>{5C22544A-7EE6-4342-B048-85BDC9FD1C3A}</a:tableStyleId>
              </a:tblPr>
              <a:tblGrid>
                <a:gridCol w="1737360"/>
                <a:gridCol w="1737360"/>
              </a:tblGrid>
              <a:tr h="365760">
                <a:tc>
                  <a:txBody>
                    <a:bodyPr/>
                    <a:lstStyle/>
                    <a:p>
                      <a:r>
                        <a:rPr sz="1200" b="1">
                          <a:solidFill>
                            <a:srgbClr val="131921"/>
                          </a:solidFill>
                        </a:rPr>
                        <a:t>Thành phần</a:t>
                      </a:r>
                    </a:p>
                  </a:txBody>
                  <a:tcPr/>
                </a:tc>
                <a:tc>
                  <a:txBody>
                    <a:bodyPr/>
                    <a:lstStyle/>
                    <a:p>
                      <a:r>
                        <a:rPr sz="1200" b="1">
                          <a:solidFill>
                            <a:srgbClr val="131921"/>
                          </a:solidFill>
                        </a:rPr>
                        <a:t>Nội dung</a:t>
                      </a:r>
                    </a:p>
                  </a:txBody>
                  <a:tcPr/>
                </a:tc>
              </a:tr>
              <a:tr h="365760">
                <a:tc>
                  <a:txBody>
                    <a:bodyPr/>
                    <a:lstStyle/>
                    <a:p>
                      <a:r>
                        <a:rPr sz="1100">
                          <a:solidFill>
                            <a:srgbClr val="131921"/>
                          </a:solidFill>
                        </a:rPr>
                        <a:t>Số mẫu</a:t>
                      </a:r>
                    </a:p>
                  </a:txBody>
                  <a:tcPr/>
                </a:tc>
                <a:tc>
                  <a:txBody>
                    <a:bodyPr/>
                    <a:lstStyle/>
                    <a:p>
                      <a:r>
                        <a:t>27.001 (CSV gốc)</a:t>
                      </a:r>
                    </a:p>
                  </a:txBody>
                  <a:tcPr/>
                </a:tc>
              </a:tr>
              <a:tr h="365760">
                <a:tc>
                  <a:txBody>
                    <a:bodyPr/>
                    <a:lstStyle/>
                    <a:p>
                      <a:r>
                        <a:rPr sz="1100">
                          <a:solidFill>
                            <a:srgbClr val="131921"/>
                          </a:solidFill>
                        </a:rPr>
                        <a:t>Số cột</a:t>
                      </a:r>
                    </a:p>
                  </a:txBody>
                  <a:tcPr/>
                </a:tc>
                <a:tc>
                  <a:txBody>
                    <a:bodyPr/>
                    <a:lstStyle/>
                    <a:p>
                      <a:r>
                        <a:t>15</a:t>
                      </a:r>
                    </a:p>
                  </a:txBody>
                  <a:tcPr/>
                </a:tc>
              </a:tr>
              <a:tr h="365760">
                <a:tc>
                  <a:txBody>
                    <a:bodyPr/>
                    <a:lstStyle/>
                    <a:p>
                      <a:r>
                        <a:rPr sz="1100">
                          <a:solidFill>
                            <a:srgbClr val="131921"/>
                          </a:solidFill>
                        </a:rPr>
                        <a:t>Loại bài toán</a:t>
                      </a:r>
                    </a:p>
                  </a:txBody>
                  <a:tcPr/>
                </a:tc>
                <a:tc>
                  <a:txBody>
                    <a:bodyPr/>
                    <a:lstStyle/>
                    <a:p>
                      <a:r>
                        <a:rPr sz="1100">
                          <a:solidFill>
                            <a:srgbClr val="131921"/>
                          </a:solidFill>
                        </a:rPr>
                        <a:t>Regression</a:t>
                      </a:r>
                    </a:p>
                  </a:txBody>
                  <a:tcPr/>
                </a:tc>
              </a:tr>
              <a:tr h="365760">
                <a:tc>
                  <a:txBody>
                    <a:bodyPr/>
                    <a:lstStyle/>
                    <a:p>
                      <a:r>
                        <a:rPr sz="1100">
                          <a:solidFill>
                            <a:srgbClr val="131921"/>
                          </a:solidFill>
                        </a:rPr>
                        <a:t>Target</a:t>
                      </a:r>
                    </a:p>
                  </a:txBody>
                  <a:tcPr/>
                </a:tc>
                <a:tc>
                  <a:txBody>
                    <a:bodyPr/>
                    <a:lstStyle/>
                    <a:p>
                      <a:r>
                        <a:rPr sz="1100">
                          <a:solidFill>
                            <a:srgbClr val="131921"/>
                          </a:solidFill>
                        </a:rPr>
                        <a:t>Fuel Consumption Comb</a:t>
                      </a:r>
                    </a:p>
                  </a:txBody>
                  <a:tcPr/>
                </a:tc>
              </a:tr>
              <a:tr h="365760">
                <a:tc>
                  <a:txBody>
                    <a:bodyPr/>
                    <a:lstStyle/>
                    <a:p>
                      <a:r>
                        <a:rPr sz="1100">
                          <a:solidFill>
                            <a:srgbClr val="131921"/>
                          </a:solidFill>
                        </a:rPr>
                        <a:t>Đơn vị</a:t>
                      </a:r>
                    </a:p>
                  </a:txBody>
                  <a:tcPr/>
                </a:tc>
                <a:tc>
                  <a:txBody>
                    <a:bodyPr/>
                    <a:lstStyle/>
                    <a:p>
                      <a:r>
                        <a:rPr sz="1100">
                          <a:solidFill>
                            <a:srgbClr val="131921"/>
                          </a:solidFill>
                        </a:rPr>
                        <a:t>L/100 km</a:t>
                      </a:r>
                    </a:p>
                  </a:txBody>
                  <a:tcPr/>
                </a:tc>
              </a:tr>
              <a:tr h="365760">
                <a:tc>
                  <a:txBody>
                    <a:bodyPr/>
                    <a:lstStyle/>
                    <a:p>
                      <a:r>
                        <a:rPr sz="1100">
                          <a:solidFill>
                            <a:srgbClr val="131921"/>
                          </a:solidFill>
                        </a:rPr>
                        <a:t>Nguồn</a:t>
                      </a:r>
                    </a:p>
                  </a:txBody>
                  <a:tcPr/>
                </a:tc>
                <a:tc>
                  <a:txBody>
                    <a:bodyPr/>
                    <a:lstStyle/>
                    <a:p>
                      <a:r>
                        <a:rPr sz="1100">
                          <a:solidFill>
                            <a:srgbClr val="131921"/>
                          </a:solidFill>
                        </a:rPr>
                        <a:t>Kaggle</a:t>
                      </a:r>
                    </a:p>
                  </a:txBody>
                  <a:tcPr/>
                </a:tc>
              </a:tr>
            </a:tbl>
          </a:graphicData>
        </a:graphic>
      </p:graphicFrame>
      <p:sp>
        <p:nvSpPr>
          <p:cNvPr id="7" name="TextBox 6"/>
          <p:cNvSpPr txBox="1"/>
          <p:nvPr/>
        </p:nvSpPr>
        <p:spPr>
          <a:xfrm>
            <a:off x="8046720" y="4480560"/>
            <a:ext cx="3383280" cy="274320"/>
          </a:xfrm>
          <a:prstGeom prst="rect">
            <a:avLst/>
          </a:prstGeom>
          <a:noFill/>
        </p:spPr>
        <p:txBody>
          <a:bodyPr wrap="none">
            <a:spAutoFit/>
          </a:bodyPr>
          <a:lstStyle/>
          <a:p>
            <a:r>
              <a:rPr sz="1000">
                <a:solidFill>
                  <a:srgbClr val="545D6B"/>
                </a:solidFill>
              </a:rPr>
              <a:t>Nguồn: Kaggle – MY1995–2023 Fuel Consumption Ratings</a:t>
            </a:r>
          </a:p>
        </p:txBody>
      </p:sp>
      <p:sp>
        <p:nvSpPr>
          <p:cNvPr id="8" name="TextBox 7"/>
          <p:cNvSpPr txBox="1"/>
          <p:nvPr/>
        </p:nvSpPr>
        <p:spPr>
          <a:xfrm>
            <a:off x="11384280" y="6446520"/>
            <a:ext cx="548640" cy="228600"/>
          </a:xfrm>
          <a:prstGeom prst="rect">
            <a:avLst/>
          </a:prstGeom>
          <a:noFill/>
        </p:spPr>
        <p:txBody>
          <a:bodyPr wrap="none">
            <a:spAutoFit/>
          </a:bodyPr>
          <a:lstStyle/>
          <a:p>
            <a:pPr algn="r"/>
            <a:r>
              <a:rPr sz="900" b="1">
                <a:solidFill>
                  <a:srgbClr val="545D6B"/>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EDA: PHÂN BỐ MỨC TIÊU HAO NHIÊN LIỆU</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arget_distribution.png"/>
          <p:cNvPicPr>
            <a:picLocks noChangeAspect="1"/>
          </p:cNvPicPr>
          <p:nvPr/>
        </p:nvPicPr>
        <p:blipFill>
          <a:blip r:embed="rId2"/>
          <a:stretch>
            <a:fillRect/>
          </a:stretch>
        </p:blipFill>
        <p:spPr>
          <a:xfrm>
            <a:off x="640080" y="1371600"/>
            <a:ext cx="7772400" cy="4572000"/>
          </a:xfrm>
          <a:prstGeom prst="rect">
            <a:avLst/>
          </a:prstGeom>
        </p:spPr>
      </p:pic>
      <p:sp>
        <p:nvSpPr>
          <p:cNvPr id="5" name="TextBox 4"/>
          <p:cNvSpPr txBox="1"/>
          <p:nvPr/>
        </p:nvSpPr>
        <p:spPr>
          <a:xfrm>
            <a:off x="8778240" y="1828800"/>
            <a:ext cx="2743200" cy="3200400"/>
          </a:xfrm>
          <a:prstGeom prst="rect">
            <a:avLst/>
          </a:prstGeom>
          <a:noFill/>
        </p:spPr>
        <p:txBody>
          <a:bodyPr wrap="square" lIns="6" rIns="6">
            <a:spAutoFit/>
          </a:bodyPr>
          <a:lstStyle/>
          <a:p>
            <a:pPr algn="l">
              <a:spcAft>
                <a:spcPts val="700"/>
              </a:spcAft>
            </a:pPr>
            <a:r>
              <a:rPr sz="1500">
                <a:solidFill>
                  <a:srgbClr val="131921"/>
                </a:solidFill>
                <a:latin typeface="Arial"/>
              </a:rPr>
              <a:t>Mean = 12,12; Median = 11,60 L/100 km.</a:t>
            </a:r>
          </a:p>
          <a:p>
            <a:pPr algn="l">
              <a:spcAft>
                <a:spcPts val="700"/>
              </a:spcAft>
            </a:pPr>
            <a:r>
              <a:rPr sz="1500">
                <a:solidFill>
                  <a:srgbClr val="131921"/>
                </a:solidFill>
                <a:latin typeface="Arial"/>
              </a:rPr>
              <a:t>Mean lớn hơn Median; phân bố có xu hướng lệch phải.</a:t>
            </a:r>
          </a:p>
          <a:p>
            <a:pPr algn="l">
              <a:spcAft>
                <a:spcPts val="700"/>
              </a:spcAft>
            </a:pPr>
            <a:r>
              <a:rPr sz="1500">
                <a:solidFill>
                  <a:srgbClr val="131921"/>
                </a:solidFill>
                <a:latin typeface="Arial"/>
              </a:rPr>
              <a:t>Phần lớn mẫu tập trung quanh 10–13 L/100 km, với đuôi kéo dài về phía mức tiêu hao cao.</a:t>
            </a:r>
          </a:p>
        </p:txBody>
      </p:sp>
      <p:sp>
        <p:nvSpPr>
          <p:cNvPr id="6" name="TextBox 5"/>
          <p:cNvSpPr txBox="1"/>
          <p:nvPr/>
        </p:nvSpPr>
        <p:spPr>
          <a:xfrm>
            <a:off x="731520" y="6126480"/>
            <a:ext cx="6766560" cy="228600"/>
          </a:xfrm>
          <a:prstGeom prst="rect">
            <a:avLst/>
          </a:prstGeom>
          <a:noFill/>
        </p:spPr>
        <p:txBody>
          <a:bodyPr wrap="none">
            <a:spAutoFit/>
          </a:bodyPr>
          <a:lstStyle/>
          <a:p>
            <a:r>
              <a:rPr sz="1000">
                <a:solidFill>
                  <a:srgbClr val="545D6B"/>
                </a:solidFill>
              </a:rPr>
              <a:t>Biểu đồ: Histogram của Fuel Consumption Comb (L/100 km)</a:t>
            </a:r>
          </a:p>
        </p:txBody>
      </p:sp>
      <p:sp>
        <p:nvSpPr>
          <p:cNvPr id="7" name="TextBox 6"/>
          <p:cNvSpPr txBox="1"/>
          <p:nvPr/>
        </p:nvSpPr>
        <p:spPr>
          <a:xfrm>
            <a:off x="11384280" y="6446520"/>
            <a:ext cx="548640" cy="228600"/>
          </a:xfrm>
          <a:prstGeom prst="rect">
            <a:avLst/>
          </a:prstGeom>
          <a:noFill/>
        </p:spPr>
        <p:txBody>
          <a:bodyPr wrap="none">
            <a:spAutoFit/>
          </a:bodyPr>
          <a:lstStyle/>
          <a:p>
            <a:pPr algn="r"/>
            <a:r>
              <a:rPr sz="900" b="1">
                <a:solidFill>
                  <a:srgbClr val="545D6B"/>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EDA: PHÁT HIỆN GIÁ TRỊ NGOẠI LAI CỦA TARGET</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arget_boxplot.png"/>
          <p:cNvPicPr>
            <a:picLocks noChangeAspect="1"/>
          </p:cNvPicPr>
          <p:nvPr/>
        </p:nvPicPr>
        <p:blipFill>
          <a:blip r:embed="rId2"/>
          <a:stretch>
            <a:fillRect/>
          </a:stretch>
        </p:blipFill>
        <p:spPr>
          <a:xfrm>
            <a:off x="640080" y="1371600"/>
            <a:ext cx="7772400" cy="4572000"/>
          </a:xfrm>
          <a:prstGeom prst="rect">
            <a:avLst/>
          </a:prstGeom>
        </p:spPr>
      </p:pic>
      <p:sp>
        <p:nvSpPr>
          <p:cNvPr id="5" name="TextBox 4"/>
          <p:cNvSpPr txBox="1"/>
          <p:nvPr/>
        </p:nvSpPr>
        <p:spPr>
          <a:xfrm>
            <a:off x="8778240" y="1828800"/>
            <a:ext cx="2743200" cy="3200400"/>
          </a:xfrm>
          <a:prstGeom prst="rect">
            <a:avLst/>
          </a:prstGeom>
          <a:noFill/>
        </p:spPr>
        <p:txBody>
          <a:bodyPr wrap="square" lIns="6" rIns="6">
            <a:spAutoFit/>
          </a:bodyPr>
          <a:lstStyle/>
          <a:p>
            <a:pPr algn="l">
              <a:spcAft>
                <a:spcPts val="700"/>
              </a:spcAft>
            </a:pPr>
            <a:r>
              <a:rPr sz="1500">
                <a:solidFill>
                  <a:srgbClr val="131921"/>
                </a:solidFill>
                <a:latin typeface="Arial"/>
              </a:rPr>
              <a:t>Trung vị target là 11,60 L/100 km; boxplot cho thấy nhiều điểm ngoại lai phía mức tiêu hao cao.</a:t>
            </a:r>
          </a:p>
          <a:p>
            <a:pPr algn="l">
              <a:spcAft>
                <a:spcPts val="700"/>
              </a:spcAft>
            </a:pPr>
            <a:r>
              <a:rPr sz="1500">
                <a:solidFill>
                  <a:srgbClr val="131921"/>
                </a:solidFill>
                <a:latin typeface="Arial"/>
              </a:rPr>
              <a:t>Không tự động xóa các điểm này vì chúng có thể phản ánh xe thực tế.</a:t>
            </a:r>
          </a:p>
          <a:p>
            <a:pPr algn="l">
              <a:spcAft>
                <a:spcPts val="700"/>
              </a:spcAft>
            </a:pPr>
            <a:r>
              <a:rPr sz="1500">
                <a:solidFill>
                  <a:srgbClr val="131921"/>
                </a:solidFill>
                <a:latin typeface="Arial"/>
              </a:rPr>
              <a:t>Code project không có bước loại outlier khỏi target.</a:t>
            </a:r>
          </a:p>
        </p:txBody>
      </p:sp>
      <p:sp>
        <p:nvSpPr>
          <p:cNvPr id="6" name="TextBox 5"/>
          <p:cNvSpPr txBox="1"/>
          <p:nvPr/>
        </p:nvSpPr>
        <p:spPr>
          <a:xfrm>
            <a:off x="11384280" y="6446520"/>
            <a:ext cx="548640" cy="228600"/>
          </a:xfrm>
          <a:prstGeom prst="rect">
            <a:avLst/>
          </a:prstGeom>
          <a:noFill/>
        </p:spPr>
        <p:txBody>
          <a:bodyPr wrap="none">
            <a:spAutoFit/>
          </a:bodyPr>
          <a:lstStyle/>
          <a:p>
            <a:pPr algn="r"/>
            <a:r>
              <a:rPr sz="900" b="1">
                <a:solidFill>
                  <a:srgbClr val="545D6B"/>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EDA: KIỂM TRA GIÁ TRỊ THIẾU</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issing_values.png"/>
          <p:cNvPicPr>
            <a:picLocks noChangeAspect="1"/>
          </p:cNvPicPr>
          <p:nvPr/>
        </p:nvPicPr>
        <p:blipFill>
          <a:blip r:embed="rId2"/>
          <a:stretch>
            <a:fillRect/>
          </a:stretch>
        </p:blipFill>
        <p:spPr>
          <a:xfrm>
            <a:off x="640080" y="1371600"/>
            <a:ext cx="7772400" cy="4572000"/>
          </a:xfrm>
          <a:prstGeom prst="rect">
            <a:avLst/>
          </a:prstGeom>
        </p:spPr>
      </p:pic>
      <p:sp>
        <p:nvSpPr>
          <p:cNvPr id="5" name="TextBox 4"/>
          <p:cNvSpPr txBox="1"/>
          <p:nvPr/>
        </p:nvSpPr>
        <p:spPr>
          <a:xfrm>
            <a:off x="8778240" y="1828800"/>
            <a:ext cx="2743200" cy="3200400"/>
          </a:xfrm>
          <a:prstGeom prst="rect">
            <a:avLst/>
          </a:prstGeom>
          <a:noFill/>
        </p:spPr>
        <p:txBody>
          <a:bodyPr wrap="square" lIns="6" rIns="6">
            <a:spAutoFit/>
          </a:bodyPr>
          <a:lstStyle/>
          <a:p>
            <a:pPr algn="l">
              <a:spcAft>
                <a:spcPts val="700"/>
              </a:spcAft>
            </a:pPr>
            <a:r>
              <a:rPr sz="1500">
                <a:solidFill>
                  <a:srgbClr val="131921"/>
                </a:solidFill>
                <a:latin typeface="Arial"/>
              </a:rPr>
              <a:t>SmogRating thiếu 74,4% (20.101/27.001); CO2Rating thiếu 70,3% (18.991/27.001).</a:t>
            </a:r>
          </a:p>
          <a:p>
            <a:pPr algn="l">
              <a:spcAft>
                <a:spcPts val="700"/>
              </a:spcAft>
            </a:pPr>
            <a:r>
              <a:rPr sz="1500">
                <a:solidFill>
                  <a:srgbClr val="131921"/>
                </a:solidFill>
                <a:latin typeface="Arial"/>
              </a:rPr>
              <a:t>Hai thuộc tính này không được sử dụng làm feature đầu vào của mô hình nên không ảnh hưởng trực tiếp tới quá trình huấn luyện.</a:t>
            </a:r>
          </a:p>
          <a:p>
            <a:pPr algn="l">
              <a:spcAft>
                <a:spcPts val="700"/>
              </a:spcAft>
            </a:pPr>
            <a:r>
              <a:rPr sz="1500">
                <a:solidFill>
                  <a:srgbClr val="131921"/>
                </a:solidFill>
                <a:latin typeface="Arial"/>
              </a:rPr>
              <a:t>Pipeline chỉ impute 7 feature: median cho numeric, most frequent cho categorical.</a:t>
            </a:r>
          </a:p>
        </p:txBody>
      </p:sp>
      <p:sp>
        <p:nvSpPr>
          <p:cNvPr id="6" name="TextBox 5"/>
          <p:cNvSpPr txBox="1"/>
          <p:nvPr/>
        </p:nvSpPr>
        <p:spPr>
          <a:xfrm>
            <a:off x="11384280" y="6446520"/>
            <a:ext cx="548640" cy="228600"/>
          </a:xfrm>
          <a:prstGeom prst="rect">
            <a:avLst/>
          </a:prstGeom>
          <a:noFill/>
        </p:spPr>
        <p:txBody>
          <a:bodyPr wrap="none">
            <a:spAutoFit/>
          </a:bodyPr>
          <a:lstStyle/>
          <a:p>
            <a:pPr algn="r"/>
            <a:r>
              <a:rPr sz="900" b="1">
                <a:solidFill>
                  <a:srgbClr val="545D6B"/>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EDA: DUNG TÍCH ĐỘNG CƠ VÀ MỨC TIÊU HAO</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ngine_size_vs_target.png"/>
          <p:cNvPicPr>
            <a:picLocks noChangeAspect="1"/>
          </p:cNvPicPr>
          <p:nvPr/>
        </p:nvPicPr>
        <p:blipFill>
          <a:blip r:embed="rId2"/>
          <a:stretch>
            <a:fillRect/>
          </a:stretch>
        </p:blipFill>
        <p:spPr>
          <a:xfrm>
            <a:off x="640080" y="1371600"/>
            <a:ext cx="7772400" cy="4572000"/>
          </a:xfrm>
          <a:prstGeom prst="rect">
            <a:avLst/>
          </a:prstGeom>
        </p:spPr>
      </p:pic>
      <p:sp>
        <p:nvSpPr>
          <p:cNvPr id="5" name="TextBox 4"/>
          <p:cNvSpPr txBox="1"/>
          <p:nvPr/>
        </p:nvSpPr>
        <p:spPr>
          <a:xfrm>
            <a:off x="8778240" y="1828800"/>
            <a:ext cx="2743200" cy="3200400"/>
          </a:xfrm>
          <a:prstGeom prst="rect">
            <a:avLst/>
          </a:prstGeom>
          <a:noFill/>
        </p:spPr>
        <p:txBody>
          <a:bodyPr wrap="square" lIns="6" rIns="6">
            <a:spAutoFit/>
          </a:bodyPr>
          <a:lstStyle/>
          <a:p>
            <a:pPr algn="l">
              <a:spcAft>
                <a:spcPts val="700"/>
              </a:spcAft>
            </a:pPr>
            <a:r>
              <a:rPr sz="1500">
                <a:solidFill>
                  <a:srgbClr val="131921"/>
                </a:solidFill>
                <a:latin typeface="Arial"/>
              </a:rPr>
              <a:t>Khi dung tích động cơ tăng, mức tiêu hao nhiên liệu nhìn chung tăng; đường xu hướng đi lên.</a:t>
            </a:r>
          </a:p>
          <a:p>
            <a:pPr algn="l">
              <a:spcAft>
                <a:spcPts val="700"/>
              </a:spcAft>
            </a:pPr>
            <a:r>
              <a:rPr sz="1500">
                <a:solidFill>
                  <a:srgbClr val="131921"/>
                </a:solidFill>
                <a:latin typeface="Arial"/>
              </a:rPr>
              <a:t>Các điểm vẫn phân tán rộng ở cùng dung tích, nên Engine Size không giải thích toàn bộ biến thiên của target.</a:t>
            </a:r>
          </a:p>
          <a:p>
            <a:pPr algn="l">
              <a:spcAft>
                <a:spcPts val="700"/>
              </a:spcAft>
            </a:pPr>
            <a:r>
              <a:rPr sz="1500">
                <a:solidFill>
                  <a:srgbClr val="131921"/>
                </a:solidFill>
                <a:latin typeface="Arial"/>
              </a:rPr>
              <a:t>Mức tiêu hao còn chịu ảnh hưởng của các đặc trưng khác của xe.</a:t>
            </a:r>
          </a:p>
        </p:txBody>
      </p:sp>
      <p:sp>
        <p:nvSpPr>
          <p:cNvPr id="6" name="TextBox 5"/>
          <p:cNvSpPr txBox="1"/>
          <p:nvPr/>
        </p:nvSpPr>
        <p:spPr>
          <a:xfrm>
            <a:off x="731520" y="6126480"/>
            <a:ext cx="6766560" cy="228600"/>
          </a:xfrm>
          <a:prstGeom prst="rect">
            <a:avLst/>
          </a:prstGeom>
          <a:noFill/>
        </p:spPr>
        <p:txBody>
          <a:bodyPr wrap="none">
            <a:spAutoFit/>
          </a:bodyPr>
          <a:lstStyle/>
          <a:p>
            <a:r>
              <a:rPr sz="1000">
                <a:solidFill>
                  <a:srgbClr val="545D6B"/>
                </a:solidFill>
              </a:rPr>
              <a:t>Trục X: Engine Size (L)    Trục Y: Fuel Consumption Comb (L/100 km)</a:t>
            </a:r>
          </a:p>
        </p:txBody>
      </p:sp>
      <p:sp>
        <p:nvSpPr>
          <p:cNvPr id="7" name="TextBox 6"/>
          <p:cNvSpPr txBox="1"/>
          <p:nvPr/>
        </p:nvSpPr>
        <p:spPr>
          <a:xfrm>
            <a:off x="11384280" y="6446520"/>
            <a:ext cx="548640" cy="228600"/>
          </a:xfrm>
          <a:prstGeom prst="rect">
            <a:avLst/>
          </a:prstGeom>
          <a:noFill/>
        </p:spPr>
        <p:txBody>
          <a:bodyPr wrap="none">
            <a:spAutoFit/>
          </a:bodyPr>
          <a:lstStyle/>
          <a:p>
            <a:pPr algn="r"/>
            <a:r>
              <a:rPr sz="900" b="1">
                <a:solidFill>
                  <a:srgbClr val="545D6B"/>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EDA: SỐ XI-LANH VÀ MỨC TIÊU HAO</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ylinders_vs_target.png"/>
          <p:cNvPicPr>
            <a:picLocks noChangeAspect="1"/>
          </p:cNvPicPr>
          <p:nvPr/>
        </p:nvPicPr>
        <p:blipFill>
          <a:blip r:embed="rId2"/>
          <a:stretch>
            <a:fillRect/>
          </a:stretch>
        </p:blipFill>
        <p:spPr>
          <a:xfrm>
            <a:off x="640080" y="1371600"/>
            <a:ext cx="7772400" cy="4572000"/>
          </a:xfrm>
          <a:prstGeom prst="rect">
            <a:avLst/>
          </a:prstGeom>
        </p:spPr>
      </p:pic>
      <p:sp>
        <p:nvSpPr>
          <p:cNvPr id="5" name="TextBox 4"/>
          <p:cNvSpPr txBox="1"/>
          <p:nvPr/>
        </p:nvSpPr>
        <p:spPr>
          <a:xfrm>
            <a:off x="8778240" y="1828800"/>
            <a:ext cx="2743200" cy="3200400"/>
          </a:xfrm>
          <a:prstGeom prst="rect">
            <a:avLst/>
          </a:prstGeom>
          <a:noFill/>
        </p:spPr>
        <p:txBody>
          <a:bodyPr wrap="square" lIns="6" rIns="6">
            <a:spAutoFit/>
          </a:bodyPr>
          <a:lstStyle/>
          <a:p>
            <a:pPr algn="l">
              <a:spcAft>
                <a:spcPts val="700"/>
              </a:spcAft>
            </a:pPr>
            <a:r>
              <a:rPr sz="1500">
                <a:solidFill>
                  <a:srgbClr val="131921"/>
                </a:solidFill>
                <a:latin typeface="Arial"/>
              </a:rPr>
              <a:t>Các nhóm nhiều xi-lanh thường có mức tiêu hao cao hơn nhóm ít xi-lanh.</a:t>
            </a:r>
          </a:p>
          <a:p>
            <a:pPr algn="l">
              <a:spcAft>
                <a:spcPts val="700"/>
              </a:spcAft>
            </a:pPr>
            <a:r>
              <a:rPr sz="1500">
                <a:solidFill>
                  <a:srgbClr val="131921"/>
                </a:solidFill>
                <a:latin typeface="Arial"/>
              </a:rPr>
              <a:t>Phân bố giữa các nhóm vẫn chồng lấn; số xi-lanh không quyết định riêng lẻ mức tiêu hao.</a:t>
            </a:r>
          </a:p>
          <a:p>
            <a:pPr algn="l">
              <a:spcAft>
                <a:spcPts val="700"/>
              </a:spcAft>
            </a:pPr>
            <a:r>
              <a:rPr sz="1500">
                <a:solidFill>
                  <a:srgbClr val="131921"/>
                </a:solidFill>
                <a:latin typeface="Arial"/>
              </a:rPr>
              <a:t>Dung tích động cơ, hộp số, loại xe và nhiên liệu cũng góp phần tạo khác biệt.</a:t>
            </a:r>
          </a:p>
        </p:txBody>
      </p:sp>
      <p:sp>
        <p:nvSpPr>
          <p:cNvPr id="6" name="TextBox 5"/>
          <p:cNvSpPr txBox="1"/>
          <p:nvPr/>
        </p:nvSpPr>
        <p:spPr>
          <a:xfrm>
            <a:off x="11384280" y="6446520"/>
            <a:ext cx="548640" cy="228600"/>
          </a:xfrm>
          <a:prstGeom prst="rect">
            <a:avLst/>
          </a:prstGeom>
          <a:noFill/>
        </p:spPr>
        <p:txBody>
          <a:bodyPr wrap="none">
            <a:spAutoFit/>
          </a:bodyPr>
          <a:lstStyle/>
          <a:p>
            <a:pPr algn="r"/>
            <a:r>
              <a:rPr sz="900" b="1">
                <a:solidFill>
                  <a:srgbClr val="545D6B"/>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EDA: LOẠI NHIÊN LIỆU VÀ PHÂN KHÚC XE</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uel_type_vs_target.png"/>
          <p:cNvPicPr>
            <a:picLocks noChangeAspect="1"/>
          </p:cNvPicPr>
          <p:nvPr/>
        </p:nvPicPr>
        <p:blipFill>
          <a:blip r:embed="rId2"/>
          <a:stretch>
            <a:fillRect/>
          </a:stretch>
        </p:blipFill>
        <p:spPr>
          <a:xfrm>
            <a:off x="502920" y="1371600"/>
            <a:ext cx="5532120" cy="4160520"/>
          </a:xfrm>
          <a:prstGeom prst="rect">
            <a:avLst/>
          </a:prstGeom>
        </p:spPr>
      </p:pic>
      <p:pic>
        <p:nvPicPr>
          <p:cNvPr id="5" name="Picture 4" descr="vehicle_class_vs_target.png"/>
          <p:cNvPicPr>
            <a:picLocks noChangeAspect="1"/>
          </p:cNvPicPr>
          <p:nvPr/>
        </p:nvPicPr>
        <p:blipFill>
          <a:blip r:embed="rId3"/>
          <a:stretch>
            <a:fillRect/>
          </a:stretch>
        </p:blipFill>
        <p:spPr>
          <a:xfrm>
            <a:off x="6172200" y="1371600"/>
            <a:ext cx="5532120" cy="4160520"/>
          </a:xfrm>
          <a:prstGeom prst="rect">
            <a:avLst/>
          </a:prstGeom>
        </p:spPr>
      </p:pic>
      <p:sp>
        <p:nvSpPr>
          <p:cNvPr id="6" name="TextBox 5"/>
          <p:cNvSpPr txBox="1"/>
          <p:nvPr/>
        </p:nvSpPr>
        <p:spPr>
          <a:xfrm>
            <a:off x="685800" y="5596128"/>
            <a:ext cx="10835640" cy="749808"/>
          </a:xfrm>
          <a:prstGeom prst="rect">
            <a:avLst/>
          </a:prstGeom>
          <a:noFill/>
        </p:spPr>
        <p:txBody>
          <a:bodyPr wrap="square" lIns="6" rIns="6">
            <a:spAutoFit/>
          </a:bodyPr>
          <a:lstStyle/>
          <a:p>
            <a:pPr algn="l">
              <a:spcAft>
                <a:spcPts val="700"/>
              </a:spcAft>
            </a:pPr>
            <a:r>
              <a:rPr sz="1400">
                <a:solidFill>
                  <a:srgbClr val="131921"/>
                </a:solidFill>
                <a:latin typeface="Arial"/>
              </a:rPr>
              <a:t>Fuel Type và Vehicle Class có phân bố mức tiêu hao khác nhau; trong từng nhóm vẫn có độ phân tán đáng kể.</a:t>
            </a:r>
          </a:p>
          <a:p>
            <a:pPr algn="l">
              <a:spcAft>
                <a:spcPts val="700"/>
              </a:spcAft>
            </a:pPr>
            <a:r>
              <a:rPr sz="1400">
                <a:solidFill>
                  <a:srgbClr val="131921"/>
                </a:solidFill>
                <a:latin typeface="Arial"/>
              </a:rPr>
              <a:t>Đây là biến phân loại; pipeline project mã hóa bằng OneHotEncoder.</a:t>
            </a:r>
          </a:p>
        </p:txBody>
      </p:sp>
      <p:sp>
        <p:nvSpPr>
          <p:cNvPr id="7" name="TextBox 6"/>
          <p:cNvSpPr txBox="1"/>
          <p:nvPr/>
        </p:nvSpPr>
        <p:spPr>
          <a:xfrm>
            <a:off x="11384280" y="6446520"/>
            <a:ext cx="548640" cy="228600"/>
          </a:xfrm>
          <a:prstGeom prst="rect">
            <a:avLst/>
          </a:prstGeom>
          <a:noFill/>
        </p:spPr>
        <p:txBody>
          <a:bodyPr wrap="none">
            <a:spAutoFit/>
          </a:bodyPr>
          <a:lstStyle/>
          <a:p>
            <a:pPr algn="r"/>
            <a:r>
              <a:rPr sz="900" b="1">
                <a:solidFill>
                  <a:srgbClr val="545D6B"/>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EDA: MA TRẬN TƯƠNG QUAN</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rrelation_heatmap.png"/>
          <p:cNvPicPr>
            <a:picLocks noChangeAspect="1"/>
          </p:cNvPicPr>
          <p:nvPr/>
        </p:nvPicPr>
        <p:blipFill>
          <a:blip r:embed="rId2"/>
          <a:stretch>
            <a:fillRect/>
          </a:stretch>
        </p:blipFill>
        <p:spPr>
          <a:xfrm>
            <a:off x="640080" y="1371600"/>
            <a:ext cx="7772400" cy="4572000"/>
          </a:xfrm>
          <a:prstGeom prst="rect">
            <a:avLst/>
          </a:prstGeom>
        </p:spPr>
      </p:pic>
      <p:sp>
        <p:nvSpPr>
          <p:cNvPr id="5" name="TextBox 4"/>
          <p:cNvSpPr txBox="1"/>
          <p:nvPr/>
        </p:nvSpPr>
        <p:spPr>
          <a:xfrm>
            <a:off x="8778240" y="1828800"/>
            <a:ext cx="2743200" cy="3200400"/>
          </a:xfrm>
          <a:prstGeom prst="rect">
            <a:avLst/>
          </a:prstGeom>
          <a:noFill/>
        </p:spPr>
        <p:txBody>
          <a:bodyPr wrap="square" lIns="6" rIns="6">
            <a:spAutoFit/>
          </a:bodyPr>
          <a:lstStyle/>
          <a:p>
            <a:pPr algn="l">
              <a:spcAft>
                <a:spcPts val="700"/>
              </a:spcAft>
            </a:pPr>
            <a:r>
              <a:rPr sz="1500">
                <a:solidFill>
                  <a:srgbClr val="131921"/>
                </a:solidFill>
                <a:latin typeface="Arial"/>
              </a:rPr>
              <a:t>Heatmap dùng cho EDA để quan sát tương quan tuyến tính giữa các biến số.</a:t>
            </a:r>
          </a:p>
          <a:p>
            <a:pPr algn="l">
              <a:spcAft>
                <a:spcPts val="700"/>
              </a:spcAft>
            </a:pPr>
            <a:r>
              <a:rPr sz="1500">
                <a:solidFill>
                  <a:srgbClr val="131921"/>
                </a:solidFill>
                <a:latin typeface="Arial"/>
              </a:rPr>
              <a:t>Engine Size tương quan dương với Fuel Consumption Comb (r = 0,81); Cylinders cũng tương quan dương (r = 0,76).</a:t>
            </a:r>
          </a:p>
          <a:p>
            <a:pPr algn="l">
              <a:spcAft>
                <a:spcPts val="700"/>
              </a:spcAft>
            </a:pPr>
            <a:r>
              <a:rPr sz="1500">
                <a:solidFill>
                  <a:srgbClr val="131921"/>
                </a:solidFill>
                <a:latin typeface="Arial"/>
              </a:rPr>
              <a:t>Các biến trong heatmap phục vụ EDA, không nhất thiết được đưa vào mô hình.</a:t>
            </a:r>
          </a:p>
          <a:p>
            <a:pPr algn="l">
              <a:spcAft>
                <a:spcPts val="700"/>
              </a:spcAft>
            </a:pPr>
            <a:r>
              <a:rPr sz="1500">
                <a:solidFill>
                  <a:srgbClr val="131921"/>
                </a:solidFill>
                <a:latin typeface="Arial"/>
              </a:rPr>
              <a:t>Tương quan không đồng nghĩa với quan hệ nguyên nhân – kết quả.</a:t>
            </a:r>
          </a:p>
        </p:txBody>
      </p:sp>
      <p:sp>
        <p:nvSpPr>
          <p:cNvPr id="6" name="TextBox 5"/>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TIỀN XỬ LÝ DỮ LIỆU</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920240"/>
            <a:ext cx="1463040" cy="822960"/>
          </a:xfrm>
          <a:prstGeom prst="roundRect">
            <a:avLst/>
          </a:prstGeom>
          <a:solidFill>
            <a:srgbClr val="F5F7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Dữ liệu gốc</a:t>
            </a:r>
          </a:p>
        </p:txBody>
      </p:sp>
      <p:sp>
        <p:nvSpPr>
          <p:cNvPr id="5" name="Rounded Rectangle 4"/>
          <p:cNvSpPr/>
          <p:nvPr/>
        </p:nvSpPr>
        <p:spPr>
          <a:xfrm>
            <a:off x="2286000" y="1920240"/>
            <a:ext cx="1463040" cy="822960"/>
          </a:xfrm>
          <a:prstGeom prst="roundRect">
            <a:avLst/>
          </a:prstGeom>
          <a:solidFill>
            <a:srgbClr val="F5F7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Kiểm tra dữ liệu</a:t>
            </a:r>
          </a:p>
        </p:txBody>
      </p:sp>
      <p:sp>
        <p:nvSpPr>
          <p:cNvPr id="6" name="Rounded Rectangle 5"/>
          <p:cNvSpPr/>
          <p:nvPr/>
        </p:nvSpPr>
        <p:spPr>
          <a:xfrm>
            <a:off x="4114800" y="1920240"/>
            <a:ext cx="1463040" cy="822960"/>
          </a:xfrm>
          <a:prstGeom prst="roundRect">
            <a:avLst/>
          </a:prstGeom>
          <a:solidFill>
            <a:srgbClr val="F5F7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Làm sạch</a:t>
            </a:r>
          </a:p>
        </p:txBody>
      </p:sp>
      <p:sp>
        <p:nvSpPr>
          <p:cNvPr id="7" name="Rounded Rectangle 6"/>
          <p:cNvSpPr/>
          <p:nvPr/>
        </p:nvSpPr>
        <p:spPr>
          <a:xfrm>
            <a:off x="5943600" y="1920240"/>
            <a:ext cx="1463040" cy="822960"/>
          </a:xfrm>
          <a:prstGeom prst="roundRect">
            <a:avLst/>
          </a:prstGeom>
          <a:solidFill>
            <a:srgbClr val="F5F7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Chọn đặc trưng</a:t>
            </a:r>
          </a:p>
        </p:txBody>
      </p:sp>
      <p:sp>
        <p:nvSpPr>
          <p:cNvPr id="8" name="Rounded Rectangle 7"/>
          <p:cNvSpPr/>
          <p:nvPr/>
        </p:nvSpPr>
        <p:spPr>
          <a:xfrm>
            <a:off x="7772400" y="1920240"/>
            <a:ext cx="1463040" cy="822960"/>
          </a:xfrm>
          <a:prstGeom prst="roundRect">
            <a:avLst/>
          </a:prstGeom>
          <a:solidFill>
            <a:srgbClr val="F5F7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Chia Train/Test</a:t>
            </a:r>
          </a:p>
        </p:txBody>
      </p:sp>
      <p:sp>
        <p:nvSpPr>
          <p:cNvPr id="9" name="Rounded Rectangle 8"/>
          <p:cNvSpPr/>
          <p:nvPr/>
        </p:nvSpPr>
        <p:spPr>
          <a:xfrm>
            <a:off x="9601200" y="1920240"/>
            <a:ext cx="1463040" cy="822960"/>
          </a:xfrm>
          <a:prstGeom prst="roundRect">
            <a:avLst/>
          </a:prstGeom>
          <a:solidFill>
            <a:srgbClr val="F5F7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Pipeline tiền xử lý</a:t>
            </a:r>
          </a:p>
        </p:txBody>
      </p:sp>
      <p:sp>
        <p:nvSpPr>
          <p:cNvPr id="10" name="TextBox 9"/>
          <p:cNvSpPr txBox="1"/>
          <p:nvPr/>
        </p:nvSpPr>
        <p:spPr>
          <a:xfrm>
            <a:off x="731520" y="3474720"/>
            <a:ext cx="10789920" cy="2377440"/>
          </a:xfrm>
          <a:prstGeom prst="rect">
            <a:avLst/>
          </a:prstGeom>
          <a:noFill/>
        </p:spPr>
        <p:txBody>
          <a:bodyPr wrap="square" lIns="6" rIns="6">
            <a:spAutoFit/>
          </a:bodyPr>
          <a:lstStyle/>
          <a:p>
            <a:pPr algn="l">
              <a:spcAft>
                <a:spcPts val="700"/>
              </a:spcAft>
            </a:pPr>
            <a:r>
              <a:rPr sz="1500">
                <a:solidFill>
                  <a:srgbClr val="131921"/>
                </a:solidFill>
                <a:latin typeface="Arial"/>
              </a:rPr>
              <a:t>Làm sạch: xóa khoảng trắng, chuẩn hóa chữ hoa cho chuỗi và loại bản ghi trùng chính xác.</a:t>
            </a:r>
          </a:p>
          <a:p>
            <a:pPr algn="l">
              <a:spcAft>
                <a:spcPts val="700"/>
              </a:spcAft>
            </a:pPr>
            <a:r>
              <a:rPr sz="1500">
                <a:solidFill>
                  <a:srgbClr val="131921"/>
                </a:solidFill>
                <a:latin typeface="Arial"/>
              </a:rPr>
              <a:t>7 feature: Model Year, Make, Vehicle Class, Engine Size (L), Cylinders, Transmission, Fuel Type.</a:t>
            </a:r>
          </a:p>
          <a:p>
            <a:pPr algn="l">
              <a:spcAft>
                <a:spcPts val="700"/>
              </a:spcAft>
            </a:pPr>
            <a:r>
              <a:rPr sz="1500">
                <a:solidFill>
                  <a:srgbClr val="131921"/>
                </a:solidFill>
                <a:latin typeface="Arial"/>
              </a:rPr>
              <a:t>Target: Fuel Consumption Comb (L/100 km). Chia Train/Test 80/20, random_state = 42.</a:t>
            </a:r>
          </a:p>
          <a:p>
            <a:pPr algn="l">
              <a:spcAft>
                <a:spcPts val="700"/>
              </a:spcAft>
            </a:pPr>
            <a:r>
              <a:rPr sz="1500">
                <a:solidFill>
                  <a:srgbClr val="131921"/>
                </a:solidFill>
                <a:latin typeface="Arial"/>
              </a:rPr>
              <a:t>Test set chỉ dùng để đánh giá cuối cùng.</a:t>
            </a:r>
          </a:p>
        </p:txBody>
      </p:sp>
      <p:sp>
        <p:nvSpPr>
          <p:cNvPr id="11" name="TextBox 10"/>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NGĂN NGỪA DATA LEAKAGE VÀ PIPELINE</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75488" y="1920240"/>
            <a:ext cx="1572768" cy="91440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t>Dataset</a:t>
            </a:r>
          </a:p>
        </p:txBody>
      </p:sp>
      <p:sp>
        <p:nvSpPr>
          <p:cNvPr id="5" name="Rounded Rectangle 4"/>
          <p:cNvSpPr/>
          <p:nvPr/>
        </p:nvSpPr>
        <p:spPr>
          <a:xfrm>
            <a:off x="2331720" y="1920240"/>
            <a:ext cx="1572768" cy="91440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t>Train/Test Split</a:t>
            </a:r>
          </a:p>
        </p:txBody>
      </p:sp>
      <p:sp>
        <p:nvSpPr>
          <p:cNvPr id="6" name="Rounded Rectangle 5"/>
          <p:cNvSpPr/>
          <p:nvPr/>
        </p:nvSpPr>
        <p:spPr>
          <a:xfrm>
            <a:off x="4187952" y="1920240"/>
            <a:ext cx="1572768" cy="91440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t>Fit preprocessing</a:t>
            </a:r>
            <a:br/>
            <a:r>
              <a:t/>
            </a:r>
          </a:p>
          <a:p>
            <a:r>
              <a:t>chỉ trên Train</a:t>
            </a:r>
          </a:p>
        </p:txBody>
      </p:sp>
      <p:sp>
        <p:nvSpPr>
          <p:cNvPr id="7" name="Rounded Rectangle 6"/>
          <p:cNvSpPr/>
          <p:nvPr/>
        </p:nvSpPr>
        <p:spPr>
          <a:xfrm>
            <a:off x="6044184" y="1920240"/>
            <a:ext cx="1572768" cy="91440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t>Transform Train/Test</a:t>
            </a:r>
          </a:p>
        </p:txBody>
      </p:sp>
      <p:sp>
        <p:nvSpPr>
          <p:cNvPr id="9" name="Rectangle 8"/>
          <p:cNvSpPr/>
          <p:nvPr/>
        </p:nvSpPr>
        <p:spPr>
          <a:xfrm>
            <a:off x="1828800" y="3749039"/>
            <a:ext cx="8321040" cy="548640"/>
          </a:xfrm>
          <a:prstGeom prst="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409F"/>
                </a:solidFill>
              </a:rPr>
              <a:t>Numeric: Median Imputer → StandardScaler    |    Categorical: Most Frequent Imputer → OneHotEncoder</a:t>
            </a:r>
          </a:p>
        </p:txBody>
      </p:sp>
      <p:sp>
        <p:nvSpPr>
          <p:cNvPr id="10" name="TextBox 9"/>
          <p:cNvSpPr txBox="1"/>
          <p:nvPr/>
        </p:nvSpPr>
        <p:spPr>
          <a:xfrm>
            <a:off x="731520" y="4480560"/>
            <a:ext cx="10972800" cy="1828800"/>
          </a:xfrm>
          <a:prstGeom prst="rect">
            <a:avLst/>
          </a:prstGeom>
          <a:noFill/>
        </p:spPr>
        <p:txBody>
          <a:bodyPr wrap="square" lIns="6" rIns="6">
            <a:spAutoFit/>
          </a:bodyPr>
          <a:lstStyle/>
          <a:p>
            <a:pPr algn="l">
              <a:spcAft>
                <a:spcPts val="700"/>
              </a:spcAft>
            </a:pPr>
            <a:r>
              <a:rPr sz="1300">
                <a:solidFill>
                  <a:srgbClr val="131921"/>
                </a:solidFill>
                <a:latin typeface="Arial"/>
              </a:rPr>
              <a:t>Dataset → Train/Test Split → Fit preprocessing trên Train → Transform Train/Test → Train Model → Evaluate Test.</a:t>
            </a:r>
          </a:p>
          <a:p>
            <a:pPr algn="l">
              <a:spcAft>
                <a:spcPts val="700"/>
              </a:spcAft>
            </a:pPr>
            <a:r>
              <a:rPr sz="1300">
                <a:solidFill>
                  <a:srgbClr val="131921"/>
                </a:solidFill>
                <a:latin typeface="Arial"/>
              </a:rPr>
              <a:t>Numeric: Median Imputer + StandardScaler. Categorical: Most Frequent Imputer + OneHotEncoder.</a:t>
            </a:r>
          </a:p>
          <a:p>
            <a:pPr algn="l">
              <a:spcAft>
                <a:spcPts val="700"/>
              </a:spcAft>
            </a:pPr>
            <a:r>
              <a:rPr sz="1300">
                <a:solidFill>
                  <a:srgbClr val="131921"/>
                </a:solidFill>
                <a:latin typeface="Arial"/>
              </a:rPr>
              <a:t>Test tuyệt đối không tham gia fit imputer, scaler, encoder hoặc tuning.</a:t>
            </a:r>
          </a:p>
          <a:p>
            <a:pPr algn="l">
              <a:spcAft>
                <a:spcPts val="700"/>
              </a:spcAft>
            </a:pPr>
            <a:r>
              <a:rPr sz="1300">
                <a:solidFill>
                  <a:srgbClr val="131921"/>
                </a:solidFill>
                <a:latin typeface="Arial"/>
              </a:rPr>
              <a:t>Test set phải được xem là dữ liệu chưa từng xuất hiện trong quá trình huấn luyện.</a:t>
            </a:r>
          </a:p>
        </p:txBody>
      </p:sp>
      <p:sp>
        <p:nvSpPr>
          <p:cNvPr id="11" name="TextBox 10"/>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12</a:t>
            </a:r>
          </a:p>
        </p:txBody>
      </p:sp>
      <p:sp>
        <p:nvSpPr>
          <p:cNvPr id="12" name="Rounded Rectangle 11"/>
          <p:cNvSpPr/>
          <p:nvPr/>
        </p:nvSpPr>
        <p:spPr>
          <a:xfrm>
            <a:off x="7900416" y="1920240"/>
            <a:ext cx="1572768" cy="914400"/>
          </a:xfrm>
          <a:prstGeom prst="roundRect">
            <a:avLst/>
          </a:prstGeom>
          <a:solidFill>
            <a:srgbClr val="F2F6FA"/>
          </a:solidFill>
          <a:ln w="13970">
            <a:solidFill>
              <a:srgbClr val="1830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a:solidFill>
                  <a:srgbClr val="183046"/>
                </a:solidFill>
                <a:latin typeface="Arial"/>
              </a:rPr>
              <a:t>Train Model</a:t>
            </a:r>
          </a:p>
        </p:txBody>
      </p:sp>
      <p:sp>
        <p:nvSpPr>
          <p:cNvPr id="13" name="Rounded Rectangle 12"/>
          <p:cNvSpPr/>
          <p:nvPr/>
        </p:nvSpPr>
        <p:spPr>
          <a:xfrm>
            <a:off x="9756648" y="1920240"/>
            <a:ext cx="1783080" cy="914400"/>
          </a:xfrm>
          <a:prstGeom prst="roundRect">
            <a:avLst/>
          </a:prstGeom>
          <a:solidFill>
            <a:srgbClr val="F2F6FA"/>
          </a:solidFill>
          <a:ln w="13970">
            <a:solidFill>
              <a:srgbClr val="1830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a:solidFill>
                  <a:srgbClr val="183046"/>
                </a:solidFill>
                <a:latin typeface="Arial"/>
              </a:rPr>
              <a:t>Evaluate Test</a:t>
            </a:r>
          </a:p>
        </p:txBody>
      </p:sp>
      <p:sp>
        <p:nvSpPr>
          <p:cNvPr id="14" name="Right Arrow 13"/>
          <p:cNvSpPr/>
          <p:nvPr/>
        </p:nvSpPr>
        <p:spPr>
          <a:xfrm>
            <a:off x="2084831" y="2295144"/>
            <a:ext cx="182880" cy="155448"/>
          </a:xfrm>
          <a:prstGeom prst="rightArrow">
            <a:avLst/>
          </a:prstGeom>
          <a:solidFill>
            <a:srgbClr val="EE7039"/>
          </a:solidFill>
          <a:ln>
            <a:solidFill>
              <a:srgbClr val="EE70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3941063" y="2295144"/>
            <a:ext cx="182880" cy="155448"/>
          </a:xfrm>
          <a:prstGeom prst="rightArrow">
            <a:avLst/>
          </a:prstGeom>
          <a:solidFill>
            <a:srgbClr val="EE7039"/>
          </a:solidFill>
          <a:ln>
            <a:solidFill>
              <a:srgbClr val="EE70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5797296" y="2295144"/>
            <a:ext cx="182880" cy="155448"/>
          </a:xfrm>
          <a:prstGeom prst="rightArrow">
            <a:avLst/>
          </a:prstGeom>
          <a:solidFill>
            <a:srgbClr val="EE7039"/>
          </a:solidFill>
          <a:ln>
            <a:solidFill>
              <a:srgbClr val="EE70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a:off x="7653527" y="2295144"/>
            <a:ext cx="182880" cy="155448"/>
          </a:xfrm>
          <a:prstGeom prst="rightArrow">
            <a:avLst/>
          </a:prstGeom>
          <a:solidFill>
            <a:srgbClr val="EE7039"/>
          </a:solidFill>
          <a:ln>
            <a:solidFill>
              <a:srgbClr val="EE70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9509760" y="2295144"/>
            <a:ext cx="182880" cy="155448"/>
          </a:xfrm>
          <a:prstGeom prst="rightArrow">
            <a:avLst/>
          </a:prstGeom>
          <a:solidFill>
            <a:srgbClr val="EE7039"/>
          </a:solidFill>
          <a:ln>
            <a:solidFill>
              <a:srgbClr val="EE70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LINEAR REGRESSION VÀ DECISION TREE REGRESSOR</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663440" cy="43891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131921"/>
                </a:solidFill>
              </a:rPr>
              <a:t>Linear Regression</a:t>
            </a:r>
          </a:p>
          <a:p>
            <a:pPr>
              <a:spcAft>
                <a:spcPts val="800"/>
              </a:spcAft>
            </a:pPr>
            <a:r>
              <a:rPr sz="1300">
                <a:solidFill>
                  <a:srgbClr val="131921"/>
                </a:solidFill>
              </a:rPr>
              <a:t>Tìm hàm tuyến tính làm nhỏ tổng sai số giữa dự đoán và thực tế.</a:t>
            </a:r>
          </a:p>
          <a:p>
            <a:pPr>
              <a:spcAft>
                <a:spcPts val="800"/>
              </a:spcAft>
            </a:pPr>
            <a:r>
              <a:rPr sz="1300">
                <a:solidFill>
                  <a:srgbClr val="131921"/>
                </a:solidFill>
              </a:rPr>
              <a:t>Ưu điểm: đơn giản, nhanh, dễ giải thích.</a:t>
            </a:r>
          </a:p>
          <a:p>
            <a:pPr>
              <a:spcAft>
                <a:spcPts val="800"/>
              </a:spcAft>
            </a:pPr>
            <a:r>
              <a:rPr sz="1300">
                <a:solidFill>
                  <a:srgbClr val="131921"/>
                </a:solidFill>
              </a:rPr>
              <a:t>Hạn chế: khó mô hình hóa quan hệ phi tuyến phức tạp.</a:t>
            </a:r>
          </a:p>
        </p:txBody>
      </p:sp>
      <p:sp>
        <p:nvSpPr>
          <p:cNvPr id="5" name="Rounded Rectangle 4"/>
          <p:cNvSpPr/>
          <p:nvPr/>
        </p:nvSpPr>
        <p:spPr>
          <a:xfrm>
            <a:off x="6217920" y="1554480"/>
            <a:ext cx="4663440" cy="43891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131921"/>
                </a:solidFill>
              </a:rPr>
              <a:t>Decision Tree Regressor</a:t>
            </a:r>
          </a:p>
          <a:p>
            <a:pPr>
              <a:spcAft>
                <a:spcPts val="800"/>
              </a:spcAft>
            </a:pPr>
            <a:r>
              <a:rPr sz="1300">
                <a:solidFill>
                  <a:srgbClr val="131921"/>
                </a:solidFill>
              </a:rPr>
              <a:t>Chia dữ liệu theo điều kiện của feature; mỗi leaf trả về một giá trị dự đoán.</a:t>
            </a:r>
          </a:p>
          <a:p>
            <a:pPr>
              <a:spcAft>
                <a:spcPts val="800"/>
              </a:spcAft>
            </a:pPr>
            <a:r>
              <a:rPr sz="1300">
                <a:solidFill>
                  <a:srgbClr val="131921"/>
                </a:solidFill>
              </a:rPr>
              <a:t>Ưu điểm: học được quan hệ phi tuyến.</a:t>
            </a:r>
          </a:p>
          <a:p>
            <a:pPr>
              <a:spcAft>
                <a:spcPts val="800"/>
              </a:spcAft>
            </a:pPr>
            <a:r>
              <a:rPr sz="1300">
                <a:solidFill>
                  <a:srgbClr val="131921"/>
                </a:solidFill>
              </a:rPr>
              <a:t>Hạn chế: cây quá sâu dễ overfitting.</a:t>
            </a:r>
          </a:p>
        </p:txBody>
      </p:sp>
      <p:sp>
        <p:nvSpPr>
          <p:cNvPr id="6" name="TextBox 5"/>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13</a:t>
            </a:r>
          </a:p>
        </p:txBody>
      </p:sp>
      <p:cxnSp>
        <p:nvCxnSpPr>
          <p:cNvPr id="7" name="Connector 6"/>
          <p:cNvCxnSpPr/>
          <p:nvPr/>
        </p:nvCxnSpPr>
        <p:spPr>
          <a:xfrm>
            <a:off x="1078992" y="5605272"/>
            <a:ext cx="3931920" cy="0"/>
          </a:xfrm>
          <a:prstGeom prst="line">
            <a:avLst/>
          </a:prstGeom>
          <a:ln w="13970">
            <a:solidFill>
              <a:srgbClr val="18304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078992" y="4279392"/>
            <a:ext cx="0" cy="1325880"/>
          </a:xfrm>
          <a:prstGeom prst="line">
            <a:avLst/>
          </a:prstGeom>
          <a:ln w="13970">
            <a:solidFill>
              <a:srgbClr val="18304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417320" y="5358384"/>
            <a:ext cx="91440" cy="91440"/>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64792" y="5148072"/>
            <a:ext cx="91440" cy="91440"/>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148840" y="5193792"/>
            <a:ext cx="91440" cy="91440"/>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505456" y="4892040"/>
            <a:ext cx="91440" cy="91440"/>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825496" y="4791456"/>
            <a:ext cx="91440" cy="91440"/>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264408" y="4681728"/>
            <a:ext cx="91440" cy="91440"/>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03320" y="4471416"/>
            <a:ext cx="91440" cy="91440"/>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123944" y="4343400"/>
            <a:ext cx="91440" cy="91440"/>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526280" y="4224528"/>
            <a:ext cx="91440" cy="91440"/>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1298448" y="4160520"/>
            <a:ext cx="3474720" cy="1307592"/>
          </a:xfrm>
          <a:prstGeom prst="line">
            <a:avLst/>
          </a:prstGeom>
          <a:ln w="29209">
            <a:solidFill>
              <a:srgbClr val="EE7039"/>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600200" y="5669280"/>
            <a:ext cx="2926080" cy="182880"/>
          </a:xfrm>
          <a:prstGeom prst="rect">
            <a:avLst/>
          </a:prstGeom>
          <a:noFill/>
        </p:spPr>
        <p:txBody>
          <a:bodyPr wrap="none" anchor="ctr">
            <a:spAutoFit/>
          </a:bodyPr>
          <a:lstStyle/>
          <a:p>
            <a:pPr algn="ctr"/>
            <a:r>
              <a:rPr sz="900" b="1">
                <a:solidFill>
                  <a:srgbClr val="183046"/>
                </a:solidFill>
                <a:latin typeface="Arial"/>
              </a:rPr>
              <a:t>Scatter + đường hồi quy</a:t>
            </a:r>
          </a:p>
        </p:txBody>
      </p:sp>
      <p:sp>
        <p:nvSpPr>
          <p:cNvPr id="20" name="Rounded Rectangle 19"/>
          <p:cNvSpPr/>
          <p:nvPr/>
        </p:nvSpPr>
        <p:spPr>
          <a:xfrm>
            <a:off x="8065008" y="4133087"/>
            <a:ext cx="1325880" cy="384048"/>
          </a:xfrm>
          <a:prstGeom prst="roundRect">
            <a:avLst/>
          </a:prstGeom>
          <a:solidFill>
            <a:srgbClr val="F2F6FA"/>
          </a:solidFill>
          <a:ln w="13970">
            <a:solidFill>
              <a:srgbClr val="EE703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183046"/>
                </a:solidFill>
                <a:latin typeface="Arial"/>
              </a:rPr>
              <a:t>x &lt; t?</a:t>
            </a:r>
          </a:p>
        </p:txBody>
      </p:sp>
      <p:cxnSp>
        <p:nvCxnSpPr>
          <p:cNvPr id="21" name="Connector 20"/>
          <p:cNvCxnSpPr/>
          <p:nvPr/>
        </p:nvCxnSpPr>
        <p:spPr>
          <a:xfrm flipH="1">
            <a:off x="7836408" y="4517136"/>
            <a:ext cx="886968" cy="420624"/>
          </a:xfrm>
          <a:prstGeom prst="line">
            <a:avLst/>
          </a:prstGeom>
          <a:ln w="15240">
            <a:solidFill>
              <a:srgbClr val="576A7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723376" y="4517136"/>
            <a:ext cx="896112" cy="420624"/>
          </a:xfrm>
          <a:prstGeom prst="line">
            <a:avLst/>
          </a:prstGeom>
          <a:ln w="15240">
            <a:solidFill>
              <a:srgbClr val="576A7A"/>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150608" y="4910328"/>
            <a:ext cx="1353312" cy="365760"/>
          </a:xfrm>
          <a:prstGeom prst="roundRect">
            <a:avLst/>
          </a:prstGeom>
          <a:solidFill>
            <a:srgbClr val="FFFFFF"/>
          </a:solidFill>
          <a:ln w="13970">
            <a:solidFill>
              <a:srgbClr val="1830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183046"/>
                </a:solidFill>
                <a:latin typeface="Arial"/>
              </a:rPr>
              <a:t>x &lt; u?</a:t>
            </a:r>
          </a:p>
        </p:txBody>
      </p:sp>
      <p:sp>
        <p:nvSpPr>
          <p:cNvPr id="24" name="Rounded Rectangle 23"/>
          <p:cNvSpPr/>
          <p:nvPr/>
        </p:nvSpPr>
        <p:spPr>
          <a:xfrm>
            <a:off x="8942832" y="4910328"/>
            <a:ext cx="1325880" cy="365760"/>
          </a:xfrm>
          <a:prstGeom prst="roundRect">
            <a:avLst/>
          </a:prstGeom>
          <a:solidFill>
            <a:srgbClr val="FFFFFF"/>
          </a:solidFill>
          <a:ln w="13970">
            <a:solidFill>
              <a:srgbClr val="1830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183046"/>
                </a:solidFill>
                <a:latin typeface="Arial"/>
              </a:rPr>
              <a:t>Leaf</a:t>
            </a:r>
          </a:p>
        </p:txBody>
      </p:sp>
      <p:cxnSp>
        <p:nvCxnSpPr>
          <p:cNvPr id="25" name="Connector 24"/>
          <p:cNvCxnSpPr/>
          <p:nvPr/>
        </p:nvCxnSpPr>
        <p:spPr>
          <a:xfrm flipH="1">
            <a:off x="7479792" y="5276088"/>
            <a:ext cx="347472" cy="301752"/>
          </a:xfrm>
          <a:prstGeom prst="line">
            <a:avLst/>
          </a:prstGeom>
          <a:ln w="12700">
            <a:solidFill>
              <a:srgbClr val="576A7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27264" y="5276088"/>
            <a:ext cx="329184" cy="301752"/>
          </a:xfrm>
          <a:prstGeom prst="line">
            <a:avLst/>
          </a:prstGeom>
          <a:ln w="12700">
            <a:solidFill>
              <a:srgbClr val="576A7A"/>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132320" y="5550408"/>
            <a:ext cx="694944" cy="310896"/>
          </a:xfrm>
          <a:prstGeom prst="roundRect">
            <a:avLst/>
          </a:prstGeom>
          <a:solidFill>
            <a:srgbClr val="F2F6FA"/>
          </a:solidFill>
          <a:ln w="13970">
            <a:solidFill>
              <a:srgbClr val="1830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0">
                <a:solidFill>
                  <a:srgbClr val="183046"/>
                </a:solidFill>
                <a:latin typeface="Arial"/>
              </a:rPr>
              <a:t>Leaf</a:t>
            </a:r>
          </a:p>
        </p:txBody>
      </p:sp>
      <p:sp>
        <p:nvSpPr>
          <p:cNvPr id="28" name="Rounded Rectangle 27"/>
          <p:cNvSpPr/>
          <p:nvPr/>
        </p:nvSpPr>
        <p:spPr>
          <a:xfrm>
            <a:off x="7845552" y="5550408"/>
            <a:ext cx="694944" cy="310896"/>
          </a:xfrm>
          <a:prstGeom prst="roundRect">
            <a:avLst/>
          </a:prstGeom>
          <a:solidFill>
            <a:srgbClr val="F2F6FA"/>
          </a:solidFill>
          <a:ln w="13970">
            <a:solidFill>
              <a:srgbClr val="1830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0">
                <a:solidFill>
                  <a:srgbClr val="183046"/>
                </a:solidFill>
                <a:latin typeface="Arial"/>
              </a:rPr>
              <a:t>Leaf</a:t>
            </a:r>
          </a:p>
        </p:txBody>
      </p:sp>
      <p:sp>
        <p:nvSpPr>
          <p:cNvPr id="29" name="TextBox 28"/>
          <p:cNvSpPr txBox="1"/>
          <p:nvPr/>
        </p:nvSpPr>
        <p:spPr>
          <a:xfrm>
            <a:off x="8668512" y="5422392"/>
            <a:ext cx="1783080" cy="384048"/>
          </a:xfrm>
          <a:prstGeom prst="rect">
            <a:avLst/>
          </a:prstGeom>
          <a:noFill/>
        </p:spPr>
        <p:txBody>
          <a:bodyPr wrap="none" anchor="ctr">
            <a:spAutoFit/>
          </a:bodyPr>
          <a:lstStyle/>
          <a:p>
            <a:pPr algn="ctr"/>
            <a:r>
              <a:rPr sz="850" b="1">
                <a:solidFill>
                  <a:srgbClr val="183046"/>
                </a:solidFill>
                <a:latin typeface="Arial"/>
              </a:rPr>
              <a:t>Điều kiện → nhánh → dự đoán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KNN REGRESSOR VÀ SVR</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663440" cy="43891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131921"/>
                </a:solidFill>
              </a:rPr>
              <a:t>KNN Regressor</a:t>
            </a:r>
          </a:p>
          <a:p>
            <a:pPr>
              <a:spcAft>
                <a:spcPts val="800"/>
              </a:spcAft>
            </a:pPr>
            <a:r>
              <a:rPr sz="1300">
                <a:solidFill>
                  <a:srgbClr val="131921"/>
                </a:solidFill>
              </a:rPr>
              <a:t>Lấy K mẫu gần nhất và tổng hợp giá trị của chúng để dự đoán.</a:t>
            </a:r>
          </a:p>
          <a:p>
            <a:pPr>
              <a:spcAft>
                <a:spcPts val="800"/>
              </a:spcAft>
            </a:pPr>
            <a:r>
              <a:rPr sz="1300">
                <a:solidFill>
                  <a:srgbClr val="131921"/>
                </a:solidFill>
              </a:rPr>
              <a:t>K nhỏ nhạy với nhiễu; K quá lớn dễ quá tổng quát.</a:t>
            </a:r>
          </a:p>
          <a:p>
            <a:pPr>
              <a:spcAft>
                <a:spcPts val="800"/>
              </a:spcAft>
            </a:pPr>
            <a:r>
              <a:rPr sz="1300">
                <a:solidFill>
                  <a:srgbClr val="131921"/>
                </a:solidFill>
              </a:rPr>
              <a:t>Dựa trên khoảng cách nên cần StandardScaler.</a:t>
            </a:r>
          </a:p>
        </p:txBody>
      </p:sp>
      <p:sp>
        <p:nvSpPr>
          <p:cNvPr id="5" name="Rounded Rectangle 4"/>
          <p:cNvSpPr/>
          <p:nvPr/>
        </p:nvSpPr>
        <p:spPr>
          <a:xfrm>
            <a:off x="6217920" y="1554480"/>
            <a:ext cx="4663440" cy="4389120"/>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131921"/>
                </a:solidFill>
              </a:rPr>
              <a:t>SVR</a:t>
            </a:r>
          </a:p>
          <a:p>
            <a:pPr>
              <a:spcAft>
                <a:spcPts val="800"/>
              </a:spcAft>
            </a:pPr>
            <a:r>
              <a:rPr sz="1300">
                <a:solidFill>
                  <a:srgbClr val="131921"/>
                </a:solidFill>
              </a:rPr>
              <a:t>Epsilon-tube cho phép sai số trong một vùng nhất định.</a:t>
            </a:r>
          </a:p>
          <a:p>
            <a:pPr>
              <a:spcAft>
                <a:spcPts val="800"/>
              </a:spcAft>
            </a:pPr>
            <a:r>
              <a:rPr sz="1300">
                <a:solidFill>
                  <a:srgbClr val="131921"/>
                </a:solidFill>
              </a:rPr>
              <a:t>C phạt lỗi ngoài tube; epsilon quyết định độ rộng; gamma đặt phạm vi ảnh hưởng của RBF.</a:t>
            </a:r>
          </a:p>
          <a:p>
            <a:pPr>
              <a:spcAft>
                <a:spcPts val="800"/>
              </a:spcAft>
            </a:pPr>
            <a:r>
              <a:rPr sz="1300">
                <a:solidFill>
                  <a:srgbClr val="131921"/>
                </a:solidFill>
              </a:rPr>
              <a:t>SVR cũng cần StandardScaler.</a:t>
            </a:r>
          </a:p>
        </p:txBody>
      </p:sp>
      <p:sp>
        <p:nvSpPr>
          <p:cNvPr id="6" name="TextBox 5"/>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14</a:t>
            </a:r>
          </a:p>
        </p:txBody>
      </p:sp>
      <p:cxnSp>
        <p:nvCxnSpPr>
          <p:cNvPr id="7" name="Connector 6"/>
          <p:cNvCxnSpPr/>
          <p:nvPr/>
        </p:nvCxnSpPr>
        <p:spPr>
          <a:xfrm>
            <a:off x="1078992" y="5605272"/>
            <a:ext cx="3931920" cy="0"/>
          </a:xfrm>
          <a:prstGeom prst="line">
            <a:avLst/>
          </a:prstGeom>
          <a:ln w="13970">
            <a:solidFill>
              <a:srgbClr val="18304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078992" y="4279392"/>
            <a:ext cx="0" cy="1325880"/>
          </a:xfrm>
          <a:prstGeom prst="line">
            <a:avLst/>
          </a:prstGeom>
          <a:ln w="13970">
            <a:solidFill>
              <a:srgbClr val="18304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458468" y="4475988"/>
            <a:ext cx="100584" cy="100584"/>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15084" y="4960620"/>
            <a:ext cx="100584" cy="100584"/>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162556" y="5308092"/>
            <a:ext cx="100584" cy="100584"/>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25012" y="4402836"/>
            <a:ext cx="100584" cy="100584"/>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954780" y="5143500"/>
            <a:ext cx="100584" cy="100584"/>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357116" y="4668012"/>
            <a:ext cx="100584" cy="100584"/>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1436" y="5326380"/>
            <a:ext cx="100584" cy="100584"/>
          </a:xfrm>
          <a:prstGeom prst="ellipse">
            <a:avLst/>
          </a:prstGeom>
          <a:solidFill>
            <a:srgbClr val="576A7A"/>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354580" y="4539996"/>
            <a:ext cx="155448" cy="155448"/>
          </a:xfrm>
          <a:prstGeom prst="ellipse">
            <a:avLst/>
          </a:prstGeom>
          <a:solidFill>
            <a:srgbClr val="EE703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692908" y="4887468"/>
            <a:ext cx="155448" cy="155448"/>
          </a:xfrm>
          <a:prstGeom prst="ellipse">
            <a:avLst/>
          </a:prstGeom>
          <a:solidFill>
            <a:srgbClr val="EE703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2948" y="4512564"/>
            <a:ext cx="155448" cy="155448"/>
          </a:xfrm>
          <a:prstGeom prst="ellipse">
            <a:avLst/>
          </a:prstGeom>
          <a:solidFill>
            <a:srgbClr val="EE703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83763" y="4695444"/>
            <a:ext cx="173736" cy="173736"/>
          </a:xfrm>
          <a:prstGeom prst="ellipse">
            <a:avLst/>
          </a:prstGeom>
          <a:solidFill>
            <a:srgbClr val="18304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5669280"/>
            <a:ext cx="4480560" cy="182880"/>
          </a:xfrm>
          <a:prstGeom prst="rect">
            <a:avLst/>
          </a:prstGeom>
          <a:noFill/>
        </p:spPr>
        <p:txBody>
          <a:bodyPr wrap="none" anchor="ctr">
            <a:spAutoFit/>
          </a:bodyPr>
          <a:lstStyle/>
          <a:p>
            <a:pPr algn="ctr"/>
            <a:r>
              <a:rPr sz="850" b="1">
                <a:solidFill>
                  <a:srgbClr val="183046"/>
                </a:solidFill>
                <a:latin typeface="Arial"/>
              </a:rPr>
              <a:t>Cam: K hàng xóm  |  Navy: mẫu cần dự đoán</a:t>
            </a:r>
          </a:p>
        </p:txBody>
      </p:sp>
      <p:cxnSp>
        <p:nvCxnSpPr>
          <p:cNvPr id="21" name="Connector 20"/>
          <p:cNvCxnSpPr/>
          <p:nvPr/>
        </p:nvCxnSpPr>
        <p:spPr>
          <a:xfrm>
            <a:off x="6656832" y="5468112"/>
            <a:ext cx="3904488" cy="0"/>
          </a:xfrm>
          <a:prstGeom prst="line">
            <a:avLst/>
          </a:prstGeom>
          <a:ln w="13970">
            <a:solidFill>
              <a:srgbClr val="18304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6656832" y="4453128"/>
            <a:ext cx="0" cy="1014984"/>
          </a:xfrm>
          <a:prstGeom prst="line">
            <a:avLst/>
          </a:prstGeom>
          <a:ln w="13970">
            <a:solidFill>
              <a:srgbClr val="18304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6931152" y="4572000"/>
            <a:ext cx="3383280" cy="612648"/>
          </a:xfrm>
          <a:prstGeom prst="line">
            <a:avLst/>
          </a:prstGeom>
          <a:ln w="25400">
            <a:solidFill>
              <a:srgbClr val="EE703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6931152" y="4306824"/>
            <a:ext cx="3383280" cy="612648"/>
          </a:xfrm>
          <a:prstGeom prst="line">
            <a:avLst/>
          </a:prstGeom>
          <a:ln w="22860">
            <a:solidFill>
              <a:srgbClr val="18304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6931152" y="4041648"/>
            <a:ext cx="3383280" cy="612648"/>
          </a:xfrm>
          <a:prstGeom prst="line">
            <a:avLst/>
          </a:prstGeom>
          <a:ln w="25400">
            <a:solidFill>
              <a:srgbClr val="EE7039"/>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7214616" y="4855464"/>
            <a:ext cx="109728" cy="109728"/>
          </a:xfrm>
          <a:prstGeom prst="ellipse">
            <a:avLst/>
          </a:prstGeom>
          <a:solidFill>
            <a:srgbClr val="EE703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854696" y="4736592"/>
            <a:ext cx="109728" cy="109728"/>
          </a:xfrm>
          <a:prstGeom prst="ellipse">
            <a:avLst/>
          </a:prstGeom>
          <a:solidFill>
            <a:srgbClr val="EE703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449056" y="4626864"/>
            <a:ext cx="109728" cy="109728"/>
          </a:xfrm>
          <a:prstGeom prst="ellipse">
            <a:avLst/>
          </a:prstGeom>
          <a:solidFill>
            <a:srgbClr val="EE703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089136" y="4507992"/>
            <a:ext cx="109728" cy="109728"/>
          </a:xfrm>
          <a:prstGeom prst="ellipse">
            <a:avLst/>
          </a:prstGeom>
          <a:solidFill>
            <a:srgbClr val="EE703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747504" y="4389120"/>
            <a:ext cx="109728" cy="109728"/>
          </a:xfrm>
          <a:prstGeom prst="ellipse">
            <a:avLst/>
          </a:prstGeom>
          <a:solidFill>
            <a:srgbClr val="EE703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57516" y="4320539"/>
            <a:ext cx="118872" cy="118872"/>
          </a:xfrm>
          <a:prstGeom prst="ellipse">
            <a:avLst/>
          </a:prstGeom>
          <a:solidFill>
            <a:srgbClr val="18304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170164" y="4210811"/>
            <a:ext cx="118872" cy="118872"/>
          </a:xfrm>
          <a:prstGeom prst="ellipse">
            <a:avLst/>
          </a:prstGeom>
          <a:solidFill>
            <a:srgbClr val="18304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477756" y="4082796"/>
            <a:ext cx="118872" cy="118872"/>
          </a:xfrm>
          <a:prstGeom prst="ellipse">
            <a:avLst/>
          </a:prstGeom>
          <a:solidFill>
            <a:srgbClr val="18304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0" y="5559552"/>
            <a:ext cx="3657600" cy="237744"/>
          </a:xfrm>
          <a:prstGeom prst="rect">
            <a:avLst/>
          </a:prstGeom>
          <a:noFill/>
        </p:spPr>
        <p:txBody>
          <a:bodyPr wrap="none" anchor="ctr">
            <a:spAutoFit/>
          </a:bodyPr>
          <a:lstStyle/>
          <a:p>
            <a:pPr algn="ctr"/>
            <a:r>
              <a:rPr sz="850" b="1">
                <a:solidFill>
                  <a:srgbClr val="183046"/>
                </a:solidFill>
                <a:latin typeface="Arial"/>
              </a:rPr>
              <a:t>Navy: Support Vectors  |  Cam: epsilon-tube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TINH CHỈNH SIÊU THAM SỐ VÀ CROSS VALIDATION</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920240"/>
            <a:ext cx="1554480" cy="100584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Fold 1</a:t>
            </a:r>
            <a:br/>
            <a:r>
              <a:t>Validation | Train | Train | Train | Train</a:t>
            </a:r>
          </a:p>
        </p:txBody>
      </p:sp>
      <p:sp>
        <p:nvSpPr>
          <p:cNvPr id="5" name="Rounded Rectangle 4"/>
          <p:cNvSpPr/>
          <p:nvPr/>
        </p:nvSpPr>
        <p:spPr>
          <a:xfrm>
            <a:off x="2651760" y="1920240"/>
            <a:ext cx="1554480" cy="100584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Fold 2</a:t>
            </a:r>
            <a:br/>
            <a:r>
              <a:t>Train | Validation | Train | Train | Train</a:t>
            </a:r>
          </a:p>
        </p:txBody>
      </p:sp>
      <p:sp>
        <p:nvSpPr>
          <p:cNvPr id="6" name="Rounded Rectangle 5"/>
          <p:cNvSpPr/>
          <p:nvPr/>
        </p:nvSpPr>
        <p:spPr>
          <a:xfrm>
            <a:off x="4572000" y="1920240"/>
            <a:ext cx="1554480" cy="100584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Fold 3</a:t>
            </a:r>
            <a:br/>
            <a:r>
              <a:t>Train | Validation | Train | Train | Train</a:t>
            </a:r>
          </a:p>
        </p:txBody>
      </p:sp>
      <p:sp>
        <p:nvSpPr>
          <p:cNvPr id="7" name="Rounded Rectangle 6"/>
          <p:cNvSpPr/>
          <p:nvPr/>
        </p:nvSpPr>
        <p:spPr>
          <a:xfrm>
            <a:off x="6492240" y="1920240"/>
            <a:ext cx="1554480" cy="100584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Fold 4</a:t>
            </a:r>
            <a:br/>
            <a:r>
              <a:t>Train | Validation | Train | Train | Train</a:t>
            </a:r>
          </a:p>
        </p:txBody>
      </p:sp>
      <p:sp>
        <p:nvSpPr>
          <p:cNvPr id="8" name="Rounded Rectangle 7"/>
          <p:cNvSpPr/>
          <p:nvPr/>
        </p:nvSpPr>
        <p:spPr>
          <a:xfrm>
            <a:off x="8412480" y="1920240"/>
            <a:ext cx="1554480" cy="100584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t>Fold 5</a:t>
            </a:r>
            <a:br/>
            <a:r>
              <a:t>Train | Validation | Train | Train | Train</a:t>
            </a:r>
          </a:p>
        </p:txBody>
      </p:sp>
      <p:sp>
        <p:nvSpPr>
          <p:cNvPr id="9" name="TextBox 8"/>
          <p:cNvSpPr txBox="1"/>
          <p:nvPr/>
        </p:nvSpPr>
        <p:spPr>
          <a:xfrm>
            <a:off x="731520" y="3749039"/>
            <a:ext cx="10972800" cy="2011680"/>
          </a:xfrm>
          <a:prstGeom prst="rect">
            <a:avLst/>
          </a:prstGeom>
          <a:noFill/>
        </p:spPr>
        <p:txBody>
          <a:bodyPr wrap="square" lIns="6" rIns="6">
            <a:spAutoFit/>
          </a:bodyPr>
          <a:lstStyle/>
          <a:p>
            <a:pPr algn="l">
              <a:spcAft>
                <a:spcPts val="700"/>
              </a:spcAft>
            </a:pPr>
            <a:r>
              <a:rPr sz="1400">
                <a:solidFill>
                  <a:srgbClr val="131921"/>
                </a:solidFill>
                <a:latin typeface="Arial"/>
              </a:rPr>
              <a:t>Train set được chia thành 5 phần; mỗi lượt dùng 4 Fold huấn luyện, 1 Fold validation; lặp lại 5 lần.</a:t>
            </a:r>
          </a:p>
          <a:p>
            <a:pPr algn="l">
              <a:spcAft>
                <a:spcPts val="700"/>
              </a:spcAft>
            </a:pPr>
            <a:r>
              <a:rPr sz="1400">
                <a:solidFill>
                  <a:srgbClr val="131921"/>
                </a:solidFill>
                <a:latin typeface="Arial"/>
              </a:rPr>
              <a:t>GridSearchCV chọn hyperparameter theo neg_mean_absolute_error (MAE thấp nhất).</a:t>
            </a:r>
          </a:p>
          <a:p>
            <a:pPr algn="l">
              <a:spcAft>
                <a:spcPts val="700"/>
              </a:spcAft>
            </a:pPr>
            <a:r>
              <a:rPr sz="1400">
                <a:solidFill>
                  <a:srgbClr val="131921"/>
                </a:solidFill>
                <a:latin typeface="Arial"/>
              </a:rPr>
              <a:t>Decision Tree: max_depth, min_samples_split, min_samples_leaf. KNN: n_neighbors, weights, p. SVR: C, epsilon, gamma.</a:t>
            </a:r>
          </a:p>
          <a:p>
            <a:pPr algn="l">
              <a:spcAft>
                <a:spcPts val="700"/>
              </a:spcAft>
            </a:pPr>
            <a:r>
              <a:rPr sz="1400">
                <a:solidFill>
                  <a:srgbClr val="131921"/>
                </a:solidFill>
                <a:latin typeface="Arial"/>
              </a:rPr>
              <a:t>Tuning chỉ dùng Train set; Test set chỉ dùng đánh giá cuối cùng, không tham gia chọn hyperparameter.</a:t>
            </a:r>
          </a:p>
        </p:txBody>
      </p:sp>
      <p:sp>
        <p:nvSpPr>
          <p:cNvPr id="10" name="TextBox 9"/>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CÁC METRIC ĐÁNH GIÁ</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645920"/>
            <a:ext cx="2148840" cy="3749039"/>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363D3"/>
                </a:solidFill>
              </a:rPr>
              <a:t>MAE</a:t>
            </a:r>
          </a:p>
          <a:p>
            <a:pPr algn="ctr">
              <a:spcAft>
                <a:spcPts val="800"/>
              </a:spcAft>
            </a:pPr>
            <a:r>
              <a:rPr sz="1100">
                <a:solidFill>
                  <a:srgbClr val="131921"/>
                </a:solidFill>
              </a:rPr>
              <a:t>Sai số tuyệt đối trung bình giữa dự đoán và thực tế; dễ diễn giải.</a:t>
            </a:r>
          </a:p>
          <a:p>
            <a:pPr algn="ctr">
              <a:spcAft>
                <a:spcPts val="800"/>
              </a:spcAft>
            </a:pPr>
            <a:r>
              <a:rPr sz="1100">
                <a:solidFill>
                  <a:srgbClr val="131921"/>
                </a:solidFill>
              </a:rPr>
              <a:t>MAE càng thấp càng tốt.</a:t>
            </a:r>
          </a:p>
        </p:txBody>
      </p:sp>
      <p:sp>
        <p:nvSpPr>
          <p:cNvPr id="5" name="Rounded Rectangle 4"/>
          <p:cNvSpPr/>
          <p:nvPr/>
        </p:nvSpPr>
        <p:spPr>
          <a:xfrm>
            <a:off x="3429000" y="1645920"/>
            <a:ext cx="2148840" cy="3749039"/>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363D3"/>
                </a:solidFill>
              </a:rPr>
              <a:t>MSE</a:t>
            </a:r>
          </a:p>
          <a:p>
            <a:pPr algn="ctr">
              <a:spcAft>
                <a:spcPts val="800"/>
              </a:spcAft>
            </a:pPr>
            <a:r>
              <a:rPr sz="1100">
                <a:solidFill>
                  <a:srgbClr val="131921"/>
                </a:solidFill>
              </a:rPr>
              <a:t>Bình phương sai số rồi lấy trung bình; phạt mạnh lỗi lớn.</a:t>
            </a:r>
          </a:p>
          <a:p>
            <a:pPr algn="ctr">
              <a:spcAft>
                <a:spcPts val="800"/>
              </a:spcAft>
            </a:pPr>
            <a:r>
              <a:rPr sz="1100">
                <a:solidFill>
                  <a:srgbClr val="131921"/>
                </a:solidFill>
              </a:rPr>
              <a:t>MSE càng thấp càng tốt.</a:t>
            </a:r>
          </a:p>
        </p:txBody>
      </p:sp>
      <p:sp>
        <p:nvSpPr>
          <p:cNvPr id="6" name="Rounded Rectangle 5"/>
          <p:cNvSpPr/>
          <p:nvPr/>
        </p:nvSpPr>
        <p:spPr>
          <a:xfrm>
            <a:off x="6172200" y="1645920"/>
            <a:ext cx="2148840" cy="3749039"/>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363D3"/>
                </a:solidFill>
              </a:rPr>
              <a:t>RMSE</a:t>
            </a:r>
          </a:p>
          <a:p>
            <a:pPr algn="ctr">
              <a:spcAft>
                <a:spcPts val="800"/>
              </a:spcAft>
            </a:pPr>
            <a:r>
              <a:rPr sz="1100">
                <a:solidFill>
                  <a:srgbClr val="131921"/>
                </a:solidFill>
              </a:rPr>
              <a:t>Căn bậc hai của MSE; cùng đơn vị L/100 km với target.</a:t>
            </a:r>
          </a:p>
          <a:p>
            <a:pPr algn="ctr">
              <a:spcAft>
                <a:spcPts val="800"/>
              </a:spcAft>
            </a:pPr>
            <a:r>
              <a:rPr sz="1100">
                <a:solidFill>
                  <a:srgbClr val="131921"/>
                </a:solidFill>
              </a:rPr>
              <a:t>RMSE càng thấp càng tốt.</a:t>
            </a:r>
          </a:p>
        </p:txBody>
      </p:sp>
      <p:sp>
        <p:nvSpPr>
          <p:cNvPr id="7" name="Rounded Rectangle 6"/>
          <p:cNvSpPr/>
          <p:nvPr/>
        </p:nvSpPr>
        <p:spPr>
          <a:xfrm>
            <a:off x="8915400" y="1645920"/>
            <a:ext cx="2148840" cy="3749039"/>
          </a:xfrm>
          <a:prstGeom prst="roundRect">
            <a:avLst/>
          </a:prstGeom>
          <a:solidFill>
            <a:srgbClr val="F2F6FA"/>
          </a:solidFill>
          <a:ln>
            <a:solidFill>
              <a:srgbClr val="1F80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1F805C"/>
                </a:solidFill>
              </a:rPr>
              <a:t>R²</a:t>
            </a:r>
          </a:p>
          <a:p>
            <a:pPr algn="ctr">
              <a:spcAft>
                <a:spcPts val="800"/>
              </a:spcAft>
            </a:pPr>
            <a:r>
              <a:rPr sz="1100">
                <a:solidFill>
                  <a:srgbClr val="131921"/>
                </a:solidFill>
              </a:rPr>
              <a:t>Mức độ mô hình giải thích biến thiên của target.</a:t>
            </a:r>
          </a:p>
          <a:p>
            <a:pPr algn="ctr">
              <a:spcAft>
                <a:spcPts val="800"/>
              </a:spcAft>
            </a:pPr>
            <a:r>
              <a:rPr sz="1100">
                <a:solidFill>
                  <a:srgbClr val="131921"/>
                </a:solidFill>
              </a:rPr>
              <a:t>R² càng cao thường càng tốt.</a:t>
            </a:r>
          </a:p>
        </p:txBody>
      </p:sp>
      <p:sp>
        <p:nvSpPr>
          <p:cNvPr id="8" name="TextBox 7"/>
          <p:cNvSpPr txBox="1"/>
          <p:nvPr/>
        </p:nvSpPr>
        <p:spPr>
          <a:xfrm>
            <a:off x="822960" y="5852160"/>
            <a:ext cx="10241280" cy="457200"/>
          </a:xfrm>
          <a:prstGeom prst="rect">
            <a:avLst/>
          </a:prstGeom>
          <a:noFill/>
        </p:spPr>
        <p:txBody>
          <a:bodyPr wrap="none">
            <a:spAutoFit/>
          </a:bodyPr>
          <a:lstStyle/>
          <a:p>
            <a:r>
              <a:rPr sz="1100" b="1">
                <a:solidFill>
                  <a:srgbClr val="131921"/>
                </a:solidFill>
              </a:rPr>
              <a:t>Làm nổi bật: MAE, MSE, RMSE → càng thấp càng tốt; R² → càng cao càng tốt; R² KHÔNG PHẢI ACCURACY.</a:t>
            </a:r>
          </a:p>
        </p:txBody>
      </p:sp>
      <p:sp>
        <p:nvSpPr>
          <p:cNvPr id="9" name="TextBox 8"/>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KẾT QUẢ VÀ SO SÁNH 4 MÔ HÌNH</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94360" y="1417320"/>
          <a:ext cx="6629400" cy="2880360"/>
        </p:xfrm>
        <a:graphic>
          <a:graphicData uri="http://schemas.openxmlformats.org/drawingml/2006/table">
            <a:tbl>
              <a:tblPr firstRow="1" bandRow="1">
                <a:tableStyleId>{5C22544A-7EE6-4342-B048-85BDC9FD1C3A}</a:tableStyleId>
              </a:tblPr>
              <a:tblGrid>
                <a:gridCol w="1335024"/>
                <a:gridCol w="1335024"/>
                <a:gridCol w="1335024"/>
                <a:gridCol w="1335024"/>
                <a:gridCol w="1335024"/>
              </a:tblGrid>
              <a:tr h="624839">
                <a:tc>
                  <a:txBody>
                    <a:bodyPr/>
                    <a:lstStyle/>
                    <a:p>
                      <a:r>
                        <a:rPr sz="1100" b="1">
                          <a:solidFill>
                            <a:srgbClr val="131921"/>
                          </a:solidFill>
                        </a:rPr>
                        <a:t>Mô hình</a:t>
                      </a:r>
                    </a:p>
                  </a:txBody>
                  <a:tcPr/>
                </a:tc>
                <a:tc>
                  <a:txBody>
                    <a:bodyPr/>
                    <a:lstStyle/>
                    <a:p>
                      <a:r>
                        <a:rPr sz="1100" b="1">
                          <a:solidFill>
                            <a:srgbClr val="131921"/>
                          </a:solidFill>
                        </a:rPr>
                        <a:t>MAE</a:t>
                      </a:r>
                    </a:p>
                  </a:txBody>
                  <a:tcPr/>
                </a:tc>
                <a:tc>
                  <a:txBody>
                    <a:bodyPr/>
                    <a:lstStyle/>
                    <a:p>
                      <a:r>
                        <a:rPr sz="1100" b="1">
                          <a:solidFill>
                            <a:srgbClr val="131921"/>
                          </a:solidFill>
                        </a:rPr>
                        <a:t>MSE</a:t>
                      </a:r>
                    </a:p>
                  </a:txBody>
                  <a:tcPr/>
                </a:tc>
                <a:tc>
                  <a:txBody>
                    <a:bodyPr/>
                    <a:lstStyle/>
                    <a:p>
                      <a:r>
                        <a:rPr sz="1100" b="1">
                          <a:solidFill>
                            <a:srgbClr val="131921"/>
                          </a:solidFill>
                        </a:rPr>
                        <a:t>RMSE</a:t>
                      </a:r>
                    </a:p>
                  </a:txBody>
                  <a:tcPr/>
                </a:tc>
                <a:tc>
                  <a:txBody>
                    <a:bodyPr/>
                    <a:lstStyle/>
                    <a:p>
                      <a:r>
                        <a:rPr sz="1100" b="1">
                          <a:solidFill>
                            <a:srgbClr val="131921"/>
                          </a:solidFill>
                        </a:rPr>
                        <a:t>R²</a:t>
                      </a:r>
                    </a:p>
                  </a:txBody>
                  <a:tcPr/>
                </a:tc>
              </a:tr>
              <a:tr h="624839">
                <a:tc>
                  <a:txBody>
                    <a:bodyPr/>
                    <a:lstStyle/>
                    <a:p>
                      <a:r>
                        <a:rPr sz="1000">
                          <a:solidFill>
                            <a:srgbClr val="131921"/>
                          </a:solidFill>
                        </a:rPr>
                        <a:t>Linear Regression</a:t>
                      </a:r>
                    </a:p>
                  </a:txBody>
                  <a:tcPr/>
                </a:tc>
                <a:tc>
                  <a:txBody>
                    <a:bodyPr/>
                    <a:lstStyle/>
                    <a:p>
                      <a:r>
                        <a:rPr sz="1000">
                          <a:solidFill>
                            <a:srgbClr val="131921"/>
                          </a:solidFill>
                        </a:rPr>
                        <a:t>0.7839</a:t>
                      </a:r>
                    </a:p>
                  </a:txBody>
                  <a:tcPr/>
                </a:tc>
                <a:tc>
                  <a:txBody>
                    <a:bodyPr/>
                    <a:lstStyle/>
                    <a:p>
                      <a:r>
                        <a:rPr sz="1000">
                          <a:solidFill>
                            <a:srgbClr val="131921"/>
                          </a:solidFill>
                        </a:rPr>
                        <a:t>1.1048</a:t>
                      </a:r>
                    </a:p>
                  </a:txBody>
                  <a:tcPr/>
                </a:tc>
                <a:tc>
                  <a:txBody>
                    <a:bodyPr/>
                    <a:lstStyle/>
                    <a:p>
                      <a:r>
                        <a:rPr sz="1000">
                          <a:solidFill>
                            <a:srgbClr val="131921"/>
                          </a:solidFill>
                        </a:rPr>
                        <a:t>1.0506</a:t>
                      </a:r>
                    </a:p>
                  </a:txBody>
                  <a:tcPr/>
                </a:tc>
                <a:tc>
                  <a:txBody>
                    <a:bodyPr/>
                    <a:lstStyle/>
                    <a:p>
                      <a:r>
                        <a:rPr sz="1000">
                          <a:solidFill>
                            <a:srgbClr val="131921"/>
                          </a:solidFill>
                        </a:rPr>
                        <a:t>0.8909</a:t>
                      </a:r>
                    </a:p>
                  </a:txBody>
                  <a:tcPr/>
                </a:tc>
              </a:tr>
              <a:tr h="624839">
                <a:tc>
                  <a:txBody>
                    <a:bodyPr/>
                    <a:lstStyle/>
                    <a:p>
                      <a:r>
                        <a:rPr sz="1000">
                          <a:solidFill>
                            <a:srgbClr val="131921"/>
                          </a:solidFill>
                        </a:rPr>
                        <a:t>Decision Tree Regressor</a:t>
                      </a:r>
                    </a:p>
                  </a:txBody>
                  <a:tcPr/>
                </a:tc>
                <a:tc>
                  <a:txBody>
                    <a:bodyPr/>
                    <a:lstStyle/>
                    <a:p>
                      <a:r>
                        <a:rPr sz="1000">
                          <a:solidFill>
                            <a:srgbClr val="131921"/>
                          </a:solidFill>
                        </a:rPr>
                        <a:t>0.4665</a:t>
                      </a:r>
                    </a:p>
                  </a:txBody>
                  <a:tcPr/>
                </a:tc>
                <a:tc>
                  <a:txBody>
                    <a:bodyPr/>
                    <a:lstStyle/>
                    <a:p>
                      <a:r>
                        <a:rPr sz="1000">
                          <a:solidFill>
                            <a:srgbClr val="131921"/>
                          </a:solidFill>
                        </a:rPr>
                        <a:t>0.4793</a:t>
                      </a:r>
                    </a:p>
                  </a:txBody>
                  <a:tcPr/>
                </a:tc>
                <a:tc>
                  <a:txBody>
                    <a:bodyPr/>
                    <a:lstStyle/>
                    <a:p>
                      <a:r>
                        <a:rPr sz="1000">
                          <a:solidFill>
                            <a:srgbClr val="131921"/>
                          </a:solidFill>
                        </a:rPr>
                        <a:t>0.6923</a:t>
                      </a:r>
                    </a:p>
                  </a:txBody>
                  <a:tcPr/>
                </a:tc>
                <a:tc>
                  <a:txBody>
                    <a:bodyPr/>
                    <a:lstStyle/>
                    <a:p>
                      <a:r>
                        <a:rPr sz="1000">
                          <a:solidFill>
                            <a:srgbClr val="131921"/>
                          </a:solidFill>
                        </a:rPr>
                        <a:t>0.9526</a:t>
                      </a:r>
                    </a:p>
                  </a:txBody>
                  <a:tcPr/>
                </a:tc>
              </a:tr>
              <a:tr h="624839">
                <a:tc>
                  <a:txBody>
                    <a:bodyPr/>
                    <a:lstStyle/>
                    <a:p>
                      <a:r>
                        <a:rPr sz="1000">
                          <a:solidFill>
                            <a:srgbClr val="131921"/>
                          </a:solidFill>
                        </a:rPr>
                        <a:t>KNN Regressor</a:t>
                      </a:r>
                    </a:p>
                  </a:txBody>
                  <a:tcPr/>
                </a:tc>
                <a:tc>
                  <a:txBody>
                    <a:bodyPr/>
                    <a:lstStyle/>
                    <a:p>
                      <a:r>
                        <a:rPr sz="1000">
                          <a:solidFill>
                            <a:srgbClr val="131921"/>
                          </a:solidFill>
                        </a:rPr>
                        <a:t>0.4351</a:t>
                      </a:r>
                    </a:p>
                  </a:txBody>
                  <a:tcPr/>
                </a:tc>
                <a:tc>
                  <a:txBody>
                    <a:bodyPr/>
                    <a:lstStyle/>
                    <a:p>
                      <a:r>
                        <a:rPr sz="1000">
                          <a:solidFill>
                            <a:srgbClr val="131921"/>
                          </a:solidFill>
                        </a:rPr>
                        <a:t>0.4405</a:t>
                      </a:r>
                    </a:p>
                  </a:txBody>
                  <a:tcPr/>
                </a:tc>
                <a:tc>
                  <a:txBody>
                    <a:bodyPr/>
                    <a:lstStyle/>
                    <a:p>
                      <a:r>
                        <a:rPr sz="1000">
                          <a:solidFill>
                            <a:srgbClr val="131921"/>
                          </a:solidFill>
                        </a:rPr>
                        <a:t>0.6637</a:t>
                      </a:r>
                    </a:p>
                  </a:txBody>
                  <a:tcPr/>
                </a:tc>
                <a:tc>
                  <a:txBody>
                    <a:bodyPr/>
                    <a:lstStyle/>
                    <a:p>
                      <a:r>
                        <a:rPr sz="1000">
                          <a:solidFill>
                            <a:srgbClr val="131921"/>
                          </a:solidFill>
                        </a:rPr>
                        <a:t>0.9565</a:t>
                      </a:r>
                    </a:p>
                  </a:txBody>
                  <a:tcPr/>
                </a:tc>
              </a:tr>
              <a:tr h="624839">
                <a:tc>
                  <a:txBody>
                    <a:bodyPr/>
                    <a:lstStyle/>
                    <a:p>
                      <a:r>
                        <a:rPr sz="1000" b="1">
                          <a:solidFill>
                            <a:srgbClr val="183046"/>
                          </a:solidFill>
                        </a:rPr>
                        <a:t>SVR</a:t>
                      </a:r>
                    </a:p>
                  </a:txBody>
                  <a:tcPr>
                    <a:solidFill>
                      <a:srgbClr val="FFEADB"/>
                    </a:solidFill>
                  </a:tcPr>
                </a:tc>
                <a:tc>
                  <a:txBody>
                    <a:bodyPr/>
                    <a:lstStyle/>
                    <a:p>
                      <a:r>
                        <a:rPr sz="1000" b="1">
                          <a:solidFill>
                            <a:srgbClr val="183046"/>
                          </a:solidFill>
                        </a:rPr>
                        <a:t>0.4293</a:t>
                      </a:r>
                    </a:p>
                  </a:txBody>
                  <a:tcPr>
                    <a:solidFill>
                      <a:srgbClr val="FFEADB"/>
                    </a:solidFill>
                  </a:tcPr>
                </a:tc>
                <a:tc>
                  <a:txBody>
                    <a:bodyPr/>
                    <a:lstStyle/>
                    <a:p>
                      <a:r>
                        <a:rPr sz="1000" b="1">
                          <a:solidFill>
                            <a:srgbClr val="183046"/>
                          </a:solidFill>
                        </a:rPr>
                        <a:t>0.4222</a:t>
                      </a:r>
                    </a:p>
                  </a:txBody>
                  <a:tcPr>
                    <a:solidFill>
                      <a:srgbClr val="FFEADB"/>
                    </a:solidFill>
                  </a:tcPr>
                </a:tc>
                <a:tc>
                  <a:txBody>
                    <a:bodyPr/>
                    <a:lstStyle/>
                    <a:p>
                      <a:r>
                        <a:rPr sz="1000" b="1">
                          <a:solidFill>
                            <a:srgbClr val="183046"/>
                          </a:solidFill>
                        </a:rPr>
                        <a:t>0.6498</a:t>
                      </a:r>
                    </a:p>
                  </a:txBody>
                  <a:tcPr>
                    <a:solidFill>
                      <a:srgbClr val="FFEADB"/>
                    </a:solidFill>
                  </a:tcPr>
                </a:tc>
                <a:tc>
                  <a:txBody>
                    <a:bodyPr/>
                    <a:lstStyle/>
                    <a:p>
                      <a:r>
                        <a:rPr sz="1000" b="1">
                          <a:solidFill>
                            <a:srgbClr val="183046"/>
                          </a:solidFill>
                        </a:rPr>
                        <a:t>0.9583</a:t>
                      </a:r>
                    </a:p>
                  </a:txBody>
                  <a:tcPr>
                    <a:solidFill>
                      <a:srgbClr val="FFEADB"/>
                    </a:solidFill>
                  </a:tcPr>
                </a:tc>
              </a:tr>
              <a:tr h="624844">
                <a:tc>
                  <a:txBody>
                    <a:bodyPr/>
                    <a:lstStyle/>
                    <a:p/>
                  </a:txBody>
                  <a:tcPr/>
                </a:tc>
                <a:tc>
                  <a:txBody>
                    <a:bodyPr/>
                    <a:lstStyle/>
                    <a:p/>
                  </a:txBody>
                  <a:tcPr/>
                </a:tc>
                <a:tc>
                  <a:txBody>
                    <a:bodyPr/>
                    <a:lstStyle/>
                    <a:p/>
                  </a:txBody>
                  <a:tcPr/>
                </a:tc>
                <a:tc>
                  <a:txBody>
                    <a:bodyPr/>
                    <a:lstStyle/>
                    <a:p/>
                  </a:txBody>
                  <a:tcPr/>
                </a:tc>
                <a:tc>
                  <a:txBody>
                    <a:bodyPr/>
                    <a:lstStyle/>
                    <a:p/>
                  </a:txBody>
                  <a:tcPr/>
                </a:tc>
              </a:tr>
            </a:tbl>
          </a:graphicData>
        </a:graphic>
      </p:graphicFrame>
      <p:pic>
        <p:nvPicPr>
          <p:cNvPr id="5" name="Picture 4" descr="model_comparison.png"/>
          <p:cNvPicPr>
            <a:picLocks noChangeAspect="1"/>
          </p:cNvPicPr>
          <p:nvPr/>
        </p:nvPicPr>
        <p:blipFill>
          <a:blip r:embed="rId2"/>
          <a:stretch>
            <a:fillRect/>
          </a:stretch>
        </p:blipFill>
        <p:spPr>
          <a:xfrm>
            <a:off x="7479792" y="1417320"/>
            <a:ext cx="4096512" cy="3017520"/>
          </a:xfrm>
          <a:prstGeom prst="rect">
            <a:avLst/>
          </a:prstGeom>
        </p:spPr>
      </p:pic>
      <p:sp>
        <p:nvSpPr>
          <p:cNvPr id="6" name="TextBox 5"/>
          <p:cNvSpPr txBox="1"/>
          <p:nvPr/>
        </p:nvSpPr>
        <p:spPr>
          <a:xfrm>
            <a:off x="685800" y="4498848"/>
            <a:ext cx="10927080" cy="1572768"/>
          </a:xfrm>
          <a:prstGeom prst="rect">
            <a:avLst/>
          </a:prstGeom>
          <a:noFill/>
        </p:spPr>
        <p:txBody>
          <a:bodyPr wrap="square" lIns="6" rIns="6">
            <a:spAutoFit/>
          </a:bodyPr>
          <a:lstStyle/>
          <a:p>
            <a:pPr algn="l">
              <a:spcAft>
                <a:spcPts val="700"/>
              </a:spcAft>
            </a:pPr>
            <a:r>
              <a:rPr sz="1100">
                <a:solidFill>
                  <a:srgbClr val="131921"/>
                </a:solidFill>
                <a:latin typeface="Arial"/>
              </a:rPr>
              <a:t>Linear Regression: MAE/RMSE cao hơn đáng kể; R² = 0.8909, quan hệ tuyến tính chưa mô tả hết dữ liệu.</a:t>
            </a:r>
          </a:p>
          <a:p>
            <a:pPr algn="l">
              <a:spcAft>
                <a:spcPts val="700"/>
              </a:spcAft>
            </a:pPr>
            <a:r>
              <a:rPr sz="1100">
                <a:solidFill>
                  <a:srgbClr val="131921"/>
                </a:solidFill>
                <a:latin typeface="Arial"/>
              </a:rPr>
              <a:t>Decision Tree: cải thiện mạnh, R² = 0.9526; vẫn cần kiểm soát overfitting.</a:t>
            </a:r>
          </a:p>
          <a:p>
            <a:pPr algn="l">
              <a:spcAft>
                <a:spcPts val="700"/>
              </a:spcAft>
            </a:pPr>
            <a:r>
              <a:rPr sz="1100">
                <a:solidFill>
                  <a:srgbClr val="131921"/>
                </a:solidFill>
                <a:latin typeface="Arial"/>
              </a:rPr>
              <a:t>KNN: MAE = 0.4351, RMSE = 0.6637, R² = 0.9565; kết quả tốt và khá sát SVR.</a:t>
            </a:r>
          </a:p>
          <a:p>
            <a:pPr algn="l">
              <a:spcAft>
                <a:spcPts val="700"/>
              </a:spcAft>
            </a:pPr>
            <a:r>
              <a:rPr sz="1100">
                <a:solidFill>
                  <a:srgbClr val="131921"/>
                </a:solidFill>
                <a:latin typeface="Arial"/>
              </a:rPr>
              <a:t>SVR: MAE = 0.4293, RMSE = 0.6498, R² = 0.9583; tốt nhất trong bảng thực nghiệm.</a:t>
            </a:r>
          </a:p>
          <a:p>
            <a:pPr algn="l">
              <a:spcAft>
                <a:spcPts val="700"/>
              </a:spcAft>
            </a:pPr>
            <a:r>
              <a:rPr sz="1100">
                <a:solidFill>
                  <a:srgbClr val="131921"/>
                </a:solidFill>
                <a:latin typeface="Arial"/>
              </a:rPr>
              <a:t>Không chọn model chỉ dựa trên một metric; cân nhắc MAE, RMSE, R², Cross Validation, overfitting và thời gian dự đoán.</a:t>
            </a:r>
          </a:p>
        </p:txBody>
      </p:sp>
      <p:sp>
        <p:nvSpPr>
          <p:cNvPr id="7" name="TextBox 6"/>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MÔ HÌNH ĐƯỢC CHỌN VÀ KIẾN TRÚC HỆ THỐNG</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4389120" cy="1371600"/>
          </a:xfrm>
          <a:prstGeom prst="roundRect">
            <a:avLst/>
          </a:prstGeom>
          <a:solidFill>
            <a:srgbClr val="E3EDFF"/>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0F409F"/>
                </a:solidFill>
              </a:rPr>
              <a:t>MÔ HÌNH CUỐI CÙNG:</a:t>
            </a:r>
            <a:br/>
            <a:r>
              <a:t>SVR</a:t>
            </a:r>
          </a:p>
        </p:txBody>
      </p:sp>
      <p:sp>
        <p:nvSpPr>
          <p:cNvPr id="5" name="TextBox 4"/>
          <p:cNvSpPr txBox="1"/>
          <p:nvPr/>
        </p:nvSpPr>
        <p:spPr>
          <a:xfrm>
            <a:off x="5303520" y="1554480"/>
            <a:ext cx="5943600" cy="1737360"/>
          </a:xfrm>
          <a:prstGeom prst="rect">
            <a:avLst/>
          </a:prstGeom>
          <a:noFill/>
        </p:spPr>
        <p:txBody>
          <a:bodyPr wrap="square" lIns="6" rIns="6">
            <a:spAutoFit/>
          </a:bodyPr>
          <a:lstStyle/>
          <a:p>
            <a:pPr algn="l">
              <a:spcAft>
                <a:spcPts val="700"/>
              </a:spcAft>
            </a:pPr>
            <a:r>
              <a:rPr sz="1500">
                <a:solidFill>
                  <a:srgbClr val="131921"/>
                </a:solidFill>
                <a:latin typeface="Arial"/>
              </a:rPr>
              <a:t>MAE thấp nhất: 0.4293.</a:t>
            </a:r>
          </a:p>
          <a:p>
            <a:pPr algn="l">
              <a:spcAft>
                <a:spcPts val="700"/>
              </a:spcAft>
            </a:pPr>
            <a:r>
              <a:rPr sz="1500">
                <a:solidFill>
                  <a:srgbClr val="131921"/>
                </a:solidFill>
                <a:latin typeface="Arial"/>
              </a:rPr>
              <a:t>RMSE thấp nhất: 0.6498.</a:t>
            </a:r>
          </a:p>
          <a:p>
            <a:pPr algn="l">
              <a:spcAft>
                <a:spcPts val="700"/>
              </a:spcAft>
            </a:pPr>
            <a:r>
              <a:rPr sz="1500">
                <a:solidFill>
                  <a:srgbClr val="131921"/>
                </a:solidFill>
                <a:latin typeface="Arial"/>
              </a:rPr>
              <a:t>R² cao nhất: 0.9583.</a:t>
            </a:r>
          </a:p>
          <a:p>
            <a:pPr algn="l">
              <a:spcAft>
                <a:spcPts val="700"/>
              </a:spcAft>
            </a:pPr>
            <a:r>
              <a:rPr sz="1500">
                <a:solidFill>
                  <a:srgbClr val="131921"/>
                </a:solidFill>
                <a:latin typeface="Arial"/>
              </a:rPr>
              <a:t>Tốt nhất trong 4 model ở thí nghiệm hiện tại.</a:t>
            </a:r>
          </a:p>
        </p:txBody>
      </p:sp>
      <p:sp>
        <p:nvSpPr>
          <p:cNvPr id="6" name="Rounded Rectangle 5"/>
          <p:cNvSpPr/>
          <p:nvPr/>
        </p:nvSpPr>
        <p:spPr>
          <a:xfrm>
            <a:off x="566928" y="3840480"/>
            <a:ext cx="1280160" cy="658368"/>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t>Người dùng</a:t>
            </a:r>
          </a:p>
        </p:txBody>
      </p:sp>
      <p:sp>
        <p:nvSpPr>
          <p:cNvPr id="7" name="Rounded Rectangle 6"/>
          <p:cNvSpPr/>
          <p:nvPr/>
        </p:nvSpPr>
        <p:spPr>
          <a:xfrm>
            <a:off x="2103120" y="3840480"/>
            <a:ext cx="1280160" cy="658368"/>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t>Frontend</a:t>
            </a:r>
          </a:p>
        </p:txBody>
      </p:sp>
      <p:sp>
        <p:nvSpPr>
          <p:cNvPr id="8" name="Rounded Rectangle 7"/>
          <p:cNvSpPr/>
          <p:nvPr/>
        </p:nvSpPr>
        <p:spPr>
          <a:xfrm>
            <a:off x="3639312" y="3840480"/>
            <a:ext cx="1280160" cy="658368"/>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t>Backend</a:t>
            </a:r>
          </a:p>
        </p:txBody>
      </p:sp>
      <p:sp>
        <p:nvSpPr>
          <p:cNvPr id="9" name="Rounded Rectangle 8"/>
          <p:cNvSpPr/>
          <p:nvPr/>
        </p:nvSpPr>
        <p:spPr>
          <a:xfrm>
            <a:off x="5175504" y="3840480"/>
            <a:ext cx="1280160" cy="658368"/>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latin typeface="Arial"/>
              </a:rPr>
              <a:t>AI Service</a:t>
            </a:r>
          </a:p>
          <a:p>
            <a:pPr algn="ctr"/>
            <a:r>
              <a:rPr sz="950">
                <a:latin typeface="Arial"/>
              </a:rPr>
              <a:t>Input</a:t>
            </a:r>
          </a:p>
        </p:txBody>
      </p:sp>
      <p:sp>
        <p:nvSpPr>
          <p:cNvPr id="10" name="Rounded Rectangle 9"/>
          <p:cNvSpPr/>
          <p:nvPr/>
        </p:nvSpPr>
        <p:spPr>
          <a:xfrm>
            <a:off x="6711696" y="3840480"/>
            <a:ext cx="1901952" cy="658368"/>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t>Preprocessing Pipeline</a:t>
            </a:r>
          </a:p>
          <a:p>
            <a:pPr algn="ctr"/>
            <a:r>
              <a:rPr sz="900"/>
              <a:t>→ SVR Model</a:t>
            </a:r>
          </a:p>
        </p:txBody>
      </p:sp>
      <p:sp>
        <p:nvSpPr>
          <p:cNvPr id="11" name="Rounded Rectangle 10"/>
          <p:cNvSpPr/>
          <p:nvPr/>
        </p:nvSpPr>
        <p:spPr>
          <a:xfrm>
            <a:off x="8942832" y="3840480"/>
            <a:ext cx="1920240" cy="658368"/>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t>Prediction</a:t>
            </a:r>
          </a:p>
          <a:p>
            <a:pPr algn="ctr"/>
            <a:r>
              <a:rPr sz="950"/>
              <a:t>(L/100 km)</a:t>
            </a:r>
          </a:p>
        </p:txBody>
      </p:sp>
      <p:sp>
        <p:nvSpPr>
          <p:cNvPr id="13" name="Rounded Rectangle 12"/>
          <p:cNvSpPr/>
          <p:nvPr/>
        </p:nvSpPr>
        <p:spPr>
          <a:xfrm>
            <a:off x="3639312" y="4956048"/>
            <a:ext cx="1554480" cy="566928"/>
          </a:xfrm>
          <a:prstGeom prst="round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t>MongoDB</a:t>
            </a:r>
          </a:p>
        </p:txBody>
      </p:sp>
      <p:sp>
        <p:nvSpPr>
          <p:cNvPr id="14" name="TextBox 13"/>
          <p:cNvSpPr txBox="1"/>
          <p:nvPr/>
        </p:nvSpPr>
        <p:spPr>
          <a:xfrm>
            <a:off x="731520" y="5715000"/>
            <a:ext cx="10927080" cy="502920"/>
          </a:xfrm>
          <a:prstGeom prst="rect">
            <a:avLst/>
          </a:prstGeom>
          <a:noFill/>
        </p:spPr>
        <p:txBody>
          <a:bodyPr wrap="square">
            <a:spAutoFit/>
          </a:bodyPr>
          <a:lstStyle/>
          <a:p>
            <a:r>
              <a:rPr sz="1100">
                <a:solidFill>
                  <a:srgbClr val="131921"/>
                </a:solidFill>
              </a:rPr>
              <a:t>AI Service trả prediction về Backend → Backend lưu MongoDB → trả kết quả qua Frontend → Người dùng.</a:t>
            </a:r>
          </a:p>
        </p:txBody>
      </p:sp>
      <p:sp>
        <p:nvSpPr>
          <p:cNvPr id="15" name="TextBox 14"/>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18</a:t>
            </a:r>
          </a:p>
        </p:txBody>
      </p:sp>
      <p:sp>
        <p:nvSpPr>
          <p:cNvPr id="16" name="Right Arrow 15"/>
          <p:cNvSpPr/>
          <p:nvPr/>
        </p:nvSpPr>
        <p:spPr>
          <a:xfrm>
            <a:off x="1847088" y="4087368"/>
            <a:ext cx="201168" cy="146304"/>
          </a:xfrm>
          <a:prstGeom prst="rightArrow">
            <a:avLst/>
          </a:prstGeom>
          <a:solidFill>
            <a:srgbClr val="EE7039"/>
          </a:solidFill>
          <a:ln>
            <a:solidFill>
              <a:srgbClr val="EE70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a:off x="3383280" y="4087368"/>
            <a:ext cx="201168" cy="146304"/>
          </a:xfrm>
          <a:prstGeom prst="rightArrow">
            <a:avLst/>
          </a:prstGeom>
          <a:solidFill>
            <a:srgbClr val="EE7039"/>
          </a:solidFill>
          <a:ln>
            <a:solidFill>
              <a:srgbClr val="EE70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4919472" y="4087368"/>
            <a:ext cx="201168" cy="146304"/>
          </a:xfrm>
          <a:prstGeom prst="rightArrow">
            <a:avLst/>
          </a:prstGeom>
          <a:solidFill>
            <a:srgbClr val="EE7039"/>
          </a:solidFill>
          <a:ln>
            <a:solidFill>
              <a:srgbClr val="EE70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6455664" y="4087368"/>
            <a:ext cx="201168" cy="146304"/>
          </a:xfrm>
          <a:prstGeom prst="rightArrow">
            <a:avLst/>
          </a:prstGeom>
          <a:solidFill>
            <a:srgbClr val="EE7039"/>
          </a:solidFill>
          <a:ln>
            <a:solidFill>
              <a:srgbClr val="EE70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Arrow 19"/>
          <p:cNvSpPr/>
          <p:nvPr/>
        </p:nvSpPr>
        <p:spPr>
          <a:xfrm>
            <a:off x="8686800" y="4087368"/>
            <a:ext cx="201168" cy="146304"/>
          </a:xfrm>
          <a:prstGeom prst="rightArrow">
            <a:avLst/>
          </a:prstGeom>
          <a:solidFill>
            <a:srgbClr val="EE7039"/>
          </a:solidFill>
          <a:ln>
            <a:solidFill>
              <a:srgbClr val="EE70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wn Arrow 20"/>
          <p:cNvSpPr/>
          <p:nvPr/>
        </p:nvSpPr>
        <p:spPr>
          <a:xfrm>
            <a:off x="4169663" y="4572000"/>
            <a:ext cx="201168" cy="182880"/>
          </a:xfrm>
          <a:prstGeom prst="downArrow">
            <a:avLst/>
          </a:prstGeom>
          <a:solidFill>
            <a:srgbClr val="EE7039"/>
          </a:solidFill>
          <a:ln>
            <a:solidFill>
              <a:srgbClr val="EE70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9747504" y="4507992"/>
            <a:ext cx="182880" cy="201168"/>
          </a:xfrm>
          <a:prstGeom prst="downArrow">
            <a:avLst/>
          </a:prstGeom>
          <a:solidFill>
            <a:srgbClr val="EE7039"/>
          </a:solidFill>
          <a:ln>
            <a:solidFill>
              <a:srgbClr val="EE70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ft Arrow 22"/>
          <p:cNvSpPr/>
          <p:nvPr/>
        </p:nvSpPr>
        <p:spPr>
          <a:xfrm>
            <a:off x="4919472" y="4590288"/>
            <a:ext cx="4828032" cy="182880"/>
          </a:xfrm>
          <a:prstGeom prst="leftArrow">
            <a:avLst/>
          </a:prstGeom>
          <a:solidFill>
            <a:srgbClr val="EE7039"/>
          </a:solidFill>
          <a:ln>
            <a:solidFill>
              <a:srgbClr val="EE70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9601200" cy="640080"/>
          </a:xfrm>
          <a:prstGeom prst="rect">
            <a:avLst/>
          </a:prstGeom>
          <a:noFill/>
        </p:spPr>
        <p:txBody>
          <a:bodyPr wrap="none">
            <a:spAutoFit/>
          </a:bodyPr>
          <a:lstStyle/>
          <a:p>
            <a:r>
              <a:rPr sz="2400" b="1">
                <a:solidFill>
                  <a:srgbClr val="131921"/>
                </a:solidFill>
                <a:latin typeface="Arial"/>
              </a:rPr>
              <a:t>KẾT LUẬN VÀ HƯỚNG PHÁT TRIỂN</a:t>
            </a:r>
          </a:p>
        </p:txBody>
      </p:sp>
      <p:sp>
        <p:nvSpPr>
          <p:cNvPr id="3" name="Rectangle 2"/>
          <p:cNvSpPr/>
          <p:nvPr/>
        </p:nvSpPr>
        <p:spPr>
          <a:xfrm>
            <a:off x="640080" y="1097280"/>
            <a:ext cx="2834640" cy="73152"/>
          </a:xfrm>
          <a:prstGeom prst="rect">
            <a:avLst/>
          </a:prstGeom>
          <a:solidFill>
            <a:srgbClr val="236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943600" cy="2560320"/>
          </a:xfrm>
          <a:prstGeom prst="rect">
            <a:avLst/>
          </a:prstGeom>
          <a:noFill/>
        </p:spPr>
        <p:txBody>
          <a:bodyPr wrap="square" lIns="6" rIns="6">
            <a:spAutoFit/>
          </a:bodyPr>
          <a:lstStyle/>
          <a:p>
            <a:pPr algn="l">
              <a:spcAft>
                <a:spcPts val="700"/>
              </a:spcAft>
            </a:pPr>
            <a:r>
              <a:rPr sz="1400">
                <a:solidFill>
                  <a:srgbClr val="131921"/>
                </a:solidFill>
                <a:latin typeface="Arial"/>
              </a:rPr>
              <a:t>Đề tài xây dựng quy trình Machine Learning dự đoán mức tiêu hao nhiên liệu của xe.</a:t>
            </a:r>
          </a:p>
          <a:p>
            <a:pPr algn="l">
              <a:spcAft>
                <a:spcPts val="700"/>
              </a:spcAft>
            </a:pPr>
            <a:r>
              <a:rPr sz="1400">
                <a:solidFill>
                  <a:srgbClr val="131921"/>
                </a:solidFill>
                <a:latin typeface="Arial"/>
              </a:rPr>
              <a:t>Qua thực nghiệm trên dataset hiện tại, SVR cho kết quả tốt nhất trong bốn mô hình được thử nghiệm và được chọn để tích hợp vào AI Service.</a:t>
            </a:r>
          </a:p>
          <a:p>
            <a:pPr algn="l">
              <a:spcAft>
                <a:spcPts val="700"/>
              </a:spcAft>
            </a:pPr>
            <a:r>
              <a:rPr sz="1400">
                <a:solidFill>
                  <a:srgbClr val="131921"/>
                </a:solidFill>
                <a:latin typeface="Arial"/>
              </a:rPr>
              <a:t>Kết luận chỉ áp dụng cho dữ liệu và thí nghiệm của project, không khẳng định mô hình tốt nhất trong mọi trường hợp.</a:t>
            </a:r>
          </a:p>
          <a:p>
            <a:pPr algn="l">
              <a:spcAft>
                <a:spcPts val="700"/>
              </a:spcAft>
            </a:pPr>
            <a:r>
              <a:rPr sz="1400">
                <a:solidFill>
                  <a:srgbClr val="131921"/>
                </a:solidFill>
                <a:latin typeface="Arial"/>
              </a:rPr>
              <a:t>Pipeline giúp thống nhất tiền xử lý và hạn chế Data Leakage.</a:t>
            </a:r>
          </a:p>
        </p:txBody>
      </p:sp>
      <p:sp>
        <p:nvSpPr>
          <p:cNvPr id="5" name="Rectangle 4"/>
          <p:cNvSpPr/>
          <p:nvPr/>
        </p:nvSpPr>
        <p:spPr>
          <a:xfrm>
            <a:off x="7040880" y="1645920"/>
            <a:ext cx="4114800" cy="3017520"/>
          </a:xfrm>
          <a:prstGeom prst="rect">
            <a:avLst/>
          </a:prstGeom>
          <a:solidFill>
            <a:srgbClr val="F2F6FA"/>
          </a:solidFill>
          <a:ln>
            <a:solidFill>
              <a:srgbClr val="2363D3"/>
            </a:solidFill>
          </a:ln>
        </p:spPr>
        <p:style>
          <a:lnRef idx="1">
            <a:schemeClr val="accent1"/>
          </a:lnRef>
          <a:fillRef idx="3">
            <a:schemeClr val="accent1"/>
          </a:fillRef>
          <a:effectRef idx="2">
            <a:schemeClr val="accent1"/>
          </a:effectRef>
          <a:fontRef idx="minor">
            <a:schemeClr val="lt1"/>
          </a:fontRef>
        </p:style>
        <p:txBody>
          <a:bodyPr rtlCol="0" anchor="ctr"/>
          <a:lstStyle/>
          <a:p>
            <a:pPr algn="l">
              <a:spcAft>
                <a:spcPts val="500"/>
              </a:spcAft>
            </a:pPr>
            <a:r>
              <a:rPr sz="1200" b="1">
                <a:solidFill>
                  <a:srgbClr val="131921"/>
                </a:solidFill>
              </a:rPr>
              <a:t>Hạn chế:</a:t>
            </a:r>
          </a:p>
          <a:p>
            <a:pPr algn="l">
              <a:spcAft>
                <a:spcPts val="500"/>
              </a:spcAft>
            </a:pPr>
            <a:r>
              <a:rPr sz="1050" b="0">
                <a:solidFill>
                  <a:srgbClr val="131921"/>
                </a:solidFill>
              </a:rPr>
              <a:t>Kết quả phụ thuộc vào phạm vi dữ liệu của dataset.</a:t>
            </a:r>
          </a:p>
          <a:p>
            <a:pPr algn="l">
              <a:spcAft>
                <a:spcPts val="500"/>
              </a:spcAft>
            </a:pPr>
            <a:r>
              <a:rPr sz="1050" b="0">
                <a:solidFill>
                  <a:srgbClr val="131921"/>
                </a:solidFill>
              </a:rPr>
              <a:t>Các yếu tố thực tế như điều kiện đường, tải trọng và hành vi lái xe chưa được phản ánh đầy đủ.</a:t>
            </a:r>
          </a:p>
          <a:p>
            <a:pPr algn="l">
              <a:spcAft>
                <a:spcPts val="500"/>
              </a:spcAft>
            </a:pPr>
            <a:r>
              <a:rPr sz="1050" b="0">
                <a:solidFill>
                  <a:srgbClr val="131921"/>
                </a:solidFill>
              </a:rPr>
              <a:t>Mô hình dự đoán dựa trên dữ liệu lịch sử và không thay thế kết quả đo thực tế.</a:t>
            </a:r>
          </a:p>
          <a:p>
            <a:pPr algn="l">
              <a:spcAft>
                <a:spcPts val="500"/>
              </a:spcAft>
            </a:pPr>
            <a:r>
              <a:rPr sz="1200" b="1">
                <a:solidFill>
                  <a:srgbClr val="131921"/>
                </a:solidFill>
              </a:rPr>
              <a:t>Hướng phát triển:</a:t>
            </a:r>
          </a:p>
          <a:p>
            <a:pPr algn="l">
              <a:spcAft>
                <a:spcPts val="500"/>
              </a:spcAft>
            </a:pPr>
            <a:r>
              <a:rPr sz="1050" b="0">
                <a:solidFill>
                  <a:srgbClr val="131921"/>
                </a:solidFill>
              </a:rPr>
              <a:t>Cập nhật thêm dữ liệu xe mới.</a:t>
            </a:r>
          </a:p>
          <a:p>
            <a:pPr algn="l">
              <a:spcAft>
                <a:spcPts val="500"/>
              </a:spcAft>
            </a:pPr>
            <a:r>
              <a:rPr sz="1050" b="0">
                <a:solidFill>
                  <a:srgbClr val="131921"/>
                </a:solidFill>
              </a:rPr>
              <a:t>Bổ sung thêm các đặc trưng liên quan đến điều kiện vận hành.</a:t>
            </a:r>
          </a:p>
          <a:p>
            <a:pPr algn="l">
              <a:spcAft>
                <a:spcPts val="500"/>
              </a:spcAft>
            </a:pPr>
            <a:r>
              <a:rPr sz="1050" b="0">
                <a:solidFill>
                  <a:srgbClr val="131921"/>
                </a:solidFill>
              </a:rPr>
              <a:t>Thử nghiệm thêm các thuật toán khác.</a:t>
            </a:r>
          </a:p>
          <a:p>
            <a:pPr algn="l">
              <a:spcAft>
                <a:spcPts val="500"/>
              </a:spcAft>
            </a:pPr>
            <a:r>
              <a:rPr sz="1050" b="0">
                <a:solidFill>
                  <a:srgbClr val="131921"/>
                </a:solidFill>
              </a:rPr>
              <a:t>Nghiên cứu Feature Importance hoặc SHAP.</a:t>
            </a:r>
          </a:p>
          <a:p>
            <a:pPr algn="l">
              <a:spcAft>
                <a:spcPts val="500"/>
              </a:spcAft>
            </a:pPr>
            <a:r>
              <a:rPr sz="1050" b="0">
                <a:solidFill>
                  <a:srgbClr val="131921"/>
                </a:solidFill>
              </a:rPr>
              <a:t>Hoàn thiện giao diện và hệ thống lưu lịch sử dự đoán.</a:t>
            </a:r>
          </a:p>
        </p:txBody>
      </p:sp>
      <p:sp>
        <p:nvSpPr>
          <p:cNvPr id="6" name="TextBox 5"/>
          <p:cNvSpPr txBox="1"/>
          <p:nvPr/>
        </p:nvSpPr>
        <p:spPr>
          <a:xfrm>
            <a:off x="731520" y="4846320"/>
            <a:ext cx="10515600" cy="685800"/>
          </a:xfrm>
          <a:prstGeom prst="rect">
            <a:avLst/>
          </a:prstGeom>
          <a:noFill/>
        </p:spPr>
        <p:txBody>
          <a:bodyPr wrap="none">
            <a:spAutoFit/>
          </a:bodyPr>
          <a:lstStyle/>
          <a:p>
            <a:r>
              <a:rPr sz="1800" b="1">
                <a:solidFill>
                  <a:srgbClr val="131921"/>
                </a:solidFill>
              </a:rPr>
              <a:t>Kết thúc: Xin cảm ơn thầy/cô và các bạn đã lắng nghe.</a:t>
            </a:r>
          </a:p>
        </p:txBody>
      </p:sp>
      <p:sp>
        <p:nvSpPr>
          <p:cNvPr id="7" name="TextBox 6"/>
          <p:cNvSpPr txBox="1"/>
          <p:nvPr/>
        </p:nvSpPr>
        <p:spPr>
          <a:xfrm>
            <a:off x="11384280" y="6446520"/>
            <a:ext cx="548640" cy="228600"/>
          </a:xfrm>
          <a:prstGeom prst="rect">
            <a:avLst/>
          </a:prstGeom>
          <a:noFill/>
        </p:spPr>
        <p:txBody>
          <a:bodyPr wrap="none">
            <a:spAutoFit/>
          </a:bodyPr>
          <a:lstStyle/>
          <a:p>
            <a:pPr algn="r"/>
            <a:r>
              <a:rPr sz="900" b="1">
                <a:solidFill>
                  <a:srgbClr val="545D6B"/>
                </a:solidFill>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