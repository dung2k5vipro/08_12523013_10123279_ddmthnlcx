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36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8767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47"/>
        </a:solidFill>
        <a:effectLst/>
      </p:bgPr>
    </p:bg>
    <p:spTree>
      <p:nvGrpSpPr>
        <p:cNvPr id="1" name=""/>
        <p:cNvGrpSpPr/>
        <p:nvPr/>
      </p:nvGrpSpPr>
      <p:grpSpPr>
        <a:xfrm>
          <a:off x="0" y="0"/>
          <a:ext cx="0" cy="0"/>
          <a:chOff x="0" y="0"/>
          <a:chExt cx="0" cy="0"/>
        </a:xfrm>
      </p:grpSpPr>
      <p:sp>
        <p:nvSpPr>
          <p:cNvPr id="2" name="Shape 0"/>
          <p:cNvSpPr/>
          <p:nvPr/>
        </p:nvSpPr>
        <p:spPr>
          <a:xfrm>
            <a:off x="9052560" y="-1463040"/>
            <a:ext cx="5029200" cy="5029200"/>
          </a:xfrm>
          <a:prstGeom prst="ellipse">
            <a:avLst/>
          </a:prstGeom>
          <a:solidFill>
            <a:srgbClr val="163554"/>
          </a:solidFill>
          <a:ln/>
        </p:spPr>
        <p:txBody>
          <a:bodyPr/>
          <a:lstStyle/>
          <a:p>
            <a:endParaRPr lang="en-US"/>
          </a:p>
        </p:txBody>
      </p:sp>
      <p:sp>
        <p:nvSpPr>
          <p:cNvPr id="3" name="Shape 1"/>
          <p:cNvSpPr/>
          <p:nvPr/>
        </p:nvSpPr>
        <p:spPr>
          <a:xfrm>
            <a:off x="10424160" y="4206240"/>
            <a:ext cx="3291840" cy="3291840"/>
          </a:xfrm>
          <a:prstGeom prst="ellipse">
            <a:avLst/>
          </a:prstGeom>
          <a:solidFill>
            <a:srgbClr val="12304F"/>
          </a:solidFill>
          <a:ln/>
        </p:spPr>
        <p:txBody>
          <a:bodyPr/>
          <a:lstStyle/>
          <a:p>
            <a:endParaRPr lang="en-US"/>
          </a:p>
        </p:txBody>
      </p:sp>
      <p:sp>
        <p:nvSpPr>
          <p:cNvPr id="4" name="Text 2"/>
          <p:cNvSpPr/>
          <p:nvPr/>
        </p:nvSpPr>
        <p:spPr>
          <a:xfrm>
            <a:off x="502920" y="1143000"/>
            <a:ext cx="8229600" cy="292608"/>
          </a:xfrm>
          <a:prstGeom prst="rect">
            <a:avLst/>
          </a:prstGeom>
          <a:noFill/>
          <a:ln/>
        </p:spPr>
        <p:txBody>
          <a:bodyPr wrap="square" rtlCol="0" anchor="ctr"/>
          <a:lstStyle/>
          <a:p>
            <a:pPr marL="0" indent="0">
              <a:buNone/>
            </a:pPr>
            <a:endParaRPr lang="en-US" sz="1300" dirty="0"/>
          </a:p>
        </p:txBody>
      </p:sp>
      <p:sp>
        <p:nvSpPr>
          <p:cNvPr id="5" name="Text 3"/>
          <p:cNvSpPr/>
          <p:nvPr/>
        </p:nvSpPr>
        <p:spPr>
          <a:xfrm>
            <a:off x="502920" y="1600200"/>
            <a:ext cx="8961120" cy="2468880"/>
          </a:xfrm>
          <a:prstGeom prst="rect">
            <a:avLst/>
          </a:prstGeom>
          <a:noFill/>
          <a:ln/>
        </p:spPr>
        <p:txBody>
          <a:bodyPr wrap="square" rtlCol="0" anchor="t"/>
          <a:lstStyle/>
          <a:p>
            <a:pPr marL="0" indent="0">
              <a:lnSpc>
                <a:spcPct val="108000"/>
              </a:lnSpc>
              <a:buNone/>
            </a:pPr>
            <a:r>
              <a:rPr lang="en-US" sz="3800" b="1" dirty="0">
                <a:solidFill>
                  <a:srgbClr val="FFFFFF"/>
                </a:solidFill>
                <a:latin typeface="Cambria" pitchFamily="34" charset="0"/>
                <a:ea typeface="Cambria" pitchFamily="34" charset="-122"/>
                <a:cs typeface="Cambria" pitchFamily="34" charset="-120"/>
              </a:rPr>
              <a:t>XÂY DỰNG HỆ THỐNG</a:t>
            </a:r>
            <a:endParaRPr lang="en-US" sz="3800" dirty="0"/>
          </a:p>
          <a:p>
            <a:pPr marL="0" indent="0">
              <a:lnSpc>
                <a:spcPct val="108000"/>
              </a:lnSpc>
              <a:buNone/>
            </a:pPr>
            <a:r>
              <a:rPr lang="en-US" sz="3800" b="1" dirty="0">
                <a:solidFill>
                  <a:srgbClr val="FFFFFF"/>
                </a:solidFill>
                <a:latin typeface="Cambria" pitchFamily="34" charset="0"/>
                <a:ea typeface="Cambria" pitchFamily="34" charset="-122"/>
                <a:cs typeface="Cambria" pitchFamily="34" charset="-120"/>
              </a:rPr>
              <a:t>DỰ ĐOÁN MỨC TIÊU HAO</a:t>
            </a:r>
            <a:endParaRPr lang="en-US" sz="3800" dirty="0"/>
          </a:p>
          <a:p>
            <a:pPr marL="0" indent="0">
              <a:lnSpc>
                <a:spcPct val="108000"/>
              </a:lnSpc>
              <a:buNone/>
            </a:pPr>
            <a:r>
              <a:rPr lang="en-US" sz="3800" b="1" dirty="0">
                <a:solidFill>
                  <a:srgbClr val="FFFFFF"/>
                </a:solidFill>
                <a:latin typeface="Cambria" pitchFamily="34" charset="0"/>
                <a:ea typeface="Cambria" pitchFamily="34" charset="-122"/>
                <a:cs typeface="Cambria" pitchFamily="34" charset="-120"/>
              </a:rPr>
              <a:t>NHIÊN LIỆU CỦA XE</a:t>
            </a:r>
            <a:endParaRPr lang="en-US" sz="3800" dirty="0"/>
          </a:p>
        </p:txBody>
      </p:sp>
      <p:sp>
        <p:nvSpPr>
          <p:cNvPr id="6" name="Shape 4"/>
          <p:cNvSpPr/>
          <p:nvPr/>
        </p:nvSpPr>
        <p:spPr>
          <a:xfrm>
            <a:off x="502920" y="4315968"/>
            <a:ext cx="1920240" cy="41148"/>
          </a:xfrm>
          <a:prstGeom prst="rect">
            <a:avLst/>
          </a:prstGeom>
          <a:solidFill>
            <a:srgbClr val="E8833A"/>
          </a:solidFill>
          <a:ln/>
        </p:spPr>
        <p:txBody>
          <a:bodyPr/>
          <a:lstStyle/>
          <a:p>
            <a:endParaRPr lang="en-US"/>
          </a:p>
        </p:txBody>
      </p:sp>
      <p:sp>
        <p:nvSpPr>
          <p:cNvPr id="7" name="Text 5"/>
          <p:cNvSpPr/>
          <p:nvPr/>
        </p:nvSpPr>
        <p:spPr>
          <a:xfrm>
            <a:off x="502920" y="4617720"/>
            <a:ext cx="2651760" cy="292608"/>
          </a:xfrm>
          <a:prstGeom prst="rect">
            <a:avLst/>
          </a:prstGeom>
          <a:noFill/>
          <a:ln/>
        </p:spPr>
        <p:txBody>
          <a:bodyPr wrap="square" rtlCol="0" anchor="ctr"/>
          <a:lstStyle/>
          <a:p>
            <a:pPr marL="0" indent="0">
              <a:buNone/>
            </a:pPr>
            <a:r>
              <a:rPr lang="en-US" sz="1050" b="1" kern="0" spc="100" dirty="0">
                <a:solidFill>
                  <a:srgbClr val="8FA8C4"/>
                </a:solidFill>
                <a:latin typeface="Calibri" pitchFamily="34" charset="0"/>
                <a:ea typeface="Calibri" pitchFamily="34" charset="-122"/>
                <a:cs typeface="Calibri" pitchFamily="34" charset="-120"/>
              </a:rPr>
              <a:t>MÔN HỌC</a:t>
            </a:r>
            <a:endParaRPr lang="en-US" sz="1050" dirty="0"/>
          </a:p>
        </p:txBody>
      </p:sp>
      <p:sp>
        <p:nvSpPr>
          <p:cNvPr id="8" name="Text 6"/>
          <p:cNvSpPr/>
          <p:nvPr/>
        </p:nvSpPr>
        <p:spPr>
          <a:xfrm>
            <a:off x="3200400" y="4617720"/>
            <a:ext cx="5486400" cy="292608"/>
          </a:xfrm>
          <a:prstGeom prst="rect">
            <a:avLst/>
          </a:prstGeom>
          <a:noFill/>
          <a:ln/>
        </p:spPr>
        <p:txBody>
          <a:bodyPr wrap="square" rtlCol="0" anchor="ctr"/>
          <a:lstStyle/>
          <a:p>
            <a:pPr marL="0" indent="0">
              <a:buNone/>
            </a:pPr>
            <a:r>
              <a:rPr lang="en-US" sz="1300">
                <a:solidFill>
                  <a:srgbClr val="FFFFFF"/>
                </a:solidFill>
                <a:latin typeface="Calibri" pitchFamily="34" charset="0"/>
                <a:ea typeface="Calibri" pitchFamily="34" charset="-122"/>
                <a:cs typeface="Calibri" pitchFamily="34" charset="-120"/>
              </a:rPr>
              <a:t>HỌC MÁY CƠ BẢN</a:t>
            </a:r>
            <a:endParaRPr lang="en-US" sz="1300" dirty="0"/>
          </a:p>
        </p:txBody>
      </p:sp>
      <p:sp>
        <p:nvSpPr>
          <p:cNvPr id="9" name="Text 7"/>
          <p:cNvSpPr/>
          <p:nvPr/>
        </p:nvSpPr>
        <p:spPr>
          <a:xfrm>
            <a:off x="502920" y="5001768"/>
            <a:ext cx="2651760" cy="292608"/>
          </a:xfrm>
          <a:prstGeom prst="rect">
            <a:avLst/>
          </a:prstGeom>
          <a:noFill/>
          <a:ln/>
        </p:spPr>
        <p:txBody>
          <a:bodyPr wrap="square" rtlCol="0" anchor="ctr"/>
          <a:lstStyle/>
          <a:p>
            <a:pPr marL="0" indent="0">
              <a:buNone/>
            </a:pPr>
            <a:r>
              <a:rPr lang="en-US" sz="1050" b="1" kern="0" spc="100" dirty="0">
                <a:solidFill>
                  <a:srgbClr val="8FA8C4"/>
                </a:solidFill>
                <a:latin typeface="Calibri" pitchFamily="34" charset="0"/>
                <a:ea typeface="Calibri" pitchFamily="34" charset="-122"/>
                <a:cs typeface="Calibri" pitchFamily="34" charset="-120"/>
              </a:rPr>
              <a:t>NHÓM SINH VIÊN</a:t>
            </a:r>
            <a:endParaRPr lang="en-US" sz="1050" dirty="0"/>
          </a:p>
        </p:txBody>
      </p:sp>
      <p:sp>
        <p:nvSpPr>
          <p:cNvPr id="10" name="Text 8"/>
          <p:cNvSpPr/>
          <p:nvPr/>
        </p:nvSpPr>
        <p:spPr>
          <a:xfrm>
            <a:off x="3200400" y="5001768"/>
            <a:ext cx="5486400" cy="292608"/>
          </a:xfrm>
          <a:prstGeom prst="rect">
            <a:avLst/>
          </a:prstGeom>
          <a:noFill/>
          <a:ln/>
        </p:spPr>
        <p:txBody>
          <a:bodyPr wrap="square" rtlCol="0" anchor="ctr"/>
          <a:lstStyle/>
          <a:p>
            <a:r>
              <a:rPr lang="en-US" sz="1300" dirty="0">
                <a:solidFill>
                  <a:srgbClr val="FFFFFF"/>
                </a:solidFill>
                <a:latin typeface="Calibri" pitchFamily="34" charset="0"/>
                <a:ea typeface="Calibri" pitchFamily="34" charset="-122"/>
                <a:cs typeface="Calibri" pitchFamily="34" charset="-120"/>
              </a:rPr>
              <a:t>TRỊNH VIỆT DŨNG     12523013</a:t>
            </a:r>
          </a:p>
          <a:p>
            <a:r>
              <a:rPr lang="en-US" sz="1300" dirty="0">
                <a:solidFill>
                  <a:srgbClr val="FFFFFF"/>
                </a:solidFill>
                <a:latin typeface="Calibri" pitchFamily="34" charset="0"/>
                <a:ea typeface="Calibri" pitchFamily="34" charset="-122"/>
                <a:cs typeface="Calibri" pitchFamily="34" charset="-120"/>
              </a:rPr>
              <a:t>PHẠM HÙNG SÁNG   10123270</a:t>
            </a:r>
            <a:endParaRPr lang="en-US" sz="1300" dirty="0"/>
          </a:p>
        </p:txBody>
      </p:sp>
      <p:sp>
        <p:nvSpPr>
          <p:cNvPr id="11" name="Text 9"/>
          <p:cNvSpPr/>
          <p:nvPr/>
        </p:nvSpPr>
        <p:spPr>
          <a:xfrm>
            <a:off x="502920" y="5385816"/>
            <a:ext cx="2651760" cy="292608"/>
          </a:xfrm>
          <a:prstGeom prst="rect">
            <a:avLst/>
          </a:prstGeom>
          <a:noFill/>
          <a:ln/>
        </p:spPr>
        <p:txBody>
          <a:bodyPr wrap="square" rtlCol="0" anchor="ctr"/>
          <a:lstStyle/>
          <a:p>
            <a:pPr marL="0" indent="0">
              <a:buNone/>
            </a:pPr>
            <a:r>
              <a:rPr lang="en-US" sz="1050" b="1" kern="0" spc="100" dirty="0">
                <a:solidFill>
                  <a:srgbClr val="8FA8C4"/>
                </a:solidFill>
                <a:latin typeface="Calibri" pitchFamily="34" charset="0"/>
                <a:ea typeface="Calibri" pitchFamily="34" charset="-122"/>
                <a:cs typeface="Calibri" pitchFamily="34" charset="-120"/>
              </a:rPr>
              <a:t>GIẢNG VIÊN HƯỚNG DẪN</a:t>
            </a:r>
            <a:endParaRPr lang="en-US" sz="1050" dirty="0"/>
          </a:p>
        </p:txBody>
      </p:sp>
      <p:sp>
        <p:nvSpPr>
          <p:cNvPr id="12" name="Text 10"/>
          <p:cNvSpPr/>
          <p:nvPr/>
        </p:nvSpPr>
        <p:spPr>
          <a:xfrm>
            <a:off x="3200400" y="5385816"/>
            <a:ext cx="5486400" cy="292608"/>
          </a:xfrm>
          <a:prstGeom prst="rect">
            <a:avLst/>
          </a:prstGeom>
          <a:noFill/>
          <a:ln/>
        </p:spPr>
        <p:txBody>
          <a:bodyPr wrap="square" rtlCol="0" anchor="ctr"/>
          <a:lstStyle/>
          <a:p>
            <a:pPr marL="0" indent="0">
              <a:buNone/>
            </a:pPr>
            <a:r>
              <a:rPr lang="en-US" sz="1300" dirty="0">
                <a:solidFill>
                  <a:schemeClr val="bg1"/>
                </a:solidFill>
              </a:rPr>
              <a:t>NGUYỄN TUẤN ANH</a:t>
            </a:r>
          </a:p>
        </p:txBody>
      </p:sp>
      <p:sp>
        <p:nvSpPr>
          <p:cNvPr id="13" name="Text 11"/>
          <p:cNvSpPr/>
          <p:nvPr/>
        </p:nvSpPr>
        <p:spPr>
          <a:xfrm>
            <a:off x="502920" y="5769864"/>
            <a:ext cx="2651760" cy="292608"/>
          </a:xfrm>
          <a:prstGeom prst="rect">
            <a:avLst/>
          </a:prstGeom>
          <a:noFill/>
          <a:ln/>
        </p:spPr>
        <p:txBody>
          <a:bodyPr wrap="square" rtlCol="0" anchor="ctr"/>
          <a:lstStyle/>
          <a:p>
            <a:pPr marL="0" indent="0">
              <a:buNone/>
            </a:pPr>
            <a:r>
              <a:rPr lang="en-US" sz="1050" b="1" kern="0" spc="100" dirty="0">
                <a:solidFill>
                  <a:srgbClr val="8FA8C4"/>
                </a:solidFill>
                <a:latin typeface="Calibri" pitchFamily="34" charset="0"/>
                <a:ea typeface="Calibri" pitchFamily="34" charset="-122"/>
                <a:cs typeface="Calibri" pitchFamily="34" charset="-120"/>
              </a:rPr>
              <a:t>LỚP</a:t>
            </a:r>
            <a:endParaRPr lang="en-US" sz="1050" dirty="0"/>
          </a:p>
        </p:txBody>
      </p:sp>
      <p:sp>
        <p:nvSpPr>
          <p:cNvPr id="14" name="Text 12"/>
          <p:cNvSpPr/>
          <p:nvPr/>
        </p:nvSpPr>
        <p:spPr>
          <a:xfrm>
            <a:off x="3200400" y="5769864"/>
            <a:ext cx="5486400" cy="292608"/>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12523W.2</a:t>
            </a:r>
            <a:endParaRPr lang="en-US" sz="1300" dirty="0"/>
          </a:p>
        </p:txBody>
      </p:sp>
      <p:sp>
        <p:nvSpPr>
          <p:cNvPr id="15" name="Shape 13"/>
          <p:cNvSpPr/>
          <p:nvPr/>
        </p:nvSpPr>
        <p:spPr>
          <a:xfrm>
            <a:off x="9921240" y="2331720"/>
            <a:ext cx="1737360" cy="1737360"/>
          </a:xfrm>
          <a:prstGeom prst="ellipse">
            <a:avLst/>
          </a:prstGeom>
          <a:solidFill>
            <a:srgbClr val="E8833A"/>
          </a:solidFill>
          <a:ln/>
        </p:spPr>
        <p:txBody>
          <a:bodyPr/>
          <a:lstStyle/>
          <a:p>
            <a:endParaRPr lang="en-US"/>
          </a:p>
        </p:txBody>
      </p:sp>
      <p:pic>
        <p:nvPicPr>
          <p:cNvPr id="16" name="Image 0" descr="/home/claude/work/icons/gas_pump_FFFFFF.png"/>
          <p:cNvPicPr>
            <a:picLocks noChangeAspect="1"/>
          </p:cNvPicPr>
          <p:nvPr/>
        </p:nvPicPr>
        <p:blipFill>
          <a:blip r:embed="rId3"/>
          <a:stretch>
            <a:fillRect/>
          </a:stretch>
        </p:blipFill>
        <p:spPr>
          <a:xfrm>
            <a:off x="10287000" y="2697480"/>
            <a:ext cx="1005840" cy="1005840"/>
          </a:xfrm>
          <a:prstGeom prst="rect">
            <a:avLst/>
          </a:prstGeom>
        </p:spPr>
      </p:pic>
      <p:sp>
        <p:nvSpPr>
          <p:cNvPr id="17" name="Text 14"/>
          <p:cNvSpPr/>
          <p:nvPr/>
        </p:nvSpPr>
        <p:spPr>
          <a:xfrm>
            <a:off x="11231575" y="6547104"/>
            <a:ext cx="457200" cy="237744"/>
          </a:xfrm>
          <a:prstGeom prst="rect">
            <a:avLst/>
          </a:prstGeom>
          <a:noFill/>
          <a:ln/>
        </p:spPr>
        <p:txBody>
          <a:bodyPr wrap="square" rtlCol="0" anchor="ctr"/>
          <a:lstStyle/>
          <a:p>
            <a:pPr marL="0" indent="0" algn="r">
              <a:buNone/>
            </a:pPr>
            <a:r>
              <a:rPr lang="en-US" sz="900" b="1" dirty="0">
                <a:solidFill>
                  <a:srgbClr val="9FB3C8"/>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686800" cy="256032"/>
          </a:xfrm>
          <a:prstGeom prst="rect">
            <a:avLst/>
          </a:prstGeom>
          <a:noFill/>
          <a:ln/>
        </p:spPr>
        <p:txBody>
          <a:bodyPr wrap="square" rtlCol="0" anchor="ctr"/>
          <a:lstStyle/>
          <a:p>
            <a:pPr marL="0" indent="0">
              <a:buNone/>
            </a:pPr>
            <a:r>
              <a:rPr lang="en-US" sz="1200" b="1" kern="0" spc="200" dirty="0">
                <a:solidFill>
                  <a:srgbClr val="E8833A"/>
                </a:solidFill>
                <a:latin typeface="Calibri" pitchFamily="34" charset="0"/>
                <a:ea typeface="Calibri" pitchFamily="34" charset="-122"/>
                <a:cs typeface="Calibri" pitchFamily="34" charset="-120"/>
              </a:rPr>
              <a:t>GIỚI THIỆU</a:t>
            </a:r>
            <a:endParaRPr lang="en-US" sz="1200" dirty="0"/>
          </a:p>
        </p:txBody>
      </p:sp>
      <p:sp>
        <p:nvSpPr>
          <p:cNvPr id="3" name="Text 1"/>
          <p:cNvSpPr/>
          <p:nvPr/>
        </p:nvSpPr>
        <p:spPr>
          <a:xfrm>
            <a:off x="502920" y="621792"/>
            <a:ext cx="9692640" cy="566928"/>
          </a:xfrm>
          <a:prstGeom prst="rect">
            <a:avLst/>
          </a:prstGeom>
          <a:noFill/>
          <a:ln/>
        </p:spPr>
        <p:txBody>
          <a:bodyPr wrap="square" rtlCol="0" anchor="ctr"/>
          <a:lstStyle/>
          <a:p>
            <a:pPr marL="0" indent="0">
              <a:buNone/>
            </a:pPr>
            <a:r>
              <a:rPr lang="en-US" sz="2700" b="1" dirty="0">
                <a:solidFill>
                  <a:srgbClr val="0F2A47"/>
                </a:solidFill>
                <a:latin typeface="Cambria" pitchFamily="34" charset="0"/>
                <a:ea typeface="Cambria" pitchFamily="34" charset="-122"/>
                <a:cs typeface="Cambria" pitchFamily="34" charset="-120"/>
              </a:rPr>
              <a:t>GIỚI THIỆU ĐỀ TÀI</a:t>
            </a:r>
            <a:endParaRPr lang="en-US" sz="2700" dirty="0"/>
          </a:p>
        </p:txBody>
      </p:sp>
      <p:sp>
        <p:nvSpPr>
          <p:cNvPr id="4" name="Shape 2"/>
          <p:cNvSpPr/>
          <p:nvPr/>
        </p:nvSpPr>
        <p:spPr>
          <a:xfrm>
            <a:off x="11030407" y="384048"/>
            <a:ext cx="658368" cy="658368"/>
          </a:xfrm>
          <a:prstGeom prst="ellipse">
            <a:avLst/>
          </a:prstGeom>
          <a:solidFill>
            <a:srgbClr val="E8833A"/>
          </a:solidFill>
          <a:ln/>
        </p:spPr>
        <p:txBody>
          <a:bodyPr/>
          <a:lstStyle/>
          <a:p>
            <a:endParaRPr lang="en-US"/>
          </a:p>
        </p:txBody>
      </p:sp>
      <p:pic>
        <p:nvPicPr>
          <p:cNvPr id="5" name="Image 0" descr="/home/claude/work/icons/lightbulb_FFFFFF.png"/>
          <p:cNvPicPr>
            <a:picLocks noChangeAspect="1"/>
          </p:cNvPicPr>
          <p:nvPr/>
        </p:nvPicPr>
        <p:blipFill>
          <a:blip r:embed="rId3"/>
          <a:stretch>
            <a:fillRect/>
          </a:stretch>
        </p:blipFill>
        <p:spPr>
          <a:xfrm>
            <a:off x="11102828" y="456468"/>
            <a:ext cx="513527" cy="513527"/>
          </a:xfrm>
          <a:prstGeom prst="rect">
            <a:avLst/>
          </a:prstGeom>
        </p:spPr>
      </p:pic>
      <p:sp>
        <p:nvSpPr>
          <p:cNvPr id="6" name="Text 3"/>
          <p:cNvSpPr/>
          <p:nvPr/>
        </p:nvSpPr>
        <p:spPr>
          <a:xfrm>
            <a:off x="502920" y="6547104"/>
            <a:ext cx="7315200" cy="237744"/>
          </a:xfrm>
          <a:prstGeom prst="rect">
            <a:avLst/>
          </a:prstGeom>
          <a:noFill/>
          <a:ln/>
        </p:spPr>
        <p:txBody>
          <a:bodyPr wrap="square" rtlCol="0" anchor="ctr"/>
          <a:lstStyle/>
          <a:p>
            <a:pPr marL="0" indent="0">
              <a:buNone/>
            </a:pPr>
            <a:r>
              <a:rPr lang="en-US" sz="800" kern="0" spc="50" dirty="0">
                <a:solidFill>
                  <a:srgbClr val="6B7A89"/>
                </a:solidFill>
                <a:latin typeface="Calibri" pitchFamily="34" charset="0"/>
                <a:ea typeface="Calibri" pitchFamily="34" charset="-122"/>
                <a:cs typeface="Calibri" pitchFamily="34" charset="-120"/>
              </a:rPr>
              <a:t>HỆ THỐNG DỰ ĐOÁN MỨC TIÊU HAO NHIÊN LIỆU XE</a:t>
            </a:r>
            <a:endParaRPr lang="en-US" sz="800" dirty="0"/>
          </a:p>
        </p:txBody>
      </p:sp>
      <p:sp>
        <p:nvSpPr>
          <p:cNvPr id="7" name="Text 4"/>
          <p:cNvSpPr/>
          <p:nvPr/>
        </p:nvSpPr>
        <p:spPr>
          <a:xfrm>
            <a:off x="11231575" y="6547104"/>
            <a:ext cx="457200" cy="237744"/>
          </a:xfrm>
          <a:prstGeom prst="rect">
            <a:avLst/>
          </a:prstGeom>
          <a:noFill/>
          <a:ln/>
        </p:spPr>
        <p:txBody>
          <a:bodyPr wrap="square" rtlCol="0" anchor="ctr"/>
          <a:lstStyle/>
          <a:p>
            <a:pPr marL="0" indent="0" algn="r">
              <a:buNone/>
            </a:pPr>
            <a:r>
              <a:rPr lang="en-US" sz="900" b="1" dirty="0">
                <a:solidFill>
                  <a:srgbClr val="6B7A89"/>
                </a:solidFill>
                <a:latin typeface="Calibri" pitchFamily="34" charset="0"/>
                <a:ea typeface="Calibri" pitchFamily="34" charset="-122"/>
                <a:cs typeface="Calibri" pitchFamily="34" charset="-120"/>
              </a:rPr>
              <a:t>02</a:t>
            </a:r>
            <a:endParaRPr lang="en-US" sz="900" dirty="0"/>
          </a:p>
        </p:txBody>
      </p:sp>
      <p:sp>
        <p:nvSpPr>
          <p:cNvPr id="8" name="Shape 5"/>
          <p:cNvSpPr/>
          <p:nvPr/>
        </p:nvSpPr>
        <p:spPr>
          <a:xfrm>
            <a:off x="502920" y="1417320"/>
            <a:ext cx="5455768" cy="4709160"/>
          </a:xfrm>
          <a:prstGeom prst="roundRect">
            <a:avLst>
              <a:gd name="adj" fmla="val 1748"/>
            </a:avLst>
          </a:prstGeom>
          <a:solidFill>
            <a:srgbClr val="F5F8FB"/>
          </a:solidFill>
          <a:ln/>
          <a:effectLst>
            <a:outerShdw blurRad="101600" dist="25400" dir="5400000" algn="bl" rotWithShape="0">
              <a:srgbClr val="1A2433">
                <a:alpha val="12000"/>
              </a:srgbClr>
            </a:outerShdw>
          </a:effectLst>
        </p:spPr>
        <p:txBody>
          <a:bodyPr/>
          <a:lstStyle/>
          <a:p>
            <a:endParaRPr lang="en-US"/>
          </a:p>
        </p:txBody>
      </p:sp>
      <p:sp>
        <p:nvSpPr>
          <p:cNvPr id="9" name="Shape 6"/>
          <p:cNvSpPr/>
          <p:nvPr/>
        </p:nvSpPr>
        <p:spPr>
          <a:xfrm>
            <a:off x="6233008" y="1417320"/>
            <a:ext cx="5455768" cy="4709160"/>
          </a:xfrm>
          <a:prstGeom prst="roundRect">
            <a:avLst>
              <a:gd name="adj" fmla="val 1748"/>
            </a:avLst>
          </a:prstGeom>
          <a:solidFill>
            <a:srgbClr val="F5F8FB"/>
          </a:solidFill>
          <a:ln/>
          <a:effectLst>
            <a:outerShdw blurRad="101600" dist="25400" dir="5400000" algn="bl" rotWithShape="0">
              <a:srgbClr val="1A2433">
                <a:alpha val="12000"/>
              </a:srgbClr>
            </a:outerShdw>
          </a:effectLst>
        </p:spPr>
        <p:txBody>
          <a:bodyPr/>
          <a:lstStyle/>
          <a:p>
            <a:endParaRPr lang="en-US"/>
          </a:p>
        </p:txBody>
      </p:sp>
      <p:sp>
        <p:nvSpPr>
          <p:cNvPr id="10" name="Text 7"/>
          <p:cNvSpPr/>
          <p:nvPr/>
        </p:nvSpPr>
        <p:spPr>
          <a:xfrm>
            <a:off x="777240" y="1691640"/>
            <a:ext cx="4907128" cy="4206240"/>
          </a:xfrm>
          <a:prstGeom prst="rect">
            <a:avLst/>
          </a:prstGeom>
          <a:noFill/>
          <a:ln/>
        </p:spPr>
        <p:txBody>
          <a:bodyPr wrap="square" rtlCol="0" anchor="t"/>
          <a:lstStyle/>
          <a:p>
            <a:pPr marL="228600" indent="-228600">
              <a:lnSpc>
                <a:spcPct val="112000"/>
              </a:lnSpc>
              <a:spcAft>
                <a:spcPts val="1600"/>
              </a:spcAft>
              <a:buSzPct val="100000"/>
              <a:buChar char="▪"/>
            </a:pPr>
            <a:r>
              <a:rPr lang="en-US" sz="1450" dirty="0">
                <a:solidFill>
                  <a:srgbClr val="1A2433"/>
                </a:solidFill>
                <a:latin typeface="Calibri" pitchFamily="34" charset="0"/>
                <a:ea typeface="Calibri" pitchFamily="34" charset="-122"/>
                <a:cs typeface="Calibri" pitchFamily="34" charset="-120"/>
              </a:rPr>
              <a:t>Mức tiêu hao nhiên liệu là một thông số quan trọng để đánh giá khả năng sử dụng nhiên liệu của phương tiện.</a:t>
            </a:r>
            <a:endParaRPr lang="en-US" sz="1450" dirty="0"/>
          </a:p>
          <a:p>
            <a:pPr marL="228600" indent="-228600">
              <a:lnSpc>
                <a:spcPct val="112000"/>
              </a:lnSpc>
              <a:spcAft>
                <a:spcPts val="1600"/>
              </a:spcAft>
              <a:buSzPct val="100000"/>
              <a:buChar char="▪"/>
            </a:pPr>
            <a:r>
              <a:rPr lang="en-US" sz="1450" dirty="0">
                <a:solidFill>
                  <a:srgbClr val="1A2433"/>
                </a:solidFill>
                <a:latin typeface="Calibri" pitchFamily="34" charset="0"/>
                <a:ea typeface="Calibri" pitchFamily="34" charset="-122"/>
                <a:cs typeface="Calibri" pitchFamily="34" charset="-120"/>
              </a:rPr>
              <a:t>Mức tiêu hao của một chiếc xe chịu ảnh hưởng bởi nhiều yếu tố như dung tích động cơ, số xi-lanh, loại nhiên liệu, hộp số và phân khúc xe.</a:t>
            </a:r>
            <a:endParaRPr lang="en-US" sz="1450" dirty="0"/>
          </a:p>
          <a:p>
            <a:pPr marL="228600" indent="-228600">
              <a:lnSpc>
                <a:spcPct val="112000"/>
              </a:lnSpc>
              <a:spcAft>
                <a:spcPts val="1600"/>
              </a:spcAft>
              <a:buSzPct val="100000"/>
              <a:buChar char="▪"/>
            </a:pPr>
            <a:r>
              <a:rPr lang="en-US" sz="1450" dirty="0">
                <a:solidFill>
                  <a:srgbClr val="1A2433"/>
                </a:solidFill>
                <a:latin typeface="Calibri" pitchFamily="34" charset="0"/>
                <a:ea typeface="Calibri" pitchFamily="34" charset="-122"/>
                <a:cs typeface="Calibri" pitchFamily="34" charset="-120"/>
              </a:rPr>
              <a:t>Với số lượng lớn mẫu xe khác nhau, việc ước lượng thủ công mức tiêu hao nhiên liệu không đơn giản.</a:t>
            </a:r>
            <a:endParaRPr lang="en-US" sz="1450" dirty="0"/>
          </a:p>
        </p:txBody>
      </p:sp>
      <p:sp>
        <p:nvSpPr>
          <p:cNvPr id="11" name="Text 8"/>
          <p:cNvSpPr/>
          <p:nvPr/>
        </p:nvSpPr>
        <p:spPr>
          <a:xfrm>
            <a:off x="6507328" y="1691640"/>
            <a:ext cx="4907128" cy="4206240"/>
          </a:xfrm>
          <a:prstGeom prst="rect">
            <a:avLst/>
          </a:prstGeom>
          <a:noFill/>
          <a:ln/>
        </p:spPr>
        <p:txBody>
          <a:bodyPr wrap="square" rtlCol="0" anchor="t"/>
          <a:lstStyle/>
          <a:p>
            <a:pPr marL="228600" indent="-228600">
              <a:lnSpc>
                <a:spcPct val="112000"/>
              </a:lnSpc>
              <a:spcAft>
                <a:spcPts val="1600"/>
              </a:spcAft>
              <a:buSzPct val="100000"/>
              <a:buChar char="▪"/>
            </a:pPr>
            <a:r>
              <a:rPr lang="en-US" sz="1450" dirty="0">
                <a:solidFill>
                  <a:srgbClr val="1A2433"/>
                </a:solidFill>
                <a:latin typeface="Calibri" pitchFamily="34" charset="0"/>
                <a:ea typeface="Calibri" pitchFamily="34" charset="-122"/>
                <a:cs typeface="Calibri" pitchFamily="34" charset="-120"/>
              </a:rPr>
              <a:t>Machine Learning có thể học mối quan hệ giữa các đặc trưng kỹ thuật của xe và lượng nhiên liệu tiêu thụ trong dữ liệu lịch sử.</a:t>
            </a:r>
            <a:endParaRPr lang="en-US" sz="1450" dirty="0"/>
          </a:p>
          <a:p>
            <a:pPr marL="228600" indent="-228600">
              <a:lnSpc>
                <a:spcPct val="112000"/>
              </a:lnSpc>
              <a:spcAft>
                <a:spcPts val="1600"/>
              </a:spcAft>
              <a:buSzPct val="100000"/>
              <a:buChar char="▪"/>
            </a:pPr>
            <a:r>
              <a:rPr lang="en-US" sz="1450" dirty="0">
                <a:solidFill>
                  <a:srgbClr val="1A2433"/>
                </a:solidFill>
                <a:latin typeface="Calibri" pitchFamily="34" charset="0"/>
                <a:ea typeface="Calibri" pitchFamily="34" charset="-122"/>
                <a:cs typeface="Calibri" pitchFamily="34" charset="-120"/>
              </a:rPr>
              <a:t>Trong đề tài này, nhóm xây dựng quy trình từ phân tích dữ liệu, tiền xử lý, huấn luyện nhiều mô hình, đánh giá và lựa chọn mô hình phù hợp để tích hợp vào hệ thống dự đoán.</a:t>
            </a:r>
            <a:endParaRPr lang="en-US" sz="1450" dirty="0"/>
          </a:p>
          <a:p>
            <a:pPr marL="228600" indent="-228600">
              <a:lnSpc>
                <a:spcPct val="112000"/>
              </a:lnSpc>
              <a:spcAft>
                <a:spcPts val="1600"/>
              </a:spcAft>
              <a:buSzPct val="100000"/>
              <a:buChar char="▪"/>
            </a:pPr>
            <a:r>
              <a:rPr lang="en-US" sz="1450" dirty="0">
                <a:solidFill>
                  <a:srgbClr val="1A2433"/>
                </a:solidFill>
                <a:latin typeface="Calibri" pitchFamily="34" charset="0"/>
                <a:ea typeface="Calibri" pitchFamily="34" charset="-122"/>
                <a:cs typeface="Calibri" pitchFamily="34" charset="-120"/>
              </a:rPr>
              <a:t>Kết quả dự đoán được biểu diễn theo đơn vị L/100 km.</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686800" cy="256032"/>
          </a:xfrm>
          <a:prstGeom prst="rect">
            <a:avLst/>
          </a:prstGeom>
          <a:noFill/>
          <a:ln/>
        </p:spPr>
        <p:txBody>
          <a:bodyPr wrap="square" rtlCol="0" anchor="ctr"/>
          <a:lstStyle/>
          <a:p>
            <a:pPr marL="0" indent="0">
              <a:buNone/>
            </a:pPr>
            <a:r>
              <a:rPr lang="en-US" sz="1200" b="1" kern="0" spc="200" dirty="0">
                <a:solidFill>
                  <a:srgbClr val="E8833A"/>
                </a:solidFill>
                <a:latin typeface="Calibri" pitchFamily="34" charset="0"/>
                <a:ea typeface="Calibri" pitchFamily="34" charset="-122"/>
                <a:cs typeface="Calibri" pitchFamily="34" charset="-120"/>
              </a:rPr>
              <a:t>DỮ LIỆU</a:t>
            </a:r>
            <a:endParaRPr lang="en-US" sz="1200" dirty="0"/>
          </a:p>
        </p:txBody>
      </p:sp>
      <p:sp>
        <p:nvSpPr>
          <p:cNvPr id="3" name="Text 1"/>
          <p:cNvSpPr/>
          <p:nvPr/>
        </p:nvSpPr>
        <p:spPr>
          <a:xfrm>
            <a:off x="502920" y="621792"/>
            <a:ext cx="9692640" cy="566928"/>
          </a:xfrm>
          <a:prstGeom prst="rect">
            <a:avLst/>
          </a:prstGeom>
          <a:noFill/>
          <a:ln/>
        </p:spPr>
        <p:txBody>
          <a:bodyPr wrap="square" rtlCol="0" anchor="ctr"/>
          <a:lstStyle/>
          <a:p>
            <a:pPr marL="0" indent="0">
              <a:buNone/>
            </a:pPr>
            <a:r>
              <a:rPr lang="en-US" sz="2700" b="1" dirty="0">
                <a:solidFill>
                  <a:srgbClr val="0F2A47"/>
                </a:solidFill>
                <a:latin typeface="Cambria" pitchFamily="34" charset="0"/>
                <a:ea typeface="Cambria" pitchFamily="34" charset="-122"/>
                <a:cs typeface="Cambria" pitchFamily="34" charset="-120"/>
              </a:rPr>
              <a:t>DATASET VÀ NGUỒN DỮ LIỆU</a:t>
            </a:r>
            <a:endParaRPr lang="en-US" sz="2700" dirty="0"/>
          </a:p>
        </p:txBody>
      </p:sp>
      <p:sp>
        <p:nvSpPr>
          <p:cNvPr id="4" name="Shape 2"/>
          <p:cNvSpPr/>
          <p:nvPr/>
        </p:nvSpPr>
        <p:spPr>
          <a:xfrm>
            <a:off x="11030407" y="384048"/>
            <a:ext cx="658368" cy="658368"/>
          </a:xfrm>
          <a:prstGeom prst="ellipse">
            <a:avLst/>
          </a:prstGeom>
          <a:solidFill>
            <a:srgbClr val="E8833A"/>
          </a:solidFill>
          <a:ln/>
        </p:spPr>
        <p:txBody>
          <a:bodyPr/>
          <a:lstStyle/>
          <a:p>
            <a:endParaRPr lang="en-US"/>
          </a:p>
        </p:txBody>
      </p:sp>
      <p:pic>
        <p:nvPicPr>
          <p:cNvPr id="5" name="Image 0" descr="/home/claude/work/icons/database_FFFFFF.png"/>
          <p:cNvPicPr>
            <a:picLocks noChangeAspect="1"/>
          </p:cNvPicPr>
          <p:nvPr/>
        </p:nvPicPr>
        <p:blipFill>
          <a:blip r:embed="rId3"/>
          <a:stretch>
            <a:fillRect/>
          </a:stretch>
        </p:blipFill>
        <p:spPr>
          <a:xfrm>
            <a:off x="11102828" y="456468"/>
            <a:ext cx="513527" cy="513527"/>
          </a:xfrm>
          <a:prstGeom prst="rect">
            <a:avLst/>
          </a:prstGeom>
        </p:spPr>
      </p:pic>
      <p:sp>
        <p:nvSpPr>
          <p:cNvPr id="6" name="Text 3"/>
          <p:cNvSpPr/>
          <p:nvPr/>
        </p:nvSpPr>
        <p:spPr>
          <a:xfrm>
            <a:off x="502920" y="6547104"/>
            <a:ext cx="7315200" cy="237744"/>
          </a:xfrm>
          <a:prstGeom prst="rect">
            <a:avLst/>
          </a:prstGeom>
          <a:noFill/>
          <a:ln/>
        </p:spPr>
        <p:txBody>
          <a:bodyPr wrap="square" rtlCol="0" anchor="ctr"/>
          <a:lstStyle/>
          <a:p>
            <a:pPr marL="0" indent="0">
              <a:buNone/>
            </a:pPr>
            <a:r>
              <a:rPr lang="en-US" sz="800" kern="0" spc="50" dirty="0">
                <a:solidFill>
                  <a:srgbClr val="6B7A89"/>
                </a:solidFill>
                <a:latin typeface="Calibri" pitchFamily="34" charset="0"/>
                <a:ea typeface="Calibri" pitchFamily="34" charset="-122"/>
                <a:cs typeface="Calibri" pitchFamily="34" charset="-120"/>
              </a:rPr>
              <a:t>HỆ THỐNG DỰ ĐOÁN MỨC TIÊU HAO NHIÊN LIỆU XE</a:t>
            </a:r>
            <a:endParaRPr lang="en-US" sz="800" dirty="0"/>
          </a:p>
        </p:txBody>
      </p:sp>
      <p:sp>
        <p:nvSpPr>
          <p:cNvPr id="7" name="Text 4"/>
          <p:cNvSpPr/>
          <p:nvPr/>
        </p:nvSpPr>
        <p:spPr>
          <a:xfrm>
            <a:off x="11231575" y="6547104"/>
            <a:ext cx="457200" cy="237744"/>
          </a:xfrm>
          <a:prstGeom prst="rect">
            <a:avLst/>
          </a:prstGeom>
          <a:noFill/>
          <a:ln/>
        </p:spPr>
        <p:txBody>
          <a:bodyPr wrap="square" rtlCol="0" anchor="ctr"/>
          <a:lstStyle/>
          <a:p>
            <a:pPr marL="0" indent="0" algn="r">
              <a:buNone/>
            </a:pPr>
            <a:r>
              <a:rPr lang="en-US" sz="900" b="1" dirty="0">
                <a:solidFill>
                  <a:srgbClr val="6B7A89"/>
                </a:solidFill>
                <a:latin typeface="Calibri" pitchFamily="34" charset="0"/>
                <a:ea typeface="Calibri" pitchFamily="34" charset="-122"/>
                <a:cs typeface="Calibri" pitchFamily="34" charset="-120"/>
              </a:rPr>
              <a:t>03</a:t>
            </a:r>
            <a:endParaRPr lang="en-US" sz="900" dirty="0"/>
          </a:p>
        </p:txBody>
      </p:sp>
      <p:sp>
        <p:nvSpPr>
          <p:cNvPr id="8" name="Shape 5"/>
          <p:cNvSpPr/>
          <p:nvPr/>
        </p:nvSpPr>
        <p:spPr>
          <a:xfrm>
            <a:off x="502920" y="1298448"/>
            <a:ext cx="4937760" cy="329184"/>
          </a:xfrm>
          <a:prstGeom prst="roundRect">
            <a:avLst>
              <a:gd name="adj" fmla="val 50000"/>
            </a:avLst>
          </a:prstGeom>
          <a:solidFill>
            <a:srgbClr val="DCE7F1"/>
          </a:solidFill>
          <a:ln/>
        </p:spPr>
        <p:txBody>
          <a:bodyPr/>
          <a:lstStyle/>
          <a:p>
            <a:endParaRPr lang="en-US"/>
          </a:p>
        </p:txBody>
      </p:sp>
      <p:sp>
        <p:nvSpPr>
          <p:cNvPr id="9" name="Text 6"/>
          <p:cNvSpPr/>
          <p:nvPr/>
        </p:nvSpPr>
        <p:spPr>
          <a:xfrm>
            <a:off x="502920" y="1298448"/>
            <a:ext cx="4937760" cy="329184"/>
          </a:xfrm>
          <a:prstGeom prst="rect">
            <a:avLst/>
          </a:prstGeom>
          <a:noFill/>
          <a:ln/>
        </p:spPr>
        <p:txBody>
          <a:bodyPr wrap="square" rtlCol="0" anchor="ctr"/>
          <a:lstStyle/>
          <a:p>
            <a:pPr marL="0" indent="0" algn="ctr">
              <a:buNone/>
            </a:pPr>
            <a:r>
              <a:rPr lang="en-US" sz="1150" b="1" dirty="0">
                <a:solidFill>
                  <a:srgbClr val="0F2A47"/>
                </a:solidFill>
                <a:latin typeface="Calibri" pitchFamily="34" charset="0"/>
                <a:ea typeface="Calibri" pitchFamily="34" charset="-122"/>
                <a:cs typeface="Calibri" pitchFamily="34" charset="-120"/>
              </a:rPr>
              <a:t>MY1995–2023 Fuel Consumption Ratings</a:t>
            </a:r>
            <a:endParaRPr lang="en-US" sz="1150" dirty="0"/>
          </a:p>
        </p:txBody>
      </p:sp>
      <p:sp>
        <p:nvSpPr>
          <p:cNvPr id="10" name="Text 7"/>
          <p:cNvSpPr/>
          <p:nvPr/>
        </p:nvSpPr>
        <p:spPr>
          <a:xfrm>
            <a:off x="502920" y="1874520"/>
            <a:ext cx="6035040" cy="4114800"/>
          </a:xfrm>
          <a:prstGeom prst="rect">
            <a:avLst/>
          </a:prstGeom>
          <a:noFill/>
          <a:ln/>
        </p:spPr>
        <p:txBody>
          <a:bodyPr wrap="square" rtlCol="0" anchor="t"/>
          <a:lstStyle/>
          <a:p>
            <a:pPr marL="228600" indent="-228600">
              <a:lnSpc>
                <a:spcPct val="112000"/>
              </a:lnSpc>
              <a:spcAft>
                <a:spcPts val="1200"/>
              </a:spcAft>
              <a:buSzPct val="100000"/>
              <a:buChar char="▪"/>
            </a:pPr>
            <a:r>
              <a:rPr lang="en-US" sz="1350" dirty="0">
                <a:solidFill>
                  <a:srgbClr val="1A2433"/>
                </a:solidFill>
                <a:latin typeface="Calibri" pitchFamily="34" charset="0"/>
                <a:ea typeface="Calibri" pitchFamily="34" charset="-122"/>
                <a:cs typeface="Calibri" pitchFamily="34" charset="-120"/>
              </a:rPr>
              <a:t>Dataset được sử dụng là MY1995–2023 Fuel Consumption Ratings.</a:t>
            </a:r>
            <a:endParaRPr lang="en-US" sz="1350" dirty="0"/>
          </a:p>
          <a:p>
            <a:pPr marL="228600" indent="-228600">
              <a:lnSpc>
                <a:spcPct val="112000"/>
              </a:lnSpc>
              <a:spcAft>
                <a:spcPts val="1200"/>
              </a:spcAft>
              <a:buSzPct val="100000"/>
              <a:buChar char="▪"/>
            </a:pPr>
            <a:r>
              <a:rPr lang="en-US" sz="1350" dirty="0">
                <a:solidFill>
                  <a:srgbClr val="1A2433"/>
                </a:solidFill>
                <a:latin typeface="Calibri" pitchFamily="34" charset="0"/>
                <a:ea typeface="Calibri" pitchFamily="34" charset="-122"/>
                <a:cs typeface="Calibri" pitchFamily="34" charset="-120"/>
              </a:rPr>
              <a:t>Nguồn dữ liệu: Kaggle.</a:t>
            </a:r>
            <a:endParaRPr lang="en-US" sz="1350" dirty="0"/>
          </a:p>
          <a:p>
            <a:pPr marL="228600" indent="-228600">
              <a:lnSpc>
                <a:spcPct val="112000"/>
              </a:lnSpc>
              <a:spcAft>
                <a:spcPts val="1200"/>
              </a:spcAft>
              <a:buSzPct val="100000"/>
              <a:buChar char="▪"/>
            </a:pPr>
            <a:r>
              <a:rPr lang="en-US" sz="1350" dirty="0">
                <a:solidFill>
                  <a:srgbClr val="1A2433"/>
                </a:solidFill>
                <a:latin typeface="Calibri" pitchFamily="34" charset="0"/>
                <a:ea typeface="Calibri" pitchFamily="34" charset="-122"/>
                <a:cs typeface="Calibri" pitchFamily="34" charset="-120"/>
              </a:rPr>
              <a:t>Dữ liệu chứa thông tin các mẫu xe trong nhiều năm sản xuất.</a:t>
            </a:r>
            <a:endParaRPr lang="en-US" sz="1350" dirty="0"/>
          </a:p>
          <a:p>
            <a:pPr marL="228600" indent="-228600">
              <a:lnSpc>
                <a:spcPct val="112000"/>
              </a:lnSpc>
              <a:spcAft>
                <a:spcPts val="1200"/>
              </a:spcAft>
              <a:buSzPct val="100000"/>
              <a:buChar char="▪"/>
            </a:pPr>
            <a:r>
              <a:rPr lang="en-US" sz="1350" dirty="0">
                <a:solidFill>
                  <a:srgbClr val="1A2433"/>
                </a:solidFill>
                <a:latin typeface="Calibri" pitchFamily="34" charset="0"/>
                <a:ea typeface="Calibri" pitchFamily="34" charset="-122"/>
                <a:cs typeface="Calibri" pitchFamily="34" charset="-120"/>
              </a:rPr>
              <a:t>Các thuộc tính gồm năm sản xuất, hãng xe, phân khúc xe, dung tích động cơ, số xi-lanh, hộp số và loại nhiên liệu.</a:t>
            </a:r>
            <a:endParaRPr lang="en-US" sz="1350" dirty="0"/>
          </a:p>
          <a:p>
            <a:pPr marL="228600" indent="-228600">
              <a:lnSpc>
                <a:spcPct val="112000"/>
              </a:lnSpc>
              <a:spcAft>
                <a:spcPts val="1200"/>
              </a:spcAft>
              <a:buSzPct val="100000"/>
              <a:buChar char="▪"/>
            </a:pPr>
            <a:r>
              <a:rPr lang="en-US" sz="1350" dirty="0">
                <a:solidFill>
                  <a:srgbClr val="1A2433"/>
                </a:solidFill>
                <a:latin typeface="Calibri" pitchFamily="34" charset="0"/>
                <a:ea typeface="Calibri" pitchFamily="34" charset="-122"/>
                <a:cs typeface="Calibri" pitchFamily="34" charset="-120"/>
              </a:rPr>
              <a:t>Biến mục tiêu của bài toán là Fuel Consumption Comb (L/100 km).</a:t>
            </a:r>
            <a:endParaRPr lang="en-US" sz="1350" dirty="0"/>
          </a:p>
          <a:p>
            <a:pPr marL="228600" indent="-228600">
              <a:lnSpc>
                <a:spcPct val="112000"/>
              </a:lnSpc>
              <a:spcAft>
                <a:spcPts val="1200"/>
              </a:spcAft>
              <a:buSzPct val="100000"/>
              <a:buChar char="▪"/>
            </a:pPr>
            <a:r>
              <a:rPr lang="en-US" sz="1350" dirty="0">
                <a:solidFill>
                  <a:srgbClr val="1A2433"/>
                </a:solidFill>
                <a:latin typeface="Calibri" pitchFamily="34" charset="0"/>
                <a:ea typeface="Calibri" pitchFamily="34" charset="-122"/>
                <a:cs typeface="Calibri" pitchFamily="34" charset="-120"/>
              </a:rPr>
              <a:t>Đây là bài toán Regression vì giá trị cần dự đoán là một số liên tục.</a:t>
            </a:r>
            <a:endParaRPr lang="en-US" sz="1350" dirty="0"/>
          </a:p>
        </p:txBody>
      </p:sp>
      <p:sp>
        <p:nvSpPr>
          <p:cNvPr id="11" name="Shape 8"/>
          <p:cNvSpPr/>
          <p:nvPr/>
        </p:nvSpPr>
        <p:spPr>
          <a:xfrm>
            <a:off x="6858000" y="1783080"/>
            <a:ext cx="4830775" cy="3611880"/>
          </a:xfrm>
          <a:prstGeom prst="roundRect">
            <a:avLst>
              <a:gd name="adj" fmla="val 2278"/>
            </a:avLst>
          </a:prstGeom>
          <a:solidFill>
            <a:srgbClr val="FFFFFF"/>
          </a:solidFill>
          <a:ln/>
          <a:effectLst>
            <a:outerShdw blurRad="101600" dist="25400" dir="5400000" algn="bl" rotWithShape="0">
              <a:srgbClr val="1A2433">
                <a:alpha val="12000"/>
              </a:srgbClr>
            </a:outerShdw>
          </a:effectLst>
        </p:spPr>
        <p:txBody>
          <a:bodyPr/>
          <a:lstStyle/>
          <a:p>
            <a:endParaRPr lang="en-US"/>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022592" y="1947672"/>
          <a:ext cx="4501592" cy="3200400"/>
        </p:xfrm>
        <a:graphic>
          <a:graphicData uri="http://schemas.openxmlformats.org/drawingml/2006/table">
            <a:tbl>
              <a:tblPr/>
              <a:tblGrid>
                <a:gridCol w="2250796">
                  <a:extLst>
                    <a:ext uri="{9D8B030D-6E8A-4147-A177-3AD203B41FA5}">
                      <a16:colId xmlns:a16="http://schemas.microsoft.com/office/drawing/2014/main" val="20000"/>
                    </a:ext>
                  </a:extLst>
                </a:gridCol>
                <a:gridCol w="2250796">
                  <a:extLst>
                    <a:ext uri="{9D8B030D-6E8A-4147-A177-3AD203B41FA5}">
                      <a16:colId xmlns:a16="http://schemas.microsoft.com/office/drawing/2014/main" val="20001"/>
                    </a:ext>
                  </a:extLst>
                </a:gridCol>
              </a:tblGrid>
              <a:tr h="45720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Thành phần</a:t>
                      </a:r>
                      <a:endParaRPr lang="en-US" sz="1150" dirty="0">
                        <a:latin typeface="Calibri" charset="0"/>
                        <a:ea typeface="Calibri" charset="0"/>
                        <a:cs typeface="Calibri" charset="0"/>
                      </a:endParaRPr>
                    </a:p>
                  </a:txBody>
                  <a:tcPr anchor="ctr">
                    <a:lnL w="9525" cap="flat" cmpd="sng" algn="ctr">
                      <a:solidFill>
                        <a:srgbClr val="E3EAF0"/>
                      </a:solidFill>
                      <a:prstDash val="solid"/>
                      <a:round/>
                      <a:headEnd type="none" w="med" len="med"/>
                      <a:tailEnd type="none" w="med" len="med"/>
                    </a:lnL>
                    <a:lnR w="9525" cap="flat" cmpd="sng" algn="ctr">
                      <a:solidFill>
                        <a:srgbClr val="E3EAF0"/>
                      </a:solidFill>
                      <a:prstDash val="solid"/>
                      <a:round/>
                      <a:headEnd type="none" w="med" len="med"/>
                      <a:tailEnd type="none" w="med" len="med"/>
                    </a:lnR>
                    <a:lnT w="9525" cap="flat" cmpd="sng" algn="ctr">
                      <a:solidFill>
                        <a:srgbClr val="E3EAF0"/>
                      </a:solidFill>
                      <a:prstDash val="solid"/>
                      <a:round/>
                      <a:headEnd type="none" w="med" len="med"/>
                      <a:tailEnd type="none" w="med" len="med"/>
                    </a:lnT>
                    <a:lnB w="9525" cap="flat" cmpd="sng" algn="ctr">
                      <a:solidFill>
                        <a:srgbClr val="E3EAF0"/>
                      </a:solidFill>
                      <a:prstDash val="solid"/>
                      <a:round/>
                      <a:headEnd type="none" w="med" len="med"/>
                      <a:tailEnd type="none" w="med" len="med"/>
                    </a:lnB>
                    <a:solidFill>
                      <a:srgbClr val="0F2A47"/>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Nội dung</a:t>
                      </a:r>
                      <a:endParaRPr lang="en-US" sz="1150" dirty="0">
                        <a:latin typeface="Calibri" charset="0"/>
                        <a:ea typeface="Calibri" charset="0"/>
                        <a:cs typeface="Calibri" charset="0"/>
                      </a:endParaRPr>
                    </a:p>
                  </a:txBody>
                  <a:tcPr anchor="ctr">
                    <a:lnL w="9525" cap="flat" cmpd="sng" algn="ctr">
                      <a:solidFill>
                        <a:srgbClr val="E3EAF0"/>
                      </a:solidFill>
                      <a:prstDash val="solid"/>
                      <a:round/>
                      <a:headEnd type="none" w="med" len="med"/>
                      <a:tailEnd type="none" w="med" len="med"/>
                    </a:lnL>
                    <a:lnR w="9525" cap="flat" cmpd="sng" algn="ctr">
                      <a:solidFill>
                        <a:srgbClr val="E3EAF0"/>
                      </a:solidFill>
                      <a:prstDash val="solid"/>
                      <a:round/>
                      <a:headEnd type="none" w="med" len="med"/>
                      <a:tailEnd type="none" w="med" len="med"/>
                    </a:lnR>
                    <a:lnT w="9525" cap="flat" cmpd="sng" algn="ctr">
                      <a:solidFill>
                        <a:srgbClr val="E3EAF0"/>
                      </a:solidFill>
                      <a:prstDash val="solid"/>
                      <a:round/>
                      <a:headEnd type="none" w="med" len="med"/>
                      <a:tailEnd type="none" w="med" len="med"/>
                    </a:lnT>
                    <a:lnB w="9525" cap="flat" cmpd="sng" algn="ctr">
                      <a:solidFill>
                        <a:srgbClr val="E3EAF0"/>
                      </a:solidFill>
                      <a:prstDash val="solid"/>
                      <a:round/>
                      <a:headEnd type="none" w="med" len="med"/>
                      <a:tailEnd type="none" w="med" len="med"/>
                    </a:lnB>
                    <a:solidFill>
                      <a:srgbClr val="0F2A47"/>
                    </a:solidFill>
                  </a:tcPr>
                </a:tc>
                <a:extLst>
                  <a:ext uri="{0D108BD9-81ED-4DB2-BD59-A6C34878D82A}">
                    <a16:rowId xmlns:a16="http://schemas.microsoft.com/office/drawing/2014/main" val="10000"/>
                  </a:ext>
                </a:extLst>
              </a:tr>
              <a:tr h="457200">
                <a:tc>
                  <a:txBody>
                    <a:bodyPr/>
                    <a:lstStyle/>
                    <a:p>
                      <a:pPr marL="0" indent="0">
                        <a:buNone/>
                      </a:pPr>
                      <a:r>
                        <a:rPr lang="en-US" sz="1150" dirty="0">
                          <a:solidFill>
                            <a:srgbClr val="1A2433"/>
                          </a:solidFill>
                          <a:latin typeface="Calibri" pitchFamily="34" charset="0"/>
                          <a:ea typeface="Calibri" pitchFamily="34" charset="-122"/>
                          <a:cs typeface="Calibri" pitchFamily="34" charset="-120"/>
                        </a:rPr>
                        <a:t>Số mẫu</a:t>
                      </a:r>
                      <a:endParaRPr lang="en-US" sz="1150" dirty="0">
                        <a:latin typeface="Calibri" charset="0"/>
                        <a:ea typeface="Calibri" charset="0"/>
                        <a:cs typeface="Calibri" charset="0"/>
                      </a:endParaRPr>
                    </a:p>
                  </a:txBody>
                  <a:tcPr anchor="ctr">
                    <a:lnL w="9525" cap="flat" cmpd="sng" algn="ctr">
                      <a:solidFill>
                        <a:srgbClr val="E3EAF0"/>
                      </a:solidFill>
                      <a:prstDash val="solid"/>
                      <a:round/>
                      <a:headEnd type="none" w="med" len="med"/>
                      <a:tailEnd type="none" w="med" len="med"/>
                    </a:lnL>
                    <a:lnR w="9525" cap="flat" cmpd="sng" algn="ctr">
                      <a:solidFill>
                        <a:srgbClr val="E3EAF0"/>
                      </a:solidFill>
                      <a:prstDash val="solid"/>
                      <a:round/>
                      <a:headEnd type="none" w="med" len="med"/>
                      <a:tailEnd type="none" w="med" len="med"/>
                    </a:lnR>
                    <a:lnT w="9525" cap="flat" cmpd="sng" algn="ctr">
                      <a:solidFill>
                        <a:srgbClr val="E3EAF0"/>
                      </a:solidFill>
                      <a:prstDash val="solid"/>
                      <a:round/>
                      <a:headEnd type="none" w="med" len="med"/>
                      <a:tailEnd type="none" w="med" len="med"/>
                    </a:lnT>
                    <a:lnB w="9525" cap="flat" cmpd="sng" algn="ctr">
                      <a:solidFill>
                        <a:srgbClr val="E3EAF0"/>
                      </a:solidFill>
                      <a:prstDash val="solid"/>
                      <a:round/>
                      <a:headEnd type="none" w="med" len="med"/>
                      <a:tailEnd type="none" w="med" len="med"/>
                    </a:lnB>
                    <a:solidFill>
                      <a:srgbClr val="FFFFFF"/>
                    </a:solidFill>
                  </a:tcPr>
                </a:tc>
                <a:tc>
                  <a:txBody>
                    <a:bodyPr/>
                    <a:lstStyle/>
                    <a:p>
                      <a:pPr marL="0" indent="0">
                        <a:buNone/>
                      </a:pPr>
                      <a:r>
                        <a:rPr lang="en-US" sz="1150" dirty="0">
                          <a:solidFill>
                            <a:srgbClr val="1A2433"/>
                          </a:solidFill>
                          <a:latin typeface="Calibri" pitchFamily="34" charset="0"/>
                          <a:ea typeface="Calibri" pitchFamily="34" charset="-122"/>
                          <a:cs typeface="Calibri" pitchFamily="34" charset="-120"/>
                        </a:rPr>
                        <a:t>[điền thực tế]</a:t>
                      </a:r>
                      <a:endParaRPr lang="en-US" sz="1150" dirty="0">
                        <a:latin typeface="Calibri" charset="0"/>
                        <a:ea typeface="Calibri" charset="0"/>
                        <a:cs typeface="Calibri" charset="0"/>
                      </a:endParaRPr>
                    </a:p>
                  </a:txBody>
                  <a:tcPr anchor="ctr">
                    <a:lnL w="9525" cap="flat" cmpd="sng" algn="ctr">
                      <a:solidFill>
                        <a:srgbClr val="E3EAF0"/>
                      </a:solidFill>
                      <a:prstDash val="solid"/>
                      <a:round/>
                      <a:headEnd type="none" w="med" len="med"/>
                      <a:tailEnd type="none" w="med" len="med"/>
                    </a:lnL>
                    <a:lnR w="9525" cap="flat" cmpd="sng" algn="ctr">
                      <a:solidFill>
                        <a:srgbClr val="E3EAF0"/>
                      </a:solidFill>
                      <a:prstDash val="solid"/>
                      <a:round/>
                      <a:headEnd type="none" w="med" len="med"/>
                      <a:tailEnd type="none" w="med" len="med"/>
                    </a:lnR>
                    <a:lnT w="9525" cap="flat" cmpd="sng" algn="ctr">
                      <a:solidFill>
                        <a:srgbClr val="E3EAF0"/>
                      </a:solidFill>
                      <a:prstDash val="solid"/>
                      <a:round/>
                      <a:headEnd type="none" w="med" len="med"/>
                      <a:tailEnd type="none" w="med" len="med"/>
                    </a:lnT>
                    <a:lnB w="9525" cap="flat" cmpd="sng" algn="ctr">
                      <a:solidFill>
                        <a:srgbClr val="E3EA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150" dirty="0">
                          <a:solidFill>
                            <a:srgbClr val="1A2433"/>
                          </a:solidFill>
                          <a:latin typeface="Calibri" pitchFamily="34" charset="0"/>
                          <a:ea typeface="Calibri" pitchFamily="34" charset="-122"/>
                          <a:cs typeface="Calibri" pitchFamily="34" charset="-120"/>
                        </a:rPr>
                        <a:t>Số cột</a:t>
                      </a:r>
                      <a:endParaRPr lang="en-US" sz="1150" dirty="0">
                        <a:latin typeface="Calibri" charset="0"/>
                        <a:ea typeface="Calibri" charset="0"/>
                        <a:cs typeface="Calibri" charset="0"/>
                      </a:endParaRPr>
                    </a:p>
                  </a:txBody>
                  <a:tcPr anchor="ctr">
                    <a:lnL w="9525" cap="flat" cmpd="sng" algn="ctr">
                      <a:solidFill>
                        <a:srgbClr val="E3EAF0"/>
                      </a:solidFill>
                      <a:prstDash val="solid"/>
                      <a:round/>
                      <a:headEnd type="none" w="med" len="med"/>
                      <a:tailEnd type="none" w="med" len="med"/>
                    </a:lnL>
                    <a:lnR w="9525" cap="flat" cmpd="sng" algn="ctr">
                      <a:solidFill>
                        <a:srgbClr val="E3EAF0"/>
                      </a:solidFill>
                      <a:prstDash val="solid"/>
                      <a:round/>
                      <a:headEnd type="none" w="med" len="med"/>
                      <a:tailEnd type="none" w="med" len="med"/>
                    </a:lnR>
                    <a:lnT w="9525" cap="flat" cmpd="sng" algn="ctr">
                      <a:solidFill>
                        <a:srgbClr val="E3EAF0"/>
                      </a:solidFill>
                      <a:prstDash val="solid"/>
                      <a:round/>
                      <a:headEnd type="none" w="med" len="med"/>
                      <a:tailEnd type="none" w="med" len="med"/>
                    </a:lnT>
                    <a:lnB w="9525" cap="flat" cmpd="sng" algn="ctr">
                      <a:solidFill>
                        <a:srgbClr val="E3EAF0"/>
                      </a:solidFill>
                      <a:prstDash val="solid"/>
                      <a:round/>
                      <a:headEnd type="none" w="med" len="med"/>
                      <a:tailEnd type="none" w="med" len="med"/>
                    </a:lnB>
                    <a:solidFill>
                      <a:srgbClr val="FFFFFF"/>
                    </a:solidFill>
                  </a:tcPr>
                </a:tc>
                <a:tc>
                  <a:txBody>
                    <a:bodyPr/>
                    <a:lstStyle/>
                    <a:p>
                      <a:pPr marL="0" indent="0">
                        <a:buNone/>
                      </a:pPr>
                      <a:r>
                        <a:rPr lang="en-US" sz="1150" dirty="0">
                          <a:solidFill>
                            <a:srgbClr val="1A2433"/>
                          </a:solidFill>
                          <a:latin typeface="Calibri" pitchFamily="34" charset="0"/>
                          <a:ea typeface="Calibri" pitchFamily="34" charset="-122"/>
                          <a:cs typeface="Calibri" pitchFamily="34" charset="-120"/>
                        </a:rPr>
                        <a:t>[điền thực tế]</a:t>
                      </a:r>
                      <a:endParaRPr lang="en-US" sz="1150" dirty="0">
                        <a:latin typeface="Calibri" charset="0"/>
                        <a:ea typeface="Calibri" charset="0"/>
                        <a:cs typeface="Calibri" charset="0"/>
                      </a:endParaRPr>
                    </a:p>
                  </a:txBody>
                  <a:tcPr anchor="ctr">
                    <a:lnL w="9525" cap="flat" cmpd="sng" algn="ctr">
                      <a:solidFill>
                        <a:srgbClr val="E3EAF0"/>
                      </a:solidFill>
                      <a:prstDash val="solid"/>
                      <a:round/>
                      <a:headEnd type="none" w="med" len="med"/>
                      <a:tailEnd type="none" w="med" len="med"/>
                    </a:lnL>
                    <a:lnR w="9525" cap="flat" cmpd="sng" algn="ctr">
                      <a:solidFill>
                        <a:srgbClr val="E3EAF0"/>
                      </a:solidFill>
                      <a:prstDash val="solid"/>
                      <a:round/>
                      <a:headEnd type="none" w="med" len="med"/>
                      <a:tailEnd type="none" w="med" len="med"/>
                    </a:lnR>
                    <a:lnT w="9525" cap="flat" cmpd="sng" algn="ctr">
                      <a:solidFill>
                        <a:srgbClr val="E3EAF0"/>
                      </a:solidFill>
                      <a:prstDash val="solid"/>
                      <a:round/>
                      <a:headEnd type="none" w="med" len="med"/>
                      <a:tailEnd type="none" w="med" len="med"/>
                    </a:lnT>
                    <a:lnB w="9525" cap="flat" cmpd="sng" algn="ctr">
                      <a:solidFill>
                        <a:srgbClr val="E3EA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150" dirty="0">
                          <a:solidFill>
                            <a:srgbClr val="1A2433"/>
                          </a:solidFill>
                          <a:latin typeface="Calibri" pitchFamily="34" charset="0"/>
                          <a:ea typeface="Calibri" pitchFamily="34" charset="-122"/>
                          <a:cs typeface="Calibri" pitchFamily="34" charset="-120"/>
                        </a:rPr>
                        <a:t>Loại bài toán</a:t>
                      </a:r>
                      <a:endParaRPr lang="en-US" sz="1150" dirty="0">
                        <a:latin typeface="Calibri" charset="0"/>
                        <a:ea typeface="Calibri" charset="0"/>
                        <a:cs typeface="Calibri" charset="0"/>
                      </a:endParaRPr>
                    </a:p>
                  </a:txBody>
                  <a:tcPr anchor="ctr">
                    <a:lnL w="9525" cap="flat" cmpd="sng" algn="ctr">
                      <a:solidFill>
                        <a:srgbClr val="E3EAF0"/>
                      </a:solidFill>
                      <a:prstDash val="solid"/>
                      <a:round/>
                      <a:headEnd type="none" w="med" len="med"/>
                      <a:tailEnd type="none" w="med" len="med"/>
                    </a:lnL>
                    <a:lnR w="9525" cap="flat" cmpd="sng" algn="ctr">
                      <a:solidFill>
                        <a:srgbClr val="E3EAF0"/>
                      </a:solidFill>
                      <a:prstDash val="solid"/>
                      <a:round/>
                      <a:headEnd type="none" w="med" len="med"/>
                      <a:tailEnd type="none" w="med" len="med"/>
                    </a:lnR>
                    <a:lnT w="9525" cap="flat" cmpd="sng" algn="ctr">
                      <a:solidFill>
                        <a:srgbClr val="E3EAF0"/>
                      </a:solidFill>
                      <a:prstDash val="solid"/>
                      <a:round/>
                      <a:headEnd type="none" w="med" len="med"/>
                      <a:tailEnd type="none" w="med" len="med"/>
                    </a:lnT>
                    <a:lnB w="9525" cap="flat" cmpd="sng" algn="ctr">
                      <a:solidFill>
                        <a:srgbClr val="E3EAF0"/>
                      </a:solidFill>
                      <a:prstDash val="solid"/>
                      <a:round/>
                      <a:headEnd type="none" w="med" len="med"/>
                      <a:tailEnd type="none" w="med" len="med"/>
                    </a:lnB>
                    <a:solidFill>
                      <a:srgbClr val="FFFFFF"/>
                    </a:solidFill>
                  </a:tcPr>
                </a:tc>
                <a:tc>
                  <a:txBody>
                    <a:bodyPr/>
                    <a:lstStyle/>
                    <a:p>
                      <a:pPr marL="0" indent="0">
                        <a:buNone/>
                      </a:pPr>
                      <a:r>
                        <a:rPr lang="en-US" sz="1150" dirty="0">
                          <a:solidFill>
                            <a:srgbClr val="1A2433"/>
                          </a:solidFill>
                          <a:latin typeface="Calibri" pitchFamily="34" charset="0"/>
                          <a:ea typeface="Calibri" pitchFamily="34" charset="-122"/>
                          <a:cs typeface="Calibri" pitchFamily="34" charset="-120"/>
                        </a:rPr>
                        <a:t>Regression</a:t>
                      </a:r>
                      <a:endParaRPr lang="en-US" sz="1150" dirty="0">
                        <a:latin typeface="Calibri" charset="0"/>
                        <a:ea typeface="Calibri" charset="0"/>
                        <a:cs typeface="Calibri" charset="0"/>
                      </a:endParaRPr>
                    </a:p>
                  </a:txBody>
                  <a:tcPr anchor="ctr">
                    <a:lnL w="9525" cap="flat" cmpd="sng" algn="ctr">
                      <a:solidFill>
                        <a:srgbClr val="E3EAF0"/>
                      </a:solidFill>
                      <a:prstDash val="solid"/>
                      <a:round/>
                      <a:headEnd type="none" w="med" len="med"/>
                      <a:tailEnd type="none" w="med" len="med"/>
                    </a:lnL>
                    <a:lnR w="9525" cap="flat" cmpd="sng" algn="ctr">
                      <a:solidFill>
                        <a:srgbClr val="E3EAF0"/>
                      </a:solidFill>
                      <a:prstDash val="solid"/>
                      <a:round/>
                      <a:headEnd type="none" w="med" len="med"/>
                      <a:tailEnd type="none" w="med" len="med"/>
                    </a:lnR>
                    <a:lnT w="9525" cap="flat" cmpd="sng" algn="ctr">
                      <a:solidFill>
                        <a:srgbClr val="E3EAF0"/>
                      </a:solidFill>
                      <a:prstDash val="solid"/>
                      <a:round/>
                      <a:headEnd type="none" w="med" len="med"/>
                      <a:tailEnd type="none" w="med" len="med"/>
                    </a:lnT>
                    <a:lnB w="9525" cap="flat" cmpd="sng" algn="ctr">
                      <a:solidFill>
                        <a:srgbClr val="E3EA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150" dirty="0">
                          <a:solidFill>
                            <a:srgbClr val="1A2433"/>
                          </a:solidFill>
                          <a:latin typeface="Calibri" pitchFamily="34" charset="0"/>
                          <a:ea typeface="Calibri" pitchFamily="34" charset="-122"/>
                          <a:cs typeface="Calibri" pitchFamily="34" charset="-120"/>
                        </a:rPr>
                        <a:t>Target</a:t>
                      </a:r>
                      <a:endParaRPr lang="en-US" sz="1150" dirty="0">
                        <a:latin typeface="Calibri" charset="0"/>
                        <a:ea typeface="Calibri" charset="0"/>
                        <a:cs typeface="Calibri" charset="0"/>
                      </a:endParaRPr>
                    </a:p>
                  </a:txBody>
                  <a:tcPr anchor="ctr">
                    <a:lnL w="9525" cap="flat" cmpd="sng" algn="ctr">
                      <a:solidFill>
                        <a:srgbClr val="E3EAF0"/>
                      </a:solidFill>
                      <a:prstDash val="solid"/>
                      <a:round/>
                      <a:headEnd type="none" w="med" len="med"/>
                      <a:tailEnd type="none" w="med" len="med"/>
                    </a:lnL>
                    <a:lnR w="9525" cap="flat" cmpd="sng" algn="ctr">
                      <a:solidFill>
                        <a:srgbClr val="E3EAF0"/>
                      </a:solidFill>
                      <a:prstDash val="solid"/>
                      <a:round/>
                      <a:headEnd type="none" w="med" len="med"/>
                      <a:tailEnd type="none" w="med" len="med"/>
                    </a:lnR>
                    <a:lnT w="9525" cap="flat" cmpd="sng" algn="ctr">
                      <a:solidFill>
                        <a:srgbClr val="E3EAF0"/>
                      </a:solidFill>
                      <a:prstDash val="solid"/>
                      <a:round/>
                      <a:headEnd type="none" w="med" len="med"/>
                      <a:tailEnd type="none" w="med" len="med"/>
                    </a:lnT>
                    <a:lnB w="9525" cap="flat" cmpd="sng" algn="ctr">
                      <a:solidFill>
                        <a:srgbClr val="E3EAF0"/>
                      </a:solidFill>
                      <a:prstDash val="solid"/>
                      <a:round/>
                      <a:headEnd type="none" w="med" len="med"/>
                      <a:tailEnd type="none" w="med" len="med"/>
                    </a:lnB>
                    <a:solidFill>
                      <a:srgbClr val="FFFFFF"/>
                    </a:solidFill>
                  </a:tcPr>
                </a:tc>
                <a:tc>
                  <a:txBody>
                    <a:bodyPr/>
                    <a:lstStyle/>
                    <a:p>
                      <a:pPr marL="0" indent="0">
                        <a:buNone/>
                      </a:pPr>
                      <a:r>
                        <a:rPr lang="en-US" sz="1150" dirty="0">
                          <a:solidFill>
                            <a:srgbClr val="1A2433"/>
                          </a:solidFill>
                          <a:latin typeface="Calibri" pitchFamily="34" charset="0"/>
                          <a:ea typeface="Calibri" pitchFamily="34" charset="-122"/>
                          <a:cs typeface="Calibri" pitchFamily="34" charset="-120"/>
                        </a:rPr>
                        <a:t>Fuel Consumption Comb</a:t>
                      </a:r>
                      <a:endParaRPr lang="en-US" sz="1150" dirty="0">
                        <a:latin typeface="Calibri" charset="0"/>
                        <a:ea typeface="Calibri" charset="0"/>
                        <a:cs typeface="Calibri" charset="0"/>
                      </a:endParaRPr>
                    </a:p>
                  </a:txBody>
                  <a:tcPr anchor="ctr">
                    <a:lnL w="9525" cap="flat" cmpd="sng" algn="ctr">
                      <a:solidFill>
                        <a:srgbClr val="E3EAF0"/>
                      </a:solidFill>
                      <a:prstDash val="solid"/>
                      <a:round/>
                      <a:headEnd type="none" w="med" len="med"/>
                      <a:tailEnd type="none" w="med" len="med"/>
                    </a:lnL>
                    <a:lnR w="9525" cap="flat" cmpd="sng" algn="ctr">
                      <a:solidFill>
                        <a:srgbClr val="E3EAF0"/>
                      </a:solidFill>
                      <a:prstDash val="solid"/>
                      <a:round/>
                      <a:headEnd type="none" w="med" len="med"/>
                      <a:tailEnd type="none" w="med" len="med"/>
                    </a:lnR>
                    <a:lnT w="9525" cap="flat" cmpd="sng" algn="ctr">
                      <a:solidFill>
                        <a:srgbClr val="E3EAF0"/>
                      </a:solidFill>
                      <a:prstDash val="solid"/>
                      <a:round/>
                      <a:headEnd type="none" w="med" len="med"/>
                      <a:tailEnd type="none" w="med" len="med"/>
                    </a:lnT>
                    <a:lnB w="9525" cap="flat" cmpd="sng" algn="ctr">
                      <a:solidFill>
                        <a:srgbClr val="E3EA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150" dirty="0">
                          <a:solidFill>
                            <a:srgbClr val="1A2433"/>
                          </a:solidFill>
                          <a:latin typeface="Calibri" pitchFamily="34" charset="0"/>
                          <a:ea typeface="Calibri" pitchFamily="34" charset="-122"/>
                          <a:cs typeface="Calibri" pitchFamily="34" charset="-120"/>
                        </a:rPr>
                        <a:t>Đơn vị</a:t>
                      </a:r>
                      <a:endParaRPr lang="en-US" sz="1150" dirty="0">
                        <a:latin typeface="Calibri" charset="0"/>
                        <a:ea typeface="Calibri" charset="0"/>
                        <a:cs typeface="Calibri" charset="0"/>
                      </a:endParaRPr>
                    </a:p>
                  </a:txBody>
                  <a:tcPr anchor="ctr">
                    <a:lnL w="9525" cap="flat" cmpd="sng" algn="ctr">
                      <a:solidFill>
                        <a:srgbClr val="E3EAF0"/>
                      </a:solidFill>
                      <a:prstDash val="solid"/>
                      <a:round/>
                      <a:headEnd type="none" w="med" len="med"/>
                      <a:tailEnd type="none" w="med" len="med"/>
                    </a:lnL>
                    <a:lnR w="9525" cap="flat" cmpd="sng" algn="ctr">
                      <a:solidFill>
                        <a:srgbClr val="E3EAF0"/>
                      </a:solidFill>
                      <a:prstDash val="solid"/>
                      <a:round/>
                      <a:headEnd type="none" w="med" len="med"/>
                      <a:tailEnd type="none" w="med" len="med"/>
                    </a:lnR>
                    <a:lnT w="9525" cap="flat" cmpd="sng" algn="ctr">
                      <a:solidFill>
                        <a:srgbClr val="E3EAF0"/>
                      </a:solidFill>
                      <a:prstDash val="solid"/>
                      <a:round/>
                      <a:headEnd type="none" w="med" len="med"/>
                      <a:tailEnd type="none" w="med" len="med"/>
                    </a:lnT>
                    <a:lnB w="9525" cap="flat" cmpd="sng" algn="ctr">
                      <a:solidFill>
                        <a:srgbClr val="E3EAF0"/>
                      </a:solidFill>
                      <a:prstDash val="solid"/>
                      <a:round/>
                      <a:headEnd type="none" w="med" len="med"/>
                      <a:tailEnd type="none" w="med" len="med"/>
                    </a:lnB>
                    <a:solidFill>
                      <a:srgbClr val="FFFFFF"/>
                    </a:solidFill>
                  </a:tcPr>
                </a:tc>
                <a:tc>
                  <a:txBody>
                    <a:bodyPr/>
                    <a:lstStyle/>
                    <a:p>
                      <a:pPr marL="0" indent="0">
                        <a:buNone/>
                      </a:pPr>
                      <a:r>
                        <a:rPr lang="en-US" sz="1150" dirty="0">
                          <a:solidFill>
                            <a:srgbClr val="1A2433"/>
                          </a:solidFill>
                          <a:latin typeface="Calibri" pitchFamily="34" charset="0"/>
                          <a:ea typeface="Calibri" pitchFamily="34" charset="-122"/>
                          <a:cs typeface="Calibri" pitchFamily="34" charset="-120"/>
                        </a:rPr>
                        <a:t>L/100 km</a:t>
                      </a:r>
                      <a:endParaRPr lang="en-US" sz="1150" dirty="0">
                        <a:latin typeface="Calibri" charset="0"/>
                        <a:ea typeface="Calibri" charset="0"/>
                        <a:cs typeface="Calibri" charset="0"/>
                      </a:endParaRPr>
                    </a:p>
                  </a:txBody>
                  <a:tcPr anchor="ctr">
                    <a:lnL w="9525" cap="flat" cmpd="sng" algn="ctr">
                      <a:solidFill>
                        <a:srgbClr val="E3EAF0"/>
                      </a:solidFill>
                      <a:prstDash val="solid"/>
                      <a:round/>
                      <a:headEnd type="none" w="med" len="med"/>
                      <a:tailEnd type="none" w="med" len="med"/>
                    </a:lnL>
                    <a:lnR w="9525" cap="flat" cmpd="sng" algn="ctr">
                      <a:solidFill>
                        <a:srgbClr val="E3EAF0"/>
                      </a:solidFill>
                      <a:prstDash val="solid"/>
                      <a:round/>
                      <a:headEnd type="none" w="med" len="med"/>
                      <a:tailEnd type="none" w="med" len="med"/>
                    </a:lnR>
                    <a:lnT w="9525" cap="flat" cmpd="sng" algn="ctr">
                      <a:solidFill>
                        <a:srgbClr val="E3EAF0"/>
                      </a:solidFill>
                      <a:prstDash val="solid"/>
                      <a:round/>
                      <a:headEnd type="none" w="med" len="med"/>
                      <a:tailEnd type="none" w="med" len="med"/>
                    </a:lnT>
                    <a:lnB w="9525" cap="flat" cmpd="sng" algn="ctr">
                      <a:solidFill>
                        <a:srgbClr val="E3EA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150" dirty="0">
                          <a:solidFill>
                            <a:srgbClr val="1A2433"/>
                          </a:solidFill>
                          <a:latin typeface="Calibri" pitchFamily="34" charset="0"/>
                          <a:ea typeface="Calibri" pitchFamily="34" charset="-122"/>
                          <a:cs typeface="Calibri" pitchFamily="34" charset="-120"/>
                        </a:rPr>
                        <a:t>Nguồn</a:t>
                      </a:r>
                      <a:endParaRPr lang="en-US" sz="1150" dirty="0">
                        <a:latin typeface="Calibri" charset="0"/>
                        <a:ea typeface="Calibri" charset="0"/>
                        <a:cs typeface="Calibri" charset="0"/>
                      </a:endParaRPr>
                    </a:p>
                  </a:txBody>
                  <a:tcPr anchor="ctr">
                    <a:lnL w="9525" cap="flat" cmpd="sng" algn="ctr">
                      <a:solidFill>
                        <a:srgbClr val="E3EAF0"/>
                      </a:solidFill>
                      <a:prstDash val="solid"/>
                      <a:round/>
                      <a:headEnd type="none" w="med" len="med"/>
                      <a:tailEnd type="none" w="med" len="med"/>
                    </a:lnL>
                    <a:lnR w="9525" cap="flat" cmpd="sng" algn="ctr">
                      <a:solidFill>
                        <a:srgbClr val="E3EAF0"/>
                      </a:solidFill>
                      <a:prstDash val="solid"/>
                      <a:round/>
                      <a:headEnd type="none" w="med" len="med"/>
                      <a:tailEnd type="none" w="med" len="med"/>
                    </a:lnR>
                    <a:lnT w="9525" cap="flat" cmpd="sng" algn="ctr">
                      <a:solidFill>
                        <a:srgbClr val="E3EAF0"/>
                      </a:solidFill>
                      <a:prstDash val="solid"/>
                      <a:round/>
                      <a:headEnd type="none" w="med" len="med"/>
                      <a:tailEnd type="none" w="med" len="med"/>
                    </a:lnT>
                    <a:lnB w="9525" cap="flat" cmpd="sng" algn="ctr">
                      <a:solidFill>
                        <a:srgbClr val="E3EAF0"/>
                      </a:solidFill>
                      <a:prstDash val="solid"/>
                      <a:round/>
                      <a:headEnd type="none" w="med" len="med"/>
                      <a:tailEnd type="none" w="med" len="med"/>
                    </a:lnB>
                    <a:solidFill>
                      <a:srgbClr val="FFFFFF"/>
                    </a:solidFill>
                  </a:tcPr>
                </a:tc>
                <a:tc>
                  <a:txBody>
                    <a:bodyPr/>
                    <a:lstStyle/>
                    <a:p>
                      <a:pPr marL="0" indent="0">
                        <a:buNone/>
                      </a:pPr>
                      <a:r>
                        <a:rPr lang="en-US" sz="1150" dirty="0">
                          <a:solidFill>
                            <a:srgbClr val="1A2433"/>
                          </a:solidFill>
                          <a:latin typeface="Calibri" pitchFamily="34" charset="0"/>
                          <a:ea typeface="Calibri" pitchFamily="34" charset="-122"/>
                          <a:cs typeface="Calibri" pitchFamily="34" charset="-120"/>
                        </a:rPr>
                        <a:t>Kaggle</a:t>
                      </a:r>
                      <a:endParaRPr lang="en-US" sz="1150" dirty="0">
                        <a:latin typeface="Calibri" charset="0"/>
                        <a:ea typeface="Calibri" charset="0"/>
                        <a:cs typeface="Calibri" charset="0"/>
                      </a:endParaRPr>
                    </a:p>
                  </a:txBody>
                  <a:tcPr anchor="ctr">
                    <a:lnL w="9525" cap="flat" cmpd="sng" algn="ctr">
                      <a:solidFill>
                        <a:srgbClr val="E3EAF0"/>
                      </a:solidFill>
                      <a:prstDash val="solid"/>
                      <a:round/>
                      <a:headEnd type="none" w="med" len="med"/>
                      <a:tailEnd type="none" w="med" len="med"/>
                    </a:lnL>
                    <a:lnR w="9525" cap="flat" cmpd="sng" algn="ctr">
                      <a:solidFill>
                        <a:srgbClr val="E3EAF0"/>
                      </a:solidFill>
                      <a:prstDash val="solid"/>
                      <a:round/>
                      <a:headEnd type="none" w="med" len="med"/>
                      <a:tailEnd type="none" w="med" len="med"/>
                    </a:lnR>
                    <a:lnT w="9525" cap="flat" cmpd="sng" algn="ctr">
                      <a:solidFill>
                        <a:srgbClr val="E3EAF0"/>
                      </a:solidFill>
                      <a:prstDash val="solid"/>
                      <a:round/>
                      <a:headEnd type="none" w="med" len="med"/>
                      <a:tailEnd type="none" w="med" len="med"/>
                    </a:lnT>
                    <a:lnB w="9525" cap="flat" cmpd="sng" algn="ctr">
                      <a:solidFill>
                        <a:srgbClr val="E3EA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3" name="Text 9"/>
          <p:cNvSpPr/>
          <p:nvPr/>
        </p:nvSpPr>
        <p:spPr>
          <a:xfrm>
            <a:off x="6858000" y="5486400"/>
            <a:ext cx="4830775" cy="274320"/>
          </a:xfrm>
          <a:prstGeom prst="rect">
            <a:avLst/>
          </a:prstGeom>
          <a:noFill/>
          <a:ln/>
        </p:spPr>
        <p:txBody>
          <a:bodyPr wrap="square" rtlCol="0" anchor="ctr"/>
          <a:lstStyle/>
          <a:p>
            <a:pPr marL="0" indent="0">
              <a:buNone/>
            </a:pPr>
            <a:r>
              <a:rPr lang="en-US" sz="1000" i="1" dirty="0">
                <a:solidFill>
                  <a:srgbClr val="6B7A89"/>
                </a:solidFill>
                <a:latin typeface="Calibri" pitchFamily="34" charset="0"/>
                <a:ea typeface="Calibri" pitchFamily="34" charset="-122"/>
                <a:cs typeface="Calibri" pitchFamily="34" charset="-120"/>
              </a:rPr>
              <a:t>Nguồn: Kaggle – MY1995–2023 Fuel Consumption Ratings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686800" cy="256032"/>
          </a:xfrm>
          <a:prstGeom prst="rect">
            <a:avLst/>
          </a:prstGeom>
          <a:noFill/>
          <a:ln/>
        </p:spPr>
        <p:txBody>
          <a:bodyPr wrap="square" rtlCol="0" anchor="ctr"/>
          <a:lstStyle/>
          <a:p>
            <a:pPr marL="0" indent="0">
              <a:buNone/>
            </a:pPr>
            <a:r>
              <a:rPr lang="en-US" sz="1200" b="1" kern="0" spc="200" dirty="0">
                <a:solidFill>
                  <a:srgbClr val="E8833A"/>
                </a:solidFill>
                <a:latin typeface="Calibri" pitchFamily="34" charset="0"/>
                <a:ea typeface="Calibri" pitchFamily="34" charset="-122"/>
                <a:cs typeface="Calibri" pitchFamily="34" charset="-120"/>
              </a:rPr>
              <a:t>PHÂN TÍCH DỮ LIỆU (EDA)</a:t>
            </a:r>
            <a:endParaRPr lang="en-US" sz="1200" dirty="0"/>
          </a:p>
        </p:txBody>
      </p:sp>
      <p:sp>
        <p:nvSpPr>
          <p:cNvPr id="3" name="Text 1"/>
          <p:cNvSpPr/>
          <p:nvPr/>
        </p:nvSpPr>
        <p:spPr>
          <a:xfrm>
            <a:off x="502920" y="621792"/>
            <a:ext cx="9692640" cy="566928"/>
          </a:xfrm>
          <a:prstGeom prst="rect">
            <a:avLst/>
          </a:prstGeom>
          <a:noFill/>
          <a:ln/>
        </p:spPr>
        <p:txBody>
          <a:bodyPr wrap="square" rtlCol="0" anchor="ctr"/>
          <a:lstStyle/>
          <a:p>
            <a:pPr marL="0" indent="0">
              <a:buNone/>
            </a:pPr>
            <a:r>
              <a:rPr lang="en-US" sz="2400" b="1" dirty="0">
                <a:solidFill>
                  <a:srgbClr val="0F2A47"/>
                </a:solidFill>
                <a:latin typeface="Cambria" pitchFamily="34" charset="0"/>
                <a:ea typeface="Cambria" pitchFamily="34" charset="-122"/>
                <a:cs typeface="Cambria" pitchFamily="34" charset="-120"/>
              </a:rPr>
              <a:t>PHÂN BỐ MỨC TIÊU HAO NHIÊN LIỆU</a:t>
            </a:r>
            <a:endParaRPr lang="en-US" sz="2400" dirty="0"/>
          </a:p>
        </p:txBody>
      </p:sp>
      <p:sp>
        <p:nvSpPr>
          <p:cNvPr id="4" name="Shape 2"/>
          <p:cNvSpPr/>
          <p:nvPr/>
        </p:nvSpPr>
        <p:spPr>
          <a:xfrm>
            <a:off x="11030407" y="384048"/>
            <a:ext cx="658368" cy="658368"/>
          </a:xfrm>
          <a:prstGeom prst="ellipse">
            <a:avLst/>
          </a:prstGeom>
          <a:solidFill>
            <a:srgbClr val="E8833A"/>
          </a:solidFill>
          <a:ln/>
        </p:spPr>
        <p:txBody>
          <a:bodyPr/>
          <a:lstStyle/>
          <a:p>
            <a:endParaRPr lang="en-US"/>
          </a:p>
        </p:txBody>
      </p:sp>
      <p:pic>
        <p:nvPicPr>
          <p:cNvPr id="5" name="Image 0" descr="/home/claude/work/icons/chart_bar_FFFFFF.png"/>
          <p:cNvPicPr>
            <a:picLocks noChangeAspect="1"/>
          </p:cNvPicPr>
          <p:nvPr/>
        </p:nvPicPr>
        <p:blipFill>
          <a:blip r:embed="rId3"/>
          <a:stretch>
            <a:fillRect/>
          </a:stretch>
        </p:blipFill>
        <p:spPr>
          <a:xfrm>
            <a:off x="11102828" y="456468"/>
            <a:ext cx="513527" cy="513527"/>
          </a:xfrm>
          <a:prstGeom prst="rect">
            <a:avLst/>
          </a:prstGeom>
        </p:spPr>
      </p:pic>
      <p:sp>
        <p:nvSpPr>
          <p:cNvPr id="6" name="Text 3"/>
          <p:cNvSpPr/>
          <p:nvPr/>
        </p:nvSpPr>
        <p:spPr>
          <a:xfrm>
            <a:off x="502920" y="6547104"/>
            <a:ext cx="7315200" cy="237744"/>
          </a:xfrm>
          <a:prstGeom prst="rect">
            <a:avLst/>
          </a:prstGeom>
          <a:noFill/>
          <a:ln/>
        </p:spPr>
        <p:txBody>
          <a:bodyPr wrap="square" rtlCol="0" anchor="ctr"/>
          <a:lstStyle/>
          <a:p>
            <a:pPr marL="0" indent="0">
              <a:buNone/>
            </a:pPr>
            <a:r>
              <a:rPr lang="en-US" sz="800" kern="0" spc="50" dirty="0">
                <a:solidFill>
                  <a:srgbClr val="6B7A89"/>
                </a:solidFill>
                <a:latin typeface="Calibri" pitchFamily="34" charset="0"/>
                <a:ea typeface="Calibri" pitchFamily="34" charset="-122"/>
                <a:cs typeface="Calibri" pitchFamily="34" charset="-120"/>
              </a:rPr>
              <a:t>HỆ THỐNG DỰ ĐOÁN MỨC TIÊU HAO NHIÊN LIỆU XE</a:t>
            </a:r>
            <a:endParaRPr lang="en-US" sz="800" dirty="0"/>
          </a:p>
        </p:txBody>
      </p:sp>
      <p:sp>
        <p:nvSpPr>
          <p:cNvPr id="7" name="Text 4"/>
          <p:cNvSpPr/>
          <p:nvPr/>
        </p:nvSpPr>
        <p:spPr>
          <a:xfrm>
            <a:off x="11231575" y="6547104"/>
            <a:ext cx="457200" cy="237744"/>
          </a:xfrm>
          <a:prstGeom prst="rect">
            <a:avLst/>
          </a:prstGeom>
          <a:noFill/>
          <a:ln/>
        </p:spPr>
        <p:txBody>
          <a:bodyPr wrap="square" rtlCol="0" anchor="ctr"/>
          <a:lstStyle/>
          <a:p>
            <a:pPr marL="0" indent="0" algn="r">
              <a:buNone/>
            </a:pPr>
            <a:r>
              <a:rPr lang="en-US" sz="900" b="1" dirty="0">
                <a:solidFill>
                  <a:srgbClr val="6B7A89"/>
                </a:solidFill>
                <a:latin typeface="Calibri" pitchFamily="34" charset="0"/>
                <a:ea typeface="Calibri" pitchFamily="34" charset="-122"/>
                <a:cs typeface="Calibri" pitchFamily="34" charset="-120"/>
              </a:rPr>
              <a:t>04</a:t>
            </a:r>
            <a:endParaRPr lang="en-US" sz="900" dirty="0"/>
          </a:p>
        </p:txBody>
      </p:sp>
      <p:sp>
        <p:nvSpPr>
          <p:cNvPr id="8" name="Text 5"/>
          <p:cNvSpPr/>
          <p:nvPr/>
        </p:nvSpPr>
        <p:spPr>
          <a:xfrm>
            <a:off x="502920" y="1463040"/>
            <a:ext cx="3977640" cy="4572000"/>
          </a:xfrm>
          <a:prstGeom prst="rect">
            <a:avLst/>
          </a:prstGeom>
          <a:noFill/>
          <a:ln/>
        </p:spPr>
        <p:txBody>
          <a:bodyPr wrap="square" rtlCol="0" anchor="t"/>
          <a:lstStyle/>
          <a:p>
            <a:pPr marL="228600" indent="-228600">
              <a:lnSpc>
                <a:spcPct val="112000"/>
              </a:lnSpc>
              <a:spcAft>
                <a:spcPts val="1200"/>
              </a:spcAft>
              <a:buSzPct val="100000"/>
              <a:buChar char="▪"/>
            </a:pPr>
            <a:r>
              <a:rPr lang="en-US" sz="1350" dirty="0">
                <a:solidFill>
                  <a:srgbClr val="1A2433"/>
                </a:solidFill>
                <a:latin typeface="Calibri" pitchFamily="34" charset="0"/>
                <a:ea typeface="Calibri" pitchFamily="34" charset="-122"/>
                <a:cs typeface="Calibri" pitchFamily="34" charset="-120"/>
              </a:rPr>
              <a:t>Biểu đồ cho thấy cách các giá trị mức tiêu hao nhiên liệu phân bố trong toàn bộ dataset.</a:t>
            </a:r>
            <a:endParaRPr lang="en-US" sz="1350" dirty="0"/>
          </a:p>
          <a:p>
            <a:pPr marL="228600" indent="-228600">
              <a:lnSpc>
                <a:spcPct val="112000"/>
              </a:lnSpc>
              <a:spcAft>
                <a:spcPts val="1200"/>
              </a:spcAft>
              <a:buSzPct val="100000"/>
              <a:buChar char="▪"/>
            </a:pPr>
            <a:r>
              <a:rPr lang="en-US" sz="1350" dirty="0">
                <a:solidFill>
                  <a:srgbClr val="1A2433"/>
                </a:solidFill>
                <a:latin typeface="Calibri" pitchFamily="34" charset="0"/>
                <a:ea typeface="Calibri" pitchFamily="34" charset="-122"/>
                <a:cs typeface="Calibri" pitchFamily="34" charset="-120"/>
              </a:rPr>
              <a:t>Có thể xác định khoảng tiêu hao xuất hiện phổ biến nhất và các vùng có ít mẫu hơn.</a:t>
            </a:r>
            <a:endParaRPr lang="en-US" sz="1350" dirty="0"/>
          </a:p>
          <a:p>
            <a:pPr marL="228600" indent="-228600">
              <a:lnSpc>
                <a:spcPct val="112000"/>
              </a:lnSpc>
              <a:spcAft>
                <a:spcPts val="1200"/>
              </a:spcAft>
              <a:buSzPct val="100000"/>
              <a:buChar char="▪"/>
            </a:pPr>
            <a:r>
              <a:rPr lang="en-US" sz="1350" dirty="0">
                <a:solidFill>
                  <a:srgbClr val="1A2433"/>
                </a:solidFill>
                <a:latin typeface="Calibri" pitchFamily="34" charset="0"/>
                <a:ea typeface="Calibri" pitchFamily="34" charset="-122"/>
                <a:cs typeface="Calibri" pitchFamily="34" charset="-120"/>
              </a:rPr>
              <a:t>Biểu đồ cũng giúp phát hiện phân bố lệch hoặc những giá trị nằm xa phần lớn dữ liệu.</a:t>
            </a:r>
            <a:endParaRPr lang="en-US" sz="1350" dirty="0"/>
          </a:p>
          <a:p>
            <a:pPr marL="228600" indent="-228600">
              <a:lnSpc>
                <a:spcPct val="112000"/>
              </a:lnSpc>
              <a:spcAft>
                <a:spcPts val="1200"/>
              </a:spcAft>
              <a:buSzPct val="100000"/>
              <a:buChar char="▪"/>
            </a:pPr>
            <a:r>
              <a:rPr lang="en-US" sz="1350" dirty="0">
                <a:solidFill>
                  <a:srgbClr val="1A2433"/>
                </a:solidFill>
                <a:latin typeface="Calibri" pitchFamily="34" charset="0"/>
                <a:ea typeface="Calibri" pitchFamily="34" charset="-122"/>
                <a:cs typeface="Calibri" pitchFamily="34" charset="-120"/>
              </a:rPr>
              <a:t>Đây là cơ sở để hiểu đặc điểm của biến mục tiêu trước khi huấn luyện mô hình.</a:t>
            </a:r>
            <a:endParaRPr lang="en-US" sz="1350" dirty="0"/>
          </a:p>
        </p:txBody>
      </p:sp>
      <p:sp>
        <p:nvSpPr>
          <p:cNvPr id="9" name="Shape 6"/>
          <p:cNvSpPr/>
          <p:nvPr/>
        </p:nvSpPr>
        <p:spPr>
          <a:xfrm>
            <a:off x="4800600" y="1417320"/>
            <a:ext cx="6888175" cy="4572000"/>
          </a:xfrm>
          <a:prstGeom prst="roundRect">
            <a:avLst>
              <a:gd name="adj" fmla="val 1800"/>
            </a:avLst>
          </a:prstGeom>
          <a:solidFill>
            <a:srgbClr val="FFFFFF"/>
          </a:solidFill>
          <a:ln/>
          <a:effectLst>
            <a:outerShdw blurRad="101600" dist="25400" dir="5400000" algn="bl" rotWithShape="0">
              <a:srgbClr val="1A2433">
                <a:alpha val="12000"/>
              </a:srgbClr>
            </a:outerShdw>
          </a:effectLst>
        </p:spPr>
        <p:txBody>
          <a:bodyPr/>
          <a:lstStyle/>
          <a:p>
            <a:endParaRPr lang="en-US"/>
          </a:p>
        </p:txBody>
      </p:sp>
      <p:pic>
        <p:nvPicPr>
          <p:cNvPr id="10" name="Image 1" descr="/home/claude/work/charts/image1.png"/>
          <p:cNvPicPr>
            <a:picLocks noChangeAspect="1"/>
          </p:cNvPicPr>
          <p:nvPr/>
        </p:nvPicPr>
        <p:blipFill>
          <a:blip r:embed="rId4"/>
          <a:stretch>
            <a:fillRect/>
          </a:stretch>
        </p:blipFill>
        <p:spPr>
          <a:xfrm>
            <a:off x="4965192" y="1653635"/>
            <a:ext cx="6558991" cy="4099369"/>
          </a:xfrm>
          <a:prstGeom prst="rect">
            <a:avLst/>
          </a:prstGeom>
        </p:spPr>
      </p:pic>
      <p:sp>
        <p:nvSpPr>
          <p:cNvPr id="11" name="Text 7"/>
          <p:cNvSpPr/>
          <p:nvPr/>
        </p:nvSpPr>
        <p:spPr>
          <a:xfrm>
            <a:off x="502920" y="6080760"/>
            <a:ext cx="11185855" cy="274320"/>
          </a:xfrm>
          <a:prstGeom prst="rect">
            <a:avLst/>
          </a:prstGeom>
          <a:noFill/>
          <a:ln/>
        </p:spPr>
        <p:txBody>
          <a:bodyPr wrap="square" rtlCol="0" anchor="ctr"/>
          <a:lstStyle/>
          <a:p>
            <a:pPr marL="0" indent="0" algn="l">
              <a:buNone/>
            </a:pPr>
            <a:r>
              <a:rPr lang="en-US" sz="1050" i="1" dirty="0">
                <a:solidFill>
                  <a:srgbClr val="6B7A89"/>
                </a:solidFill>
                <a:latin typeface="Calibri" pitchFamily="34" charset="0"/>
                <a:ea typeface="Calibri" pitchFamily="34" charset="-122"/>
                <a:cs typeface="Calibri" pitchFamily="34" charset="-120"/>
              </a:rPr>
              <a:t>Biểu đồ: Histogram của Fuel Consumption Comb (L/100 km)</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686800" cy="256032"/>
          </a:xfrm>
          <a:prstGeom prst="rect">
            <a:avLst/>
          </a:prstGeom>
          <a:noFill/>
          <a:ln/>
        </p:spPr>
        <p:txBody>
          <a:bodyPr wrap="square" rtlCol="0" anchor="ctr"/>
          <a:lstStyle/>
          <a:p>
            <a:pPr marL="0" indent="0">
              <a:buNone/>
            </a:pPr>
            <a:r>
              <a:rPr lang="en-US" sz="1200" b="1" kern="0" spc="200" dirty="0">
                <a:solidFill>
                  <a:srgbClr val="E8833A"/>
                </a:solidFill>
                <a:latin typeface="Calibri" pitchFamily="34" charset="0"/>
                <a:ea typeface="Calibri" pitchFamily="34" charset="-122"/>
                <a:cs typeface="Calibri" pitchFamily="34" charset="-120"/>
              </a:rPr>
              <a:t>PHÂN TÍCH DỮ LIỆU (EDA)</a:t>
            </a:r>
            <a:endParaRPr lang="en-US" sz="1200" dirty="0"/>
          </a:p>
        </p:txBody>
      </p:sp>
      <p:sp>
        <p:nvSpPr>
          <p:cNvPr id="3" name="Text 1"/>
          <p:cNvSpPr/>
          <p:nvPr/>
        </p:nvSpPr>
        <p:spPr>
          <a:xfrm>
            <a:off x="502920" y="621792"/>
            <a:ext cx="9692640" cy="566928"/>
          </a:xfrm>
          <a:prstGeom prst="rect">
            <a:avLst/>
          </a:prstGeom>
          <a:noFill/>
          <a:ln/>
        </p:spPr>
        <p:txBody>
          <a:bodyPr wrap="square" rtlCol="0" anchor="ctr"/>
          <a:lstStyle/>
          <a:p>
            <a:pPr marL="0" indent="0">
              <a:buNone/>
            </a:pPr>
            <a:r>
              <a:rPr lang="en-US" sz="2400" b="1" dirty="0">
                <a:solidFill>
                  <a:srgbClr val="0F2A47"/>
                </a:solidFill>
                <a:latin typeface="Cambria" pitchFamily="34" charset="0"/>
                <a:ea typeface="Cambria" pitchFamily="34" charset="-122"/>
                <a:cs typeface="Cambria" pitchFamily="34" charset="-120"/>
              </a:rPr>
              <a:t>PHÁT HIỆN GIÁ TRỊ NGOẠI LAI CỦA TARGET</a:t>
            </a:r>
            <a:endParaRPr lang="en-US" sz="2400" dirty="0"/>
          </a:p>
        </p:txBody>
      </p:sp>
      <p:sp>
        <p:nvSpPr>
          <p:cNvPr id="4" name="Shape 2"/>
          <p:cNvSpPr/>
          <p:nvPr/>
        </p:nvSpPr>
        <p:spPr>
          <a:xfrm>
            <a:off x="11030407" y="384048"/>
            <a:ext cx="658368" cy="658368"/>
          </a:xfrm>
          <a:prstGeom prst="ellipse">
            <a:avLst/>
          </a:prstGeom>
          <a:solidFill>
            <a:srgbClr val="E8833A"/>
          </a:solidFill>
          <a:ln/>
        </p:spPr>
        <p:txBody>
          <a:bodyPr/>
          <a:lstStyle/>
          <a:p>
            <a:endParaRPr lang="en-US"/>
          </a:p>
        </p:txBody>
      </p:sp>
      <p:pic>
        <p:nvPicPr>
          <p:cNvPr id="5" name="Image 0" descr="/home/claude/work/icons/chart_area_FFFFFF.png"/>
          <p:cNvPicPr>
            <a:picLocks noChangeAspect="1"/>
          </p:cNvPicPr>
          <p:nvPr/>
        </p:nvPicPr>
        <p:blipFill>
          <a:blip r:embed="rId3"/>
          <a:stretch>
            <a:fillRect/>
          </a:stretch>
        </p:blipFill>
        <p:spPr>
          <a:xfrm>
            <a:off x="11102828" y="456468"/>
            <a:ext cx="513527" cy="513527"/>
          </a:xfrm>
          <a:prstGeom prst="rect">
            <a:avLst/>
          </a:prstGeom>
        </p:spPr>
      </p:pic>
      <p:sp>
        <p:nvSpPr>
          <p:cNvPr id="6" name="Text 3"/>
          <p:cNvSpPr/>
          <p:nvPr/>
        </p:nvSpPr>
        <p:spPr>
          <a:xfrm>
            <a:off x="502920" y="6547104"/>
            <a:ext cx="7315200" cy="237744"/>
          </a:xfrm>
          <a:prstGeom prst="rect">
            <a:avLst/>
          </a:prstGeom>
          <a:noFill/>
          <a:ln/>
        </p:spPr>
        <p:txBody>
          <a:bodyPr wrap="square" rtlCol="0" anchor="ctr"/>
          <a:lstStyle/>
          <a:p>
            <a:pPr marL="0" indent="0">
              <a:buNone/>
            </a:pPr>
            <a:r>
              <a:rPr lang="en-US" sz="800" kern="0" spc="50" dirty="0">
                <a:solidFill>
                  <a:srgbClr val="6B7A89"/>
                </a:solidFill>
                <a:latin typeface="Calibri" pitchFamily="34" charset="0"/>
                <a:ea typeface="Calibri" pitchFamily="34" charset="-122"/>
                <a:cs typeface="Calibri" pitchFamily="34" charset="-120"/>
              </a:rPr>
              <a:t>HỆ THỐNG DỰ ĐOÁN MỨC TIÊU HAO NHIÊN LIỆU XE</a:t>
            </a:r>
            <a:endParaRPr lang="en-US" sz="800" dirty="0"/>
          </a:p>
        </p:txBody>
      </p:sp>
      <p:sp>
        <p:nvSpPr>
          <p:cNvPr id="7" name="Text 4"/>
          <p:cNvSpPr/>
          <p:nvPr/>
        </p:nvSpPr>
        <p:spPr>
          <a:xfrm>
            <a:off x="11231575" y="6547104"/>
            <a:ext cx="457200" cy="237744"/>
          </a:xfrm>
          <a:prstGeom prst="rect">
            <a:avLst/>
          </a:prstGeom>
          <a:noFill/>
          <a:ln/>
        </p:spPr>
        <p:txBody>
          <a:bodyPr wrap="square" rtlCol="0" anchor="ctr"/>
          <a:lstStyle/>
          <a:p>
            <a:pPr marL="0" indent="0" algn="r">
              <a:buNone/>
            </a:pPr>
            <a:r>
              <a:rPr lang="en-US" sz="900" b="1" dirty="0">
                <a:solidFill>
                  <a:srgbClr val="6B7A89"/>
                </a:solidFill>
                <a:latin typeface="Calibri" pitchFamily="34" charset="0"/>
                <a:ea typeface="Calibri" pitchFamily="34" charset="-122"/>
                <a:cs typeface="Calibri" pitchFamily="34" charset="-120"/>
              </a:rPr>
              <a:t>05</a:t>
            </a:r>
            <a:endParaRPr lang="en-US" sz="900" dirty="0"/>
          </a:p>
        </p:txBody>
      </p:sp>
      <p:sp>
        <p:nvSpPr>
          <p:cNvPr id="8" name="Text 5"/>
          <p:cNvSpPr/>
          <p:nvPr/>
        </p:nvSpPr>
        <p:spPr>
          <a:xfrm>
            <a:off x="7711135" y="1463040"/>
            <a:ext cx="3977640" cy="4846320"/>
          </a:xfrm>
          <a:prstGeom prst="rect">
            <a:avLst/>
          </a:prstGeom>
          <a:noFill/>
          <a:ln/>
        </p:spPr>
        <p:txBody>
          <a:bodyPr wrap="square" rtlCol="0" anchor="t"/>
          <a:lstStyle/>
          <a:p>
            <a:pPr marL="228600" indent="-228600">
              <a:lnSpc>
                <a:spcPct val="112000"/>
              </a:lnSpc>
              <a:spcAft>
                <a:spcPts val="1200"/>
              </a:spcAft>
              <a:buSzPct val="100000"/>
              <a:buChar char="▪"/>
            </a:pPr>
            <a:r>
              <a:rPr lang="en-US" sz="1350" dirty="0">
                <a:solidFill>
                  <a:srgbClr val="1A2433"/>
                </a:solidFill>
                <a:latin typeface="Calibri" pitchFamily="34" charset="0"/>
                <a:ea typeface="Calibri" pitchFamily="34" charset="-122"/>
                <a:cs typeface="Calibri" pitchFamily="34" charset="-120"/>
              </a:rPr>
              <a:t>Boxplot giúp quan sát trung vị, khoảng phân bố chính và các giá trị nằm ngoài phạm vi phổ biến.</a:t>
            </a:r>
            <a:endParaRPr lang="en-US" sz="1350" dirty="0"/>
          </a:p>
          <a:p>
            <a:pPr marL="228600" indent="-228600">
              <a:lnSpc>
                <a:spcPct val="112000"/>
              </a:lnSpc>
              <a:spcAft>
                <a:spcPts val="1200"/>
              </a:spcAft>
              <a:buSzPct val="100000"/>
              <a:buChar char="▪"/>
            </a:pPr>
            <a:r>
              <a:rPr lang="en-US" sz="1350" dirty="0">
                <a:solidFill>
                  <a:srgbClr val="1A2433"/>
                </a:solidFill>
                <a:latin typeface="Calibri" pitchFamily="34" charset="0"/>
                <a:ea typeface="Calibri" pitchFamily="34" charset="-122"/>
                <a:cs typeface="Calibri" pitchFamily="34" charset="-120"/>
              </a:rPr>
              <a:t>Một số xe có thể có mức tiêu hao nhiên liệu cao hoặc thấp hơn đáng kể so với phần lớn dataset.</a:t>
            </a:r>
            <a:endParaRPr lang="en-US" sz="1350" dirty="0"/>
          </a:p>
          <a:p>
            <a:pPr marL="228600" indent="-228600">
              <a:lnSpc>
                <a:spcPct val="112000"/>
              </a:lnSpc>
              <a:spcAft>
                <a:spcPts val="1200"/>
              </a:spcAft>
              <a:buSzPct val="100000"/>
              <a:buChar char="▪"/>
            </a:pPr>
            <a:r>
              <a:rPr lang="en-US" sz="1350" dirty="0">
                <a:solidFill>
                  <a:srgbClr val="1A2433"/>
                </a:solidFill>
                <a:latin typeface="Calibri" pitchFamily="34" charset="0"/>
                <a:ea typeface="Calibri" pitchFamily="34" charset="-122"/>
                <a:cs typeface="Calibri" pitchFamily="34" charset="-120"/>
              </a:rPr>
              <a:t>Không nên tự động xóa toàn bộ các điểm ngoại lai vì một số giá trị vẫn có thể đại diện cho những loại xe thực tế.</a:t>
            </a:r>
            <a:endParaRPr lang="en-US" sz="1350" dirty="0"/>
          </a:p>
          <a:p>
            <a:pPr marL="228600" indent="-228600">
              <a:lnSpc>
                <a:spcPct val="112000"/>
              </a:lnSpc>
              <a:spcAft>
                <a:spcPts val="1200"/>
              </a:spcAft>
              <a:buSzPct val="100000"/>
              <a:buChar char="▪"/>
            </a:pPr>
            <a:r>
              <a:rPr lang="en-US" sz="1350" dirty="0">
                <a:solidFill>
                  <a:srgbClr val="1A2433"/>
                </a:solidFill>
                <a:latin typeface="Calibri" pitchFamily="34" charset="0"/>
                <a:ea typeface="Calibri" pitchFamily="34" charset="-122"/>
                <a:cs typeface="Calibri" pitchFamily="34" charset="-120"/>
              </a:rPr>
              <a:t>Việc xử lý outlier cần dựa trên ý nghĩa thực tế của dữ liệu.</a:t>
            </a:r>
            <a:endParaRPr lang="en-US" sz="1350" dirty="0"/>
          </a:p>
        </p:txBody>
      </p:sp>
      <p:sp>
        <p:nvSpPr>
          <p:cNvPr id="9" name="Shape 6"/>
          <p:cNvSpPr/>
          <p:nvPr/>
        </p:nvSpPr>
        <p:spPr>
          <a:xfrm>
            <a:off x="502920" y="1417320"/>
            <a:ext cx="6888175" cy="4846320"/>
          </a:xfrm>
          <a:prstGeom prst="roundRect">
            <a:avLst>
              <a:gd name="adj" fmla="val 1698"/>
            </a:avLst>
          </a:prstGeom>
          <a:solidFill>
            <a:srgbClr val="FFFFFF"/>
          </a:solidFill>
          <a:ln/>
          <a:effectLst>
            <a:outerShdw blurRad="101600" dist="25400" dir="5400000" algn="bl" rotWithShape="0">
              <a:srgbClr val="1A2433">
                <a:alpha val="12000"/>
              </a:srgbClr>
            </a:outerShdw>
          </a:effectLst>
        </p:spPr>
        <p:txBody>
          <a:bodyPr/>
          <a:lstStyle/>
          <a:p>
            <a:endParaRPr lang="en-US"/>
          </a:p>
        </p:txBody>
      </p:sp>
      <p:pic>
        <p:nvPicPr>
          <p:cNvPr id="10" name="Image 1" descr="/home/claude/work/charts/image2.png"/>
          <p:cNvPicPr>
            <a:picLocks noChangeAspect="1"/>
          </p:cNvPicPr>
          <p:nvPr/>
        </p:nvPicPr>
        <p:blipFill>
          <a:blip r:embed="rId4"/>
          <a:stretch>
            <a:fillRect/>
          </a:stretch>
        </p:blipFill>
        <p:spPr>
          <a:xfrm>
            <a:off x="667512" y="2405692"/>
            <a:ext cx="6558991" cy="286957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686800" cy="256032"/>
          </a:xfrm>
          <a:prstGeom prst="rect">
            <a:avLst/>
          </a:prstGeom>
          <a:noFill/>
          <a:ln/>
        </p:spPr>
        <p:txBody>
          <a:bodyPr wrap="square" rtlCol="0" anchor="ctr"/>
          <a:lstStyle/>
          <a:p>
            <a:pPr marL="0" indent="0">
              <a:buNone/>
            </a:pPr>
            <a:r>
              <a:rPr lang="en-US" sz="1200" b="1" kern="0" spc="200" dirty="0">
                <a:solidFill>
                  <a:srgbClr val="E8833A"/>
                </a:solidFill>
                <a:latin typeface="Calibri" pitchFamily="34" charset="0"/>
                <a:ea typeface="Calibri" pitchFamily="34" charset="-122"/>
                <a:cs typeface="Calibri" pitchFamily="34" charset="-120"/>
              </a:rPr>
              <a:t>PHÂN TÍCH DỮ LIỆU (EDA)</a:t>
            </a:r>
            <a:endParaRPr lang="en-US" sz="1200" dirty="0"/>
          </a:p>
        </p:txBody>
      </p:sp>
      <p:sp>
        <p:nvSpPr>
          <p:cNvPr id="3" name="Text 1"/>
          <p:cNvSpPr/>
          <p:nvPr/>
        </p:nvSpPr>
        <p:spPr>
          <a:xfrm>
            <a:off x="502920" y="621792"/>
            <a:ext cx="9692640" cy="566928"/>
          </a:xfrm>
          <a:prstGeom prst="rect">
            <a:avLst/>
          </a:prstGeom>
          <a:noFill/>
          <a:ln/>
        </p:spPr>
        <p:txBody>
          <a:bodyPr wrap="square" rtlCol="0" anchor="ctr"/>
          <a:lstStyle/>
          <a:p>
            <a:pPr marL="0" indent="0">
              <a:buNone/>
            </a:pPr>
            <a:r>
              <a:rPr lang="en-US" sz="2400" b="1" dirty="0">
                <a:solidFill>
                  <a:srgbClr val="0F2A47"/>
                </a:solidFill>
                <a:latin typeface="Cambria" pitchFamily="34" charset="0"/>
                <a:ea typeface="Cambria" pitchFamily="34" charset="-122"/>
                <a:cs typeface="Cambria" pitchFamily="34" charset="-120"/>
              </a:rPr>
              <a:t>KIỂM TRA GIÁ TRỊ THIẾU</a:t>
            </a:r>
            <a:endParaRPr lang="en-US" sz="2400" dirty="0"/>
          </a:p>
        </p:txBody>
      </p:sp>
      <p:sp>
        <p:nvSpPr>
          <p:cNvPr id="4" name="Shape 2"/>
          <p:cNvSpPr/>
          <p:nvPr/>
        </p:nvSpPr>
        <p:spPr>
          <a:xfrm>
            <a:off x="11030407" y="384048"/>
            <a:ext cx="658368" cy="658368"/>
          </a:xfrm>
          <a:prstGeom prst="ellipse">
            <a:avLst/>
          </a:prstGeom>
          <a:solidFill>
            <a:srgbClr val="E8833A"/>
          </a:solidFill>
          <a:ln/>
        </p:spPr>
        <p:txBody>
          <a:bodyPr/>
          <a:lstStyle/>
          <a:p>
            <a:endParaRPr lang="en-US"/>
          </a:p>
        </p:txBody>
      </p:sp>
      <p:pic>
        <p:nvPicPr>
          <p:cNvPr id="5" name="Image 0" descr="/home/claude/work/icons/triangle_exc_FFFFFF.png"/>
          <p:cNvPicPr>
            <a:picLocks noChangeAspect="1"/>
          </p:cNvPicPr>
          <p:nvPr/>
        </p:nvPicPr>
        <p:blipFill>
          <a:blip r:embed="rId3"/>
          <a:stretch>
            <a:fillRect/>
          </a:stretch>
        </p:blipFill>
        <p:spPr>
          <a:xfrm>
            <a:off x="11102828" y="456468"/>
            <a:ext cx="513527" cy="513527"/>
          </a:xfrm>
          <a:prstGeom prst="rect">
            <a:avLst/>
          </a:prstGeom>
        </p:spPr>
      </p:pic>
      <p:sp>
        <p:nvSpPr>
          <p:cNvPr id="6" name="Text 3"/>
          <p:cNvSpPr/>
          <p:nvPr/>
        </p:nvSpPr>
        <p:spPr>
          <a:xfrm>
            <a:off x="502920" y="6547104"/>
            <a:ext cx="7315200" cy="237744"/>
          </a:xfrm>
          <a:prstGeom prst="rect">
            <a:avLst/>
          </a:prstGeom>
          <a:noFill/>
          <a:ln/>
        </p:spPr>
        <p:txBody>
          <a:bodyPr wrap="square" rtlCol="0" anchor="ctr"/>
          <a:lstStyle/>
          <a:p>
            <a:pPr marL="0" indent="0">
              <a:buNone/>
            </a:pPr>
            <a:r>
              <a:rPr lang="en-US" sz="800" kern="0" spc="50" dirty="0">
                <a:solidFill>
                  <a:srgbClr val="6B7A89"/>
                </a:solidFill>
                <a:latin typeface="Calibri" pitchFamily="34" charset="0"/>
                <a:ea typeface="Calibri" pitchFamily="34" charset="-122"/>
                <a:cs typeface="Calibri" pitchFamily="34" charset="-120"/>
              </a:rPr>
              <a:t>HỆ THỐNG DỰ ĐOÁN MỨC TIÊU HAO NHIÊN LIỆU XE</a:t>
            </a:r>
            <a:endParaRPr lang="en-US" sz="800" dirty="0"/>
          </a:p>
        </p:txBody>
      </p:sp>
      <p:sp>
        <p:nvSpPr>
          <p:cNvPr id="7" name="Text 4"/>
          <p:cNvSpPr/>
          <p:nvPr/>
        </p:nvSpPr>
        <p:spPr>
          <a:xfrm>
            <a:off x="11231575" y="6547104"/>
            <a:ext cx="457200" cy="237744"/>
          </a:xfrm>
          <a:prstGeom prst="rect">
            <a:avLst/>
          </a:prstGeom>
          <a:noFill/>
          <a:ln/>
        </p:spPr>
        <p:txBody>
          <a:bodyPr wrap="square" rtlCol="0" anchor="ctr"/>
          <a:lstStyle/>
          <a:p>
            <a:pPr marL="0" indent="0" algn="r">
              <a:buNone/>
            </a:pPr>
            <a:r>
              <a:rPr lang="en-US" sz="900" b="1" dirty="0">
                <a:solidFill>
                  <a:srgbClr val="6B7A89"/>
                </a:solidFill>
                <a:latin typeface="Calibri" pitchFamily="34" charset="0"/>
                <a:ea typeface="Calibri" pitchFamily="34" charset="-122"/>
                <a:cs typeface="Calibri" pitchFamily="34" charset="-120"/>
              </a:rPr>
              <a:t>06</a:t>
            </a:r>
            <a:endParaRPr lang="en-US" sz="900" dirty="0"/>
          </a:p>
        </p:txBody>
      </p:sp>
      <p:sp>
        <p:nvSpPr>
          <p:cNvPr id="8" name="Text 5"/>
          <p:cNvSpPr/>
          <p:nvPr/>
        </p:nvSpPr>
        <p:spPr>
          <a:xfrm>
            <a:off x="502920" y="1463040"/>
            <a:ext cx="3977640" cy="4846320"/>
          </a:xfrm>
          <a:prstGeom prst="rect">
            <a:avLst/>
          </a:prstGeom>
          <a:noFill/>
          <a:ln/>
        </p:spPr>
        <p:txBody>
          <a:bodyPr wrap="square" rtlCol="0" anchor="t"/>
          <a:lstStyle/>
          <a:p>
            <a:pPr marL="228600" indent="-228600">
              <a:lnSpc>
                <a:spcPct val="112000"/>
              </a:lnSpc>
              <a:spcAft>
                <a:spcPts val="1200"/>
              </a:spcAft>
              <a:buSzPct val="100000"/>
              <a:buChar char="▪"/>
            </a:pPr>
            <a:r>
              <a:rPr lang="en-US" sz="1250" dirty="0">
                <a:solidFill>
                  <a:srgbClr val="1A2433"/>
                </a:solidFill>
                <a:latin typeface="Calibri" pitchFamily="34" charset="0"/>
                <a:ea typeface="Calibri" pitchFamily="34" charset="-122"/>
                <a:cs typeface="Calibri" pitchFamily="34" charset="-120"/>
              </a:rPr>
              <a:t>Biểu đồ cho biết số lượng hoặc tỷ lệ missing value của từng thuộc tính.</a:t>
            </a:r>
            <a:endParaRPr lang="en-US" sz="1250" dirty="0"/>
          </a:p>
          <a:p>
            <a:pPr marL="228600" indent="-228600">
              <a:lnSpc>
                <a:spcPct val="112000"/>
              </a:lnSpc>
              <a:spcAft>
                <a:spcPts val="1200"/>
              </a:spcAft>
              <a:buSzPct val="100000"/>
              <a:buChar char="▪"/>
            </a:pPr>
            <a:r>
              <a:rPr lang="en-US" sz="1250" dirty="0">
                <a:solidFill>
                  <a:srgbClr val="1A2433"/>
                </a:solidFill>
                <a:latin typeface="Calibri" pitchFamily="34" charset="0"/>
                <a:ea typeface="Calibri" pitchFamily="34" charset="-122"/>
                <a:cs typeface="Calibri" pitchFamily="34" charset="-120"/>
              </a:rPr>
              <a:t>Việc kiểm tra missing value được thực hiện trước khi xây dựng pipeline tiền xử lý.</a:t>
            </a:r>
            <a:endParaRPr lang="en-US" sz="1250" dirty="0"/>
          </a:p>
          <a:p>
            <a:pPr marL="228600" indent="-228600">
              <a:lnSpc>
                <a:spcPct val="112000"/>
              </a:lnSpc>
              <a:spcAft>
                <a:spcPts val="1200"/>
              </a:spcAft>
              <a:buSzPct val="100000"/>
              <a:buChar char="▪"/>
            </a:pPr>
            <a:r>
              <a:rPr lang="en-US" sz="1250" dirty="0">
                <a:solidFill>
                  <a:srgbClr val="1A2433"/>
                </a:solidFill>
                <a:latin typeface="Calibri" pitchFamily="34" charset="0"/>
                <a:ea typeface="Calibri" pitchFamily="34" charset="-122"/>
                <a:cs typeface="Calibri" pitchFamily="34" charset="-120"/>
              </a:rPr>
              <a:t>Đối với biến số, có thể sử dụng giá trị trung vị nếu cần thay thế dữ liệu thiếu.</a:t>
            </a:r>
            <a:endParaRPr lang="en-US" sz="1250" dirty="0"/>
          </a:p>
          <a:p>
            <a:pPr marL="228600" indent="-228600">
              <a:lnSpc>
                <a:spcPct val="112000"/>
              </a:lnSpc>
              <a:spcAft>
                <a:spcPts val="1200"/>
              </a:spcAft>
              <a:buSzPct val="100000"/>
              <a:buChar char="▪"/>
            </a:pPr>
            <a:r>
              <a:rPr lang="en-US" sz="1250" dirty="0">
                <a:solidFill>
                  <a:srgbClr val="1A2433"/>
                </a:solidFill>
                <a:latin typeface="Calibri" pitchFamily="34" charset="0"/>
                <a:ea typeface="Calibri" pitchFamily="34" charset="-122"/>
                <a:cs typeface="Calibri" pitchFamily="34" charset="-120"/>
              </a:rPr>
              <a:t>Đối với biến phân loại, có thể sử dụng giá trị xuất hiện thường xuyên nhất.</a:t>
            </a:r>
            <a:endParaRPr lang="en-US" sz="1250" dirty="0"/>
          </a:p>
          <a:p>
            <a:pPr marL="228600" indent="-228600">
              <a:lnSpc>
                <a:spcPct val="112000"/>
              </a:lnSpc>
              <a:spcAft>
                <a:spcPts val="1200"/>
              </a:spcAft>
              <a:buSzPct val="100000"/>
              <a:buChar char="▪"/>
            </a:pPr>
            <a:r>
              <a:rPr lang="en-US" sz="1250" dirty="0">
                <a:solidFill>
                  <a:srgbClr val="1A2433"/>
                </a:solidFill>
                <a:latin typeface="Calibri" pitchFamily="34" charset="0"/>
                <a:ea typeface="Calibri" pitchFamily="34" charset="-122"/>
                <a:cs typeface="Calibri" pitchFamily="34" charset="-120"/>
              </a:rPr>
              <a:t>Nếu dữ liệu thực tế không có missing value thì cần ghi rõ kết quả này trên slide.</a:t>
            </a:r>
            <a:endParaRPr lang="en-US" sz="1250" dirty="0"/>
          </a:p>
        </p:txBody>
      </p:sp>
      <p:sp>
        <p:nvSpPr>
          <p:cNvPr id="9" name="Shape 6"/>
          <p:cNvSpPr/>
          <p:nvPr/>
        </p:nvSpPr>
        <p:spPr>
          <a:xfrm>
            <a:off x="4800600" y="1417320"/>
            <a:ext cx="6888175" cy="4846320"/>
          </a:xfrm>
          <a:prstGeom prst="roundRect">
            <a:avLst>
              <a:gd name="adj" fmla="val 1698"/>
            </a:avLst>
          </a:prstGeom>
          <a:solidFill>
            <a:srgbClr val="FFFFFF"/>
          </a:solidFill>
          <a:ln/>
          <a:effectLst>
            <a:outerShdw blurRad="101600" dist="25400" dir="5400000" algn="bl" rotWithShape="0">
              <a:srgbClr val="1A2433">
                <a:alpha val="12000"/>
              </a:srgbClr>
            </a:outerShdw>
          </a:effectLst>
        </p:spPr>
        <p:txBody>
          <a:bodyPr/>
          <a:lstStyle/>
          <a:p>
            <a:endParaRPr lang="en-US"/>
          </a:p>
        </p:txBody>
      </p:sp>
      <p:pic>
        <p:nvPicPr>
          <p:cNvPr id="10" name="Image 1" descr="/home/claude/work/charts/image3.png"/>
          <p:cNvPicPr>
            <a:picLocks noChangeAspect="1"/>
          </p:cNvPicPr>
          <p:nvPr/>
        </p:nvPicPr>
        <p:blipFill>
          <a:blip r:embed="rId4"/>
          <a:stretch>
            <a:fillRect/>
          </a:stretch>
        </p:blipFill>
        <p:spPr>
          <a:xfrm>
            <a:off x="4965192" y="2200732"/>
            <a:ext cx="6558991" cy="327949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686800" cy="256032"/>
          </a:xfrm>
          <a:prstGeom prst="rect">
            <a:avLst/>
          </a:prstGeom>
          <a:noFill/>
          <a:ln/>
        </p:spPr>
        <p:txBody>
          <a:bodyPr wrap="square" rtlCol="0" anchor="ctr"/>
          <a:lstStyle/>
          <a:p>
            <a:pPr marL="0" indent="0">
              <a:buNone/>
            </a:pPr>
            <a:r>
              <a:rPr lang="en-US" sz="1200" b="1" kern="0" spc="200" dirty="0">
                <a:solidFill>
                  <a:srgbClr val="E8833A"/>
                </a:solidFill>
                <a:latin typeface="Calibri" pitchFamily="34" charset="0"/>
                <a:ea typeface="Calibri" pitchFamily="34" charset="-122"/>
                <a:cs typeface="Calibri" pitchFamily="34" charset="-120"/>
              </a:rPr>
              <a:t>PHÂN TÍCH DỮ LIỆU (EDA)</a:t>
            </a:r>
            <a:endParaRPr lang="en-US" sz="1200" dirty="0"/>
          </a:p>
        </p:txBody>
      </p:sp>
      <p:sp>
        <p:nvSpPr>
          <p:cNvPr id="3" name="Text 1"/>
          <p:cNvSpPr/>
          <p:nvPr/>
        </p:nvSpPr>
        <p:spPr>
          <a:xfrm>
            <a:off x="502920" y="621792"/>
            <a:ext cx="9692640" cy="566928"/>
          </a:xfrm>
          <a:prstGeom prst="rect">
            <a:avLst/>
          </a:prstGeom>
          <a:noFill/>
          <a:ln/>
        </p:spPr>
        <p:txBody>
          <a:bodyPr wrap="square" rtlCol="0" anchor="ctr"/>
          <a:lstStyle/>
          <a:p>
            <a:pPr marL="0" indent="0">
              <a:buNone/>
            </a:pPr>
            <a:r>
              <a:rPr lang="en-US" sz="2400" b="1" dirty="0">
                <a:solidFill>
                  <a:srgbClr val="0F2A47"/>
                </a:solidFill>
                <a:latin typeface="Cambria" pitchFamily="34" charset="0"/>
                <a:ea typeface="Cambria" pitchFamily="34" charset="-122"/>
                <a:cs typeface="Cambria" pitchFamily="34" charset="-120"/>
              </a:rPr>
              <a:t>DUNG TÍCH ĐỘNG CƠ VÀ MỨC TIÊU HAO</a:t>
            </a:r>
            <a:endParaRPr lang="en-US" sz="2400" dirty="0"/>
          </a:p>
        </p:txBody>
      </p:sp>
      <p:sp>
        <p:nvSpPr>
          <p:cNvPr id="4" name="Shape 2"/>
          <p:cNvSpPr/>
          <p:nvPr/>
        </p:nvSpPr>
        <p:spPr>
          <a:xfrm>
            <a:off x="11030407" y="384048"/>
            <a:ext cx="658368" cy="658368"/>
          </a:xfrm>
          <a:prstGeom prst="ellipse">
            <a:avLst/>
          </a:prstGeom>
          <a:solidFill>
            <a:srgbClr val="E8833A"/>
          </a:solidFill>
          <a:ln/>
        </p:spPr>
        <p:txBody>
          <a:bodyPr/>
          <a:lstStyle/>
          <a:p>
            <a:endParaRPr lang="en-US"/>
          </a:p>
        </p:txBody>
      </p:sp>
      <p:pic>
        <p:nvPicPr>
          <p:cNvPr id="5" name="Image 0" descr="/home/claude/work/icons/car_side_FFFFFF.png"/>
          <p:cNvPicPr>
            <a:picLocks noChangeAspect="1"/>
          </p:cNvPicPr>
          <p:nvPr/>
        </p:nvPicPr>
        <p:blipFill>
          <a:blip r:embed="rId3"/>
          <a:stretch>
            <a:fillRect/>
          </a:stretch>
        </p:blipFill>
        <p:spPr>
          <a:xfrm>
            <a:off x="11102828" y="456468"/>
            <a:ext cx="513527" cy="513527"/>
          </a:xfrm>
          <a:prstGeom prst="rect">
            <a:avLst/>
          </a:prstGeom>
        </p:spPr>
      </p:pic>
      <p:sp>
        <p:nvSpPr>
          <p:cNvPr id="6" name="Text 3"/>
          <p:cNvSpPr/>
          <p:nvPr/>
        </p:nvSpPr>
        <p:spPr>
          <a:xfrm>
            <a:off x="502920" y="6547104"/>
            <a:ext cx="7315200" cy="237744"/>
          </a:xfrm>
          <a:prstGeom prst="rect">
            <a:avLst/>
          </a:prstGeom>
          <a:noFill/>
          <a:ln/>
        </p:spPr>
        <p:txBody>
          <a:bodyPr wrap="square" rtlCol="0" anchor="ctr"/>
          <a:lstStyle/>
          <a:p>
            <a:pPr marL="0" indent="0">
              <a:buNone/>
            </a:pPr>
            <a:r>
              <a:rPr lang="en-US" sz="800" kern="0" spc="50" dirty="0">
                <a:solidFill>
                  <a:srgbClr val="6B7A89"/>
                </a:solidFill>
                <a:latin typeface="Calibri" pitchFamily="34" charset="0"/>
                <a:ea typeface="Calibri" pitchFamily="34" charset="-122"/>
                <a:cs typeface="Calibri" pitchFamily="34" charset="-120"/>
              </a:rPr>
              <a:t>HỆ THỐNG DỰ ĐOÁN MỨC TIÊU HAO NHIÊN LIỆU XE</a:t>
            </a:r>
            <a:endParaRPr lang="en-US" sz="800" dirty="0"/>
          </a:p>
        </p:txBody>
      </p:sp>
      <p:sp>
        <p:nvSpPr>
          <p:cNvPr id="7" name="Text 4"/>
          <p:cNvSpPr/>
          <p:nvPr/>
        </p:nvSpPr>
        <p:spPr>
          <a:xfrm>
            <a:off x="11231575" y="6547104"/>
            <a:ext cx="457200" cy="237744"/>
          </a:xfrm>
          <a:prstGeom prst="rect">
            <a:avLst/>
          </a:prstGeom>
          <a:noFill/>
          <a:ln/>
        </p:spPr>
        <p:txBody>
          <a:bodyPr wrap="square" rtlCol="0" anchor="ctr"/>
          <a:lstStyle/>
          <a:p>
            <a:pPr marL="0" indent="0" algn="r">
              <a:buNone/>
            </a:pPr>
            <a:r>
              <a:rPr lang="en-US" sz="900" b="1" dirty="0">
                <a:solidFill>
                  <a:srgbClr val="6B7A89"/>
                </a:solidFill>
                <a:latin typeface="Calibri" pitchFamily="34" charset="0"/>
                <a:ea typeface="Calibri" pitchFamily="34" charset="-122"/>
                <a:cs typeface="Calibri" pitchFamily="34" charset="-120"/>
              </a:rPr>
              <a:t>07</a:t>
            </a:r>
            <a:endParaRPr lang="en-US" sz="900" dirty="0"/>
          </a:p>
        </p:txBody>
      </p:sp>
      <p:sp>
        <p:nvSpPr>
          <p:cNvPr id="8" name="Text 5"/>
          <p:cNvSpPr/>
          <p:nvPr/>
        </p:nvSpPr>
        <p:spPr>
          <a:xfrm>
            <a:off x="7711135" y="1463040"/>
            <a:ext cx="3977640" cy="4572000"/>
          </a:xfrm>
          <a:prstGeom prst="rect">
            <a:avLst/>
          </a:prstGeom>
          <a:noFill/>
          <a:ln/>
        </p:spPr>
        <p:txBody>
          <a:bodyPr wrap="square" rtlCol="0" anchor="t"/>
          <a:lstStyle/>
          <a:p>
            <a:pPr marL="228600" indent="-228600">
              <a:lnSpc>
                <a:spcPct val="112000"/>
              </a:lnSpc>
              <a:spcAft>
                <a:spcPts val="1200"/>
              </a:spcAft>
              <a:buSzPct val="100000"/>
              <a:buChar char="▪"/>
            </a:pPr>
            <a:r>
              <a:rPr lang="en-US" sz="1350" dirty="0">
                <a:solidFill>
                  <a:srgbClr val="1A2433"/>
                </a:solidFill>
                <a:latin typeface="Calibri" pitchFamily="34" charset="0"/>
                <a:ea typeface="Calibri" pitchFamily="34" charset="-122"/>
                <a:cs typeface="Calibri" pitchFamily="34" charset="-120"/>
              </a:rPr>
              <a:t>Biểu đồ được sử dụng để quan sát mối quan hệ giữa dung tích động cơ và mức tiêu hao nhiên liệu.</a:t>
            </a:r>
            <a:endParaRPr lang="en-US" sz="1350" dirty="0"/>
          </a:p>
          <a:p>
            <a:pPr marL="228600" indent="-228600">
              <a:lnSpc>
                <a:spcPct val="112000"/>
              </a:lnSpc>
              <a:spcAft>
                <a:spcPts val="1200"/>
              </a:spcAft>
              <a:buSzPct val="100000"/>
              <a:buChar char="▪"/>
            </a:pPr>
            <a:r>
              <a:rPr lang="en-US" sz="1350" dirty="0">
                <a:solidFill>
                  <a:srgbClr val="1A2433"/>
                </a:solidFill>
                <a:latin typeface="Calibri" pitchFamily="34" charset="0"/>
                <a:ea typeface="Calibri" pitchFamily="34" charset="-122"/>
                <a:cs typeface="Calibri" pitchFamily="34" charset="-120"/>
              </a:rPr>
              <a:t>Dựa trên dữ liệu thực tế, trình bày xu hướng mức tiêu hao thay đổi khi dung tích động cơ tăng.</a:t>
            </a:r>
            <a:endParaRPr lang="en-US" sz="1350" dirty="0"/>
          </a:p>
          <a:p>
            <a:pPr marL="228600" indent="-228600">
              <a:lnSpc>
                <a:spcPct val="112000"/>
              </a:lnSpc>
              <a:spcAft>
                <a:spcPts val="1200"/>
              </a:spcAft>
              <a:buSzPct val="100000"/>
              <a:buChar char="▪"/>
            </a:pPr>
            <a:r>
              <a:rPr lang="en-US" sz="1350" dirty="0">
                <a:solidFill>
                  <a:srgbClr val="1A2433"/>
                </a:solidFill>
                <a:latin typeface="Calibri" pitchFamily="34" charset="0"/>
                <a:ea typeface="Calibri" pitchFamily="34" charset="-122"/>
                <a:cs typeface="Calibri" pitchFamily="34" charset="-120"/>
              </a:rPr>
              <a:t>Các điểm dữ liệu không nằm hoàn toàn trên một đường thẳng, cho thấy mức tiêu hao còn chịu tác động của nhiều đặc trưng khác.</a:t>
            </a:r>
            <a:endParaRPr lang="en-US" sz="1350" dirty="0"/>
          </a:p>
          <a:p>
            <a:pPr marL="228600" indent="-228600">
              <a:lnSpc>
                <a:spcPct val="112000"/>
              </a:lnSpc>
              <a:spcAft>
                <a:spcPts val="1200"/>
              </a:spcAft>
              <a:buSzPct val="100000"/>
              <a:buChar char="▪"/>
            </a:pPr>
            <a:r>
              <a:rPr lang="en-US" sz="1350" dirty="0">
                <a:solidFill>
                  <a:srgbClr val="1A2433"/>
                </a:solidFill>
                <a:latin typeface="Calibri" pitchFamily="34" charset="0"/>
                <a:ea typeface="Calibri" pitchFamily="34" charset="-122"/>
                <a:cs typeface="Calibri" pitchFamily="34" charset="-120"/>
              </a:rPr>
              <a:t>Engine Size vì vậy là một đặc trưng quan trọng nhưng không thể sử dụng riêng để dự đoán chính xác.</a:t>
            </a:r>
            <a:endParaRPr lang="en-US" sz="1350" dirty="0"/>
          </a:p>
        </p:txBody>
      </p:sp>
      <p:sp>
        <p:nvSpPr>
          <p:cNvPr id="9" name="Shape 6"/>
          <p:cNvSpPr/>
          <p:nvPr/>
        </p:nvSpPr>
        <p:spPr>
          <a:xfrm>
            <a:off x="502920" y="1417320"/>
            <a:ext cx="6888175" cy="4572000"/>
          </a:xfrm>
          <a:prstGeom prst="roundRect">
            <a:avLst>
              <a:gd name="adj" fmla="val 1800"/>
            </a:avLst>
          </a:prstGeom>
          <a:solidFill>
            <a:srgbClr val="FFFFFF"/>
          </a:solidFill>
          <a:ln/>
          <a:effectLst>
            <a:outerShdw blurRad="101600" dist="25400" dir="5400000" algn="bl" rotWithShape="0">
              <a:srgbClr val="1A2433">
                <a:alpha val="12000"/>
              </a:srgbClr>
            </a:outerShdw>
          </a:effectLst>
        </p:spPr>
        <p:txBody>
          <a:bodyPr/>
          <a:lstStyle/>
          <a:p>
            <a:endParaRPr lang="en-US"/>
          </a:p>
        </p:txBody>
      </p:sp>
      <p:pic>
        <p:nvPicPr>
          <p:cNvPr id="10" name="Image 1" descr="/home/claude/work/charts/image4.png"/>
          <p:cNvPicPr>
            <a:picLocks noChangeAspect="1"/>
          </p:cNvPicPr>
          <p:nvPr/>
        </p:nvPicPr>
        <p:blipFill>
          <a:blip r:embed="rId4"/>
          <a:stretch>
            <a:fillRect/>
          </a:stretch>
        </p:blipFill>
        <p:spPr>
          <a:xfrm>
            <a:off x="667512" y="1653635"/>
            <a:ext cx="6558991" cy="4099369"/>
          </a:xfrm>
          <a:prstGeom prst="rect">
            <a:avLst/>
          </a:prstGeom>
        </p:spPr>
      </p:pic>
      <p:sp>
        <p:nvSpPr>
          <p:cNvPr id="11" name="Text 7"/>
          <p:cNvSpPr/>
          <p:nvPr/>
        </p:nvSpPr>
        <p:spPr>
          <a:xfrm>
            <a:off x="502920" y="6080760"/>
            <a:ext cx="11185855" cy="274320"/>
          </a:xfrm>
          <a:prstGeom prst="rect">
            <a:avLst/>
          </a:prstGeom>
          <a:noFill/>
          <a:ln/>
        </p:spPr>
        <p:txBody>
          <a:bodyPr wrap="square" rtlCol="0" anchor="ctr"/>
          <a:lstStyle/>
          <a:p>
            <a:pPr marL="0" indent="0" algn="l">
              <a:buNone/>
            </a:pPr>
            <a:r>
              <a:rPr lang="en-US" sz="1050" i="1" dirty="0">
                <a:solidFill>
                  <a:srgbClr val="6B7A89"/>
                </a:solidFill>
                <a:latin typeface="Calibri" pitchFamily="34" charset="0"/>
                <a:ea typeface="Calibri" pitchFamily="34" charset="-122"/>
                <a:cs typeface="Calibri" pitchFamily="34" charset="-120"/>
              </a:rPr>
              <a:t>Trục X: Engine Size (L)    Trục Y: Fuel Consumption Comb (L/100 km)</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686800" cy="256032"/>
          </a:xfrm>
          <a:prstGeom prst="rect">
            <a:avLst/>
          </a:prstGeom>
          <a:noFill/>
          <a:ln/>
        </p:spPr>
        <p:txBody>
          <a:bodyPr wrap="square" rtlCol="0" anchor="ctr"/>
          <a:lstStyle/>
          <a:p>
            <a:pPr marL="0" indent="0">
              <a:buNone/>
            </a:pPr>
            <a:r>
              <a:rPr lang="en-US" sz="1200" b="1" kern="0" spc="200" dirty="0">
                <a:solidFill>
                  <a:srgbClr val="E8833A"/>
                </a:solidFill>
                <a:latin typeface="Calibri" pitchFamily="34" charset="0"/>
                <a:ea typeface="Calibri" pitchFamily="34" charset="-122"/>
                <a:cs typeface="Calibri" pitchFamily="34" charset="-120"/>
              </a:rPr>
              <a:t>PHÂN TÍCH DỮ LIỆU (EDA)</a:t>
            </a:r>
            <a:endParaRPr lang="en-US" sz="1200" dirty="0"/>
          </a:p>
        </p:txBody>
      </p:sp>
      <p:sp>
        <p:nvSpPr>
          <p:cNvPr id="3" name="Text 1"/>
          <p:cNvSpPr/>
          <p:nvPr/>
        </p:nvSpPr>
        <p:spPr>
          <a:xfrm>
            <a:off x="502920" y="621792"/>
            <a:ext cx="9692640" cy="566928"/>
          </a:xfrm>
          <a:prstGeom prst="rect">
            <a:avLst/>
          </a:prstGeom>
          <a:noFill/>
          <a:ln/>
        </p:spPr>
        <p:txBody>
          <a:bodyPr wrap="square" rtlCol="0" anchor="ctr"/>
          <a:lstStyle/>
          <a:p>
            <a:pPr marL="0" indent="0">
              <a:buNone/>
            </a:pPr>
            <a:r>
              <a:rPr lang="en-US" sz="2400" b="1" dirty="0">
                <a:solidFill>
                  <a:srgbClr val="0F2A47"/>
                </a:solidFill>
                <a:latin typeface="Cambria" pitchFamily="34" charset="0"/>
                <a:ea typeface="Cambria" pitchFamily="34" charset="-122"/>
                <a:cs typeface="Cambria" pitchFamily="34" charset="-120"/>
              </a:rPr>
              <a:t>SỐ XI-LANH VÀ MỨC TIÊU HAO</a:t>
            </a:r>
            <a:endParaRPr lang="en-US" sz="2400" dirty="0"/>
          </a:p>
        </p:txBody>
      </p:sp>
      <p:sp>
        <p:nvSpPr>
          <p:cNvPr id="4" name="Shape 2"/>
          <p:cNvSpPr/>
          <p:nvPr/>
        </p:nvSpPr>
        <p:spPr>
          <a:xfrm>
            <a:off x="11030407" y="384048"/>
            <a:ext cx="658368" cy="658368"/>
          </a:xfrm>
          <a:prstGeom prst="ellipse">
            <a:avLst/>
          </a:prstGeom>
          <a:solidFill>
            <a:srgbClr val="E8833A"/>
          </a:solidFill>
          <a:ln/>
        </p:spPr>
        <p:txBody>
          <a:bodyPr/>
          <a:lstStyle/>
          <a:p>
            <a:endParaRPr lang="en-US"/>
          </a:p>
        </p:txBody>
      </p:sp>
      <p:pic>
        <p:nvPicPr>
          <p:cNvPr id="5" name="Image 0" descr="/home/claude/work/icons/cogs_FFFFFF.png"/>
          <p:cNvPicPr>
            <a:picLocks noChangeAspect="1"/>
          </p:cNvPicPr>
          <p:nvPr/>
        </p:nvPicPr>
        <p:blipFill>
          <a:blip r:embed="rId3"/>
          <a:stretch>
            <a:fillRect/>
          </a:stretch>
        </p:blipFill>
        <p:spPr>
          <a:xfrm>
            <a:off x="11102828" y="456468"/>
            <a:ext cx="513527" cy="513527"/>
          </a:xfrm>
          <a:prstGeom prst="rect">
            <a:avLst/>
          </a:prstGeom>
        </p:spPr>
      </p:pic>
      <p:sp>
        <p:nvSpPr>
          <p:cNvPr id="6" name="Text 3"/>
          <p:cNvSpPr/>
          <p:nvPr/>
        </p:nvSpPr>
        <p:spPr>
          <a:xfrm>
            <a:off x="502920" y="6547104"/>
            <a:ext cx="7315200" cy="237744"/>
          </a:xfrm>
          <a:prstGeom prst="rect">
            <a:avLst/>
          </a:prstGeom>
          <a:noFill/>
          <a:ln/>
        </p:spPr>
        <p:txBody>
          <a:bodyPr wrap="square" rtlCol="0" anchor="ctr"/>
          <a:lstStyle/>
          <a:p>
            <a:pPr marL="0" indent="0">
              <a:buNone/>
            </a:pPr>
            <a:r>
              <a:rPr lang="en-US" sz="800" kern="0" spc="50" dirty="0">
                <a:solidFill>
                  <a:srgbClr val="6B7A89"/>
                </a:solidFill>
                <a:latin typeface="Calibri" pitchFamily="34" charset="0"/>
                <a:ea typeface="Calibri" pitchFamily="34" charset="-122"/>
                <a:cs typeface="Calibri" pitchFamily="34" charset="-120"/>
              </a:rPr>
              <a:t>HỆ THỐNG DỰ ĐOÁN MỨC TIÊU HAO NHIÊN LIỆU XE</a:t>
            </a:r>
            <a:endParaRPr lang="en-US" sz="800" dirty="0"/>
          </a:p>
        </p:txBody>
      </p:sp>
      <p:sp>
        <p:nvSpPr>
          <p:cNvPr id="7" name="Text 4"/>
          <p:cNvSpPr/>
          <p:nvPr/>
        </p:nvSpPr>
        <p:spPr>
          <a:xfrm>
            <a:off x="11231575" y="6547104"/>
            <a:ext cx="457200" cy="237744"/>
          </a:xfrm>
          <a:prstGeom prst="rect">
            <a:avLst/>
          </a:prstGeom>
          <a:noFill/>
          <a:ln/>
        </p:spPr>
        <p:txBody>
          <a:bodyPr wrap="square" rtlCol="0" anchor="ctr"/>
          <a:lstStyle/>
          <a:p>
            <a:pPr marL="0" indent="0" algn="r">
              <a:buNone/>
            </a:pPr>
            <a:r>
              <a:rPr lang="en-US" sz="900" b="1" dirty="0">
                <a:solidFill>
                  <a:srgbClr val="6B7A89"/>
                </a:solidFill>
                <a:latin typeface="Calibri" pitchFamily="34" charset="0"/>
                <a:ea typeface="Calibri" pitchFamily="34" charset="-122"/>
                <a:cs typeface="Calibri" pitchFamily="34" charset="-120"/>
              </a:rPr>
              <a:t>08</a:t>
            </a:r>
            <a:endParaRPr lang="en-US" sz="900" dirty="0"/>
          </a:p>
        </p:txBody>
      </p:sp>
      <p:sp>
        <p:nvSpPr>
          <p:cNvPr id="8" name="Text 5"/>
          <p:cNvSpPr/>
          <p:nvPr/>
        </p:nvSpPr>
        <p:spPr>
          <a:xfrm>
            <a:off x="502920" y="1463040"/>
            <a:ext cx="3977640" cy="4846320"/>
          </a:xfrm>
          <a:prstGeom prst="rect">
            <a:avLst/>
          </a:prstGeom>
          <a:noFill/>
          <a:ln/>
        </p:spPr>
        <p:txBody>
          <a:bodyPr wrap="square" rtlCol="0" anchor="t"/>
          <a:lstStyle/>
          <a:p>
            <a:pPr marL="228600" indent="-228600">
              <a:lnSpc>
                <a:spcPct val="112000"/>
              </a:lnSpc>
              <a:spcAft>
                <a:spcPts val="1200"/>
              </a:spcAft>
              <a:buSzPct val="100000"/>
              <a:buChar char="▪"/>
            </a:pPr>
            <a:r>
              <a:rPr lang="en-US" sz="1350" dirty="0">
                <a:solidFill>
                  <a:srgbClr val="1A2433"/>
                </a:solidFill>
                <a:latin typeface="Calibri" pitchFamily="34" charset="0"/>
                <a:ea typeface="Calibri" pitchFamily="34" charset="-122"/>
                <a:cs typeface="Calibri" pitchFamily="34" charset="-120"/>
              </a:rPr>
              <a:t>Biểu đồ so sánh mức tiêu hao nhiên liệu giữa các nhóm xe có số xi-lanh khác nhau.</a:t>
            </a:r>
            <a:endParaRPr lang="en-US" sz="1350" dirty="0"/>
          </a:p>
          <a:p>
            <a:pPr marL="228600" indent="-228600">
              <a:lnSpc>
                <a:spcPct val="112000"/>
              </a:lnSpc>
              <a:spcAft>
                <a:spcPts val="1200"/>
              </a:spcAft>
              <a:buSzPct val="100000"/>
              <a:buChar char="▪"/>
            </a:pPr>
            <a:r>
              <a:rPr lang="en-US" sz="1350" dirty="0">
                <a:solidFill>
                  <a:srgbClr val="1A2433"/>
                </a:solidFill>
                <a:latin typeface="Calibri" pitchFamily="34" charset="0"/>
                <a:ea typeface="Calibri" pitchFamily="34" charset="-122"/>
                <a:cs typeface="Calibri" pitchFamily="34" charset="-120"/>
              </a:rPr>
              <a:t>Qua biểu đồ có thể quan sát sự khác biệt về phân bố mức tiêu hao giữa từng nhóm xi-lanh.</a:t>
            </a:r>
            <a:endParaRPr lang="en-US" sz="1350" dirty="0"/>
          </a:p>
          <a:p>
            <a:pPr marL="228600" indent="-228600">
              <a:lnSpc>
                <a:spcPct val="112000"/>
              </a:lnSpc>
              <a:spcAft>
                <a:spcPts val="1200"/>
              </a:spcAft>
              <a:buSzPct val="100000"/>
              <a:buChar char="▪"/>
            </a:pPr>
            <a:r>
              <a:rPr lang="en-US" sz="1350" dirty="0">
                <a:solidFill>
                  <a:srgbClr val="1A2433"/>
                </a:solidFill>
                <a:latin typeface="Calibri" pitchFamily="34" charset="0"/>
                <a:ea typeface="Calibri" pitchFamily="34" charset="-122"/>
                <a:cs typeface="Calibri" pitchFamily="34" charset="-120"/>
              </a:rPr>
              <a:t>Số xi-lanh có liên quan đến đặc điểm động cơ và khả năng tiêu thụ nhiên liệu của xe.</a:t>
            </a:r>
            <a:endParaRPr lang="en-US" sz="1350" dirty="0"/>
          </a:p>
          <a:p>
            <a:pPr marL="228600" indent="-228600">
              <a:lnSpc>
                <a:spcPct val="112000"/>
              </a:lnSpc>
              <a:spcAft>
                <a:spcPts val="1200"/>
              </a:spcAft>
              <a:buSzPct val="100000"/>
              <a:buChar char="▪"/>
            </a:pPr>
            <a:r>
              <a:rPr lang="en-US" sz="1350" dirty="0">
                <a:solidFill>
                  <a:srgbClr val="1A2433"/>
                </a:solidFill>
                <a:latin typeface="Calibri" pitchFamily="34" charset="0"/>
                <a:ea typeface="Calibri" pitchFamily="34" charset="-122"/>
                <a:cs typeface="Calibri" pitchFamily="34" charset="-120"/>
              </a:rPr>
              <a:t>Tuy nhiên các nhóm vẫn có thể chồng lấn vì mức tiêu hao còn phụ thuộc vào dung tích động cơ, hộp số, loại xe và nhiên liệu.</a:t>
            </a:r>
            <a:endParaRPr lang="en-US" sz="1350" dirty="0"/>
          </a:p>
        </p:txBody>
      </p:sp>
      <p:sp>
        <p:nvSpPr>
          <p:cNvPr id="9" name="Shape 6"/>
          <p:cNvSpPr/>
          <p:nvPr/>
        </p:nvSpPr>
        <p:spPr>
          <a:xfrm>
            <a:off x="4800600" y="1417320"/>
            <a:ext cx="6888175" cy="4846320"/>
          </a:xfrm>
          <a:prstGeom prst="roundRect">
            <a:avLst>
              <a:gd name="adj" fmla="val 1698"/>
            </a:avLst>
          </a:prstGeom>
          <a:solidFill>
            <a:srgbClr val="FFFFFF"/>
          </a:solidFill>
          <a:ln/>
          <a:effectLst>
            <a:outerShdw blurRad="101600" dist="25400" dir="5400000" algn="bl" rotWithShape="0">
              <a:srgbClr val="1A2433">
                <a:alpha val="12000"/>
              </a:srgbClr>
            </a:outerShdw>
          </a:effectLst>
        </p:spPr>
        <p:txBody>
          <a:bodyPr/>
          <a:lstStyle/>
          <a:p>
            <a:endParaRPr lang="en-US"/>
          </a:p>
        </p:txBody>
      </p:sp>
      <p:pic>
        <p:nvPicPr>
          <p:cNvPr id="10" name="Image 1" descr="/home/claude/work/charts/image5.png"/>
          <p:cNvPicPr>
            <a:picLocks noChangeAspect="1"/>
          </p:cNvPicPr>
          <p:nvPr/>
        </p:nvPicPr>
        <p:blipFill>
          <a:blip r:embed="rId4"/>
          <a:stretch>
            <a:fillRect/>
          </a:stretch>
        </p:blipFill>
        <p:spPr>
          <a:xfrm>
            <a:off x="4965192" y="2018538"/>
            <a:ext cx="6558991" cy="364388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686800" cy="256032"/>
          </a:xfrm>
          <a:prstGeom prst="rect">
            <a:avLst/>
          </a:prstGeom>
          <a:noFill/>
          <a:ln/>
        </p:spPr>
        <p:txBody>
          <a:bodyPr wrap="square" rtlCol="0" anchor="ctr"/>
          <a:lstStyle/>
          <a:p>
            <a:pPr marL="0" indent="0">
              <a:buNone/>
            </a:pPr>
            <a:r>
              <a:rPr lang="en-US" sz="1200" b="1" kern="0" spc="200" dirty="0">
                <a:solidFill>
                  <a:srgbClr val="E8833A"/>
                </a:solidFill>
                <a:latin typeface="Calibri" pitchFamily="34" charset="0"/>
                <a:ea typeface="Calibri" pitchFamily="34" charset="-122"/>
                <a:cs typeface="Calibri" pitchFamily="34" charset="-120"/>
              </a:rPr>
              <a:t>PHÂN TÍCH DỮ LIỆU (EDA)</a:t>
            </a:r>
            <a:endParaRPr lang="en-US" sz="1200" dirty="0"/>
          </a:p>
        </p:txBody>
      </p:sp>
      <p:sp>
        <p:nvSpPr>
          <p:cNvPr id="3" name="Text 1"/>
          <p:cNvSpPr/>
          <p:nvPr/>
        </p:nvSpPr>
        <p:spPr>
          <a:xfrm>
            <a:off x="502920" y="621792"/>
            <a:ext cx="9692640" cy="566928"/>
          </a:xfrm>
          <a:prstGeom prst="rect">
            <a:avLst/>
          </a:prstGeom>
          <a:noFill/>
          <a:ln/>
        </p:spPr>
        <p:txBody>
          <a:bodyPr wrap="square" rtlCol="0" anchor="ctr"/>
          <a:lstStyle/>
          <a:p>
            <a:pPr marL="0" indent="0">
              <a:buNone/>
            </a:pPr>
            <a:r>
              <a:rPr lang="en-US" sz="2400" b="1" dirty="0">
                <a:solidFill>
                  <a:srgbClr val="0F2A47"/>
                </a:solidFill>
                <a:latin typeface="Cambria" pitchFamily="34" charset="0"/>
                <a:ea typeface="Cambria" pitchFamily="34" charset="-122"/>
                <a:cs typeface="Cambria" pitchFamily="34" charset="-120"/>
              </a:rPr>
              <a:t>LOẠI NHIÊN LIỆU VÀ PHÂN KHÚC XE</a:t>
            </a:r>
            <a:endParaRPr lang="en-US" sz="2400" dirty="0"/>
          </a:p>
        </p:txBody>
      </p:sp>
      <p:sp>
        <p:nvSpPr>
          <p:cNvPr id="4" name="Shape 2"/>
          <p:cNvSpPr/>
          <p:nvPr/>
        </p:nvSpPr>
        <p:spPr>
          <a:xfrm>
            <a:off x="11030407" y="384048"/>
            <a:ext cx="658368" cy="658368"/>
          </a:xfrm>
          <a:prstGeom prst="ellipse">
            <a:avLst/>
          </a:prstGeom>
          <a:solidFill>
            <a:srgbClr val="E8833A"/>
          </a:solidFill>
          <a:ln/>
        </p:spPr>
        <p:txBody>
          <a:bodyPr/>
          <a:lstStyle/>
          <a:p>
            <a:endParaRPr lang="en-US"/>
          </a:p>
        </p:txBody>
      </p:sp>
      <p:pic>
        <p:nvPicPr>
          <p:cNvPr id="5" name="Image 0" descr="/home/claude/work/icons/filter_FFFFFF.png"/>
          <p:cNvPicPr>
            <a:picLocks noChangeAspect="1"/>
          </p:cNvPicPr>
          <p:nvPr/>
        </p:nvPicPr>
        <p:blipFill>
          <a:blip r:embed="rId3"/>
          <a:stretch>
            <a:fillRect/>
          </a:stretch>
        </p:blipFill>
        <p:spPr>
          <a:xfrm>
            <a:off x="11102828" y="456468"/>
            <a:ext cx="513527" cy="513527"/>
          </a:xfrm>
          <a:prstGeom prst="rect">
            <a:avLst/>
          </a:prstGeom>
        </p:spPr>
      </p:pic>
      <p:sp>
        <p:nvSpPr>
          <p:cNvPr id="6" name="Text 3"/>
          <p:cNvSpPr/>
          <p:nvPr/>
        </p:nvSpPr>
        <p:spPr>
          <a:xfrm>
            <a:off x="502920" y="6547104"/>
            <a:ext cx="7315200" cy="237744"/>
          </a:xfrm>
          <a:prstGeom prst="rect">
            <a:avLst/>
          </a:prstGeom>
          <a:noFill/>
          <a:ln/>
        </p:spPr>
        <p:txBody>
          <a:bodyPr wrap="square" rtlCol="0" anchor="ctr"/>
          <a:lstStyle/>
          <a:p>
            <a:pPr marL="0" indent="0">
              <a:buNone/>
            </a:pPr>
            <a:r>
              <a:rPr lang="en-US" sz="800" kern="0" spc="50" dirty="0">
                <a:solidFill>
                  <a:srgbClr val="6B7A89"/>
                </a:solidFill>
                <a:latin typeface="Calibri" pitchFamily="34" charset="0"/>
                <a:ea typeface="Calibri" pitchFamily="34" charset="-122"/>
                <a:cs typeface="Calibri" pitchFamily="34" charset="-120"/>
              </a:rPr>
              <a:t>HỆ THỐNG DỰ ĐOÁN MỨC TIÊU HAO NHIÊN LIỆU XE</a:t>
            </a:r>
            <a:endParaRPr lang="en-US" sz="800" dirty="0"/>
          </a:p>
        </p:txBody>
      </p:sp>
      <p:sp>
        <p:nvSpPr>
          <p:cNvPr id="7" name="Text 4"/>
          <p:cNvSpPr/>
          <p:nvPr/>
        </p:nvSpPr>
        <p:spPr>
          <a:xfrm>
            <a:off x="11231575" y="6547104"/>
            <a:ext cx="457200" cy="237744"/>
          </a:xfrm>
          <a:prstGeom prst="rect">
            <a:avLst/>
          </a:prstGeom>
          <a:noFill/>
          <a:ln/>
        </p:spPr>
        <p:txBody>
          <a:bodyPr wrap="square" rtlCol="0" anchor="ctr"/>
          <a:lstStyle/>
          <a:p>
            <a:pPr marL="0" indent="0" algn="r">
              <a:buNone/>
            </a:pPr>
            <a:r>
              <a:rPr lang="en-US" sz="900" b="1" dirty="0">
                <a:solidFill>
                  <a:srgbClr val="6B7A89"/>
                </a:solidFill>
                <a:latin typeface="Calibri" pitchFamily="34" charset="0"/>
                <a:ea typeface="Calibri" pitchFamily="34" charset="-122"/>
                <a:cs typeface="Calibri" pitchFamily="34" charset="-120"/>
              </a:rPr>
              <a:t>09</a:t>
            </a:r>
            <a:endParaRPr lang="en-US" sz="900" dirty="0"/>
          </a:p>
        </p:txBody>
      </p:sp>
      <p:sp>
        <p:nvSpPr>
          <p:cNvPr id="8" name="Shape 5"/>
          <p:cNvSpPr/>
          <p:nvPr/>
        </p:nvSpPr>
        <p:spPr>
          <a:xfrm>
            <a:off x="502920" y="1417320"/>
            <a:ext cx="2788920" cy="4846320"/>
          </a:xfrm>
          <a:prstGeom prst="roundRect">
            <a:avLst>
              <a:gd name="adj" fmla="val 2951"/>
            </a:avLst>
          </a:prstGeom>
          <a:solidFill>
            <a:srgbClr val="F5F8FB"/>
          </a:solidFill>
          <a:ln/>
          <a:effectLst>
            <a:outerShdw blurRad="101600" dist="25400" dir="5400000" algn="bl" rotWithShape="0">
              <a:srgbClr val="1A2433">
                <a:alpha val="12000"/>
              </a:srgbClr>
            </a:outerShdw>
          </a:effectLst>
        </p:spPr>
        <p:txBody>
          <a:bodyPr/>
          <a:lstStyle/>
          <a:p>
            <a:endParaRPr lang="en-US"/>
          </a:p>
        </p:txBody>
      </p:sp>
      <p:sp>
        <p:nvSpPr>
          <p:cNvPr id="9" name="Text 6"/>
          <p:cNvSpPr/>
          <p:nvPr/>
        </p:nvSpPr>
        <p:spPr>
          <a:xfrm>
            <a:off x="758952" y="1691640"/>
            <a:ext cx="2276856" cy="4389120"/>
          </a:xfrm>
          <a:prstGeom prst="rect">
            <a:avLst/>
          </a:prstGeom>
          <a:noFill/>
          <a:ln/>
        </p:spPr>
        <p:txBody>
          <a:bodyPr wrap="square" rtlCol="0" anchor="t"/>
          <a:lstStyle/>
          <a:p>
            <a:pPr marL="228600" indent="-228600">
              <a:lnSpc>
                <a:spcPct val="112000"/>
              </a:lnSpc>
              <a:spcAft>
                <a:spcPts val="1400"/>
              </a:spcAft>
              <a:buSzPct val="100000"/>
              <a:buChar char="▪"/>
            </a:pPr>
            <a:r>
              <a:rPr lang="en-US" sz="1200" dirty="0">
                <a:solidFill>
                  <a:srgbClr val="1A2433"/>
                </a:solidFill>
                <a:latin typeface="Calibri" pitchFamily="34" charset="0"/>
                <a:ea typeface="Calibri" pitchFamily="34" charset="-122"/>
                <a:cs typeface="Calibri" pitchFamily="34" charset="-120"/>
              </a:rPr>
              <a:t>Fuel Type giúp quan sát sự khác biệt mức tiêu hao giữa các loại nhiên liệu.</a:t>
            </a:r>
            <a:endParaRPr lang="en-US" sz="1200" dirty="0"/>
          </a:p>
          <a:p>
            <a:pPr marL="228600" indent="-228600">
              <a:lnSpc>
                <a:spcPct val="112000"/>
              </a:lnSpc>
              <a:spcAft>
                <a:spcPts val="1400"/>
              </a:spcAft>
              <a:buSzPct val="100000"/>
              <a:buChar char="▪"/>
            </a:pPr>
            <a:r>
              <a:rPr lang="en-US" sz="1200" dirty="0">
                <a:solidFill>
                  <a:srgbClr val="1A2433"/>
                </a:solidFill>
                <a:latin typeface="Calibri" pitchFamily="34" charset="0"/>
                <a:ea typeface="Calibri" pitchFamily="34" charset="-122"/>
                <a:cs typeface="Calibri" pitchFamily="34" charset="-120"/>
              </a:rPr>
              <a:t>Vehicle Class cho thấy mức tiêu hao thay đổi giữa các nhóm xe như xe nhỏ, SUV, pickup hoặc các phân khúc khác có trong dataset.</a:t>
            </a:r>
            <a:endParaRPr lang="en-US" sz="1200" dirty="0"/>
          </a:p>
          <a:p>
            <a:pPr marL="228600" indent="-228600">
              <a:lnSpc>
                <a:spcPct val="112000"/>
              </a:lnSpc>
              <a:spcAft>
                <a:spcPts val="1400"/>
              </a:spcAft>
              <a:buSzPct val="100000"/>
              <a:buChar char="▪"/>
            </a:pPr>
            <a:r>
              <a:rPr lang="en-US" sz="1200" dirty="0">
                <a:solidFill>
                  <a:srgbClr val="1A2433"/>
                </a:solidFill>
                <a:latin typeface="Calibri" pitchFamily="34" charset="0"/>
                <a:ea typeface="Calibri" pitchFamily="34" charset="-122"/>
                <a:cs typeface="Calibri" pitchFamily="34" charset="-120"/>
              </a:rPr>
              <a:t>Hai đặc trưng này đều là biến phân loại và cần được mã hóa trước khi đưa vào các mô hình Machine Learning.</a:t>
            </a:r>
            <a:endParaRPr lang="en-US" sz="1200" dirty="0"/>
          </a:p>
          <a:p>
            <a:pPr marL="228600" indent="-228600">
              <a:lnSpc>
                <a:spcPct val="112000"/>
              </a:lnSpc>
              <a:spcAft>
                <a:spcPts val="1400"/>
              </a:spcAft>
              <a:buSzPct val="100000"/>
              <a:buChar char="▪"/>
            </a:pPr>
            <a:r>
              <a:rPr lang="en-US" sz="1200" dirty="0">
                <a:solidFill>
                  <a:srgbClr val="1A2433"/>
                </a:solidFill>
                <a:latin typeface="Calibri" pitchFamily="34" charset="0"/>
                <a:ea typeface="Calibri" pitchFamily="34" charset="-122"/>
                <a:cs typeface="Calibri" pitchFamily="34" charset="-120"/>
              </a:rPr>
              <a:t>One-Hot Encoding có thể được sử dụng để chuyển các giá trị phân loại thành dạng phù hợp với mô hình.</a:t>
            </a:r>
            <a:endParaRPr lang="en-US" sz="1200" dirty="0"/>
          </a:p>
        </p:txBody>
      </p:sp>
      <p:sp>
        <p:nvSpPr>
          <p:cNvPr id="10" name="Shape 7"/>
          <p:cNvSpPr/>
          <p:nvPr/>
        </p:nvSpPr>
        <p:spPr>
          <a:xfrm>
            <a:off x="3566160" y="1417320"/>
            <a:ext cx="3134746" cy="4846320"/>
          </a:xfrm>
          <a:prstGeom prst="roundRect">
            <a:avLst>
              <a:gd name="adj" fmla="val 2625"/>
            </a:avLst>
          </a:prstGeom>
          <a:solidFill>
            <a:srgbClr val="FFFFFF"/>
          </a:solidFill>
          <a:ln/>
          <a:effectLst>
            <a:outerShdw blurRad="101600" dist="25400" dir="5400000" algn="bl" rotWithShape="0">
              <a:srgbClr val="1A2433">
                <a:alpha val="12000"/>
              </a:srgbClr>
            </a:outerShdw>
          </a:effectLst>
        </p:spPr>
        <p:txBody>
          <a:bodyPr/>
          <a:lstStyle/>
          <a:p>
            <a:endParaRPr lang="en-US"/>
          </a:p>
        </p:txBody>
      </p:sp>
      <p:pic>
        <p:nvPicPr>
          <p:cNvPr id="11" name="Image 1" descr="/home/claude/work/charts/image6.png"/>
          <p:cNvPicPr>
            <a:picLocks noChangeAspect="1"/>
          </p:cNvPicPr>
          <p:nvPr/>
        </p:nvPicPr>
        <p:blipFill>
          <a:blip r:embed="rId4"/>
          <a:stretch>
            <a:fillRect/>
          </a:stretch>
        </p:blipFill>
        <p:spPr>
          <a:xfrm>
            <a:off x="3730752" y="2963742"/>
            <a:ext cx="2805562" cy="1753476"/>
          </a:xfrm>
          <a:prstGeom prst="rect">
            <a:avLst/>
          </a:prstGeom>
        </p:spPr>
      </p:pic>
      <p:sp>
        <p:nvSpPr>
          <p:cNvPr id="12" name="Shape 8"/>
          <p:cNvSpPr/>
          <p:nvPr/>
        </p:nvSpPr>
        <p:spPr>
          <a:xfrm>
            <a:off x="6929506" y="1417320"/>
            <a:ext cx="4759269" cy="4846320"/>
          </a:xfrm>
          <a:prstGeom prst="roundRect">
            <a:avLst>
              <a:gd name="adj" fmla="val 1729"/>
            </a:avLst>
          </a:prstGeom>
          <a:solidFill>
            <a:srgbClr val="FFFFFF"/>
          </a:solidFill>
          <a:ln/>
          <a:effectLst>
            <a:outerShdw blurRad="101600" dist="25400" dir="5400000" algn="bl" rotWithShape="0">
              <a:srgbClr val="1A2433">
                <a:alpha val="12000"/>
              </a:srgbClr>
            </a:outerShdw>
          </a:effectLst>
        </p:spPr>
        <p:txBody>
          <a:bodyPr/>
          <a:lstStyle/>
          <a:p>
            <a:endParaRPr lang="en-US"/>
          </a:p>
        </p:txBody>
      </p:sp>
      <p:pic>
        <p:nvPicPr>
          <p:cNvPr id="13" name="Image 2" descr="/home/claude/work/charts/image7.png"/>
          <p:cNvPicPr>
            <a:picLocks noChangeAspect="1"/>
          </p:cNvPicPr>
          <p:nvPr/>
        </p:nvPicPr>
        <p:blipFill>
          <a:blip r:embed="rId5"/>
          <a:stretch>
            <a:fillRect/>
          </a:stretch>
        </p:blipFill>
        <p:spPr>
          <a:xfrm>
            <a:off x="7094098" y="2289949"/>
            <a:ext cx="4430085" cy="310106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686800" cy="256032"/>
          </a:xfrm>
          <a:prstGeom prst="rect">
            <a:avLst/>
          </a:prstGeom>
          <a:noFill/>
          <a:ln/>
        </p:spPr>
        <p:txBody>
          <a:bodyPr wrap="square" rtlCol="0" anchor="ctr"/>
          <a:lstStyle/>
          <a:p>
            <a:pPr marL="0" indent="0">
              <a:buNone/>
            </a:pPr>
            <a:r>
              <a:rPr lang="en-US" sz="1200" b="1" kern="0" spc="200" dirty="0">
                <a:solidFill>
                  <a:srgbClr val="E8833A"/>
                </a:solidFill>
                <a:latin typeface="Calibri" pitchFamily="34" charset="0"/>
                <a:ea typeface="Calibri" pitchFamily="34" charset="-122"/>
                <a:cs typeface="Calibri" pitchFamily="34" charset="-120"/>
              </a:rPr>
              <a:t>PHÂN TÍCH DỮ LIỆU (EDA)</a:t>
            </a:r>
            <a:endParaRPr lang="en-US" sz="1200" dirty="0"/>
          </a:p>
        </p:txBody>
      </p:sp>
      <p:sp>
        <p:nvSpPr>
          <p:cNvPr id="3" name="Text 1"/>
          <p:cNvSpPr/>
          <p:nvPr/>
        </p:nvSpPr>
        <p:spPr>
          <a:xfrm>
            <a:off x="502920" y="621792"/>
            <a:ext cx="9692640" cy="566928"/>
          </a:xfrm>
          <a:prstGeom prst="rect">
            <a:avLst/>
          </a:prstGeom>
          <a:noFill/>
          <a:ln/>
        </p:spPr>
        <p:txBody>
          <a:bodyPr wrap="square" rtlCol="0" anchor="ctr"/>
          <a:lstStyle/>
          <a:p>
            <a:pPr marL="0" indent="0">
              <a:buNone/>
            </a:pPr>
            <a:r>
              <a:rPr lang="en-US" sz="2400" b="1" dirty="0">
                <a:solidFill>
                  <a:srgbClr val="0F2A47"/>
                </a:solidFill>
                <a:latin typeface="Cambria" pitchFamily="34" charset="0"/>
                <a:ea typeface="Cambria" pitchFamily="34" charset="-122"/>
                <a:cs typeface="Cambria" pitchFamily="34" charset="-120"/>
              </a:rPr>
              <a:t>MA TRẬN TƯƠNG QUAN</a:t>
            </a:r>
            <a:endParaRPr lang="en-US" sz="2400" dirty="0"/>
          </a:p>
        </p:txBody>
      </p:sp>
      <p:sp>
        <p:nvSpPr>
          <p:cNvPr id="4" name="Shape 2"/>
          <p:cNvSpPr/>
          <p:nvPr/>
        </p:nvSpPr>
        <p:spPr>
          <a:xfrm>
            <a:off x="11030407" y="384048"/>
            <a:ext cx="658368" cy="658368"/>
          </a:xfrm>
          <a:prstGeom prst="ellipse">
            <a:avLst/>
          </a:prstGeom>
          <a:solidFill>
            <a:srgbClr val="E8833A"/>
          </a:solidFill>
          <a:ln/>
        </p:spPr>
        <p:txBody>
          <a:bodyPr/>
          <a:lstStyle/>
          <a:p>
            <a:endParaRPr lang="en-US"/>
          </a:p>
        </p:txBody>
      </p:sp>
      <p:pic>
        <p:nvPicPr>
          <p:cNvPr id="5" name="Image 0" descr="/home/claude/work/icons/network_FFFFFF.png"/>
          <p:cNvPicPr>
            <a:picLocks noChangeAspect="1"/>
          </p:cNvPicPr>
          <p:nvPr/>
        </p:nvPicPr>
        <p:blipFill>
          <a:blip r:embed="rId3"/>
          <a:stretch>
            <a:fillRect/>
          </a:stretch>
        </p:blipFill>
        <p:spPr>
          <a:xfrm>
            <a:off x="11102828" y="456468"/>
            <a:ext cx="513527" cy="513527"/>
          </a:xfrm>
          <a:prstGeom prst="rect">
            <a:avLst/>
          </a:prstGeom>
        </p:spPr>
      </p:pic>
      <p:sp>
        <p:nvSpPr>
          <p:cNvPr id="6" name="Text 3"/>
          <p:cNvSpPr/>
          <p:nvPr/>
        </p:nvSpPr>
        <p:spPr>
          <a:xfrm>
            <a:off x="502920" y="6547104"/>
            <a:ext cx="7315200" cy="237744"/>
          </a:xfrm>
          <a:prstGeom prst="rect">
            <a:avLst/>
          </a:prstGeom>
          <a:noFill/>
          <a:ln/>
        </p:spPr>
        <p:txBody>
          <a:bodyPr wrap="square" rtlCol="0" anchor="ctr"/>
          <a:lstStyle/>
          <a:p>
            <a:pPr marL="0" indent="0">
              <a:buNone/>
            </a:pPr>
            <a:r>
              <a:rPr lang="en-US" sz="800" kern="0" spc="50" dirty="0">
                <a:solidFill>
                  <a:srgbClr val="6B7A89"/>
                </a:solidFill>
                <a:latin typeface="Calibri" pitchFamily="34" charset="0"/>
                <a:ea typeface="Calibri" pitchFamily="34" charset="-122"/>
                <a:cs typeface="Calibri" pitchFamily="34" charset="-120"/>
              </a:rPr>
              <a:t>HỆ THỐNG DỰ ĐOÁN MỨC TIÊU HAO NHIÊN LIỆU XE</a:t>
            </a:r>
            <a:endParaRPr lang="en-US" sz="800" dirty="0"/>
          </a:p>
        </p:txBody>
      </p:sp>
      <p:sp>
        <p:nvSpPr>
          <p:cNvPr id="7" name="Text 4"/>
          <p:cNvSpPr/>
          <p:nvPr/>
        </p:nvSpPr>
        <p:spPr>
          <a:xfrm>
            <a:off x="11231575" y="6547104"/>
            <a:ext cx="457200" cy="237744"/>
          </a:xfrm>
          <a:prstGeom prst="rect">
            <a:avLst/>
          </a:prstGeom>
          <a:noFill/>
          <a:ln/>
        </p:spPr>
        <p:txBody>
          <a:bodyPr wrap="square" rtlCol="0" anchor="ctr"/>
          <a:lstStyle/>
          <a:p>
            <a:pPr marL="0" indent="0" algn="r">
              <a:buNone/>
            </a:pPr>
            <a:r>
              <a:rPr lang="en-US" sz="900" b="1" dirty="0">
                <a:solidFill>
                  <a:srgbClr val="6B7A89"/>
                </a:solidFill>
                <a:latin typeface="Calibri" pitchFamily="34" charset="0"/>
                <a:ea typeface="Calibri" pitchFamily="34" charset="-122"/>
                <a:cs typeface="Calibri" pitchFamily="34" charset="-120"/>
              </a:rPr>
              <a:t>10</a:t>
            </a:r>
            <a:endParaRPr lang="en-US" sz="900" dirty="0"/>
          </a:p>
        </p:txBody>
      </p:sp>
      <p:sp>
        <p:nvSpPr>
          <p:cNvPr id="8" name="Text 5"/>
          <p:cNvSpPr/>
          <p:nvPr/>
        </p:nvSpPr>
        <p:spPr>
          <a:xfrm>
            <a:off x="7711135" y="1463040"/>
            <a:ext cx="3977640" cy="4846320"/>
          </a:xfrm>
          <a:prstGeom prst="rect">
            <a:avLst/>
          </a:prstGeom>
          <a:noFill/>
          <a:ln/>
        </p:spPr>
        <p:txBody>
          <a:bodyPr wrap="square" rtlCol="0" anchor="t"/>
          <a:lstStyle/>
          <a:p>
            <a:pPr marL="228600" indent="-228600">
              <a:lnSpc>
                <a:spcPct val="112000"/>
              </a:lnSpc>
              <a:spcAft>
                <a:spcPts val="1200"/>
              </a:spcAft>
              <a:buSzPct val="100000"/>
              <a:buChar char="▪"/>
            </a:pPr>
            <a:r>
              <a:rPr lang="en-US" sz="1250" dirty="0">
                <a:solidFill>
                  <a:srgbClr val="1A2433"/>
                </a:solidFill>
                <a:latin typeface="Calibri" pitchFamily="34" charset="0"/>
                <a:ea typeface="Calibri" pitchFamily="34" charset="-122"/>
                <a:cs typeface="Calibri" pitchFamily="34" charset="-120"/>
              </a:rPr>
              <a:t>Correlation Heatmap giúp quan sát mức độ tương quan tuyến tính giữa các biến số.</a:t>
            </a:r>
            <a:endParaRPr lang="en-US" sz="1250" dirty="0"/>
          </a:p>
          <a:p>
            <a:pPr marL="228600" indent="-228600">
              <a:lnSpc>
                <a:spcPct val="112000"/>
              </a:lnSpc>
              <a:spcAft>
                <a:spcPts val="1200"/>
              </a:spcAft>
              <a:buSzPct val="100000"/>
              <a:buChar char="▪"/>
            </a:pPr>
            <a:r>
              <a:rPr lang="en-US" sz="1250" dirty="0">
                <a:solidFill>
                  <a:srgbClr val="1A2433"/>
                </a:solidFill>
                <a:latin typeface="Calibri" pitchFamily="34" charset="0"/>
                <a:ea typeface="Calibri" pitchFamily="34" charset="-122"/>
                <a:cs typeface="Calibri" pitchFamily="34" charset="-120"/>
              </a:rPr>
              <a:t>Có thể sử dụng heatmap để xác định những đặc trưng có mối liên hệ mạnh hơn với mức tiêu hao nhiên liệu.</a:t>
            </a:r>
            <a:endParaRPr lang="en-US" sz="1250" dirty="0"/>
          </a:p>
          <a:p>
            <a:pPr marL="228600" indent="-228600">
              <a:lnSpc>
                <a:spcPct val="112000"/>
              </a:lnSpc>
              <a:spcAft>
                <a:spcPts val="1200"/>
              </a:spcAft>
              <a:buSzPct val="100000"/>
              <a:buChar char="▪"/>
            </a:pPr>
            <a:r>
              <a:rPr lang="en-US" sz="1250" dirty="0">
                <a:solidFill>
                  <a:srgbClr val="1A2433"/>
                </a:solidFill>
                <a:latin typeface="Calibri" pitchFamily="34" charset="0"/>
                <a:ea typeface="Calibri" pitchFamily="34" charset="-122"/>
                <a:cs typeface="Calibri" pitchFamily="34" charset="-120"/>
              </a:rPr>
              <a:t>Heatmap cũng giúp phát hiện các biến đầu vào có tương quan mạnh với nhau.</a:t>
            </a:r>
            <a:endParaRPr lang="en-US" sz="1250" dirty="0"/>
          </a:p>
          <a:p>
            <a:pPr marL="228600" indent="-228600">
              <a:lnSpc>
                <a:spcPct val="112000"/>
              </a:lnSpc>
              <a:spcAft>
                <a:spcPts val="1200"/>
              </a:spcAft>
              <a:buSzPct val="100000"/>
              <a:buChar char="▪"/>
            </a:pPr>
            <a:r>
              <a:rPr lang="en-US" sz="1250" dirty="0">
                <a:solidFill>
                  <a:srgbClr val="1A2433"/>
                </a:solidFill>
                <a:latin typeface="Calibri" pitchFamily="34" charset="0"/>
                <a:ea typeface="Calibri" pitchFamily="34" charset="-122"/>
                <a:cs typeface="Calibri" pitchFamily="34" charset="-120"/>
              </a:rPr>
              <a:t>Đây là thông tin hỗ trợ việc phân tích đặc trưng trước khi xây dựng mô hình.</a:t>
            </a:r>
            <a:endParaRPr lang="en-US" sz="1250" dirty="0"/>
          </a:p>
          <a:p>
            <a:pPr marL="228600" indent="-228600">
              <a:lnSpc>
                <a:spcPct val="112000"/>
              </a:lnSpc>
              <a:spcAft>
                <a:spcPts val="1200"/>
              </a:spcAft>
              <a:buSzPct val="100000"/>
              <a:buChar char="▪"/>
            </a:pPr>
            <a:r>
              <a:rPr lang="en-US" sz="1250" dirty="0">
                <a:solidFill>
                  <a:srgbClr val="1A2433"/>
                </a:solidFill>
                <a:latin typeface="Calibri" pitchFamily="34" charset="0"/>
                <a:ea typeface="Calibri" pitchFamily="34" charset="-122"/>
                <a:cs typeface="Calibri" pitchFamily="34" charset="-120"/>
              </a:rPr>
              <a:t>Tương quan không đồng nghĩa với quan hệ nguyên nhân – kết quả.</a:t>
            </a:r>
            <a:endParaRPr lang="en-US" sz="1250" dirty="0"/>
          </a:p>
        </p:txBody>
      </p:sp>
      <p:sp>
        <p:nvSpPr>
          <p:cNvPr id="9" name="Shape 6"/>
          <p:cNvSpPr/>
          <p:nvPr/>
        </p:nvSpPr>
        <p:spPr>
          <a:xfrm>
            <a:off x="502920" y="1417320"/>
            <a:ext cx="6888175" cy="4846320"/>
          </a:xfrm>
          <a:prstGeom prst="roundRect">
            <a:avLst>
              <a:gd name="adj" fmla="val 1698"/>
            </a:avLst>
          </a:prstGeom>
          <a:solidFill>
            <a:srgbClr val="FFFFFF"/>
          </a:solidFill>
          <a:ln/>
          <a:effectLst>
            <a:outerShdw blurRad="101600" dist="25400" dir="5400000" algn="bl" rotWithShape="0">
              <a:srgbClr val="1A2433">
                <a:alpha val="12000"/>
              </a:srgbClr>
            </a:outerShdw>
          </a:effectLst>
        </p:spPr>
        <p:txBody>
          <a:bodyPr/>
          <a:lstStyle/>
          <a:p>
            <a:endParaRPr lang="en-US"/>
          </a:p>
        </p:txBody>
      </p:sp>
      <p:pic>
        <p:nvPicPr>
          <p:cNvPr id="10" name="Image 1" descr="/home/claude/work/charts/image8.png"/>
          <p:cNvPicPr>
            <a:picLocks noChangeAspect="1"/>
          </p:cNvPicPr>
          <p:nvPr/>
        </p:nvPicPr>
        <p:blipFill>
          <a:blip r:embed="rId4"/>
          <a:stretch>
            <a:fillRect/>
          </a:stretch>
        </p:blipFill>
        <p:spPr>
          <a:xfrm>
            <a:off x="1043167" y="1581912"/>
            <a:ext cx="5807682" cy="451713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686800" cy="256032"/>
          </a:xfrm>
          <a:prstGeom prst="rect">
            <a:avLst/>
          </a:prstGeom>
          <a:noFill/>
          <a:ln/>
        </p:spPr>
        <p:txBody>
          <a:bodyPr wrap="square" rtlCol="0" anchor="ctr"/>
          <a:lstStyle/>
          <a:p>
            <a:pPr marL="0" indent="0">
              <a:buNone/>
            </a:pPr>
            <a:r>
              <a:rPr lang="en-US" sz="1200" b="1" kern="0" spc="200" dirty="0">
                <a:solidFill>
                  <a:srgbClr val="E8833A"/>
                </a:solidFill>
                <a:latin typeface="Calibri" pitchFamily="34" charset="0"/>
                <a:ea typeface="Calibri" pitchFamily="34" charset="-122"/>
                <a:cs typeface="Calibri" pitchFamily="34" charset="-120"/>
              </a:rPr>
              <a:t>TIỀN XỬ LÝ</a:t>
            </a:r>
            <a:endParaRPr lang="en-US" sz="1200" dirty="0"/>
          </a:p>
        </p:txBody>
      </p:sp>
      <p:sp>
        <p:nvSpPr>
          <p:cNvPr id="3" name="Text 1"/>
          <p:cNvSpPr/>
          <p:nvPr/>
        </p:nvSpPr>
        <p:spPr>
          <a:xfrm>
            <a:off x="502920" y="621792"/>
            <a:ext cx="9692640" cy="566928"/>
          </a:xfrm>
          <a:prstGeom prst="rect">
            <a:avLst/>
          </a:prstGeom>
          <a:noFill/>
          <a:ln/>
        </p:spPr>
        <p:txBody>
          <a:bodyPr wrap="square" rtlCol="0" anchor="ctr"/>
          <a:lstStyle/>
          <a:p>
            <a:pPr marL="0" indent="0">
              <a:buNone/>
            </a:pPr>
            <a:r>
              <a:rPr lang="en-US" sz="2700" b="1" dirty="0">
                <a:solidFill>
                  <a:srgbClr val="0F2A47"/>
                </a:solidFill>
                <a:latin typeface="Cambria" pitchFamily="34" charset="0"/>
                <a:ea typeface="Cambria" pitchFamily="34" charset="-122"/>
                <a:cs typeface="Cambria" pitchFamily="34" charset="-120"/>
              </a:rPr>
              <a:t>TIỀN XỬ LÝ DỮ LIỆU</a:t>
            </a:r>
            <a:endParaRPr lang="en-US" sz="2700" dirty="0"/>
          </a:p>
        </p:txBody>
      </p:sp>
      <p:sp>
        <p:nvSpPr>
          <p:cNvPr id="4" name="Shape 2"/>
          <p:cNvSpPr/>
          <p:nvPr/>
        </p:nvSpPr>
        <p:spPr>
          <a:xfrm>
            <a:off x="11030407" y="384048"/>
            <a:ext cx="658368" cy="658368"/>
          </a:xfrm>
          <a:prstGeom prst="ellipse">
            <a:avLst/>
          </a:prstGeom>
          <a:solidFill>
            <a:srgbClr val="E8833A"/>
          </a:solidFill>
          <a:ln/>
        </p:spPr>
        <p:txBody>
          <a:bodyPr/>
          <a:lstStyle/>
          <a:p>
            <a:endParaRPr lang="en-US"/>
          </a:p>
        </p:txBody>
      </p:sp>
      <p:pic>
        <p:nvPicPr>
          <p:cNvPr id="5" name="Image 0" descr="/home/claude/work/icons/broom_FFFFFF.png"/>
          <p:cNvPicPr>
            <a:picLocks noChangeAspect="1"/>
          </p:cNvPicPr>
          <p:nvPr/>
        </p:nvPicPr>
        <p:blipFill>
          <a:blip r:embed="rId3"/>
          <a:stretch>
            <a:fillRect/>
          </a:stretch>
        </p:blipFill>
        <p:spPr>
          <a:xfrm>
            <a:off x="11102828" y="456468"/>
            <a:ext cx="513527" cy="513527"/>
          </a:xfrm>
          <a:prstGeom prst="rect">
            <a:avLst/>
          </a:prstGeom>
        </p:spPr>
      </p:pic>
      <p:sp>
        <p:nvSpPr>
          <p:cNvPr id="6" name="Text 3"/>
          <p:cNvSpPr/>
          <p:nvPr/>
        </p:nvSpPr>
        <p:spPr>
          <a:xfrm>
            <a:off x="502920" y="6547104"/>
            <a:ext cx="7315200" cy="237744"/>
          </a:xfrm>
          <a:prstGeom prst="rect">
            <a:avLst/>
          </a:prstGeom>
          <a:noFill/>
          <a:ln/>
        </p:spPr>
        <p:txBody>
          <a:bodyPr wrap="square" rtlCol="0" anchor="ctr"/>
          <a:lstStyle/>
          <a:p>
            <a:pPr marL="0" indent="0">
              <a:buNone/>
            </a:pPr>
            <a:r>
              <a:rPr lang="en-US" sz="800" kern="0" spc="50" dirty="0">
                <a:solidFill>
                  <a:srgbClr val="6B7A89"/>
                </a:solidFill>
                <a:latin typeface="Calibri" pitchFamily="34" charset="0"/>
                <a:ea typeface="Calibri" pitchFamily="34" charset="-122"/>
                <a:cs typeface="Calibri" pitchFamily="34" charset="-120"/>
              </a:rPr>
              <a:t>HỆ THỐNG DỰ ĐOÁN MỨC TIÊU HAO NHIÊN LIỆU XE</a:t>
            </a:r>
            <a:endParaRPr lang="en-US" sz="800" dirty="0"/>
          </a:p>
        </p:txBody>
      </p:sp>
      <p:sp>
        <p:nvSpPr>
          <p:cNvPr id="7" name="Text 4"/>
          <p:cNvSpPr/>
          <p:nvPr/>
        </p:nvSpPr>
        <p:spPr>
          <a:xfrm>
            <a:off x="11231575" y="6547104"/>
            <a:ext cx="457200" cy="237744"/>
          </a:xfrm>
          <a:prstGeom prst="rect">
            <a:avLst/>
          </a:prstGeom>
          <a:noFill/>
          <a:ln/>
        </p:spPr>
        <p:txBody>
          <a:bodyPr wrap="square" rtlCol="0" anchor="ctr"/>
          <a:lstStyle/>
          <a:p>
            <a:pPr marL="0" indent="0" algn="r">
              <a:buNone/>
            </a:pPr>
            <a:r>
              <a:rPr lang="en-US" sz="900" b="1" dirty="0">
                <a:solidFill>
                  <a:srgbClr val="6B7A89"/>
                </a:solidFill>
                <a:latin typeface="Calibri" pitchFamily="34" charset="0"/>
                <a:ea typeface="Calibri" pitchFamily="34" charset="-122"/>
                <a:cs typeface="Calibri" pitchFamily="34" charset="-120"/>
              </a:rPr>
              <a:t>11</a:t>
            </a:r>
            <a:endParaRPr lang="en-US" sz="900" dirty="0"/>
          </a:p>
        </p:txBody>
      </p:sp>
      <p:sp>
        <p:nvSpPr>
          <p:cNvPr id="8" name="Shape 5"/>
          <p:cNvSpPr/>
          <p:nvPr/>
        </p:nvSpPr>
        <p:spPr>
          <a:xfrm>
            <a:off x="792328" y="1508760"/>
            <a:ext cx="1554480" cy="777240"/>
          </a:xfrm>
          <a:prstGeom prst="roundRect">
            <a:avLst>
              <a:gd name="adj" fmla="val 9412"/>
            </a:avLst>
          </a:prstGeom>
          <a:solidFill>
            <a:srgbClr val="0F2A47"/>
          </a:solidFill>
          <a:ln/>
          <a:effectLst>
            <a:outerShdw blurRad="101600" dist="25400" dir="5400000" algn="bl" rotWithShape="0">
              <a:srgbClr val="1A2433">
                <a:alpha val="12000"/>
              </a:srgbClr>
            </a:outerShdw>
          </a:effectLst>
        </p:spPr>
        <p:txBody>
          <a:bodyPr/>
          <a:lstStyle/>
          <a:p>
            <a:endParaRPr lang="en-US"/>
          </a:p>
        </p:txBody>
      </p:sp>
      <p:sp>
        <p:nvSpPr>
          <p:cNvPr id="9" name="Text 6"/>
          <p:cNvSpPr/>
          <p:nvPr/>
        </p:nvSpPr>
        <p:spPr>
          <a:xfrm>
            <a:off x="847192" y="1508760"/>
            <a:ext cx="1444752" cy="77724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Dữ liệu gốc</a:t>
            </a:r>
            <a:endParaRPr lang="en-US" sz="1050" dirty="0"/>
          </a:p>
        </p:txBody>
      </p:sp>
      <p:sp>
        <p:nvSpPr>
          <p:cNvPr id="10" name="Shape 7"/>
          <p:cNvSpPr/>
          <p:nvPr/>
        </p:nvSpPr>
        <p:spPr>
          <a:xfrm>
            <a:off x="2365096" y="1796796"/>
            <a:ext cx="261518" cy="201168"/>
          </a:xfrm>
          <a:prstGeom prst="rightArrow">
            <a:avLst/>
          </a:prstGeom>
          <a:solidFill>
            <a:srgbClr val="3A6EA5"/>
          </a:solidFill>
          <a:ln/>
        </p:spPr>
        <p:txBody>
          <a:bodyPr/>
          <a:lstStyle/>
          <a:p>
            <a:endParaRPr lang="en-US"/>
          </a:p>
        </p:txBody>
      </p:sp>
      <p:sp>
        <p:nvSpPr>
          <p:cNvPr id="11" name="Shape 8"/>
          <p:cNvSpPr/>
          <p:nvPr/>
        </p:nvSpPr>
        <p:spPr>
          <a:xfrm>
            <a:off x="2602840" y="1508760"/>
            <a:ext cx="1554480" cy="777240"/>
          </a:xfrm>
          <a:prstGeom prst="roundRect">
            <a:avLst>
              <a:gd name="adj" fmla="val 9412"/>
            </a:avLst>
          </a:prstGeom>
          <a:solidFill>
            <a:srgbClr val="0F2A47"/>
          </a:solidFill>
          <a:ln/>
          <a:effectLst>
            <a:outerShdw blurRad="101600" dist="25400" dir="5400000" algn="bl" rotWithShape="0">
              <a:srgbClr val="1A2433">
                <a:alpha val="12000"/>
              </a:srgbClr>
            </a:outerShdw>
          </a:effectLst>
        </p:spPr>
        <p:txBody>
          <a:bodyPr/>
          <a:lstStyle/>
          <a:p>
            <a:endParaRPr lang="en-US"/>
          </a:p>
        </p:txBody>
      </p:sp>
      <p:sp>
        <p:nvSpPr>
          <p:cNvPr id="12" name="Text 9"/>
          <p:cNvSpPr/>
          <p:nvPr/>
        </p:nvSpPr>
        <p:spPr>
          <a:xfrm>
            <a:off x="2657704" y="1508760"/>
            <a:ext cx="1444752" cy="77724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Kiểm tra dữ liệu</a:t>
            </a:r>
            <a:endParaRPr lang="en-US" sz="1050" dirty="0"/>
          </a:p>
        </p:txBody>
      </p:sp>
      <p:sp>
        <p:nvSpPr>
          <p:cNvPr id="13" name="Shape 10"/>
          <p:cNvSpPr/>
          <p:nvPr/>
        </p:nvSpPr>
        <p:spPr>
          <a:xfrm>
            <a:off x="4175608" y="1796796"/>
            <a:ext cx="261518" cy="201168"/>
          </a:xfrm>
          <a:prstGeom prst="rightArrow">
            <a:avLst/>
          </a:prstGeom>
          <a:solidFill>
            <a:srgbClr val="3A6EA5"/>
          </a:solidFill>
          <a:ln/>
        </p:spPr>
        <p:txBody>
          <a:bodyPr/>
          <a:lstStyle/>
          <a:p>
            <a:endParaRPr lang="en-US"/>
          </a:p>
        </p:txBody>
      </p:sp>
      <p:sp>
        <p:nvSpPr>
          <p:cNvPr id="14" name="Shape 11"/>
          <p:cNvSpPr/>
          <p:nvPr/>
        </p:nvSpPr>
        <p:spPr>
          <a:xfrm>
            <a:off x="4413352" y="1508760"/>
            <a:ext cx="1554480" cy="777240"/>
          </a:xfrm>
          <a:prstGeom prst="roundRect">
            <a:avLst>
              <a:gd name="adj" fmla="val 9412"/>
            </a:avLst>
          </a:prstGeom>
          <a:solidFill>
            <a:srgbClr val="0F2A47"/>
          </a:solidFill>
          <a:ln/>
          <a:effectLst>
            <a:outerShdw blurRad="101600" dist="25400" dir="5400000" algn="bl" rotWithShape="0">
              <a:srgbClr val="1A2433">
                <a:alpha val="12000"/>
              </a:srgbClr>
            </a:outerShdw>
          </a:effectLst>
        </p:spPr>
        <p:txBody>
          <a:bodyPr/>
          <a:lstStyle/>
          <a:p>
            <a:endParaRPr lang="en-US"/>
          </a:p>
        </p:txBody>
      </p:sp>
      <p:sp>
        <p:nvSpPr>
          <p:cNvPr id="15" name="Text 12"/>
          <p:cNvSpPr/>
          <p:nvPr/>
        </p:nvSpPr>
        <p:spPr>
          <a:xfrm>
            <a:off x="4468216" y="1508760"/>
            <a:ext cx="1444752" cy="77724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Làm sạch</a:t>
            </a:r>
            <a:endParaRPr lang="en-US" sz="1050" dirty="0"/>
          </a:p>
        </p:txBody>
      </p:sp>
      <p:sp>
        <p:nvSpPr>
          <p:cNvPr id="16" name="Shape 13"/>
          <p:cNvSpPr/>
          <p:nvPr/>
        </p:nvSpPr>
        <p:spPr>
          <a:xfrm>
            <a:off x="5986120" y="1796796"/>
            <a:ext cx="261518" cy="201168"/>
          </a:xfrm>
          <a:prstGeom prst="rightArrow">
            <a:avLst/>
          </a:prstGeom>
          <a:solidFill>
            <a:srgbClr val="3A6EA5"/>
          </a:solidFill>
          <a:ln/>
        </p:spPr>
        <p:txBody>
          <a:bodyPr/>
          <a:lstStyle/>
          <a:p>
            <a:endParaRPr lang="en-US"/>
          </a:p>
        </p:txBody>
      </p:sp>
      <p:sp>
        <p:nvSpPr>
          <p:cNvPr id="17" name="Shape 14"/>
          <p:cNvSpPr/>
          <p:nvPr/>
        </p:nvSpPr>
        <p:spPr>
          <a:xfrm>
            <a:off x="6223864" y="1508760"/>
            <a:ext cx="1554480" cy="777240"/>
          </a:xfrm>
          <a:prstGeom prst="roundRect">
            <a:avLst>
              <a:gd name="adj" fmla="val 9412"/>
            </a:avLst>
          </a:prstGeom>
          <a:solidFill>
            <a:srgbClr val="0F2A47"/>
          </a:solidFill>
          <a:ln/>
          <a:effectLst>
            <a:outerShdw blurRad="101600" dist="25400" dir="5400000" algn="bl" rotWithShape="0">
              <a:srgbClr val="1A2433">
                <a:alpha val="12000"/>
              </a:srgbClr>
            </a:outerShdw>
          </a:effectLst>
        </p:spPr>
        <p:txBody>
          <a:bodyPr/>
          <a:lstStyle/>
          <a:p>
            <a:endParaRPr lang="en-US"/>
          </a:p>
        </p:txBody>
      </p:sp>
      <p:sp>
        <p:nvSpPr>
          <p:cNvPr id="18" name="Text 15"/>
          <p:cNvSpPr/>
          <p:nvPr/>
        </p:nvSpPr>
        <p:spPr>
          <a:xfrm>
            <a:off x="6278728" y="1508760"/>
            <a:ext cx="1444752" cy="77724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Chọn đặc trưng</a:t>
            </a:r>
            <a:endParaRPr lang="en-US" sz="1050" dirty="0"/>
          </a:p>
        </p:txBody>
      </p:sp>
      <p:sp>
        <p:nvSpPr>
          <p:cNvPr id="19" name="Shape 16"/>
          <p:cNvSpPr/>
          <p:nvPr/>
        </p:nvSpPr>
        <p:spPr>
          <a:xfrm>
            <a:off x="7796632" y="1796796"/>
            <a:ext cx="261518" cy="201168"/>
          </a:xfrm>
          <a:prstGeom prst="rightArrow">
            <a:avLst/>
          </a:prstGeom>
          <a:solidFill>
            <a:srgbClr val="3A6EA5"/>
          </a:solidFill>
          <a:ln/>
        </p:spPr>
        <p:txBody>
          <a:bodyPr/>
          <a:lstStyle/>
          <a:p>
            <a:endParaRPr lang="en-US"/>
          </a:p>
        </p:txBody>
      </p:sp>
      <p:sp>
        <p:nvSpPr>
          <p:cNvPr id="20" name="Shape 17"/>
          <p:cNvSpPr/>
          <p:nvPr/>
        </p:nvSpPr>
        <p:spPr>
          <a:xfrm>
            <a:off x="8034376" y="1508760"/>
            <a:ext cx="1554480" cy="777240"/>
          </a:xfrm>
          <a:prstGeom prst="roundRect">
            <a:avLst>
              <a:gd name="adj" fmla="val 9412"/>
            </a:avLst>
          </a:prstGeom>
          <a:solidFill>
            <a:srgbClr val="0F2A47"/>
          </a:solidFill>
          <a:ln/>
          <a:effectLst>
            <a:outerShdw blurRad="101600" dist="25400" dir="5400000" algn="bl" rotWithShape="0">
              <a:srgbClr val="1A2433">
                <a:alpha val="12000"/>
              </a:srgbClr>
            </a:outerShdw>
          </a:effectLst>
        </p:spPr>
        <p:txBody>
          <a:bodyPr/>
          <a:lstStyle/>
          <a:p>
            <a:endParaRPr lang="en-US"/>
          </a:p>
        </p:txBody>
      </p:sp>
      <p:sp>
        <p:nvSpPr>
          <p:cNvPr id="21" name="Text 18"/>
          <p:cNvSpPr/>
          <p:nvPr/>
        </p:nvSpPr>
        <p:spPr>
          <a:xfrm>
            <a:off x="8089240" y="1508760"/>
            <a:ext cx="1444752" cy="77724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Chia Train/Test</a:t>
            </a:r>
            <a:endParaRPr lang="en-US" sz="1050" dirty="0"/>
          </a:p>
        </p:txBody>
      </p:sp>
      <p:sp>
        <p:nvSpPr>
          <p:cNvPr id="22" name="Shape 19"/>
          <p:cNvSpPr/>
          <p:nvPr/>
        </p:nvSpPr>
        <p:spPr>
          <a:xfrm>
            <a:off x="9607144" y="1796796"/>
            <a:ext cx="261518" cy="201168"/>
          </a:xfrm>
          <a:prstGeom prst="rightArrow">
            <a:avLst/>
          </a:prstGeom>
          <a:solidFill>
            <a:srgbClr val="3A6EA5"/>
          </a:solidFill>
          <a:ln/>
        </p:spPr>
        <p:txBody>
          <a:bodyPr/>
          <a:lstStyle/>
          <a:p>
            <a:endParaRPr lang="en-US"/>
          </a:p>
        </p:txBody>
      </p:sp>
      <p:sp>
        <p:nvSpPr>
          <p:cNvPr id="23" name="Shape 20"/>
          <p:cNvSpPr/>
          <p:nvPr/>
        </p:nvSpPr>
        <p:spPr>
          <a:xfrm>
            <a:off x="9844888" y="1508760"/>
            <a:ext cx="1554480" cy="777240"/>
          </a:xfrm>
          <a:prstGeom prst="roundRect">
            <a:avLst>
              <a:gd name="adj" fmla="val 9412"/>
            </a:avLst>
          </a:prstGeom>
          <a:solidFill>
            <a:srgbClr val="E8833A"/>
          </a:solidFill>
          <a:ln/>
          <a:effectLst>
            <a:outerShdw blurRad="101600" dist="25400" dir="5400000" algn="bl" rotWithShape="0">
              <a:srgbClr val="1A2433">
                <a:alpha val="12000"/>
              </a:srgbClr>
            </a:outerShdw>
          </a:effectLst>
        </p:spPr>
        <p:txBody>
          <a:bodyPr/>
          <a:lstStyle/>
          <a:p>
            <a:endParaRPr lang="en-US"/>
          </a:p>
        </p:txBody>
      </p:sp>
      <p:sp>
        <p:nvSpPr>
          <p:cNvPr id="24" name="Text 21"/>
          <p:cNvSpPr/>
          <p:nvPr/>
        </p:nvSpPr>
        <p:spPr>
          <a:xfrm>
            <a:off x="9899752" y="1508760"/>
            <a:ext cx="1444752" cy="77724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Pipeline tiền xử lý</a:t>
            </a:r>
            <a:endParaRPr lang="en-US" sz="1050" dirty="0"/>
          </a:p>
        </p:txBody>
      </p:sp>
      <p:sp>
        <p:nvSpPr>
          <p:cNvPr id="25" name="Shape 22"/>
          <p:cNvSpPr/>
          <p:nvPr/>
        </p:nvSpPr>
        <p:spPr>
          <a:xfrm>
            <a:off x="502920" y="2606040"/>
            <a:ext cx="11185855" cy="3291840"/>
          </a:xfrm>
          <a:prstGeom prst="roundRect">
            <a:avLst>
              <a:gd name="adj" fmla="val 2500"/>
            </a:avLst>
          </a:prstGeom>
          <a:solidFill>
            <a:srgbClr val="F5F8FB"/>
          </a:solidFill>
          <a:ln/>
          <a:effectLst>
            <a:outerShdw blurRad="101600" dist="25400" dir="5400000" algn="bl" rotWithShape="0">
              <a:srgbClr val="1A2433">
                <a:alpha val="12000"/>
              </a:srgbClr>
            </a:outerShdw>
          </a:effectLst>
        </p:spPr>
        <p:txBody>
          <a:bodyPr/>
          <a:lstStyle/>
          <a:p>
            <a:endParaRPr lang="en-US"/>
          </a:p>
        </p:txBody>
      </p:sp>
      <p:sp>
        <p:nvSpPr>
          <p:cNvPr id="26" name="Text 23"/>
          <p:cNvSpPr/>
          <p:nvPr/>
        </p:nvSpPr>
        <p:spPr>
          <a:xfrm>
            <a:off x="822960" y="2834640"/>
            <a:ext cx="10545775" cy="2834640"/>
          </a:xfrm>
          <a:prstGeom prst="rect">
            <a:avLst/>
          </a:prstGeom>
          <a:noFill/>
          <a:ln/>
        </p:spPr>
        <p:txBody>
          <a:bodyPr wrap="square" rtlCol="0" anchor="t"/>
          <a:lstStyle/>
          <a:p>
            <a:pPr marL="228600" indent="-228600">
              <a:lnSpc>
                <a:spcPct val="112000"/>
              </a:lnSpc>
              <a:spcAft>
                <a:spcPts val="1500"/>
              </a:spcAft>
              <a:buSzPct val="100000"/>
              <a:buChar char="▪"/>
            </a:pPr>
            <a:r>
              <a:rPr lang="en-US" sz="1450" dirty="0">
                <a:solidFill>
                  <a:srgbClr val="1A2433"/>
                </a:solidFill>
                <a:latin typeface="Calibri" pitchFamily="34" charset="0"/>
                <a:ea typeface="Calibri" pitchFamily="34" charset="-122"/>
                <a:cs typeface="Calibri" pitchFamily="34" charset="-120"/>
              </a:rPr>
              <a:t>Làm sạch dữ liệu: kiểm tra kiểu dữ liệu, dữ liệu trùng lặp, missing value và giá trị bất thường.</a:t>
            </a:r>
            <a:endParaRPr lang="en-US" sz="1450" dirty="0"/>
          </a:p>
          <a:p>
            <a:pPr marL="228600" indent="-228600">
              <a:lnSpc>
                <a:spcPct val="112000"/>
              </a:lnSpc>
              <a:spcAft>
                <a:spcPts val="1500"/>
              </a:spcAft>
              <a:buSzPct val="100000"/>
              <a:buChar char="▪"/>
            </a:pPr>
            <a:r>
              <a:rPr lang="en-US" sz="1450" dirty="0">
                <a:solidFill>
                  <a:srgbClr val="1A2433"/>
                </a:solidFill>
                <a:latin typeface="Calibri" pitchFamily="34" charset="0"/>
                <a:ea typeface="Calibri" pitchFamily="34" charset="-122"/>
                <a:cs typeface="Calibri" pitchFamily="34" charset="-120"/>
              </a:rPr>
              <a:t>Chọn đặc trưng: Model Year, Make, Vehicle Class, Engine Size (L), Cylinders, Transmission, Fuel Type.</a:t>
            </a:r>
            <a:endParaRPr lang="en-US" sz="1450" dirty="0"/>
          </a:p>
          <a:p>
            <a:pPr marL="228600" indent="-228600">
              <a:lnSpc>
                <a:spcPct val="112000"/>
              </a:lnSpc>
              <a:spcAft>
                <a:spcPts val="1500"/>
              </a:spcAft>
              <a:buSzPct val="100000"/>
              <a:buChar char="▪"/>
            </a:pPr>
            <a:r>
              <a:rPr lang="en-US" sz="1450" dirty="0">
                <a:solidFill>
                  <a:srgbClr val="1A2433"/>
                </a:solidFill>
                <a:latin typeface="Calibri" pitchFamily="34" charset="0"/>
                <a:ea typeface="Calibri" pitchFamily="34" charset="-122"/>
                <a:cs typeface="Calibri" pitchFamily="34" charset="-120"/>
              </a:rPr>
              <a:t>Target: Fuel Consumption Comb (L/100 km).</a:t>
            </a:r>
            <a:endParaRPr lang="en-US" sz="1450" dirty="0"/>
          </a:p>
          <a:p>
            <a:pPr marL="228600" indent="-228600">
              <a:lnSpc>
                <a:spcPct val="112000"/>
              </a:lnSpc>
              <a:spcAft>
                <a:spcPts val="1500"/>
              </a:spcAft>
              <a:buSzPct val="100000"/>
              <a:buChar char="▪"/>
            </a:pPr>
            <a:r>
              <a:rPr lang="en-US" sz="1450" dirty="0">
                <a:solidFill>
                  <a:srgbClr val="1A2433"/>
                </a:solidFill>
                <a:latin typeface="Calibri" pitchFamily="34" charset="0"/>
                <a:ea typeface="Calibri" pitchFamily="34" charset="-122"/>
                <a:cs typeface="Calibri" pitchFamily="34" charset="-120"/>
              </a:rPr>
              <a:t>Chia dữ liệu thành Train và Test theo tỷ lệ 80/20 với random_state = 42.</a:t>
            </a:r>
            <a:endParaRPr lang="en-US" sz="1450" dirty="0"/>
          </a:p>
          <a:p>
            <a:pPr marL="228600" indent="-228600">
              <a:lnSpc>
                <a:spcPct val="112000"/>
              </a:lnSpc>
              <a:spcAft>
                <a:spcPts val="1500"/>
              </a:spcAft>
              <a:buSzPct val="100000"/>
              <a:buChar char="▪"/>
            </a:pPr>
            <a:r>
              <a:rPr lang="en-US" sz="1450" dirty="0">
                <a:solidFill>
                  <a:srgbClr val="1A2433"/>
                </a:solidFill>
                <a:latin typeface="Calibri" pitchFamily="34" charset="0"/>
                <a:ea typeface="Calibri" pitchFamily="34" charset="-122"/>
                <a:cs typeface="Calibri" pitchFamily="34" charset="-120"/>
              </a:rPr>
              <a:t>Test set chỉ được sử dụng để đánh giá cuối cùng.</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686800" cy="256032"/>
          </a:xfrm>
          <a:prstGeom prst="rect">
            <a:avLst/>
          </a:prstGeom>
          <a:noFill/>
          <a:ln/>
        </p:spPr>
        <p:txBody>
          <a:bodyPr wrap="square" rtlCol="0" anchor="ctr"/>
          <a:lstStyle/>
          <a:p>
            <a:pPr marL="0" indent="0">
              <a:buNone/>
            </a:pPr>
            <a:r>
              <a:rPr lang="en-US" sz="1200" b="1" kern="0" spc="200" dirty="0">
                <a:solidFill>
                  <a:srgbClr val="E8833A"/>
                </a:solidFill>
                <a:latin typeface="Calibri" pitchFamily="34" charset="0"/>
                <a:ea typeface="Calibri" pitchFamily="34" charset="-122"/>
                <a:cs typeface="Calibri" pitchFamily="34" charset="-120"/>
              </a:rPr>
              <a:t>TIỀN XỬ LÝ</a:t>
            </a:r>
            <a:endParaRPr lang="en-US" sz="1200" dirty="0"/>
          </a:p>
        </p:txBody>
      </p:sp>
      <p:sp>
        <p:nvSpPr>
          <p:cNvPr id="3" name="Text 1"/>
          <p:cNvSpPr/>
          <p:nvPr/>
        </p:nvSpPr>
        <p:spPr>
          <a:xfrm>
            <a:off x="502920" y="621792"/>
            <a:ext cx="9692640" cy="566928"/>
          </a:xfrm>
          <a:prstGeom prst="rect">
            <a:avLst/>
          </a:prstGeom>
          <a:noFill/>
          <a:ln/>
        </p:spPr>
        <p:txBody>
          <a:bodyPr wrap="square" rtlCol="0" anchor="ctr"/>
          <a:lstStyle/>
          <a:p>
            <a:pPr marL="0" indent="0">
              <a:buNone/>
            </a:pPr>
            <a:r>
              <a:rPr lang="en-US" sz="2400" b="1" dirty="0">
                <a:solidFill>
                  <a:srgbClr val="0F2A47"/>
                </a:solidFill>
                <a:latin typeface="Cambria" pitchFamily="34" charset="0"/>
                <a:ea typeface="Cambria" pitchFamily="34" charset="-122"/>
                <a:cs typeface="Cambria" pitchFamily="34" charset="-120"/>
              </a:rPr>
              <a:t>NGĂN NGỪA DATA LEAKAGE VÀ PIPELINE</a:t>
            </a:r>
            <a:endParaRPr lang="en-US" sz="2400" dirty="0"/>
          </a:p>
        </p:txBody>
      </p:sp>
      <p:sp>
        <p:nvSpPr>
          <p:cNvPr id="4" name="Shape 2"/>
          <p:cNvSpPr/>
          <p:nvPr/>
        </p:nvSpPr>
        <p:spPr>
          <a:xfrm>
            <a:off x="11030407" y="384048"/>
            <a:ext cx="658368" cy="658368"/>
          </a:xfrm>
          <a:prstGeom prst="ellipse">
            <a:avLst/>
          </a:prstGeom>
          <a:solidFill>
            <a:srgbClr val="E8833A"/>
          </a:solidFill>
          <a:ln/>
        </p:spPr>
        <p:txBody>
          <a:bodyPr/>
          <a:lstStyle/>
          <a:p>
            <a:endParaRPr lang="en-US"/>
          </a:p>
        </p:txBody>
      </p:sp>
      <p:pic>
        <p:nvPicPr>
          <p:cNvPr id="5" name="Image 0" descr="/home/claude/work/icons/shield_FFFFFF.png"/>
          <p:cNvPicPr>
            <a:picLocks noChangeAspect="1"/>
          </p:cNvPicPr>
          <p:nvPr/>
        </p:nvPicPr>
        <p:blipFill>
          <a:blip r:embed="rId3"/>
          <a:stretch>
            <a:fillRect/>
          </a:stretch>
        </p:blipFill>
        <p:spPr>
          <a:xfrm>
            <a:off x="11102828" y="456468"/>
            <a:ext cx="513527" cy="513527"/>
          </a:xfrm>
          <a:prstGeom prst="rect">
            <a:avLst/>
          </a:prstGeom>
        </p:spPr>
      </p:pic>
      <p:sp>
        <p:nvSpPr>
          <p:cNvPr id="6" name="Text 3"/>
          <p:cNvSpPr/>
          <p:nvPr/>
        </p:nvSpPr>
        <p:spPr>
          <a:xfrm>
            <a:off x="502920" y="6547104"/>
            <a:ext cx="7315200" cy="237744"/>
          </a:xfrm>
          <a:prstGeom prst="rect">
            <a:avLst/>
          </a:prstGeom>
          <a:noFill/>
          <a:ln/>
        </p:spPr>
        <p:txBody>
          <a:bodyPr wrap="square" rtlCol="0" anchor="ctr"/>
          <a:lstStyle/>
          <a:p>
            <a:pPr marL="0" indent="0">
              <a:buNone/>
            </a:pPr>
            <a:r>
              <a:rPr lang="en-US" sz="800" kern="0" spc="50" dirty="0">
                <a:solidFill>
                  <a:srgbClr val="6B7A89"/>
                </a:solidFill>
                <a:latin typeface="Calibri" pitchFamily="34" charset="0"/>
                <a:ea typeface="Calibri" pitchFamily="34" charset="-122"/>
                <a:cs typeface="Calibri" pitchFamily="34" charset="-120"/>
              </a:rPr>
              <a:t>HỆ THỐNG DỰ ĐOÁN MỨC TIÊU HAO NHIÊN LIỆU XE</a:t>
            </a:r>
            <a:endParaRPr lang="en-US" sz="800" dirty="0"/>
          </a:p>
        </p:txBody>
      </p:sp>
      <p:sp>
        <p:nvSpPr>
          <p:cNvPr id="7" name="Text 4"/>
          <p:cNvSpPr/>
          <p:nvPr/>
        </p:nvSpPr>
        <p:spPr>
          <a:xfrm>
            <a:off x="11231575" y="6547104"/>
            <a:ext cx="457200" cy="237744"/>
          </a:xfrm>
          <a:prstGeom prst="rect">
            <a:avLst/>
          </a:prstGeom>
          <a:noFill/>
          <a:ln/>
        </p:spPr>
        <p:txBody>
          <a:bodyPr wrap="square" rtlCol="0" anchor="ctr"/>
          <a:lstStyle/>
          <a:p>
            <a:pPr marL="0" indent="0" algn="r">
              <a:buNone/>
            </a:pPr>
            <a:r>
              <a:rPr lang="en-US" sz="900" b="1" dirty="0">
                <a:solidFill>
                  <a:srgbClr val="6B7A89"/>
                </a:solidFill>
                <a:latin typeface="Calibri" pitchFamily="34" charset="0"/>
                <a:ea typeface="Calibri" pitchFamily="34" charset="-122"/>
                <a:cs typeface="Calibri" pitchFamily="34" charset="-120"/>
              </a:rPr>
              <a:t>12</a:t>
            </a:r>
            <a:endParaRPr lang="en-US" sz="900" dirty="0"/>
          </a:p>
        </p:txBody>
      </p:sp>
      <p:sp>
        <p:nvSpPr>
          <p:cNvPr id="8" name="Shape 5"/>
          <p:cNvSpPr/>
          <p:nvPr/>
        </p:nvSpPr>
        <p:spPr>
          <a:xfrm>
            <a:off x="502920" y="1417320"/>
            <a:ext cx="1554480" cy="658368"/>
          </a:xfrm>
          <a:prstGeom prst="roundRect">
            <a:avLst>
              <a:gd name="adj" fmla="val 11111"/>
            </a:avLst>
          </a:prstGeom>
          <a:solidFill>
            <a:srgbClr val="0F2A47"/>
          </a:solidFill>
          <a:ln/>
          <a:effectLst>
            <a:outerShdw blurRad="101600" dist="25400" dir="5400000" algn="bl" rotWithShape="0">
              <a:srgbClr val="1A2433">
                <a:alpha val="12000"/>
              </a:srgbClr>
            </a:outerShdw>
          </a:effectLst>
        </p:spPr>
        <p:txBody>
          <a:bodyPr/>
          <a:lstStyle/>
          <a:p>
            <a:endParaRPr lang="en-US"/>
          </a:p>
        </p:txBody>
      </p:sp>
      <p:sp>
        <p:nvSpPr>
          <p:cNvPr id="9" name="Text 6"/>
          <p:cNvSpPr/>
          <p:nvPr/>
        </p:nvSpPr>
        <p:spPr>
          <a:xfrm>
            <a:off x="557784" y="1417320"/>
            <a:ext cx="1444752" cy="65836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Dataset</a:t>
            </a:r>
            <a:endParaRPr lang="en-US" sz="1100" dirty="0"/>
          </a:p>
        </p:txBody>
      </p:sp>
      <p:sp>
        <p:nvSpPr>
          <p:cNvPr id="10" name="Shape 7"/>
          <p:cNvSpPr/>
          <p:nvPr/>
        </p:nvSpPr>
        <p:spPr>
          <a:xfrm>
            <a:off x="2075688" y="1636776"/>
            <a:ext cx="285293" cy="219456"/>
          </a:xfrm>
          <a:prstGeom prst="rightArrow">
            <a:avLst/>
          </a:prstGeom>
          <a:solidFill>
            <a:srgbClr val="0F2A47"/>
          </a:solidFill>
          <a:ln/>
        </p:spPr>
        <p:txBody>
          <a:bodyPr/>
          <a:lstStyle/>
          <a:p>
            <a:endParaRPr lang="en-US"/>
          </a:p>
        </p:txBody>
      </p:sp>
      <p:sp>
        <p:nvSpPr>
          <p:cNvPr id="11" name="Shape 8"/>
          <p:cNvSpPr/>
          <p:nvPr/>
        </p:nvSpPr>
        <p:spPr>
          <a:xfrm>
            <a:off x="2313432" y="1417320"/>
            <a:ext cx="1554480" cy="658368"/>
          </a:xfrm>
          <a:prstGeom prst="roundRect">
            <a:avLst>
              <a:gd name="adj" fmla="val 11111"/>
            </a:avLst>
          </a:prstGeom>
          <a:solidFill>
            <a:srgbClr val="0F2A47"/>
          </a:solidFill>
          <a:ln/>
          <a:effectLst>
            <a:outerShdw blurRad="101600" dist="25400" dir="5400000" algn="bl" rotWithShape="0">
              <a:srgbClr val="1A2433">
                <a:alpha val="12000"/>
              </a:srgbClr>
            </a:outerShdw>
          </a:effectLst>
        </p:spPr>
        <p:txBody>
          <a:bodyPr/>
          <a:lstStyle/>
          <a:p>
            <a:endParaRPr lang="en-US"/>
          </a:p>
        </p:txBody>
      </p:sp>
      <p:sp>
        <p:nvSpPr>
          <p:cNvPr id="12" name="Text 9"/>
          <p:cNvSpPr/>
          <p:nvPr/>
        </p:nvSpPr>
        <p:spPr>
          <a:xfrm>
            <a:off x="2368296" y="1417320"/>
            <a:ext cx="1444752" cy="65836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Train / Test</a:t>
            </a:r>
            <a:endParaRPr lang="en-US" sz="1100" dirty="0"/>
          </a:p>
        </p:txBody>
      </p:sp>
      <p:sp>
        <p:nvSpPr>
          <p:cNvPr id="13" name="Shape 10"/>
          <p:cNvSpPr/>
          <p:nvPr/>
        </p:nvSpPr>
        <p:spPr>
          <a:xfrm>
            <a:off x="3886200" y="1636776"/>
            <a:ext cx="285293" cy="219456"/>
          </a:xfrm>
          <a:prstGeom prst="rightArrow">
            <a:avLst/>
          </a:prstGeom>
          <a:solidFill>
            <a:srgbClr val="0F2A47"/>
          </a:solidFill>
          <a:ln/>
        </p:spPr>
        <p:txBody>
          <a:bodyPr/>
          <a:lstStyle/>
          <a:p>
            <a:endParaRPr lang="en-US"/>
          </a:p>
        </p:txBody>
      </p:sp>
      <p:sp>
        <p:nvSpPr>
          <p:cNvPr id="14" name="Shape 11"/>
          <p:cNvSpPr/>
          <p:nvPr/>
        </p:nvSpPr>
        <p:spPr>
          <a:xfrm>
            <a:off x="4123944" y="1417320"/>
            <a:ext cx="2377440" cy="658368"/>
          </a:xfrm>
          <a:prstGeom prst="roundRect">
            <a:avLst>
              <a:gd name="adj" fmla="val 11111"/>
            </a:avLst>
          </a:prstGeom>
          <a:solidFill>
            <a:srgbClr val="E8833A"/>
          </a:solidFill>
          <a:ln/>
          <a:effectLst>
            <a:outerShdw blurRad="101600" dist="25400" dir="5400000" algn="bl" rotWithShape="0">
              <a:srgbClr val="1A2433">
                <a:alpha val="12000"/>
              </a:srgbClr>
            </a:outerShdw>
          </a:effectLst>
        </p:spPr>
        <p:txBody>
          <a:bodyPr/>
          <a:lstStyle/>
          <a:p>
            <a:endParaRPr lang="en-US"/>
          </a:p>
        </p:txBody>
      </p:sp>
      <p:sp>
        <p:nvSpPr>
          <p:cNvPr id="15" name="Text 12"/>
          <p:cNvSpPr/>
          <p:nvPr/>
        </p:nvSpPr>
        <p:spPr>
          <a:xfrm>
            <a:off x="4178808" y="1417320"/>
            <a:ext cx="2267712" cy="658368"/>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FIT preprocessing</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chỉ trên TRAIN</a:t>
            </a:r>
            <a:endParaRPr lang="en-US" sz="1050" dirty="0"/>
          </a:p>
        </p:txBody>
      </p:sp>
      <p:sp>
        <p:nvSpPr>
          <p:cNvPr id="16" name="Shape 13"/>
          <p:cNvSpPr/>
          <p:nvPr/>
        </p:nvSpPr>
        <p:spPr>
          <a:xfrm>
            <a:off x="6519672" y="1636776"/>
            <a:ext cx="285293" cy="219456"/>
          </a:xfrm>
          <a:prstGeom prst="rightArrow">
            <a:avLst/>
          </a:prstGeom>
          <a:solidFill>
            <a:srgbClr val="0F2A47"/>
          </a:solidFill>
          <a:ln/>
        </p:spPr>
        <p:txBody>
          <a:bodyPr/>
          <a:lstStyle/>
          <a:p>
            <a:endParaRPr lang="en-US"/>
          </a:p>
        </p:txBody>
      </p:sp>
      <p:sp>
        <p:nvSpPr>
          <p:cNvPr id="17" name="Shape 14"/>
          <p:cNvSpPr/>
          <p:nvPr/>
        </p:nvSpPr>
        <p:spPr>
          <a:xfrm>
            <a:off x="6958584" y="1033272"/>
            <a:ext cx="1737360" cy="457200"/>
          </a:xfrm>
          <a:prstGeom prst="roundRect">
            <a:avLst>
              <a:gd name="adj" fmla="val 16000"/>
            </a:avLst>
          </a:prstGeom>
          <a:solidFill>
            <a:srgbClr val="3A6EA5"/>
          </a:solidFill>
          <a:ln/>
          <a:effectLst>
            <a:outerShdw blurRad="101600" dist="25400" dir="5400000" algn="bl" rotWithShape="0">
              <a:srgbClr val="1A2433">
                <a:alpha val="12000"/>
              </a:srgbClr>
            </a:outerShdw>
          </a:effectLst>
        </p:spPr>
        <p:txBody>
          <a:bodyPr/>
          <a:lstStyle/>
          <a:p>
            <a:endParaRPr lang="en-US"/>
          </a:p>
        </p:txBody>
      </p:sp>
      <p:sp>
        <p:nvSpPr>
          <p:cNvPr id="18" name="Text 15"/>
          <p:cNvSpPr/>
          <p:nvPr/>
        </p:nvSpPr>
        <p:spPr>
          <a:xfrm>
            <a:off x="7013448" y="1033272"/>
            <a:ext cx="1627632" cy="45720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Transform Train</a:t>
            </a:r>
            <a:endParaRPr lang="en-US" sz="1000" dirty="0"/>
          </a:p>
        </p:txBody>
      </p:sp>
      <p:sp>
        <p:nvSpPr>
          <p:cNvPr id="19" name="Shape 16"/>
          <p:cNvSpPr/>
          <p:nvPr/>
        </p:nvSpPr>
        <p:spPr>
          <a:xfrm>
            <a:off x="6958584" y="1874520"/>
            <a:ext cx="1737360" cy="457200"/>
          </a:xfrm>
          <a:prstGeom prst="roundRect">
            <a:avLst>
              <a:gd name="adj" fmla="val 16000"/>
            </a:avLst>
          </a:prstGeom>
          <a:solidFill>
            <a:srgbClr val="3A6EA5"/>
          </a:solidFill>
          <a:ln/>
          <a:effectLst>
            <a:outerShdw blurRad="101600" dist="25400" dir="5400000" algn="bl" rotWithShape="0">
              <a:srgbClr val="1A2433">
                <a:alpha val="12000"/>
              </a:srgbClr>
            </a:outerShdw>
          </a:effectLst>
        </p:spPr>
        <p:txBody>
          <a:bodyPr/>
          <a:lstStyle/>
          <a:p>
            <a:endParaRPr lang="en-US"/>
          </a:p>
        </p:txBody>
      </p:sp>
      <p:sp>
        <p:nvSpPr>
          <p:cNvPr id="20" name="Text 17"/>
          <p:cNvSpPr/>
          <p:nvPr/>
        </p:nvSpPr>
        <p:spPr>
          <a:xfrm>
            <a:off x="7013448" y="1874520"/>
            <a:ext cx="1627632" cy="45720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Transform Test</a:t>
            </a:r>
            <a:endParaRPr lang="en-US" sz="1000" dirty="0"/>
          </a:p>
        </p:txBody>
      </p:sp>
      <p:sp>
        <p:nvSpPr>
          <p:cNvPr id="21" name="Shape 18"/>
          <p:cNvSpPr/>
          <p:nvPr/>
        </p:nvSpPr>
        <p:spPr>
          <a:xfrm>
            <a:off x="502920" y="2331720"/>
            <a:ext cx="11185855" cy="365760"/>
          </a:xfrm>
          <a:prstGeom prst="roundRect">
            <a:avLst>
              <a:gd name="adj" fmla="val 50000"/>
            </a:avLst>
          </a:prstGeom>
          <a:solidFill>
            <a:srgbClr val="DCE7F1"/>
          </a:solidFill>
          <a:ln/>
        </p:spPr>
        <p:txBody>
          <a:bodyPr/>
          <a:lstStyle/>
          <a:p>
            <a:endParaRPr lang="en-US"/>
          </a:p>
        </p:txBody>
      </p:sp>
      <p:sp>
        <p:nvSpPr>
          <p:cNvPr id="22" name="Text 19"/>
          <p:cNvSpPr/>
          <p:nvPr/>
        </p:nvSpPr>
        <p:spPr>
          <a:xfrm>
            <a:off x="502920" y="2331720"/>
            <a:ext cx="11185855" cy="365760"/>
          </a:xfrm>
          <a:prstGeom prst="rect">
            <a:avLst/>
          </a:prstGeom>
          <a:noFill/>
          <a:ln/>
        </p:spPr>
        <p:txBody>
          <a:bodyPr wrap="square" rtlCol="0" anchor="ctr"/>
          <a:lstStyle/>
          <a:p>
            <a:pPr marL="0" indent="0" algn="ctr">
              <a:buNone/>
            </a:pPr>
            <a:r>
              <a:rPr lang="en-US" sz="1100" b="1" dirty="0">
                <a:solidFill>
                  <a:srgbClr val="0F2A47"/>
                </a:solidFill>
                <a:latin typeface="Calibri" pitchFamily="34" charset="0"/>
                <a:ea typeface="Calibri" pitchFamily="34" charset="-122"/>
                <a:cs typeface="Calibri" pitchFamily="34" charset="-120"/>
              </a:rPr>
              <a:t>Numeric: Median Imputer → StandardScaler     |     Categorical: Most Frequent Imputer → OneHotEncoder</a:t>
            </a:r>
            <a:endParaRPr lang="en-US" sz="1100" dirty="0"/>
          </a:p>
        </p:txBody>
      </p:sp>
      <p:sp>
        <p:nvSpPr>
          <p:cNvPr id="23" name="Text 20"/>
          <p:cNvSpPr/>
          <p:nvPr/>
        </p:nvSpPr>
        <p:spPr>
          <a:xfrm>
            <a:off x="502920" y="2971800"/>
            <a:ext cx="11185855" cy="1920240"/>
          </a:xfrm>
          <a:prstGeom prst="rect">
            <a:avLst/>
          </a:prstGeom>
          <a:noFill/>
          <a:ln/>
        </p:spPr>
        <p:txBody>
          <a:bodyPr wrap="square" rtlCol="0" anchor="t"/>
          <a:lstStyle/>
          <a:p>
            <a:pPr marL="228600" indent="-228600">
              <a:lnSpc>
                <a:spcPct val="112000"/>
              </a:lnSpc>
              <a:spcAft>
                <a:spcPts val="1000"/>
              </a:spcAft>
              <a:buSzPct val="100000"/>
              <a:buChar char="▪"/>
            </a:pPr>
            <a:r>
              <a:rPr lang="en-US" sz="1350" dirty="0">
                <a:solidFill>
                  <a:srgbClr val="1A2433"/>
                </a:solidFill>
                <a:latin typeface="Calibri" pitchFamily="34" charset="0"/>
                <a:ea typeface="Calibri" pitchFamily="34" charset="-122"/>
                <a:cs typeface="Calibri" pitchFamily="34" charset="-120"/>
              </a:rPr>
              <a:t>Dataset phải được chia Train/Test trước khi học các tham số tiền xử lý.</a:t>
            </a:r>
            <a:endParaRPr lang="en-US" sz="1350" dirty="0"/>
          </a:p>
          <a:p>
            <a:pPr marL="228600" indent="-228600">
              <a:lnSpc>
                <a:spcPct val="112000"/>
              </a:lnSpc>
              <a:spcAft>
                <a:spcPts val="1000"/>
              </a:spcAft>
              <a:buSzPct val="100000"/>
              <a:buChar char="▪"/>
            </a:pPr>
            <a:r>
              <a:rPr lang="en-US" sz="1350" dirty="0">
                <a:solidFill>
                  <a:srgbClr val="1A2433"/>
                </a:solidFill>
                <a:latin typeface="Calibri" pitchFamily="34" charset="0"/>
                <a:ea typeface="Calibri" pitchFamily="34" charset="-122"/>
                <a:cs typeface="Calibri" pitchFamily="34" charset="-120"/>
              </a:rPr>
              <a:t>Scaler, Imputer và Encoder chỉ được fit bằng Train set.</a:t>
            </a:r>
            <a:endParaRPr lang="en-US" sz="1350" dirty="0"/>
          </a:p>
          <a:p>
            <a:pPr marL="228600" indent="-228600">
              <a:lnSpc>
                <a:spcPct val="112000"/>
              </a:lnSpc>
              <a:spcAft>
                <a:spcPts val="1000"/>
              </a:spcAft>
              <a:buSzPct val="100000"/>
              <a:buChar char="▪"/>
            </a:pPr>
            <a:r>
              <a:rPr lang="en-US" sz="1350" dirty="0">
                <a:solidFill>
                  <a:srgbClr val="1A2433"/>
                </a:solidFill>
                <a:latin typeface="Calibri" pitchFamily="34" charset="0"/>
                <a:ea typeface="Calibri" pitchFamily="34" charset="-122"/>
                <a:cs typeface="Calibri" pitchFamily="34" charset="-120"/>
              </a:rPr>
              <a:t>Test set chỉ sử dụng transform bằng pipeline đã học từ Train.</a:t>
            </a:r>
            <a:endParaRPr lang="en-US" sz="1350" dirty="0"/>
          </a:p>
          <a:p>
            <a:pPr marL="228600" indent="-228600">
              <a:lnSpc>
                <a:spcPct val="112000"/>
              </a:lnSpc>
              <a:spcAft>
                <a:spcPts val="1000"/>
              </a:spcAft>
              <a:buSzPct val="100000"/>
              <a:buChar char="▪"/>
            </a:pPr>
            <a:r>
              <a:rPr lang="en-US" sz="1350" dirty="0">
                <a:solidFill>
                  <a:srgbClr val="1A2433"/>
                </a:solidFill>
                <a:latin typeface="Calibri" pitchFamily="34" charset="0"/>
                <a:ea typeface="Calibri" pitchFamily="34" charset="-122"/>
                <a:cs typeface="Calibri" pitchFamily="34" charset="-120"/>
              </a:rPr>
              <a:t>ColumnTransformer và Pipeline được sử dụng để đảm bảo preprocessing lúc dự đoán giống preprocessing lúc training.</a:t>
            </a:r>
            <a:endParaRPr lang="en-US" sz="1350" dirty="0"/>
          </a:p>
        </p:txBody>
      </p:sp>
      <p:sp>
        <p:nvSpPr>
          <p:cNvPr id="24" name="Shape 21"/>
          <p:cNvSpPr/>
          <p:nvPr/>
        </p:nvSpPr>
        <p:spPr>
          <a:xfrm>
            <a:off x="502920" y="5257800"/>
            <a:ext cx="11185855" cy="685800"/>
          </a:xfrm>
          <a:prstGeom prst="roundRect">
            <a:avLst>
              <a:gd name="adj" fmla="val 10667"/>
            </a:avLst>
          </a:prstGeom>
          <a:solidFill>
            <a:srgbClr val="0F2A47"/>
          </a:solidFill>
          <a:ln/>
        </p:spPr>
        <p:txBody>
          <a:bodyPr/>
          <a:lstStyle/>
          <a:p>
            <a:endParaRPr lang="en-US"/>
          </a:p>
        </p:txBody>
      </p:sp>
      <p:pic>
        <p:nvPicPr>
          <p:cNvPr id="25" name="Image 1" descr="/home/claude/work/icons/triangle_exc_FFFFFF.png"/>
          <p:cNvPicPr>
            <a:picLocks noChangeAspect="1"/>
          </p:cNvPicPr>
          <p:nvPr/>
        </p:nvPicPr>
        <p:blipFill>
          <a:blip r:embed="rId4"/>
          <a:stretch>
            <a:fillRect/>
          </a:stretch>
        </p:blipFill>
        <p:spPr>
          <a:xfrm>
            <a:off x="685800" y="5431536"/>
            <a:ext cx="347472" cy="347472"/>
          </a:xfrm>
          <a:prstGeom prst="rect">
            <a:avLst/>
          </a:prstGeom>
        </p:spPr>
      </p:pic>
      <p:sp>
        <p:nvSpPr>
          <p:cNvPr id="26" name="Text 22"/>
          <p:cNvSpPr/>
          <p:nvPr/>
        </p:nvSpPr>
        <p:spPr>
          <a:xfrm>
            <a:off x="1188720" y="5257800"/>
            <a:ext cx="10271455" cy="6858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TEST SET PHẢI ĐƯỢC XEM LÀ DỮ LIỆU CHƯA TỪNG XUẤT HIỆN TRONG QUÁ TRÌNH HUẤN LUYỆN.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686800" cy="256032"/>
          </a:xfrm>
          <a:prstGeom prst="rect">
            <a:avLst/>
          </a:prstGeom>
          <a:noFill/>
          <a:ln/>
        </p:spPr>
        <p:txBody>
          <a:bodyPr wrap="square" rtlCol="0" anchor="ctr"/>
          <a:lstStyle/>
          <a:p>
            <a:pPr marL="0" indent="0">
              <a:buNone/>
            </a:pPr>
            <a:r>
              <a:rPr lang="en-US" sz="1200" b="1" kern="0" spc="200" dirty="0">
                <a:solidFill>
                  <a:srgbClr val="E8833A"/>
                </a:solidFill>
                <a:latin typeface="Calibri" pitchFamily="34" charset="0"/>
                <a:ea typeface="Calibri" pitchFamily="34" charset="-122"/>
                <a:cs typeface="Calibri" pitchFamily="34" charset="-120"/>
              </a:rPr>
              <a:t>MÔ HÌNH HỌC MÁY</a:t>
            </a:r>
            <a:endParaRPr lang="en-US" sz="1200" dirty="0"/>
          </a:p>
        </p:txBody>
      </p:sp>
      <p:sp>
        <p:nvSpPr>
          <p:cNvPr id="3" name="Text 1"/>
          <p:cNvSpPr/>
          <p:nvPr/>
        </p:nvSpPr>
        <p:spPr>
          <a:xfrm>
            <a:off x="502920" y="621792"/>
            <a:ext cx="9692640" cy="566928"/>
          </a:xfrm>
          <a:prstGeom prst="rect">
            <a:avLst/>
          </a:prstGeom>
          <a:noFill/>
          <a:ln/>
        </p:spPr>
        <p:txBody>
          <a:bodyPr wrap="square" rtlCol="0" anchor="ctr"/>
          <a:lstStyle/>
          <a:p>
            <a:pPr marL="0" indent="0">
              <a:buNone/>
            </a:pPr>
            <a:r>
              <a:rPr lang="en-US" sz="2700" b="1" dirty="0">
                <a:solidFill>
                  <a:srgbClr val="0F2A47"/>
                </a:solidFill>
                <a:latin typeface="Cambria" pitchFamily="34" charset="0"/>
                <a:ea typeface="Cambria" pitchFamily="34" charset="-122"/>
                <a:cs typeface="Cambria" pitchFamily="34" charset="-120"/>
              </a:rPr>
              <a:t>LINEAR REGRESSION VÀ DECISION TREE REGRESSOR</a:t>
            </a:r>
            <a:endParaRPr lang="en-US" sz="2700" dirty="0"/>
          </a:p>
        </p:txBody>
      </p:sp>
      <p:sp>
        <p:nvSpPr>
          <p:cNvPr id="4" name="Shape 2"/>
          <p:cNvSpPr/>
          <p:nvPr/>
        </p:nvSpPr>
        <p:spPr>
          <a:xfrm>
            <a:off x="11030407" y="384048"/>
            <a:ext cx="658368" cy="658368"/>
          </a:xfrm>
          <a:prstGeom prst="ellipse">
            <a:avLst/>
          </a:prstGeom>
          <a:solidFill>
            <a:srgbClr val="E8833A"/>
          </a:solidFill>
          <a:ln/>
        </p:spPr>
        <p:txBody>
          <a:bodyPr/>
          <a:lstStyle/>
          <a:p>
            <a:endParaRPr lang="en-US"/>
          </a:p>
        </p:txBody>
      </p:sp>
      <p:pic>
        <p:nvPicPr>
          <p:cNvPr id="5" name="Image 0" descr="/home/claude/work/icons/code_branch_FFFFFF.png"/>
          <p:cNvPicPr>
            <a:picLocks noChangeAspect="1"/>
          </p:cNvPicPr>
          <p:nvPr/>
        </p:nvPicPr>
        <p:blipFill>
          <a:blip r:embed="rId3"/>
          <a:stretch>
            <a:fillRect/>
          </a:stretch>
        </p:blipFill>
        <p:spPr>
          <a:xfrm>
            <a:off x="11102828" y="456468"/>
            <a:ext cx="513527" cy="513527"/>
          </a:xfrm>
          <a:prstGeom prst="rect">
            <a:avLst/>
          </a:prstGeom>
        </p:spPr>
      </p:pic>
      <p:sp>
        <p:nvSpPr>
          <p:cNvPr id="6" name="Text 3"/>
          <p:cNvSpPr/>
          <p:nvPr/>
        </p:nvSpPr>
        <p:spPr>
          <a:xfrm>
            <a:off x="502920" y="6547104"/>
            <a:ext cx="7315200" cy="237744"/>
          </a:xfrm>
          <a:prstGeom prst="rect">
            <a:avLst/>
          </a:prstGeom>
          <a:noFill/>
          <a:ln/>
        </p:spPr>
        <p:txBody>
          <a:bodyPr wrap="square" rtlCol="0" anchor="ctr"/>
          <a:lstStyle/>
          <a:p>
            <a:pPr marL="0" indent="0">
              <a:buNone/>
            </a:pPr>
            <a:r>
              <a:rPr lang="en-US" sz="800" kern="0" spc="50" dirty="0">
                <a:solidFill>
                  <a:srgbClr val="6B7A89"/>
                </a:solidFill>
                <a:latin typeface="Calibri" pitchFamily="34" charset="0"/>
                <a:ea typeface="Calibri" pitchFamily="34" charset="-122"/>
                <a:cs typeface="Calibri" pitchFamily="34" charset="-120"/>
              </a:rPr>
              <a:t>HỆ THỐNG DỰ ĐOÁN MỨC TIÊU HAO NHIÊN LIỆU XE</a:t>
            </a:r>
            <a:endParaRPr lang="en-US" sz="800" dirty="0"/>
          </a:p>
        </p:txBody>
      </p:sp>
      <p:sp>
        <p:nvSpPr>
          <p:cNvPr id="7" name="Text 4"/>
          <p:cNvSpPr/>
          <p:nvPr/>
        </p:nvSpPr>
        <p:spPr>
          <a:xfrm>
            <a:off x="11231575" y="6547104"/>
            <a:ext cx="457200" cy="237744"/>
          </a:xfrm>
          <a:prstGeom prst="rect">
            <a:avLst/>
          </a:prstGeom>
          <a:noFill/>
          <a:ln/>
        </p:spPr>
        <p:txBody>
          <a:bodyPr wrap="square" rtlCol="0" anchor="ctr"/>
          <a:lstStyle/>
          <a:p>
            <a:pPr marL="0" indent="0" algn="r">
              <a:buNone/>
            </a:pPr>
            <a:r>
              <a:rPr lang="en-US" sz="900" b="1" dirty="0">
                <a:solidFill>
                  <a:srgbClr val="6B7A89"/>
                </a:solidFill>
                <a:latin typeface="Calibri" pitchFamily="34" charset="0"/>
                <a:ea typeface="Calibri" pitchFamily="34" charset="-122"/>
                <a:cs typeface="Calibri" pitchFamily="34" charset="-120"/>
              </a:rPr>
              <a:t>13</a:t>
            </a:r>
            <a:endParaRPr lang="en-US" sz="900" dirty="0"/>
          </a:p>
        </p:txBody>
      </p:sp>
      <p:sp>
        <p:nvSpPr>
          <p:cNvPr id="8" name="Shape 5"/>
          <p:cNvSpPr/>
          <p:nvPr/>
        </p:nvSpPr>
        <p:spPr>
          <a:xfrm>
            <a:off x="502920" y="1463040"/>
            <a:ext cx="5410048" cy="4617720"/>
          </a:xfrm>
          <a:prstGeom prst="roundRect">
            <a:avLst>
              <a:gd name="adj" fmla="val 1782"/>
            </a:avLst>
          </a:prstGeom>
          <a:solidFill>
            <a:srgbClr val="FFFFFF"/>
          </a:solidFill>
          <a:ln/>
          <a:effectLst>
            <a:outerShdw blurRad="101600" dist="25400" dir="5400000" algn="bl" rotWithShape="0">
              <a:srgbClr val="1A2433">
                <a:alpha val="12000"/>
              </a:srgbClr>
            </a:outerShdw>
          </a:effectLst>
        </p:spPr>
        <p:txBody>
          <a:bodyPr/>
          <a:lstStyle/>
          <a:p>
            <a:endParaRPr lang="en-US"/>
          </a:p>
        </p:txBody>
      </p:sp>
      <p:sp>
        <p:nvSpPr>
          <p:cNvPr id="9" name="Shape 6"/>
          <p:cNvSpPr/>
          <p:nvPr/>
        </p:nvSpPr>
        <p:spPr>
          <a:xfrm>
            <a:off x="777240" y="1737360"/>
            <a:ext cx="566928" cy="566928"/>
          </a:xfrm>
          <a:prstGeom prst="roundRect">
            <a:avLst>
              <a:gd name="adj" fmla="val 50000"/>
            </a:avLst>
          </a:prstGeom>
          <a:solidFill>
            <a:srgbClr val="3A6EA5"/>
          </a:solidFill>
          <a:ln/>
        </p:spPr>
        <p:txBody>
          <a:bodyPr/>
          <a:lstStyle/>
          <a:p>
            <a:endParaRPr lang="en-US"/>
          </a:p>
        </p:txBody>
      </p:sp>
      <p:pic>
        <p:nvPicPr>
          <p:cNvPr id="10" name="Image 1" descr="/home/claude/work/icons/chart_bar_FFFFFF.png"/>
          <p:cNvPicPr>
            <a:picLocks noChangeAspect="1"/>
          </p:cNvPicPr>
          <p:nvPr/>
        </p:nvPicPr>
        <p:blipFill>
          <a:blip r:embed="rId4"/>
          <a:stretch>
            <a:fillRect/>
          </a:stretch>
        </p:blipFill>
        <p:spPr>
          <a:xfrm>
            <a:off x="905256" y="1865376"/>
            <a:ext cx="310896" cy="310896"/>
          </a:xfrm>
          <a:prstGeom prst="rect">
            <a:avLst/>
          </a:prstGeom>
        </p:spPr>
      </p:pic>
      <p:sp>
        <p:nvSpPr>
          <p:cNvPr id="11" name="Text 7"/>
          <p:cNvSpPr/>
          <p:nvPr/>
        </p:nvSpPr>
        <p:spPr>
          <a:xfrm>
            <a:off x="1508760" y="1737360"/>
            <a:ext cx="4129888" cy="566928"/>
          </a:xfrm>
          <a:prstGeom prst="rect">
            <a:avLst/>
          </a:prstGeom>
          <a:noFill/>
          <a:ln/>
        </p:spPr>
        <p:txBody>
          <a:bodyPr wrap="square" rtlCol="0" anchor="ctr"/>
          <a:lstStyle/>
          <a:p>
            <a:pPr marL="0" indent="0">
              <a:buNone/>
            </a:pPr>
            <a:r>
              <a:rPr lang="en-US" sz="1800" b="1" dirty="0">
                <a:solidFill>
                  <a:srgbClr val="0F2A47"/>
                </a:solidFill>
                <a:latin typeface="Cambria" pitchFamily="34" charset="0"/>
                <a:ea typeface="Cambria" pitchFamily="34" charset="-122"/>
                <a:cs typeface="Cambria" pitchFamily="34" charset="-120"/>
              </a:rPr>
              <a:t>Linear Regression</a:t>
            </a:r>
            <a:endParaRPr lang="en-US" sz="1800" dirty="0"/>
          </a:p>
        </p:txBody>
      </p:sp>
      <p:sp>
        <p:nvSpPr>
          <p:cNvPr id="12" name="Text 8"/>
          <p:cNvSpPr/>
          <p:nvPr/>
        </p:nvSpPr>
        <p:spPr>
          <a:xfrm>
            <a:off x="822960" y="2514600"/>
            <a:ext cx="4769968" cy="3383280"/>
          </a:xfrm>
          <a:prstGeom prst="rect">
            <a:avLst/>
          </a:prstGeom>
          <a:noFill/>
          <a:ln/>
        </p:spPr>
        <p:txBody>
          <a:bodyPr wrap="square" rtlCol="0" anchor="t"/>
          <a:lstStyle/>
          <a:p>
            <a:pPr marL="228600" indent="-228600">
              <a:lnSpc>
                <a:spcPct val="112000"/>
              </a:lnSpc>
              <a:spcAft>
                <a:spcPts val="1400"/>
              </a:spcAft>
              <a:buSzPct val="100000"/>
              <a:buChar char="▪"/>
            </a:pPr>
            <a:r>
              <a:rPr lang="en-US" sz="1350" dirty="0">
                <a:solidFill>
                  <a:srgbClr val="1A2433"/>
                </a:solidFill>
                <a:latin typeface="Calibri" pitchFamily="34" charset="0"/>
                <a:ea typeface="Calibri" pitchFamily="34" charset="-122"/>
                <a:cs typeface="Calibri" pitchFamily="34" charset="-120"/>
              </a:rPr>
              <a:t>Linear Regression tìm mối quan hệ tuyến tính giữa các đặc trưng đầu vào và mức tiêu hao nhiên liệu.</a:t>
            </a:r>
            <a:endParaRPr lang="en-US" sz="1350" dirty="0"/>
          </a:p>
          <a:p>
            <a:pPr marL="228600" indent="-228600">
              <a:lnSpc>
                <a:spcPct val="112000"/>
              </a:lnSpc>
              <a:spcAft>
                <a:spcPts val="1400"/>
              </a:spcAft>
              <a:buSzPct val="100000"/>
              <a:buChar char="▪"/>
            </a:pPr>
            <a:r>
              <a:rPr lang="en-US" sz="1350" dirty="0">
                <a:solidFill>
                  <a:srgbClr val="1A2433"/>
                </a:solidFill>
                <a:latin typeface="Calibri" pitchFamily="34" charset="0"/>
                <a:ea typeface="Calibri" pitchFamily="34" charset="-122"/>
                <a:cs typeface="Calibri" pitchFamily="34" charset="-120"/>
              </a:rPr>
              <a:t>Mô hình học các hệ số để giảm sai số giữa giá trị dự đoán và giá trị thực tế.</a:t>
            </a:r>
            <a:endParaRPr lang="en-US" sz="1350" dirty="0"/>
          </a:p>
          <a:p>
            <a:pPr marL="228600" indent="-228600">
              <a:lnSpc>
                <a:spcPct val="112000"/>
              </a:lnSpc>
              <a:spcAft>
                <a:spcPts val="1400"/>
              </a:spcAft>
              <a:buSzPct val="100000"/>
              <a:buChar char="▪"/>
            </a:pPr>
            <a:r>
              <a:rPr lang="en-US" sz="1350" dirty="0">
                <a:solidFill>
                  <a:srgbClr val="1A2433"/>
                </a:solidFill>
                <a:latin typeface="Calibri" pitchFamily="34" charset="0"/>
                <a:ea typeface="Calibri" pitchFamily="34" charset="-122"/>
                <a:cs typeface="Calibri" pitchFamily="34" charset="-120"/>
              </a:rPr>
              <a:t>Ưu điểm là đơn giản, nhanh và dễ giải thích.</a:t>
            </a:r>
            <a:endParaRPr lang="en-US" sz="1350" dirty="0"/>
          </a:p>
          <a:p>
            <a:pPr marL="228600" indent="-228600">
              <a:lnSpc>
                <a:spcPct val="112000"/>
              </a:lnSpc>
              <a:spcAft>
                <a:spcPts val="1400"/>
              </a:spcAft>
              <a:buSzPct val="100000"/>
              <a:buChar char="▪"/>
            </a:pPr>
            <a:r>
              <a:rPr lang="en-US" sz="1350" dirty="0">
                <a:solidFill>
                  <a:srgbClr val="1A2433"/>
                </a:solidFill>
                <a:latin typeface="Calibri" pitchFamily="34" charset="0"/>
                <a:ea typeface="Calibri" pitchFamily="34" charset="-122"/>
                <a:cs typeface="Calibri" pitchFamily="34" charset="-120"/>
              </a:rPr>
              <a:t>Đây cũng là mô hình cơ sở để so sánh với các thuật toán phức tạp hơn.</a:t>
            </a:r>
            <a:endParaRPr lang="en-US" sz="1350" dirty="0"/>
          </a:p>
        </p:txBody>
      </p:sp>
      <p:sp>
        <p:nvSpPr>
          <p:cNvPr id="13" name="Shape 9"/>
          <p:cNvSpPr/>
          <p:nvPr/>
        </p:nvSpPr>
        <p:spPr>
          <a:xfrm>
            <a:off x="6278728" y="1463040"/>
            <a:ext cx="5410048" cy="4617720"/>
          </a:xfrm>
          <a:prstGeom prst="roundRect">
            <a:avLst>
              <a:gd name="adj" fmla="val 1782"/>
            </a:avLst>
          </a:prstGeom>
          <a:solidFill>
            <a:srgbClr val="FFFFFF"/>
          </a:solidFill>
          <a:ln/>
          <a:effectLst>
            <a:outerShdw blurRad="101600" dist="25400" dir="5400000" algn="bl" rotWithShape="0">
              <a:srgbClr val="1A2433">
                <a:alpha val="12000"/>
              </a:srgbClr>
            </a:outerShdw>
          </a:effectLst>
        </p:spPr>
        <p:txBody>
          <a:bodyPr/>
          <a:lstStyle/>
          <a:p>
            <a:endParaRPr lang="en-US"/>
          </a:p>
        </p:txBody>
      </p:sp>
      <p:sp>
        <p:nvSpPr>
          <p:cNvPr id="14" name="Shape 10"/>
          <p:cNvSpPr/>
          <p:nvPr/>
        </p:nvSpPr>
        <p:spPr>
          <a:xfrm>
            <a:off x="6553048" y="1737360"/>
            <a:ext cx="566928" cy="566928"/>
          </a:xfrm>
          <a:prstGeom prst="roundRect">
            <a:avLst>
              <a:gd name="adj" fmla="val 50000"/>
            </a:avLst>
          </a:prstGeom>
          <a:solidFill>
            <a:srgbClr val="E8833A"/>
          </a:solidFill>
          <a:ln/>
        </p:spPr>
        <p:txBody>
          <a:bodyPr/>
          <a:lstStyle/>
          <a:p>
            <a:endParaRPr lang="en-US"/>
          </a:p>
        </p:txBody>
      </p:sp>
      <p:pic>
        <p:nvPicPr>
          <p:cNvPr id="15" name="Image 2" descr="/home/claude/work/icons/code_branch_FFFFFF.png"/>
          <p:cNvPicPr>
            <a:picLocks noChangeAspect="1"/>
          </p:cNvPicPr>
          <p:nvPr/>
        </p:nvPicPr>
        <p:blipFill>
          <a:blip r:embed="rId3"/>
          <a:stretch>
            <a:fillRect/>
          </a:stretch>
        </p:blipFill>
        <p:spPr>
          <a:xfrm>
            <a:off x="6681064" y="1865376"/>
            <a:ext cx="310896" cy="310896"/>
          </a:xfrm>
          <a:prstGeom prst="rect">
            <a:avLst/>
          </a:prstGeom>
        </p:spPr>
      </p:pic>
      <p:sp>
        <p:nvSpPr>
          <p:cNvPr id="16" name="Text 11"/>
          <p:cNvSpPr/>
          <p:nvPr/>
        </p:nvSpPr>
        <p:spPr>
          <a:xfrm>
            <a:off x="7284568" y="1737360"/>
            <a:ext cx="4129888" cy="566928"/>
          </a:xfrm>
          <a:prstGeom prst="rect">
            <a:avLst/>
          </a:prstGeom>
          <a:noFill/>
          <a:ln/>
        </p:spPr>
        <p:txBody>
          <a:bodyPr wrap="square" rtlCol="0" anchor="ctr"/>
          <a:lstStyle/>
          <a:p>
            <a:pPr marL="0" indent="0">
              <a:buNone/>
            </a:pPr>
            <a:r>
              <a:rPr lang="en-US" sz="1800" b="1" dirty="0">
                <a:solidFill>
                  <a:srgbClr val="0F2A47"/>
                </a:solidFill>
                <a:latin typeface="Cambria" pitchFamily="34" charset="0"/>
                <a:ea typeface="Cambria" pitchFamily="34" charset="-122"/>
                <a:cs typeface="Cambria" pitchFamily="34" charset="-120"/>
              </a:rPr>
              <a:t>Decision Tree Regressor</a:t>
            </a:r>
            <a:endParaRPr lang="en-US" sz="1800" dirty="0"/>
          </a:p>
        </p:txBody>
      </p:sp>
      <p:sp>
        <p:nvSpPr>
          <p:cNvPr id="17" name="Text 12"/>
          <p:cNvSpPr/>
          <p:nvPr/>
        </p:nvSpPr>
        <p:spPr>
          <a:xfrm>
            <a:off x="6598768" y="2514600"/>
            <a:ext cx="4769968" cy="3383280"/>
          </a:xfrm>
          <a:prstGeom prst="rect">
            <a:avLst/>
          </a:prstGeom>
          <a:noFill/>
          <a:ln/>
        </p:spPr>
        <p:txBody>
          <a:bodyPr wrap="square" rtlCol="0" anchor="t"/>
          <a:lstStyle/>
          <a:p>
            <a:pPr marL="228600" indent="-228600">
              <a:lnSpc>
                <a:spcPct val="112000"/>
              </a:lnSpc>
              <a:spcAft>
                <a:spcPts val="1400"/>
              </a:spcAft>
              <a:buSzPct val="100000"/>
              <a:buChar char="▪"/>
            </a:pPr>
            <a:r>
              <a:rPr lang="en-US" sz="1350" dirty="0">
                <a:solidFill>
                  <a:srgbClr val="1A2433"/>
                </a:solidFill>
                <a:latin typeface="Calibri" pitchFamily="34" charset="0"/>
                <a:ea typeface="Calibri" pitchFamily="34" charset="-122"/>
                <a:cs typeface="Calibri" pitchFamily="34" charset="-120"/>
              </a:rPr>
              <a:t>Decision Tree chia dữ liệu thành nhiều nhánh dựa trên các điều kiện của đặc trưng.</a:t>
            </a:r>
            <a:endParaRPr lang="en-US" sz="1350" dirty="0"/>
          </a:p>
          <a:p>
            <a:pPr marL="228600" indent="-228600">
              <a:lnSpc>
                <a:spcPct val="112000"/>
              </a:lnSpc>
              <a:spcAft>
                <a:spcPts val="1400"/>
              </a:spcAft>
              <a:buSzPct val="100000"/>
              <a:buChar char="▪"/>
            </a:pPr>
            <a:r>
              <a:rPr lang="en-US" sz="1350" dirty="0">
                <a:solidFill>
                  <a:srgbClr val="1A2433"/>
                </a:solidFill>
                <a:latin typeface="Calibri" pitchFamily="34" charset="0"/>
                <a:ea typeface="Calibri" pitchFamily="34" charset="-122"/>
                <a:cs typeface="Calibri" pitchFamily="34" charset="-120"/>
              </a:rPr>
              <a:t>Mỗi vùng cuối của cây đưa ra một giá trị dự đoán.</a:t>
            </a:r>
            <a:endParaRPr lang="en-US" sz="1350" dirty="0"/>
          </a:p>
          <a:p>
            <a:pPr marL="228600" indent="-228600">
              <a:lnSpc>
                <a:spcPct val="112000"/>
              </a:lnSpc>
              <a:spcAft>
                <a:spcPts val="1400"/>
              </a:spcAft>
              <a:buSzPct val="100000"/>
              <a:buChar char="▪"/>
            </a:pPr>
            <a:r>
              <a:rPr lang="en-US" sz="1350" dirty="0">
                <a:solidFill>
                  <a:srgbClr val="1A2433"/>
                </a:solidFill>
                <a:latin typeface="Calibri" pitchFamily="34" charset="0"/>
                <a:ea typeface="Calibri" pitchFamily="34" charset="-122"/>
                <a:cs typeface="Calibri" pitchFamily="34" charset="-120"/>
              </a:rPr>
              <a:t>Mô hình có thể học các quan hệ phi tuyến.</a:t>
            </a:r>
            <a:endParaRPr lang="en-US" sz="1350" dirty="0"/>
          </a:p>
          <a:p>
            <a:pPr marL="228600" indent="-228600">
              <a:lnSpc>
                <a:spcPct val="112000"/>
              </a:lnSpc>
              <a:spcAft>
                <a:spcPts val="1400"/>
              </a:spcAft>
              <a:buSzPct val="100000"/>
              <a:buChar char="▪"/>
            </a:pPr>
            <a:r>
              <a:rPr lang="en-US" sz="1350" dirty="0">
                <a:solidFill>
                  <a:srgbClr val="1A2433"/>
                </a:solidFill>
                <a:latin typeface="Calibri" pitchFamily="34" charset="0"/>
                <a:ea typeface="Calibri" pitchFamily="34" charset="-122"/>
                <a:cs typeface="Calibri" pitchFamily="34" charset="-120"/>
              </a:rPr>
              <a:t>Nếu cây quá sâu, mô hình có nguy cơ overfitting.</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686800" cy="256032"/>
          </a:xfrm>
          <a:prstGeom prst="rect">
            <a:avLst/>
          </a:prstGeom>
          <a:noFill/>
          <a:ln/>
        </p:spPr>
        <p:txBody>
          <a:bodyPr wrap="square" rtlCol="0" anchor="ctr"/>
          <a:lstStyle/>
          <a:p>
            <a:pPr marL="0" indent="0">
              <a:buNone/>
            </a:pPr>
            <a:r>
              <a:rPr lang="en-US" sz="1200" b="1" kern="0" spc="200" dirty="0">
                <a:solidFill>
                  <a:srgbClr val="E8833A"/>
                </a:solidFill>
                <a:latin typeface="Calibri" pitchFamily="34" charset="0"/>
                <a:ea typeface="Calibri" pitchFamily="34" charset="-122"/>
                <a:cs typeface="Calibri" pitchFamily="34" charset="-120"/>
              </a:rPr>
              <a:t>MÔ HÌNH HỌC MÁY</a:t>
            </a:r>
            <a:endParaRPr lang="en-US" sz="1200" dirty="0"/>
          </a:p>
        </p:txBody>
      </p:sp>
      <p:sp>
        <p:nvSpPr>
          <p:cNvPr id="3" name="Text 1"/>
          <p:cNvSpPr/>
          <p:nvPr/>
        </p:nvSpPr>
        <p:spPr>
          <a:xfrm>
            <a:off x="502920" y="621792"/>
            <a:ext cx="9692640" cy="566928"/>
          </a:xfrm>
          <a:prstGeom prst="rect">
            <a:avLst/>
          </a:prstGeom>
          <a:noFill/>
          <a:ln/>
        </p:spPr>
        <p:txBody>
          <a:bodyPr wrap="square" rtlCol="0" anchor="ctr"/>
          <a:lstStyle/>
          <a:p>
            <a:pPr marL="0" indent="0">
              <a:buNone/>
            </a:pPr>
            <a:r>
              <a:rPr lang="en-US" sz="2700" b="1" dirty="0">
                <a:solidFill>
                  <a:srgbClr val="0F2A47"/>
                </a:solidFill>
                <a:latin typeface="Cambria" pitchFamily="34" charset="0"/>
                <a:ea typeface="Cambria" pitchFamily="34" charset="-122"/>
                <a:cs typeface="Cambria" pitchFamily="34" charset="-120"/>
              </a:rPr>
              <a:t>KNN REGRESSOR VÀ SVR</a:t>
            </a:r>
            <a:endParaRPr lang="en-US" sz="2700" dirty="0"/>
          </a:p>
        </p:txBody>
      </p:sp>
      <p:sp>
        <p:nvSpPr>
          <p:cNvPr id="4" name="Shape 2"/>
          <p:cNvSpPr/>
          <p:nvPr/>
        </p:nvSpPr>
        <p:spPr>
          <a:xfrm>
            <a:off x="11030407" y="384048"/>
            <a:ext cx="658368" cy="658368"/>
          </a:xfrm>
          <a:prstGeom prst="ellipse">
            <a:avLst/>
          </a:prstGeom>
          <a:solidFill>
            <a:srgbClr val="E8833A"/>
          </a:solidFill>
          <a:ln/>
        </p:spPr>
        <p:txBody>
          <a:bodyPr/>
          <a:lstStyle/>
          <a:p>
            <a:endParaRPr lang="en-US"/>
          </a:p>
        </p:txBody>
      </p:sp>
      <p:pic>
        <p:nvPicPr>
          <p:cNvPr id="5" name="Image 0" descr="/home/claude/work/icons/bullseye_FFFFFF.png"/>
          <p:cNvPicPr>
            <a:picLocks noChangeAspect="1"/>
          </p:cNvPicPr>
          <p:nvPr/>
        </p:nvPicPr>
        <p:blipFill>
          <a:blip r:embed="rId3"/>
          <a:stretch>
            <a:fillRect/>
          </a:stretch>
        </p:blipFill>
        <p:spPr>
          <a:xfrm>
            <a:off x="11102828" y="456468"/>
            <a:ext cx="513527" cy="513527"/>
          </a:xfrm>
          <a:prstGeom prst="rect">
            <a:avLst/>
          </a:prstGeom>
        </p:spPr>
      </p:pic>
      <p:sp>
        <p:nvSpPr>
          <p:cNvPr id="6" name="Text 3"/>
          <p:cNvSpPr/>
          <p:nvPr/>
        </p:nvSpPr>
        <p:spPr>
          <a:xfrm>
            <a:off x="502920" y="6547104"/>
            <a:ext cx="7315200" cy="237744"/>
          </a:xfrm>
          <a:prstGeom prst="rect">
            <a:avLst/>
          </a:prstGeom>
          <a:noFill/>
          <a:ln/>
        </p:spPr>
        <p:txBody>
          <a:bodyPr wrap="square" rtlCol="0" anchor="ctr"/>
          <a:lstStyle/>
          <a:p>
            <a:pPr marL="0" indent="0">
              <a:buNone/>
            </a:pPr>
            <a:r>
              <a:rPr lang="en-US" sz="800" kern="0" spc="50" dirty="0">
                <a:solidFill>
                  <a:srgbClr val="6B7A89"/>
                </a:solidFill>
                <a:latin typeface="Calibri" pitchFamily="34" charset="0"/>
                <a:ea typeface="Calibri" pitchFamily="34" charset="-122"/>
                <a:cs typeface="Calibri" pitchFamily="34" charset="-120"/>
              </a:rPr>
              <a:t>HỆ THỐNG DỰ ĐOÁN MỨC TIÊU HAO NHIÊN LIỆU XE</a:t>
            </a:r>
            <a:endParaRPr lang="en-US" sz="800" dirty="0"/>
          </a:p>
        </p:txBody>
      </p:sp>
      <p:sp>
        <p:nvSpPr>
          <p:cNvPr id="7" name="Text 4"/>
          <p:cNvSpPr/>
          <p:nvPr/>
        </p:nvSpPr>
        <p:spPr>
          <a:xfrm>
            <a:off x="11231575" y="6547104"/>
            <a:ext cx="457200" cy="237744"/>
          </a:xfrm>
          <a:prstGeom prst="rect">
            <a:avLst/>
          </a:prstGeom>
          <a:noFill/>
          <a:ln/>
        </p:spPr>
        <p:txBody>
          <a:bodyPr wrap="square" rtlCol="0" anchor="ctr"/>
          <a:lstStyle/>
          <a:p>
            <a:pPr marL="0" indent="0" algn="r">
              <a:buNone/>
            </a:pPr>
            <a:r>
              <a:rPr lang="en-US" sz="900" b="1" dirty="0">
                <a:solidFill>
                  <a:srgbClr val="6B7A89"/>
                </a:solidFill>
                <a:latin typeface="Calibri" pitchFamily="34" charset="0"/>
                <a:ea typeface="Calibri" pitchFamily="34" charset="-122"/>
                <a:cs typeface="Calibri" pitchFamily="34" charset="-120"/>
              </a:rPr>
              <a:t>14</a:t>
            </a:r>
            <a:endParaRPr lang="en-US" sz="900" dirty="0"/>
          </a:p>
        </p:txBody>
      </p:sp>
      <p:sp>
        <p:nvSpPr>
          <p:cNvPr id="8" name="Shape 5"/>
          <p:cNvSpPr/>
          <p:nvPr/>
        </p:nvSpPr>
        <p:spPr>
          <a:xfrm>
            <a:off x="502920" y="1463040"/>
            <a:ext cx="5410048" cy="4617720"/>
          </a:xfrm>
          <a:prstGeom prst="roundRect">
            <a:avLst>
              <a:gd name="adj" fmla="val 1782"/>
            </a:avLst>
          </a:prstGeom>
          <a:solidFill>
            <a:srgbClr val="FFFFFF"/>
          </a:solidFill>
          <a:ln/>
          <a:effectLst>
            <a:outerShdw blurRad="101600" dist="25400" dir="5400000" algn="bl" rotWithShape="0">
              <a:srgbClr val="1A2433">
                <a:alpha val="12000"/>
              </a:srgbClr>
            </a:outerShdw>
          </a:effectLst>
        </p:spPr>
        <p:txBody>
          <a:bodyPr/>
          <a:lstStyle/>
          <a:p>
            <a:endParaRPr lang="en-US"/>
          </a:p>
        </p:txBody>
      </p:sp>
      <p:sp>
        <p:nvSpPr>
          <p:cNvPr id="9" name="Shape 6"/>
          <p:cNvSpPr/>
          <p:nvPr/>
        </p:nvSpPr>
        <p:spPr>
          <a:xfrm>
            <a:off x="777240" y="1737360"/>
            <a:ext cx="566928" cy="566928"/>
          </a:xfrm>
          <a:prstGeom prst="roundRect">
            <a:avLst>
              <a:gd name="adj" fmla="val 50000"/>
            </a:avLst>
          </a:prstGeom>
          <a:solidFill>
            <a:srgbClr val="3A6EA5"/>
          </a:solidFill>
          <a:ln/>
        </p:spPr>
        <p:txBody>
          <a:bodyPr/>
          <a:lstStyle/>
          <a:p>
            <a:endParaRPr lang="en-US"/>
          </a:p>
        </p:txBody>
      </p:sp>
      <p:pic>
        <p:nvPicPr>
          <p:cNvPr id="10" name="Image 1" descr="/home/claude/work/icons/network_FFFFFF.png"/>
          <p:cNvPicPr>
            <a:picLocks noChangeAspect="1"/>
          </p:cNvPicPr>
          <p:nvPr/>
        </p:nvPicPr>
        <p:blipFill>
          <a:blip r:embed="rId4"/>
          <a:stretch>
            <a:fillRect/>
          </a:stretch>
        </p:blipFill>
        <p:spPr>
          <a:xfrm>
            <a:off x="905256" y="1865376"/>
            <a:ext cx="310896" cy="310896"/>
          </a:xfrm>
          <a:prstGeom prst="rect">
            <a:avLst/>
          </a:prstGeom>
        </p:spPr>
      </p:pic>
      <p:sp>
        <p:nvSpPr>
          <p:cNvPr id="11" name="Text 7"/>
          <p:cNvSpPr/>
          <p:nvPr/>
        </p:nvSpPr>
        <p:spPr>
          <a:xfrm>
            <a:off x="1508760" y="1737360"/>
            <a:ext cx="4129888" cy="566928"/>
          </a:xfrm>
          <a:prstGeom prst="rect">
            <a:avLst/>
          </a:prstGeom>
          <a:noFill/>
          <a:ln/>
        </p:spPr>
        <p:txBody>
          <a:bodyPr wrap="square" rtlCol="0" anchor="ctr"/>
          <a:lstStyle/>
          <a:p>
            <a:pPr marL="0" indent="0">
              <a:buNone/>
            </a:pPr>
            <a:r>
              <a:rPr lang="en-US" sz="1800" b="1" dirty="0">
                <a:solidFill>
                  <a:srgbClr val="0F2A47"/>
                </a:solidFill>
                <a:latin typeface="Cambria" pitchFamily="34" charset="0"/>
                <a:ea typeface="Cambria" pitchFamily="34" charset="-122"/>
                <a:cs typeface="Cambria" pitchFamily="34" charset="-120"/>
              </a:rPr>
              <a:t>KNN Regressor</a:t>
            </a:r>
            <a:endParaRPr lang="en-US" sz="1800" dirty="0"/>
          </a:p>
        </p:txBody>
      </p:sp>
      <p:sp>
        <p:nvSpPr>
          <p:cNvPr id="12" name="Text 8"/>
          <p:cNvSpPr/>
          <p:nvPr/>
        </p:nvSpPr>
        <p:spPr>
          <a:xfrm>
            <a:off x="822960" y="2514600"/>
            <a:ext cx="4769968" cy="3383280"/>
          </a:xfrm>
          <a:prstGeom prst="rect">
            <a:avLst/>
          </a:prstGeom>
          <a:noFill/>
          <a:ln/>
        </p:spPr>
        <p:txBody>
          <a:bodyPr wrap="square" rtlCol="0" anchor="t"/>
          <a:lstStyle/>
          <a:p>
            <a:pPr marL="228600" indent="-228600">
              <a:lnSpc>
                <a:spcPct val="112000"/>
              </a:lnSpc>
              <a:spcAft>
                <a:spcPts val="1400"/>
              </a:spcAft>
              <a:buSzPct val="100000"/>
              <a:buChar char="▪"/>
            </a:pPr>
            <a:r>
              <a:rPr lang="en-US" sz="1350" dirty="0">
                <a:solidFill>
                  <a:srgbClr val="1A2433"/>
                </a:solidFill>
                <a:latin typeface="Calibri" pitchFamily="34" charset="0"/>
                <a:ea typeface="Calibri" pitchFamily="34" charset="-122"/>
                <a:cs typeface="Calibri" pitchFamily="34" charset="-120"/>
              </a:rPr>
              <a:t>KNN dự đoán một mẫu mới dựa trên những mẫu có đặc điểm gần nhất trong dữ liệu huấn luyện.</a:t>
            </a:r>
            <a:endParaRPr lang="en-US" sz="1350" dirty="0"/>
          </a:p>
          <a:p>
            <a:pPr marL="228600" indent="-228600">
              <a:lnSpc>
                <a:spcPct val="112000"/>
              </a:lnSpc>
              <a:spcAft>
                <a:spcPts val="1400"/>
              </a:spcAft>
              <a:buSzPct val="100000"/>
              <a:buChar char="▪"/>
            </a:pPr>
            <a:r>
              <a:rPr lang="en-US" sz="1350" dirty="0">
                <a:solidFill>
                  <a:srgbClr val="1A2433"/>
                </a:solidFill>
                <a:latin typeface="Calibri" pitchFamily="34" charset="0"/>
                <a:ea typeface="Calibri" pitchFamily="34" charset="-122"/>
                <a:cs typeface="Calibri" pitchFamily="34" charset="-120"/>
              </a:rPr>
              <a:t>Với bài toán Regression, giá trị dự đoán thường được tổng hợp từ K hàng xóm gần nhất.</a:t>
            </a:r>
            <a:endParaRPr lang="en-US" sz="1350" dirty="0"/>
          </a:p>
          <a:p>
            <a:pPr marL="228600" indent="-228600">
              <a:lnSpc>
                <a:spcPct val="112000"/>
              </a:lnSpc>
              <a:spcAft>
                <a:spcPts val="1400"/>
              </a:spcAft>
              <a:buSzPct val="100000"/>
              <a:buChar char="▪"/>
            </a:pPr>
            <a:r>
              <a:rPr lang="en-US" sz="1350" dirty="0">
                <a:solidFill>
                  <a:srgbClr val="1A2433"/>
                </a:solidFill>
                <a:latin typeface="Calibri" pitchFamily="34" charset="0"/>
                <a:ea typeface="Calibri" pitchFamily="34" charset="-122"/>
                <a:cs typeface="Calibri" pitchFamily="34" charset="-120"/>
              </a:rPr>
              <a:t>K là một siêu tham số quan trọng.</a:t>
            </a:r>
            <a:endParaRPr lang="en-US" sz="1350" dirty="0"/>
          </a:p>
          <a:p>
            <a:pPr marL="228600" indent="-228600">
              <a:lnSpc>
                <a:spcPct val="112000"/>
              </a:lnSpc>
              <a:spcAft>
                <a:spcPts val="1400"/>
              </a:spcAft>
              <a:buSzPct val="100000"/>
              <a:buChar char="▪"/>
            </a:pPr>
            <a:r>
              <a:rPr lang="en-US" sz="1350" dirty="0">
                <a:solidFill>
                  <a:srgbClr val="1A2433"/>
                </a:solidFill>
                <a:latin typeface="Calibri" pitchFamily="34" charset="0"/>
                <a:ea typeface="Calibri" pitchFamily="34" charset="-122"/>
                <a:cs typeface="Calibri" pitchFamily="34" charset="-120"/>
              </a:rPr>
              <a:t>KNN nhạy cảm với thang đo nên dữ liệu số cần được chuẩn hóa.</a:t>
            </a:r>
            <a:endParaRPr lang="en-US" sz="1350" dirty="0"/>
          </a:p>
        </p:txBody>
      </p:sp>
      <p:sp>
        <p:nvSpPr>
          <p:cNvPr id="13" name="Shape 9"/>
          <p:cNvSpPr/>
          <p:nvPr/>
        </p:nvSpPr>
        <p:spPr>
          <a:xfrm>
            <a:off x="6278728" y="1463040"/>
            <a:ext cx="5410048" cy="4617720"/>
          </a:xfrm>
          <a:prstGeom prst="roundRect">
            <a:avLst>
              <a:gd name="adj" fmla="val 1782"/>
            </a:avLst>
          </a:prstGeom>
          <a:solidFill>
            <a:srgbClr val="FFFFFF"/>
          </a:solidFill>
          <a:ln/>
          <a:effectLst>
            <a:outerShdw blurRad="101600" dist="25400" dir="5400000" algn="bl" rotWithShape="0">
              <a:srgbClr val="1A2433">
                <a:alpha val="12000"/>
              </a:srgbClr>
            </a:outerShdw>
          </a:effectLst>
        </p:spPr>
        <p:txBody>
          <a:bodyPr/>
          <a:lstStyle/>
          <a:p>
            <a:endParaRPr lang="en-US"/>
          </a:p>
        </p:txBody>
      </p:sp>
      <p:sp>
        <p:nvSpPr>
          <p:cNvPr id="14" name="Shape 10"/>
          <p:cNvSpPr/>
          <p:nvPr/>
        </p:nvSpPr>
        <p:spPr>
          <a:xfrm>
            <a:off x="6553048" y="1737360"/>
            <a:ext cx="566928" cy="566928"/>
          </a:xfrm>
          <a:prstGeom prst="roundRect">
            <a:avLst>
              <a:gd name="adj" fmla="val 50000"/>
            </a:avLst>
          </a:prstGeom>
          <a:solidFill>
            <a:srgbClr val="E8833A"/>
          </a:solidFill>
          <a:ln/>
        </p:spPr>
        <p:txBody>
          <a:bodyPr/>
          <a:lstStyle/>
          <a:p>
            <a:endParaRPr lang="en-US"/>
          </a:p>
        </p:txBody>
      </p:sp>
      <p:pic>
        <p:nvPicPr>
          <p:cNvPr id="15" name="Image 2" descr="/home/claude/work/icons/bullseye_FFFFFF.png"/>
          <p:cNvPicPr>
            <a:picLocks noChangeAspect="1"/>
          </p:cNvPicPr>
          <p:nvPr/>
        </p:nvPicPr>
        <p:blipFill>
          <a:blip r:embed="rId3"/>
          <a:stretch>
            <a:fillRect/>
          </a:stretch>
        </p:blipFill>
        <p:spPr>
          <a:xfrm>
            <a:off x="6681064" y="1865376"/>
            <a:ext cx="310896" cy="310896"/>
          </a:xfrm>
          <a:prstGeom prst="rect">
            <a:avLst/>
          </a:prstGeom>
        </p:spPr>
      </p:pic>
      <p:sp>
        <p:nvSpPr>
          <p:cNvPr id="16" name="Text 11"/>
          <p:cNvSpPr/>
          <p:nvPr/>
        </p:nvSpPr>
        <p:spPr>
          <a:xfrm>
            <a:off x="7284568" y="1737360"/>
            <a:ext cx="4129888" cy="566928"/>
          </a:xfrm>
          <a:prstGeom prst="rect">
            <a:avLst/>
          </a:prstGeom>
          <a:noFill/>
          <a:ln/>
        </p:spPr>
        <p:txBody>
          <a:bodyPr wrap="square" rtlCol="0" anchor="ctr"/>
          <a:lstStyle/>
          <a:p>
            <a:pPr marL="0" indent="0">
              <a:buNone/>
            </a:pPr>
            <a:r>
              <a:rPr lang="en-US" sz="1800" b="1" dirty="0">
                <a:solidFill>
                  <a:srgbClr val="0F2A47"/>
                </a:solidFill>
                <a:latin typeface="Cambria" pitchFamily="34" charset="0"/>
                <a:ea typeface="Cambria" pitchFamily="34" charset="-122"/>
                <a:cs typeface="Cambria" pitchFamily="34" charset="-120"/>
              </a:rPr>
              <a:t>SVR</a:t>
            </a:r>
            <a:endParaRPr lang="en-US" sz="1800" dirty="0"/>
          </a:p>
        </p:txBody>
      </p:sp>
      <p:sp>
        <p:nvSpPr>
          <p:cNvPr id="17" name="Text 12"/>
          <p:cNvSpPr/>
          <p:nvPr/>
        </p:nvSpPr>
        <p:spPr>
          <a:xfrm>
            <a:off x="6598768" y="2514600"/>
            <a:ext cx="4769968" cy="3383280"/>
          </a:xfrm>
          <a:prstGeom prst="rect">
            <a:avLst/>
          </a:prstGeom>
          <a:noFill/>
          <a:ln/>
        </p:spPr>
        <p:txBody>
          <a:bodyPr wrap="square" rtlCol="0" anchor="t"/>
          <a:lstStyle/>
          <a:p>
            <a:pPr marL="228600" indent="-228600">
              <a:lnSpc>
                <a:spcPct val="112000"/>
              </a:lnSpc>
              <a:spcAft>
                <a:spcPts val="1400"/>
              </a:spcAft>
              <a:buSzPct val="100000"/>
              <a:buChar char="▪"/>
            </a:pPr>
            <a:r>
              <a:rPr lang="en-US" sz="1350" dirty="0">
                <a:solidFill>
                  <a:srgbClr val="1A2433"/>
                </a:solidFill>
                <a:latin typeface="Calibri" pitchFamily="34" charset="0"/>
                <a:ea typeface="Calibri" pitchFamily="34" charset="-122"/>
                <a:cs typeface="Calibri" pitchFamily="34" charset="-120"/>
              </a:rPr>
              <a:t>Support Vector Regression tìm một hàm dự đoán sao cho phần lớn sai số nằm trong một giới hạn cho phép.</a:t>
            </a:r>
            <a:endParaRPr lang="en-US" sz="1350" dirty="0"/>
          </a:p>
          <a:p>
            <a:pPr marL="228600" indent="-228600">
              <a:lnSpc>
                <a:spcPct val="112000"/>
              </a:lnSpc>
              <a:spcAft>
                <a:spcPts val="1400"/>
              </a:spcAft>
              <a:buSzPct val="100000"/>
              <a:buChar char="▪"/>
            </a:pPr>
            <a:r>
              <a:rPr lang="en-US" sz="1350" dirty="0">
                <a:solidFill>
                  <a:srgbClr val="1A2433"/>
                </a:solidFill>
                <a:latin typeface="Calibri" pitchFamily="34" charset="0"/>
                <a:ea typeface="Calibri" pitchFamily="34" charset="-122"/>
                <a:cs typeface="Calibri" pitchFamily="34" charset="-120"/>
              </a:rPr>
              <a:t>Kernel cho phép SVR mô hình hóa các quan hệ phi tuyến.</a:t>
            </a:r>
            <a:endParaRPr lang="en-US" sz="1350" dirty="0"/>
          </a:p>
          <a:p>
            <a:pPr marL="228600" indent="-228600">
              <a:lnSpc>
                <a:spcPct val="112000"/>
              </a:lnSpc>
              <a:spcAft>
                <a:spcPts val="1400"/>
              </a:spcAft>
              <a:buSzPct val="100000"/>
              <a:buChar char="▪"/>
            </a:pPr>
            <a:r>
              <a:rPr lang="en-US" sz="1350" dirty="0">
                <a:solidFill>
                  <a:srgbClr val="1A2433"/>
                </a:solidFill>
                <a:latin typeface="Calibri" pitchFamily="34" charset="0"/>
                <a:ea typeface="Calibri" pitchFamily="34" charset="-122"/>
                <a:cs typeface="Calibri" pitchFamily="34" charset="-120"/>
              </a:rPr>
              <a:t>Các siêu tham số như C, epsilon và gamma ảnh hưởng mạnh đến kết quả.</a:t>
            </a:r>
            <a:endParaRPr lang="en-US" sz="1350" dirty="0"/>
          </a:p>
          <a:p>
            <a:pPr marL="228600" indent="-228600">
              <a:lnSpc>
                <a:spcPct val="112000"/>
              </a:lnSpc>
              <a:spcAft>
                <a:spcPts val="1400"/>
              </a:spcAft>
              <a:buSzPct val="100000"/>
              <a:buChar char="▪"/>
            </a:pPr>
            <a:r>
              <a:rPr lang="en-US" sz="1350" dirty="0">
                <a:solidFill>
                  <a:srgbClr val="1A2433"/>
                </a:solidFill>
                <a:latin typeface="Calibri" pitchFamily="34" charset="0"/>
                <a:ea typeface="Calibri" pitchFamily="34" charset="-122"/>
                <a:cs typeface="Calibri" pitchFamily="34" charset="-120"/>
              </a:rPr>
              <a:t>SVR cũng nhạy cảm với scale nên cần chuẩn hóa đặc trưng.</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686800" cy="256032"/>
          </a:xfrm>
          <a:prstGeom prst="rect">
            <a:avLst/>
          </a:prstGeom>
          <a:noFill/>
          <a:ln/>
        </p:spPr>
        <p:txBody>
          <a:bodyPr wrap="square" rtlCol="0" anchor="ctr"/>
          <a:lstStyle/>
          <a:p>
            <a:pPr marL="0" indent="0">
              <a:buNone/>
            </a:pPr>
            <a:r>
              <a:rPr lang="en-US" sz="1200" b="1" kern="0" spc="200" dirty="0">
                <a:solidFill>
                  <a:srgbClr val="E8833A"/>
                </a:solidFill>
                <a:latin typeface="Calibri" pitchFamily="34" charset="0"/>
                <a:ea typeface="Calibri" pitchFamily="34" charset="-122"/>
                <a:cs typeface="Calibri" pitchFamily="34" charset="-120"/>
              </a:rPr>
              <a:t>HUẤN LUYỆN MÔ HÌNH</a:t>
            </a:r>
            <a:endParaRPr lang="en-US" sz="1200" dirty="0"/>
          </a:p>
        </p:txBody>
      </p:sp>
      <p:sp>
        <p:nvSpPr>
          <p:cNvPr id="3" name="Text 1"/>
          <p:cNvSpPr/>
          <p:nvPr/>
        </p:nvSpPr>
        <p:spPr>
          <a:xfrm>
            <a:off x="502920" y="621792"/>
            <a:ext cx="9692640" cy="566928"/>
          </a:xfrm>
          <a:prstGeom prst="rect">
            <a:avLst/>
          </a:prstGeom>
          <a:noFill/>
          <a:ln/>
        </p:spPr>
        <p:txBody>
          <a:bodyPr wrap="square" rtlCol="0" anchor="ctr"/>
          <a:lstStyle/>
          <a:p>
            <a:pPr marL="0" indent="0">
              <a:buNone/>
            </a:pPr>
            <a:r>
              <a:rPr lang="en-US" sz="2200" b="1" dirty="0">
                <a:solidFill>
                  <a:srgbClr val="0F2A47"/>
                </a:solidFill>
                <a:latin typeface="Cambria" pitchFamily="34" charset="0"/>
                <a:ea typeface="Cambria" pitchFamily="34" charset="-122"/>
                <a:cs typeface="Cambria" pitchFamily="34" charset="-120"/>
              </a:rPr>
              <a:t>TINH CHỈNH SIÊU THAM SỐ VÀ CROSS VALIDATION</a:t>
            </a:r>
            <a:endParaRPr lang="en-US" sz="2200" dirty="0"/>
          </a:p>
        </p:txBody>
      </p:sp>
      <p:sp>
        <p:nvSpPr>
          <p:cNvPr id="4" name="Shape 2"/>
          <p:cNvSpPr/>
          <p:nvPr/>
        </p:nvSpPr>
        <p:spPr>
          <a:xfrm>
            <a:off x="11030407" y="384048"/>
            <a:ext cx="658368" cy="658368"/>
          </a:xfrm>
          <a:prstGeom prst="ellipse">
            <a:avLst/>
          </a:prstGeom>
          <a:solidFill>
            <a:srgbClr val="E8833A"/>
          </a:solidFill>
          <a:ln/>
        </p:spPr>
        <p:txBody>
          <a:bodyPr/>
          <a:lstStyle/>
          <a:p>
            <a:endParaRPr lang="en-US"/>
          </a:p>
        </p:txBody>
      </p:sp>
      <p:pic>
        <p:nvPicPr>
          <p:cNvPr id="5" name="Image 0" descr="/home/claude/work/icons/sync_FFFFFF.png"/>
          <p:cNvPicPr>
            <a:picLocks noChangeAspect="1"/>
          </p:cNvPicPr>
          <p:nvPr/>
        </p:nvPicPr>
        <p:blipFill>
          <a:blip r:embed="rId3"/>
          <a:stretch>
            <a:fillRect/>
          </a:stretch>
        </p:blipFill>
        <p:spPr>
          <a:xfrm>
            <a:off x="11102828" y="456468"/>
            <a:ext cx="513527" cy="513527"/>
          </a:xfrm>
          <a:prstGeom prst="rect">
            <a:avLst/>
          </a:prstGeom>
        </p:spPr>
      </p:pic>
      <p:sp>
        <p:nvSpPr>
          <p:cNvPr id="6" name="Text 3"/>
          <p:cNvSpPr/>
          <p:nvPr/>
        </p:nvSpPr>
        <p:spPr>
          <a:xfrm>
            <a:off x="502920" y="6547104"/>
            <a:ext cx="7315200" cy="237744"/>
          </a:xfrm>
          <a:prstGeom prst="rect">
            <a:avLst/>
          </a:prstGeom>
          <a:noFill/>
          <a:ln/>
        </p:spPr>
        <p:txBody>
          <a:bodyPr wrap="square" rtlCol="0" anchor="ctr"/>
          <a:lstStyle/>
          <a:p>
            <a:pPr marL="0" indent="0">
              <a:buNone/>
            </a:pPr>
            <a:r>
              <a:rPr lang="en-US" sz="800" kern="0" spc="50" dirty="0">
                <a:solidFill>
                  <a:srgbClr val="6B7A89"/>
                </a:solidFill>
                <a:latin typeface="Calibri" pitchFamily="34" charset="0"/>
                <a:ea typeface="Calibri" pitchFamily="34" charset="-122"/>
                <a:cs typeface="Calibri" pitchFamily="34" charset="-120"/>
              </a:rPr>
              <a:t>HỆ THỐNG DỰ ĐOÁN MỨC TIÊU HAO NHIÊN LIỆU XE</a:t>
            </a:r>
            <a:endParaRPr lang="en-US" sz="800" dirty="0"/>
          </a:p>
        </p:txBody>
      </p:sp>
      <p:sp>
        <p:nvSpPr>
          <p:cNvPr id="7" name="Text 4"/>
          <p:cNvSpPr/>
          <p:nvPr/>
        </p:nvSpPr>
        <p:spPr>
          <a:xfrm>
            <a:off x="11231575" y="6547104"/>
            <a:ext cx="457200" cy="237744"/>
          </a:xfrm>
          <a:prstGeom prst="rect">
            <a:avLst/>
          </a:prstGeom>
          <a:noFill/>
          <a:ln/>
        </p:spPr>
        <p:txBody>
          <a:bodyPr wrap="square" rtlCol="0" anchor="ctr"/>
          <a:lstStyle/>
          <a:p>
            <a:pPr marL="0" indent="0" algn="r">
              <a:buNone/>
            </a:pPr>
            <a:r>
              <a:rPr lang="en-US" sz="900" b="1" dirty="0">
                <a:solidFill>
                  <a:srgbClr val="6B7A89"/>
                </a:solidFill>
                <a:latin typeface="Calibri" pitchFamily="34" charset="0"/>
                <a:ea typeface="Calibri" pitchFamily="34" charset="-122"/>
                <a:cs typeface="Calibri" pitchFamily="34" charset="-120"/>
              </a:rPr>
              <a:t>15</a:t>
            </a:r>
            <a:endParaRPr lang="en-US" sz="900" dirty="0"/>
          </a:p>
        </p:txBody>
      </p:sp>
      <p:sp>
        <p:nvSpPr>
          <p:cNvPr id="8" name="Text 5"/>
          <p:cNvSpPr/>
          <p:nvPr/>
        </p:nvSpPr>
        <p:spPr>
          <a:xfrm>
            <a:off x="502920" y="1417320"/>
            <a:ext cx="777240" cy="402336"/>
          </a:xfrm>
          <a:prstGeom prst="rect">
            <a:avLst/>
          </a:prstGeom>
          <a:noFill/>
          <a:ln/>
        </p:spPr>
        <p:txBody>
          <a:bodyPr wrap="square" rtlCol="0" anchor="ctr"/>
          <a:lstStyle/>
          <a:p>
            <a:pPr marL="0" indent="0">
              <a:buNone/>
            </a:pPr>
            <a:r>
              <a:rPr lang="en-US" sz="1050" b="1" dirty="0">
                <a:solidFill>
                  <a:srgbClr val="0F2A47"/>
                </a:solidFill>
                <a:latin typeface="Calibri" pitchFamily="34" charset="0"/>
                <a:ea typeface="Calibri" pitchFamily="34" charset="-122"/>
                <a:cs typeface="Calibri" pitchFamily="34" charset="-120"/>
              </a:rPr>
              <a:t>Fold 1</a:t>
            </a:r>
            <a:endParaRPr lang="en-US" sz="1050" dirty="0"/>
          </a:p>
        </p:txBody>
      </p:sp>
      <p:sp>
        <p:nvSpPr>
          <p:cNvPr id="9" name="Shape 6"/>
          <p:cNvSpPr/>
          <p:nvPr/>
        </p:nvSpPr>
        <p:spPr>
          <a:xfrm>
            <a:off x="1280160" y="1417320"/>
            <a:ext cx="914400" cy="402336"/>
          </a:xfrm>
          <a:prstGeom prst="roundRect">
            <a:avLst>
              <a:gd name="adj" fmla="val 11364"/>
            </a:avLst>
          </a:prstGeom>
          <a:solidFill>
            <a:srgbClr val="E8833A"/>
          </a:solidFill>
          <a:ln/>
        </p:spPr>
        <p:txBody>
          <a:bodyPr/>
          <a:lstStyle/>
          <a:p>
            <a:endParaRPr lang="en-US"/>
          </a:p>
        </p:txBody>
      </p:sp>
      <p:sp>
        <p:nvSpPr>
          <p:cNvPr id="10" name="Text 7"/>
          <p:cNvSpPr/>
          <p:nvPr/>
        </p:nvSpPr>
        <p:spPr>
          <a:xfrm>
            <a:off x="1280160" y="1417320"/>
            <a:ext cx="914400" cy="402336"/>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Validation</a:t>
            </a:r>
            <a:endParaRPr lang="en-US" sz="900" dirty="0"/>
          </a:p>
        </p:txBody>
      </p:sp>
      <p:sp>
        <p:nvSpPr>
          <p:cNvPr id="11" name="Shape 8"/>
          <p:cNvSpPr/>
          <p:nvPr/>
        </p:nvSpPr>
        <p:spPr>
          <a:xfrm>
            <a:off x="2249424" y="1417320"/>
            <a:ext cx="914400" cy="402336"/>
          </a:xfrm>
          <a:prstGeom prst="roundRect">
            <a:avLst>
              <a:gd name="adj" fmla="val 11364"/>
            </a:avLst>
          </a:prstGeom>
          <a:solidFill>
            <a:srgbClr val="DCE7F1"/>
          </a:solidFill>
          <a:ln/>
        </p:spPr>
        <p:txBody>
          <a:bodyPr/>
          <a:lstStyle/>
          <a:p>
            <a:endParaRPr lang="en-US"/>
          </a:p>
        </p:txBody>
      </p:sp>
      <p:sp>
        <p:nvSpPr>
          <p:cNvPr id="12" name="Text 9"/>
          <p:cNvSpPr/>
          <p:nvPr/>
        </p:nvSpPr>
        <p:spPr>
          <a:xfrm>
            <a:off x="2249424" y="1417320"/>
            <a:ext cx="914400" cy="402336"/>
          </a:xfrm>
          <a:prstGeom prst="rect">
            <a:avLst/>
          </a:prstGeom>
          <a:noFill/>
          <a:ln/>
        </p:spPr>
        <p:txBody>
          <a:bodyPr wrap="square" rtlCol="0" anchor="ctr"/>
          <a:lstStyle/>
          <a:p>
            <a:pPr marL="0" indent="0" algn="ctr">
              <a:buNone/>
            </a:pPr>
            <a:r>
              <a:rPr lang="en-US" sz="900" dirty="0">
                <a:solidFill>
                  <a:srgbClr val="0F2A47"/>
                </a:solidFill>
                <a:latin typeface="Calibri" pitchFamily="34" charset="0"/>
                <a:ea typeface="Calibri" pitchFamily="34" charset="-122"/>
                <a:cs typeface="Calibri" pitchFamily="34" charset="-120"/>
              </a:rPr>
              <a:t>Train</a:t>
            </a:r>
            <a:endParaRPr lang="en-US" sz="900" dirty="0"/>
          </a:p>
        </p:txBody>
      </p:sp>
      <p:sp>
        <p:nvSpPr>
          <p:cNvPr id="13" name="Shape 10"/>
          <p:cNvSpPr/>
          <p:nvPr/>
        </p:nvSpPr>
        <p:spPr>
          <a:xfrm>
            <a:off x="3218688" y="1417320"/>
            <a:ext cx="914400" cy="402336"/>
          </a:xfrm>
          <a:prstGeom prst="roundRect">
            <a:avLst>
              <a:gd name="adj" fmla="val 11364"/>
            </a:avLst>
          </a:prstGeom>
          <a:solidFill>
            <a:srgbClr val="DCE7F1"/>
          </a:solidFill>
          <a:ln/>
        </p:spPr>
        <p:txBody>
          <a:bodyPr/>
          <a:lstStyle/>
          <a:p>
            <a:endParaRPr lang="en-US"/>
          </a:p>
        </p:txBody>
      </p:sp>
      <p:sp>
        <p:nvSpPr>
          <p:cNvPr id="14" name="Text 11"/>
          <p:cNvSpPr/>
          <p:nvPr/>
        </p:nvSpPr>
        <p:spPr>
          <a:xfrm>
            <a:off x="3218688" y="1417320"/>
            <a:ext cx="914400" cy="402336"/>
          </a:xfrm>
          <a:prstGeom prst="rect">
            <a:avLst/>
          </a:prstGeom>
          <a:noFill/>
          <a:ln/>
        </p:spPr>
        <p:txBody>
          <a:bodyPr wrap="square" rtlCol="0" anchor="ctr"/>
          <a:lstStyle/>
          <a:p>
            <a:pPr marL="0" indent="0" algn="ctr">
              <a:buNone/>
            </a:pPr>
            <a:r>
              <a:rPr lang="en-US" sz="900" dirty="0">
                <a:solidFill>
                  <a:srgbClr val="0F2A47"/>
                </a:solidFill>
                <a:latin typeface="Calibri" pitchFamily="34" charset="0"/>
                <a:ea typeface="Calibri" pitchFamily="34" charset="-122"/>
                <a:cs typeface="Calibri" pitchFamily="34" charset="-120"/>
              </a:rPr>
              <a:t>Train</a:t>
            </a:r>
            <a:endParaRPr lang="en-US" sz="900" dirty="0"/>
          </a:p>
        </p:txBody>
      </p:sp>
      <p:sp>
        <p:nvSpPr>
          <p:cNvPr id="15" name="Shape 12"/>
          <p:cNvSpPr/>
          <p:nvPr/>
        </p:nvSpPr>
        <p:spPr>
          <a:xfrm>
            <a:off x="4187952" y="1417320"/>
            <a:ext cx="914400" cy="402336"/>
          </a:xfrm>
          <a:prstGeom prst="roundRect">
            <a:avLst>
              <a:gd name="adj" fmla="val 11364"/>
            </a:avLst>
          </a:prstGeom>
          <a:solidFill>
            <a:srgbClr val="DCE7F1"/>
          </a:solidFill>
          <a:ln/>
        </p:spPr>
        <p:txBody>
          <a:bodyPr/>
          <a:lstStyle/>
          <a:p>
            <a:endParaRPr lang="en-US"/>
          </a:p>
        </p:txBody>
      </p:sp>
      <p:sp>
        <p:nvSpPr>
          <p:cNvPr id="16" name="Text 13"/>
          <p:cNvSpPr/>
          <p:nvPr/>
        </p:nvSpPr>
        <p:spPr>
          <a:xfrm>
            <a:off x="4187952" y="1417320"/>
            <a:ext cx="914400" cy="402336"/>
          </a:xfrm>
          <a:prstGeom prst="rect">
            <a:avLst/>
          </a:prstGeom>
          <a:noFill/>
          <a:ln/>
        </p:spPr>
        <p:txBody>
          <a:bodyPr wrap="square" rtlCol="0" anchor="ctr"/>
          <a:lstStyle/>
          <a:p>
            <a:pPr marL="0" indent="0" algn="ctr">
              <a:buNone/>
            </a:pPr>
            <a:r>
              <a:rPr lang="en-US" sz="900" dirty="0">
                <a:solidFill>
                  <a:srgbClr val="0F2A47"/>
                </a:solidFill>
                <a:latin typeface="Calibri" pitchFamily="34" charset="0"/>
                <a:ea typeface="Calibri" pitchFamily="34" charset="-122"/>
                <a:cs typeface="Calibri" pitchFamily="34" charset="-120"/>
              </a:rPr>
              <a:t>Train</a:t>
            </a:r>
            <a:endParaRPr lang="en-US" sz="900" dirty="0"/>
          </a:p>
        </p:txBody>
      </p:sp>
      <p:sp>
        <p:nvSpPr>
          <p:cNvPr id="17" name="Shape 14"/>
          <p:cNvSpPr/>
          <p:nvPr/>
        </p:nvSpPr>
        <p:spPr>
          <a:xfrm>
            <a:off x="5157216" y="1417320"/>
            <a:ext cx="914400" cy="402336"/>
          </a:xfrm>
          <a:prstGeom prst="roundRect">
            <a:avLst>
              <a:gd name="adj" fmla="val 11364"/>
            </a:avLst>
          </a:prstGeom>
          <a:solidFill>
            <a:srgbClr val="DCE7F1"/>
          </a:solidFill>
          <a:ln/>
        </p:spPr>
        <p:txBody>
          <a:bodyPr/>
          <a:lstStyle/>
          <a:p>
            <a:endParaRPr lang="en-US"/>
          </a:p>
        </p:txBody>
      </p:sp>
      <p:sp>
        <p:nvSpPr>
          <p:cNvPr id="18" name="Text 15"/>
          <p:cNvSpPr/>
          <p:nvPr/>
        </p:nvSpPr>
        <p:spPr>
          <a:xfrm>
            <a:off x="5157216" y="1417320"/>
            <a:ext cx="914400" cy="402336"/>
          </a:xfrm>
          <a:prstGeom prst="rect">
            <a:avLst/>
          </a:prstGeom>
          <a:noFill/>
          <a:ln/>
        </p:spPr>
        <p:txBody>
          <a:bodyPr wrap="square" rtlCol="0" anchor="ctr"/>
          <a:lstStyle/>
          <a:p>
            <a:pPr marL="0" indent="0" algn="ctr">
              <a:buNone/>
            </a:pPr>
            <a:r>
              <a:rPr lang="en-US" sz="900" dirty="0">
                <a:solidFill>
                  <a:srgbClr val="0F2A47"/>
                </a:solidFill>
                <a:latin typeface="Calibri" pitchFamily="34" charset="0"/>
                <a:ea typeface="Calibri" pitchFamily="34" charset="-122"/>
                <a:cs typeface="Calibri" pitchFamily="34" charset="-120"/>
              </a:rPr>
              <a:t>Train</a:t>
            </a:r>
            <a:endParaRPr lang="en-US" sz="900" dirty="0"/>
          </a:p>
        </p:txBody>
      </p:sp>
      <p:sp>
        <p:nvSpPr>
          <p:cNvPr id="19" name="Text 16"/>
          <p:cNvSpPr/>
          <p:nvPr/>
        </p:nvSpPr>
        <p:spPr>
          <a:xfrm>
            <a:off x="502920" y="1874520"/>
            <a:ext cx="777240" cy="402336"/>
          </a:xfrm>
          <a:prstGeom prst="rect">
            <a:avLst/>
          </a:prstGeom>
          <a:noFill/>
          <a:ln/>
        </p:spPr>
        <p:txBody>
          <a:bodyPr wrap="square" rtlCol="0" anchor="ctr"/>
          <a:lstStyle/>
          <a:p>
            <a:pPr marL="0" indent="0">
              <a:buNone/>
            </a:pPr>
            <a:r>
              <a:rPr lang="en-US" sz="1050" b="1" dirty="0">
                <a:solidFill>
                  <a:srgbClr val="0F2A47"/>
                </a:solidFill>
                <a:latin typeface="Calibri" pitchFamily="34" charset="0"/>
                <a:ea typeface="Calibri" pitchFamily="34" charset="-122"/>
                <a:cs typeface="Calibri" pitchFamily="34" charset="-120"/>
              </a:rPr>
              <a:t>Fold 2</a:t>
            </a:r>
            <a:endParaRPr lang="en-US" sz="1050" dirty="0"/>
          </a:p>
        </p:txBody>
      </p:sp>
      <p:sp>
        <p:nvSpPr>
          <p:cNvPr id="20" name="Shape 17"/>
          <p:cNvSpPr/>
          <p:nvPr/>
        </p:nvSpPr>
        <p:spPr>
          <a:xfrm>
            <a:off x="1280160" y="1874520"/>
            <a:ext cx="914400" cy="402336"/>
          </a:xfrm>
          <a:prstGeom prst="roundRect">
            <a:avLst>
              <a:gd name="adj" fmla="val 11364"/>
            </a:avLst>
          </a:prstGeom>
          <a:solidFill>
            <a:srgbClr val="DCE7F1"/>
          </a:solidFill>
          <a:ln/>
        </p:spPr>
        <p:txBody>
          <a:bodyPr/>
          <a:lstStyle/>
          <a:p>
            <a:endParaRPr lang="en-US"/>
          </a:p>
        </p:txBody>
      </p:sp>
      <p:sp>
        <p:nvSpPr>
          <p:cNvPr id="21" name="Text 18"/>
          <p:cNvSpPr/>
          <p:nvPr/>
        </p:nvSpPr>
        <p:spPr>
          <a:xfrm>
            <a:off x="1280160" y="1874520"/>
            <a:ext cx="914400" cy="402336"/>
          </a:xfrm>
          <a:prstGeom prst="rect">
            <a:avLst/>
          </a:prstGeom>
          <a:noFill/>
          <a:ln/>
        </p:spPr>
        <p:txBody>
          <a:bodyPr wrap="square" rtlCol="0" anchor="ctr"/>
          <a:lstStyle/>
          <a:p>
            <a:pPr marL="0" indent="0" algn="ctr">
              <a:buNone/>
            </a:pPr>
            <a:r>
              <a:rPr lang="en-US" sz="900" dirty="0">
                <a:solidFill>
                  <a:srgbClr val="0F2A47"/>
                </a:solidFill>
                <a:latin typeface="Calibri" pitchFamily="34" charset="0"/>
                <a:ea typeface="Calibri" pitchFamily="34" charset="-122"/>
                <a:cs typeface="Calibri" pitchFamily="34" charset="-120"/>
              </a:rPr>
              <a:t>Train</a:t>
            </a:r>
            <a:endParaRPr lang="en-US" sz="900" dirty="0"/>
          </a:p>
        </p:txBody>
      </p:sp>
      <p:sp>
        <p:nvSpPr>
          <p:cNvPr id="22" name="Shape 19"/>
          <p:cNvSpPr/>
          <p:nvPr/>
        </p:nvSpPr>
        <p:spPr>
          <a:xfrm>
            <a:off x="2249424" y="1874520"/>
            <a:ext cx="914400" cy="402336"/>
          </a:xfrm>
          <a:prstGeom prst="roundRect">
            <a:avLst>
              <a:gd name="adj" fmla="val 11364"/>
            </a:avLst>
          </a:prstGeom>
          <a:solidFill>
            <a:srgbClr val="E8833A"/>
          </a:solidFill>
          <a:ln/>
        </p:spPr>
        <p:txBody>
          <a:bodyPr/>
          <a:lstStyle/>
          <a:p>
            <a:endParaRPr lang="en-US"/>
          </a:p>
        </p:txBody>
      </p:sp>
      <p:sp>
        <p:nvSpPr>
          <p:cNvPr id="23" name="Text 20"/>
          <p:cNvSpPr/>
          <p:nvPr/>
        </p:nvSpPr>
        <p:spPr>
          <a:xfrm>
            <a:off x="2249424" y="1874520"/>
            <a:ext cx="914400" cy="402336"/>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Validation</a:t>
            </a:r>
            <a:endParaRPr lang="en-US" sz="900" dirty="0"/>
          </a:p>
        </p:txBody>
      </p:sp>
      <p:sp>
        <p:nvSpPr>
          <p:cNvPr id="24" name="Shape 21"/>
          <p:cNvSpPr/>
          <p:nvPr/>
        </p:nvSpPr>
        <p:spPr>
          <a:xfrm>
            <a:off x="3218688" y="1874520"/>
            <a:ext cx="914400" cy="402336"/>
          </a:xfrm>
          <a:prstGeom prst="roundRect">
            <a:avLst>
              <a:gd name="adj" fmla="val 11364"/>
            </a:avLst>
          </a:prstGeom>
          <a:solidFill>
            <a:srgbClr val="DCE7F1"/>
          </a:solidFill>
          <a:ln/>
        </p:spPr>
        <p:txBody>
          <a:bodyPr/>
          <a:lstStyle/>
          <a:p>
            <a:endParaRPr lang="en-US"/>
          </a:p>
        </p:txBody>
      </p:sp>
      <p:sp>
        <p:nvSpPr>
          <p:cNvPr id="25" name="Text 22"/>
          <p:cNvSpPr/>
          <p:nvPr/>
        </p:nvSpPr>
        <p:spPr>
          <a:xfrm>
            <a:off x="3218688" y="1874520"/>
            <a:ext cx="914400" cy="402336"/>
          </a:xfrm>
          <a:prstGeom prst="rect">
            <a:avLst/>
          </a:prstGeom>
          <a:noFill/>
          <a:ln/>
        </p:spPr>
        <p:txBody>
          <a:bodyPr wrap="square" rtlCol="0" anchor="ctr"/>
          <a:lstStyle/>
          <a:p>
            <a:pPr marL="0" indent="0" algn="ctr">
              <a:buNone/>
            </a:pPr>
            <a:r>
              <a:rPr lang="en-US" sz="900" dirty="0">
                <a:solidFill>
                  <a:srgbClr val="0F2A47"/>
                </a:solidFill>
                <a:latin typeface="Calibri" pitchFamily="34" charset="0"/>
                <a:ea typeface="Calibri" pitchFamily="34" charset="-122"/>
                <a:cs typeface="Calibri" pitchFamily="34" charset="-120"/>
              </a:rPr>
              <a:t>Train</a:t>
            </a:r>
            <a:endParaRPr lang="en-US" sz="900" dirty="0"/>
          </a:p>
        </p:txBody>
      </p:sp>
      <p:sp>
        <p:nvSpPr>
          <p:cNvPr id="26" name="Shape 23"/>
          <p:cNvSpPr/>
          <p:nvPr/>
        </p:nvSpPr>
        <p:spPr>
          <a:xfrm>
            <a:off x="4187952" y="1874520"/>
            <a:ext cx="914400" cy="402336"/>
          </a:xfrm>
          <a:prstGeom prst="roundRect">
            <a:avLst>
              <a:gd name="adj" fmla="val 11364"/>
            </a:avLst>
          </a:prstGeom>
          <a:solidFill>
            <a:srgbClr val="DCE7F1"/>
          </a:solidFill>
          <a:ln/>
        </p:spPr>
        <p:txBody>
          <a:bodyPr/>
          <a:lstStyle/>
          <a:p>
            <a:endParaRPr lang="en-US"/>
          </a:p>
        </p:txBody>
      </p:sp>
      <p:sp>
        <p:nvSpPr>
          <p:cNvPr id="27" name="Text 24"/>
          <p:cNvSpPr/>
          <p:nvPr/>
        </p:nvSpPr>
        <p:spPr>
          <a:xfrm>
            <a:off x="4187952" y="1874520"/>
            <a:ext cx="914400" cy="402336"/>
          </a:xfrm>
          <a:prstGeom prst="rect">
            <a:avLst/>
          </a:prstGeom>
          <a:noFill/>
          <a:ln/>
        </p:spPr>
        <p:txBody>
          <a:bodyPr wrap="square" rtlCol="0" anchor="ctr"/>
          <a:lstStyle/>
          <a:p>
            <a:pPr marL="0" indent="0" algn="ctr">
              <a:buNone/>
            </a:pPr>
            <a:r>
              <a:rPr lang="en-US" sz="900" dirty="0">
                <a:solidFill>
                  <a:srgbClr val="0F2A47"/>
                </a:solidFill>
                <a:latin typeface="Calibri" pitchFamily="34" charset="0"/>
                <a:ea typeface="Calibri" pitchFamily="34" charset="-122"/>
                <a:cs typeface="Calibri" pitchFamily="34" charset="-120"/>
              </a:rPr>
              <a:t>Train</a:t>
            </a:r>
            <a:endParaRPr lang="en-US" sz="900" dirty="0"/>
          </a:p>
        </p:txBody>
      </p:sp>
      <p:sp>
        <p:nvSpPr>
          <p:cNvPr id="28" name="Shape 25"/>
          <p:cNvSpPr/>
          <p:nvPr/>
        </p:nvSpPr>
        <p:spPr>
          <a:xfrm>
            <a:off x="5157216" y="1874520"/>
            <a:ext cx="914400" cy="402336"/>
          </a:xfrm>
          <a:prstGeom prst="roundRect">
            <a:avLst>
              <a:gd name="adj" fmla="val 11364"/>
            </a:avLst>
          </a:prstGeom>
          <a:solidFill>
            <a:srgbClr val="DCE7F1"/>
          </a:solidFill>
          <a:ln/>
        </p:spPr>
        <p:txBody>
          <a:bodyPr/>
          <a:lstStyle/>
          <a:p>
            <a:endParaRPr lang="en-US"/>
          </a:p>
        </p:txBody>
      </p:sp>
      <p:sp>
        <p:nvSpPr>
          <p:cNvPr id="29" name="Text 26"/>
          <p:cNvSpPr/>
          <p:nvPr/>
        </p:nvSpPr>
        <p:spPr>
          <a:xfrm>
            <a:off x="5157216" y="1874520"/>
            <a:ext cx="914400" cy="402336"/>
          </a:xfrm>
          <a:prstGeom prst="rect">
            <a:avLst/>
          </a:prstGeom>
          <a:noFill/>
          <a:ln/>
        </p:spPr>
        <p:txBody>
          <a:bodyPr wrap="square" rtlCol="0" anchor="ctr"/>
          <a:lstStyle/>
          <a:p>
            <a:pPr marL="0" indent="0" algn="ctr">
              <a:buNone/>
            </a:pPr>
            <a:r>
              <a:rPr lang="en-US" sz="900" dirty="0">
                <a:solidFill>
                  <a:srgbClr val="0F2A47"/>
                </a:solidFill>
                <a:latin typeface="Calibri" pitchFamily="34" charset="0"/>
                <a:ea typeface="Calibri" pitchFamily="34" charset="-122"/>
                <a:cs typeface="Calibri" pitchFamily="34" charset="-120"/>
              </a:rPr>
              <a:t>Train</a:t>
            </a:r>
            <a:endParaRPr lang="en-US" sz="900" dirty="0"/>
          </a:p>
        </p:txBody>
      </p:sp>
      <p:sp>
        <p:nvSpPr>
          <p:cNvPr id="30" name="Text 27"/>
          <p:cNvSpPr/>
          <p:nvPr/>
        </p:nvSpPr>
        <p:spPr>
          <a:xfrm>
            <a:off x="502920" y="2331720"/>
            <a:ext cx="777240" cy="402336"/>
          </a:xfrm>
          <a:prstGeom prst="rect">
            <a:avLst/>
          </a:prstGeom>
          <a:noFill/>
          <a:ln/>
        </p:spPr>
        <p:txBody>
          <a:bodyPr wrap="square" rtlCol="0" anchor="ctr"/>
          <a:lstStyle/>
          <a:p>
            <a:pPr marL="0" indent="0">
              <a:buNone/>
            </a:pPr>
            <a:r>
              <a:rPr lang="en-US" sz="1050" b="1" dirty="0">
                <a:solidFill>
                  <a:srgbClr val="0F2A47"/>
                </a:solidFill>
                <a:latin typeface="Calibri" pitchFamily="34" charset="0"/>
                <a:ea typeface="Calibri" pitchFamily="34" charset="-122"/>
                <a:cs typeface="Calibri" pitchFamily="34" charset="-120"/>
              </a:rPr>
              <a:t>Fold 3</a:t>
            </a:r>
            <a:endParaRPr lang="en-US" sz="1050" dirty="0"/>
          </a:p>
        </p:txBody>
      </p:sp>
      <p:sp>
        <p:nvSpPr>
          <p:cNvPr id="31" name="Shape 28"/>
          <p:cNvSpPr/>
          <p:nvPr/>
        </p:nvSpPr>
        <p:spPr>
          <a:xfrm>
            <a:off x="1280160" y="2331720"/>
            <a:ext cx="914400" cy="402336"/>
          </a:xfrm>
          <a:prstGeom prst="roundRect">
            <a:avLst>
              <a:gd name="adj" fmla="val 11364"/>
            </a:avLst>
          </a:prstGeom>
          <a:solidFill>
            <a:srgbClr val="DCE7F1"/>
          </a:solidFill>
          <a:ln/>
        </p:spPr>
        <p:txBody>
          <a:bodyPr/>
          <a:lstStyle/>
          <a:p>
            <a:endParaRPr lang="en-US"/>
          </a:p>
        </p:txBody>
      </p:sp>
      <p:sp>
        <p:nvSpPr>
          <p:cNvPr id="32" name="Text 29"/>
          <p:cNvSpPr/>
          <p:nvPr/>
        </p:nvSpPr>
        <p:spPr>
          <a:xfrm>
            <a:off x="1280160" y="2331720"/>
            <a:ext cx="914400" cy="402336"/>
          </a:xfrm>
          <a:prstGeom prst="rect">
            <a:avLst/>
          </a:prstGeom>
          <a:noFill/>
          <a:ln/>
        </p:spPr>
        <p:txBody>
          <a:bodyPr wrap="square" rtlCol="0" anchor="ctr"/>
          <a:lstStyle/>
          <a:p>
            <a:pPr marL="0" indent="0" algn="ctr">
              <a:buNone/>
            </a:pPr>
            <a:r>
              <a:rPr lang="en-US" sz="900" dirty="0">
                <a:solidFill>
                  <a:srgbClr val="0F2A47"/>
                </a:solidFill>
                <a:latin typeface="Calibri" pitchFamily="34" charset="0"/>
                <a:ea typeface="Calibri" pitchFamily="34" charset="-122"/>
                <a:cs typeface="Calibri" pitchFamily="34" charset="-120"/>
              </a:rPr>
              <a:t>Train</a:t>
            </a:r>
            <a:endParaRPr lang="en-US" sz="900" dirty="0"/>
          </a:p>
        </p:txBody>
      </p:sp>
      <p:sp>
        <p:nvSpPr>
          <p:cNvPr id="33" name="Shape 30"/>
          <p:cNvSpPr/>
          <p:nvPr/>
        </p:nvSpPr>
        <p:spPr>
          <a:xfrm>
            <a:off x="2249424" y="2331720"/>
            <a:ext cx="914400" cy="402336"/>
          </a:xfrm>
          <a:prstGeom prst="roundRect">
            <a:avLst>
              <a:gd name="adj" fmla="val 11364"/>
            </a:avLst>
          </a:prstGeom>
          <a:solidFill>
            <a:srgbClr val="DCE7F1"/>
          </a:solidFill>
          <a:ln/>
        </p:spPr>
        <p:txBody>
          <a:bodyPr/>
          <a:lstStyle/>
          <a:p>
            <a:endParaRPr lang="en-US"/>
          </a:p>
        </p:txBody>
      </p:sp>
      <p:sp>
        <p:nvSpPr>
          <p:cNvPr id="34" name="Text 31"/>
          <p:cNvSpPr/>
          <p:nvPr/>
        </p:nvSpPr>
        <p:spPr>
          <a:xfrm>
            <a:off x="2249424" y="2331720"/>
            <a:ext cx="914400" cy="402336"/>
          </a:xfrm>
          <a:prstGeom prst="rect">
            <a:avLst/>
          </a:prstGeom>
          <a:noFill/>
          <a:ln/>
        </p:spPr>
        <p:txBody>
          <a:bodyPr wrap="square" rtlCol="0" anchor="ctr"/>
          <a:lstStyle/>
          <a:p>
            <a:pPr marL="0" indent="0" algn="ctr">
              <a:buNone/>
            </a:pPr>
            <a:r>
              <a:rPr lang="en-US" sz="900" dirty="0">
                <a:solidFill>
                  <a:srgbClr val="0F2A47"/>
                </a:solidFill>
                <a:latin typeface="Calibri" pitchFamily="34" charset="0"/>
                <a:ea typeface="Calibri" pitchFamily="34" charset="-122"/>
                <a:cs typeface="Calibri" pitchFamily="34" charset="-120"/>
              </a:rPr>
              <a:t>Train</a:t>
            </a:r>
            <a:endParaRPr lang="en-US" sz="900" dirty="0"/>
          </a:p>
        </p:txBody>
      </p:sp>
      <p:sp>
        <p:nvSpPr>
          <p:cNvPr id="35" name="Shape 32"/>
          <p:cNvSpPr/>
          <p:nvPr/>
        </p:nvSpPr>
        <p:spPr>
          <a:xfrm>
            <a:off x="3218688" y="2331720"/>
            <a:ext cx="914400" cy="402336"/>
          </a:xfrm>
          <a:prstGeom prst="roundRect">
            <a:avLst>
              <a:gd name="adj" fmla="val 11364"/>
            </a:avLst>
          </a:prstGeom>
          <a:solidFill>
            <a:srgbClr val="E8833A"/>
          </a:solidFill>
          <a:ln/>
        </p:spPr>
        <p:txBody>
          <a:bodyPr/>
          <a:lstStyle/>
          <a:p>
            <a:endParaRPr lang="en-US"/>
          </a:p>
        </p:txBody>
      </p:sp>
      <p:sp>
        <p:nvSpPr>
          <p:cNvPr id="36" name="Text 33"/>
          <p:cNvSpPr/>
          <p:nvPr/>
        </p:nvSpPr>
        <p:spPr>
          <a:xfrm>
            <a:off x="3218688" y="2331720"/>
            <a:ext cx="914400" cy="402336"/>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Validation</a:t>
            </a:r>
            <a:endParaRPr lang="en-US" sz="900" dirty="0"/>
          </a:p>
        </p:txBody>
      </p:sp>
      <p:sp>
        <p:nvSpPr>
          <p:cNvPr id="37" name="Shape 34"/>
          <p:cNvSpPr/>
          <p:nvPr/>
        </p:nvSpPr>
        <p:spPr>
          <a:xfrm>
            <a:off x="4187952" y="2331720"/>
            <a:ext cx="914400" cy="402336"/>
          </a:xfrm>
          <a:prstGeom prst="roundRect">
            <a:avLst>
              <a:gd name="adj" fmla="val 11364"/>
            </a:avLst>
          </a:prstGeom>
          <a:solidFill>
            <a:srgbClr val="DCE7F1"/>
          </a:solidFill>
          <a:ln/>
        </p:spPr>
        <p:txBody>
          <a:bodyPr/>
          <a:lstStyle/>
          <a:p>
            <a:endParaRPr lang="en-US"/>
          </a:p>
        </p:txBody>
      </p:sp>
      <p:sp>
        <p:nvSpPr>
          <p:cNvPr id="38" name="Text 35"/>
          <p:cNvSpPr/>
          <p:nvPr/>
        </p:nvSpPr>
        <p:spPr>
          <a:xfrm>
            <a:off x="4187952" y="2331720"/>
            <a:ext cx="914400" cy="402336"/>
          </a:xfrm>
          <a:prstGeom prst="rect">
            <a:avLst/>
          </a:prstGeom>
          <a:noFill/>
          <a:ln/>
        </p:spPr>
        <p:txBody>
          <a:bodyPr wrap="square" rtlCol="0" anchor="ctr"/>
          <a:lstStyle/>
          <a:p>
            <a:pPr marL="0" indent="0" algn="ctr">
              <a:buNone/>
            </a:pPr>
            <a:r>
              <a:rPr lang="en-US" sz="900" dirty="0">
                <a:solidFill>
                  <a:srgbClr val="0F2A47"/>
                </a:solidFill>
                <a:latin typeface="Calibri" pitchFamily="34" charset="0"/>
                <a:ea typeface="Calibri" pitchFamily="34" charset="-122"/>
                <a:cs typeface="Calibri" pitchFamily="34" charset="-120"/>
              </a:rPr>
              <a:t>Train</a:t>
            </a:r>
            <a:endParaRPr lang="en-US" sz="900" dirty="0"/>
          </a:p>
        </p:txBody>
      </p:sp>
      <p:sp>
        <p:nvSpPr>
          <p:cNvPr id="39" name="Shape 36"/>
          <p:cNvSpPr/>
          <p:nvPr/>
        </p:nvSpPr>
        <p:spPr>
          <a:xfrm>
            <a:off x="5157216" y="2331720"/>
            <a:ext cx="914400" cy="402336"/>
          </a:xfrm>
          <a:prstGeom prst="roundRect">
            <a:avLst>
              <a:gd name="adj" fmla="val 11364"/>
            </a:avLst>
          </a:prstGeom>
          <a:solidFill>
            <a:srgbClr val="DCE7F1"/>
          </a:solidFill>
          <a:ln/>
        </p:spPr>
        <p:txBody>
          <a:bodyPr/>
          <a:lstStyle/>
          <a:p>
            <a:endParaRPr lang="en-US"/>
          </a:p>
        </p:txBody>
      </p:sp>
      <p:sp>
        <p:nvSpPr>
          <p:cNvPr id="40" name="Text 37"/>
          <p:cNvSpPr/>
          <p:nvPr/>
        </p:nvSpPr>
        <p:spPr>
          <a:xfrm>
            <a:off x="5157216" y="2331720"/>
            <a:ext cx="914400" cy="402336"/>
          </a:xfrm>
          <a:prstGeom prst="rect">
            <a:avLst/>
          </a:prstGeom>
          <a:noFill/>
          <a:ln/>
        </p:spPr>
        <p:txBody>
          <a:bodyPr wrap="square" rtlCol="0" anchor="ctr"/>
          <a:lstStyle/>
          <a:p>
            <a:pPr marL="0" indent="0" algn="ctr">
              <a:buNone/>
            </a:pPr>
            <a:r>
              <a:rPr lang="en-US" sz="900" dirty="0">
                <a:solidFill>
                  <a:srgbClr val="0F2A47"/>
                </a:solidFill>
                <a:latin typeface="Calibri" pitchFamily="34" charset="0"/>
                <a:ea typeface="Calibri" pitchFamily="34" charset="-122"/>
                <a:cs typeface="Calibri" pitchFamily="34" charset="-120"/>
              </a:rPr>
              <a:t>Train</a:t>
            </a:r>
            <a:endParaRPr lang="en-US" sz="900" dirty="0"/>
          </a:p>
        </p:txBody>
      </p:sp>
      <p:sp>
        <p:nvSpPr>
          <p:cNvPr id="41" name="Text 38"/>
          <p:cNvSpPr/>
          <p:nvPr/>
        </p:nvSpPr>
        <p:spPr>
          <a:xfrm>
            <a:off x="502920" y="2788920"/>
            <a:ext cx="777240" cy="402336"/>
          </a:xfrm>
          <a:prstGeom prst="rect">
            <a:avLst/>
          </a:prstGeom>
          <a:noFill/>
          <a:ln/>
        </p:spPr>
        <p:txBody>
          <a:bodyPr wrap="square" rtlCol="0" anchor="ctr"/>
          <a:lstStyle/>
          <a:p>
            <a:pPr marL="0" indent="0">
              <a:buNone/>
            </a:pPr>
            <a:r>
              <a:rPr lang="en-US" sz="1050" b="1" dirty="0">
                <a:solidFill>
                  <a:srgbClr val="0F2A47"/>
                </a:solidFill>
                <a:latin typeface="Calibri" pitchFamily="34" charset="0"/>
                <a:ea typeface="Calibri" pitchFamily="34" charset="-122"/>
                <a:cs typeface="Calibri" pitchFamily="34" charset="-120"/>
              </a:rPr>
              <a:t>Fold 4</a:t>
            </a:r>
            <a:endParaRPr lang="en-US" sz="1050" dirty="0"/>
          </a:p>
        </p:txBody>
      </p:sp>
      <p:sp>
        <p:nvSpPr>
          <p:cNvPr id="42" name="Shape 39"/>
          <p:cNvSpPr/>
          <p:nvPr/>
        </p:nvSpPr>
        <p:spPr>
          <a:xfrm>
            <a:off x="1280160" y="2788920"/>
            <a:ext cx="914400" cy="402336"/>
          </a:xfrm>
          <a:prstGeom prst="roundRect">
            <a:avLst>
              <a:gd name="adj" fmla="val 11364"/>
            </a:avLst>
          </a:prstGeom>
          <a:solidFill>
            <a:srgbClr val="DCE7F1"/>
          </a:solidFill>
          <a:ln/>
        </p:spPr>
        <p:txBody>
          <a:bodyPr/>
          <a:lstStyle/>
          <a:p>
            <a:endParaRPr lang="en-US"/>
          </a:p>
        </p:txBody>
      </p:sp>
      <p:sp>
        <p:nvSpPr>
          <p:cNvPr id="43" name="Text 40"/>
          <p:cNvSpPr/>
          <p:nvPr/>
        </p:nvSpPr>
        <p:spPr>
          <a:xfrm>
            <a:off x="1280160" y="2788920"/>
            <a:ext cx="914400" cy="402336"/>
          </a:xfrm>
          <a:prstGeom prst="rect">
            <a:avLst/>
          </a:prstGeom>
          <a:noFill/>
          <a:ln/>
        </p:spPr>
        <p:txBody>
          <a:bodyPr wrap="square" rtlCol="0" anchor="ctr"/>
          <a:lstStyle/>
          <a:p>
            <a:pPr marL="0" indent="0" algn="ctr">
              <a:buNone/>
            </a:pPr>
            <a:r>
              <a:rPr lang="en-US" sz="900" dirty="0">
                <a:solidFill>
                  <a:srgbClr val="0F2A47"/>
                </a:solidFill>
                <a:latin typeface="Calibri" pitchFamily="34" charset="0"/>
                <a:ea typeface="Calibri" pitchFamily="34" charset="-122"/>
                <a:cs typeface="Calibri" pitchFamily="34" charset="-120"/>
              </a:rPr>
              <a:t>Train</a:t>
            </a:r>
            <a:endParaRPr lang="en-US" sz="900" dirty="0"/>
          </a:p>
        </p:txBody>
      </p:sp>
      <p:sp>
        <p:nvSpPr>
          <p:cNvPr id="44" name="Shape 41"/>
          <p:cNvSpPr/>
          <p:nvPr/>
        </p:nvSpPr>
        <p:spPr>
          <a:xfrm>
            <a:off x="2249424" y="2788920"/>
            <a:ext cx="914400" cy="402336"/>
          </a:xfrm>
          <a:prstGeom prst="roundRect">
            <a:avLst>
              <a:gd name="adj" fmla="val 11364"/>
            </a:avLst>
          </a:prstGeom>
          <a:solidFill>
            <a:srgbClr val="DCE7F1"/>
          </a:solidFill>
          <a:ln/>
        </p:spPr>
        <p:txBody>
          <a:bodyPr/>
          <a:lstStyle/>
          <a:p>
            <a:endParaRPr lang="en-US"/>
          </a:p>
        </p:txBody>
      </p:sp>
      <p:sp>
        <p:nvSpPr>
          <p:cNvPr id="45" name="Text 42"/>
          <p:cNvSpPr/>
          <p:nvPr/>
        </p:nvSpPr>
        <p:spPr>
          <a:xfrm>
            <a:off x="2249424" y="2788920"/>
            <a:ext cx="914400" cy="402336"/>
          </a:xfrm>
          <a:prstGeom prst="rect">
            <a:avLst/>
          </a:prstGeom>
          <a:noFill/>
          <a:ln/>
        </p:spPr>
        <p:txBody>
          <a:bodyPr wrap="square" rtlCol="0" anchor="ctr"/>
          <a:lstStyle/>
          <a:p>
            <a:pPr marL="0" indent="0" algn="ctr">
              <a:buNone/>
            </a:pPr>
            <a:r>
              <a:rPr lang="en-US" sz="900" dirty="0">
                <a:solidFill>
                  <a:srgbClr val="0F2A47"/>
                </a:solidFill>
                <a:latin typeface="Calibri" pitchFamily="34" charset="0"/>
                <a:ea typeface="Calibri" pitchFamily="34" charset="-122"/>
                <a:cs typeface="Calibri" pitchFamily="34" charset="-120"/>
              </a:rPr>
              <a:t>Train</a:t>
            </a:r>
            <a:endParaRPr lang="en-US" sz="900" dirty="0"/>
          </a:p>
        </p:txBody>
      </p:sp>
      <p:sp>
        <p:nvSpPr>
          <p:cNvPr id="46" name="Shape 43"/>
          <p:cNvSpPr/>
          <p:nvPr/>
        </p:nvSpPr>
        <p:spPr>
          <a:xfrm>
            <a:off x="3218688" y="2788920"/>
            <a:ext cx="914400" cy="402336"/>
          </a:xfrm>
          <a:prstGeom prst="roundRect">
            <a:avLst>
              <a:gd name="adj" fmla="val 11364"/>
            </a:avLst>
          </a:prstGeom>
          <a:solidFill>
            <a:srgbClr val="DCE7F1"/>
          </a:solidFill>
          <a:ln/>
        </p:spPr>
        <p:txBody>
          <a:bodyPr/>
          <a:lstStyle/>
          <a:p>
            <a:endParaRPr lang="en-US"/>
          </a:p>
        </p:txBody>
      </p:sp>
      <p:sp>
        <p:nvSpPr>
          <p:cNvPr id="47" name="Text 44"/>
          <p:cNvSpPr/>
          <p:nvPr/>
        </p:nvSpPr>
        <p:spPr>
          <a:xfrm>
            <a:off x="3218688" y="2788920"/>
            <a:ext cx="914400" cy="402336"/>
          </a:xfrm>
          <a:prstGeom prst="rect">
            <a:avLst/>
          </a:prstGeom>
          <a:noFill/>
          <a:ln/>
        </p:spPr>
        <p:txBody>
          <a:bodyPr wrap="square" rtlCol="0" anchor="ctr"/>
          <a:lstStyle/>
          <a:p>
            <a:pPr marL="0" indent="0" algn="ctr">
              <a:buNone/>
            </a:pPr>
            <a:r>
              <a:rPr lang="en-US" sz="900" dirty="0">
                <a:solidFill>
                  <a:srgbClr val="0F2A47"/>
                </a:solidFill>
                <a:latin typeface="Calibri" pitchFamily="34" charset="0"/>
                <a:ea typeface="Calibri" pitchFamily="34" charset="-122"/>
                <a:cs typeface="Calibri" pitchFamily="34" charset="-120"/>
              </a:rPr>
              <a:t>Train</a:t>
            </a:r>
            <a:endParaRPr lang="en-US" sz="900" dirty="0"/>
          </a:p>
        </p:txBody>
      </p:sp>
      <p:sp>
        <p:nvSpPr>
          <p:cNvPr id="48" name="Shape 45"/>
          <p:cNvSpPr/>
          <p:nvPr/>
        </p:nvSpPr>
        <p:spPr>
          <a:xfrm>
            <a:off x="4187952" y="2788920"/>
            <a:ext cx="914400" cy="402336"/>
          </a:xfrm>
          <a:prstGeom prst="roundRect">
            <a:avLst>
              <a:gd name="adj" fmla="val 11364"/>
            </a:avLst>
          </a:prstGeom>
          <a:solidFill>
            <a:srgbClr val="E8833A"/>
          </a:solidFill>
          <a:ln/>
        </p:spPr>
        <p:txBody>
          <a:bodyPr/>
          <a:lstStyle/>
          <a:p>
            <a:endParaRPr lang="en-US"/>
          </a:p>
        </p:txBody>
      </p:sp>
      <p:sp>
        <p:nvSpPr>
          <p:cNvPr id="49" name="Text 46"/>
          <p:cNvSpPr/>
          <p:nvPr/>
        </p:nvSpPr>
        <p:spPr>
          <a:xfrm>
            <a:off x="4187952" y="2788920"/>
            <a:ext cx="914400" cy="402336"/>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Validation</a:t>
            </a:r>
            <a:endParaRPr lang="en-US" sz="900" dirty="0"/>
          </a:p>
        </p:txBody>
      </p:sp>
      <p:sp>
        <p:nvSpPr>
          <p:cNvPr id="50" name="Shape 47"/>
          <p:cNvSpPr/>
          <p:nvPr/>
        </p:nvSpPr>
        <p:spPr>
          <a:xfrm>
            <a:off x="5157216" y="2788920"/>
            <a:ext cx="914400" cy="402336"/>
          </a:xfrm>
          <a:prstGeom prst="roundRect">
            <a:avLst>
              <a:gd name="adj" fmla="val 11364"/>
            </a:avLst>
          </a:prstGeom>
          <a:solidFill>
            <a:srgbClr val="DCE7F1"/>
          </a:solidFill>
          <a:ln/>
        </p:spPr>
        <p:txBody>
          <a:bodyPr/>
          <a:lstStyle/>
          <a:p>
            <a:endParaRPr lang="en-US"/>
          </a:p>
        </p:txBody>
      </p:sp>
      <p:sp>
        <p:nvSpPr>
          <p:cNvPr id="51" name="Text 48"/>
          <p:cNvSpPr/>
          <p:nvPr/>
        </p:nvSpPr>
        <p:spPr>
          <a:xfrm>
            <a:off x="5157216" y="2788920"/>
            <a:ext cx="914400" cy="402336"/>
          </a:xfrm>
          <a:prstGeom prst="rect">
            <a:avLst/>
          </a:prstGeom>
          <a:noFill/>
          <a:ln/>
        </p:spPr>
        <p:txBody>
          <a:bodyPr wrap="square" rtlCol="0" anchor="ctr"/>
          <a:lstStyle/>
          <a:p>
            <a:pPr marL="0" indent="0" algn="ctr">
              <a:buNone/>
            </a:pPr>
            <a:r>
              <a:rPr lang="en-US" sz="900" dirty="0">
                <a:solidFill>
                  <a:srgbClr val="0F2A47"/>
                </a:solidFill>
                <a:latin typeface="Calibri" pitchFamily="34" charset="0"/>
                <a:ea typeface="Calibri" pitchFamily="34" charset="-122"/>
                <a:cs typeface="Calibri" pitchFamily="34" charset="-120"/>
              </a:rPr>
              <a:t>Train</a:t>
            </a:r>
            <a:endParaRPr lang="en-US" sz="900" dirty="0"/>
          </a:p>
        </p:txBody>
      </p:sp>
      <p:sp>
        <p:nvSpPr>
          <p:cNvPr id="52" name="Text 49"/>
          <p:cNvSpPr/>
          <p:nvPr/>
        </p:nvSpPr>
        <p:spPr>
          <a:xfrm>
            <a:off x="502920" y="3246120"/>
            <a:ext cx="777240" cy="402336"/>
          </a:xfrm>
          <a:prstGeom prst="rect">
            <a:avLst/>
          </a:prstGeom>
          <a:noFill/>
          <a:ln/>
        </p:spPr>
        <p:txBody>
          <a:bodyPr wrap="square" rtlCol="0" anchor="ctr"/>
          <a:lstStyle/>
          <a:p>
            <a:pPr marL="0" indent="0">
              <a:buNone/>
            </a:pPr>
            <a:r>
              <a:rPr lang="en-US" sz="1050" b="1" dirty="0">
                <a:solidFill>
                  <a:srgbClr val="0F2A47"/>
                </a:solidFill>
                <a:latin typeface="Calibri" pitchFamily="34" charset="0"/>
                <a:ea typeface="Calibri" pitchFamily="34" charset="-122"/>
                <a:cs typeface="Calibri" pitchFamily="34" charset="-120"/>
              </a:rPr>
              <a:t>Fold 5</a:t>
            </a:r>
            <a:endParaRPr lang="en-US" sz="1050" dirty="0"/>
          </a:p>
        </p:txBody>
      </p:sp>
      <p:sp>
        <p:nvSpPr>
          <p:cNvPr id="53" name="Shape 50"/>
          <p:cNvSpPr/>
          <p:nvPr/>
        </p:nvSpPr>
        <p:spPr>
          <a:xfrm>
            <a:off x="1280160" y="3246120"/>
            <a:ext cx="914400" cy="402336"/>
          </a:xfrm>
          <a:prstGeom prst="roundRect">
            <a:avLst>
              <a:gd name="adj" fmla="val 11364"/>
            </a:avLst>
          </a:prstGeom>
          <a:solidFill>
            <a:srgbClr val="DCE7F1"/>
          </a:solidFill>
          <a:ln/>
        </p:spPr>
        <p:txBody>
          <a:bodyPr/>
          <a:lstStyle/>
          <a:p>
            <a:endParaRPr lang="en-US"/>
          </a:p>
        </p:txBody>
      </p:sp>
      <p:sp>
        <p:nvSpPr>
          <p:cNvPr id="54" name="Text 51"/>
          <p:cNvSpPr/>
          <p:nvPr/>
        </p:nvSpPr>
        <p:spPr>
          <a:xfrm>
            <a:off x="1280160" y="3246120"/>
            <a:ext cx="914400" cy="402336"/>
          </a:xfrm>
          <a:prstGeom prst="rect">
            <a:avLst/>
          </a:prstGeom>
          <a:noFill/>
          <a:ln/>
        </p:spPr>
        <p:txBody>
          <a:bodyPr wrap="square" rtlCol="0" anchor="ctr"/>
          <a:lstStyle/>
          <a:p>
            <a:pPr marL="0" indent="0" algn="ctr">
              <a:buNone/>
            </a:pPr>
            <a:r>
              <a:rPr lang="en-US" sz="900" dirty="0">
                <a:solidFill>
                  <a:srgbClr val="0F2A47"/>
                </a:solidFill>
                <a:latin typeface="Calibri" pitchFamily="34" charset="0"/>
                <a:ea typeface="Calibri" pitchFamily="34" charset="-122"/>
                <a:cs typeface="Calibri" pitchFamily="34" charset="-120"/>
              </a:rPr>
              <a:t>Train</a:t>
            </a:r>
            <a:endParaRPr lang="en-US" sz="900" dirty="0"/>
          </a:p>
        </p:txBody>
      </p:sp>
      <p:sp>
        <p:nvSpPr>
          <p:cNvPr id="55" name="Shape 52"/>
          <p:cNvSpPr/>
          <p:nvPr/>
        </p:nvSpPr>
        <p:spPr>
          <a:xfrm>
            <a:off x="2249424" y="3246120"/>
            <a:ext cx="914400" cy="402336"/>
          </a:xfrm>
          <a:prstGeom prst="roundRect">
            <a:avLst>
              <a:gd name="adj" fmla="val 11364"/>
            </a:avLst>
          </a:prstGeom>
          <a:solidFill>
            <a:srgbClr val="DCE7F1"/>
          </a:solidFill>
          <a:ln/>
        </p:spPr>
        <p:txBody>
          <a:bodyPr/>
          <a:lstStyle/>
          <a:p>
            <a:endParaRPr lang="en-US"/>
          </a:p>
        </p:txBody>
      </p:sp>
      <p:sp>
        <p:nvSpPr>
          <p:cNvPr id="56" name="Text 53"/>
          <p:cNvSpPr/>
          <p:nvPr/>
        </p:nvSpPr>
        <p:spPr>
          <a:xfrm>
            <a:off x="2249424" y="3246120"/>
            <a:ext cx="914400" cy="402336"/>
          </a:xfrm>
          <a:prstGeom prst="rect">
            <a:avLst/>
          </a:prstGeom>
          <a:noFill/>
          <a:ln/>
        </p:spPr>
        <p:txBody>
          <a:bodyPr wrap="square" rtlCol="0" anchor="ctr"/>
          <a:lstStyle/>
          <a:p>
            <a:pPr marL="0" indent="0" algn="ctr">
              <a:buNone/>
            </a:pPr>
            <a:r>
              <a:rPr lang="en-US" sz="900" dirty="0">
                <a:solidFill>
                  <a:srgbClr val="0F2A47"/>
                </a:solidFill>
                <a:latin typeface="Calibri" pitchFamily="34" charset="0"/>
                <a:ea typeface="Calibri" pitchFamily="34" charset="-122"/>
                <a:cs typeface="Calibri" pitchFamily="34" charset="-120"/>
              </a:rPr>
              <a:t>Train</a:t>
            </a:r>
            <a:endParaRPr lang="en-US" sz="900" dirty="0"/>
          </a:p>
        </p:txBody>
      </p:sp>
      <p:sp>
        <p:nvSpPr>
          <p:cNvPr id="57" name="Shape 54"/>
          <p:cNvSpPr/>
          <p:nvPr/>
        </p:nvSpPr>
        <p:spPr>
          <a:xfrm>
            <a:off x="3218688" y="3246120"/>
            <a:ext cx="914400" cy="402336"/>
          </a:xfrm>
          <a:prstGeom prst="roundRect">
            <a:avLst>
              <a:gd name="adj" fmla="val 11364"/>
            </a:avLst>
          </a:prstGeom>
          <a:solidFill>
            <a:srgbClr val="DCE7F1"/>
          </a:solidFill>
          <a:ln/>
        </p:spPr>
        <p:txBody>
          <a:bodyPr/>
          <a:lstStyle/>
          <a:p>
            <a:endParaRPr lang="en-US"/>
          </a:p>
        </p:txBody>
      </p:sp>
      <p:sp>
        <p:nvSpPr>
          <p:cNvPr id="58" name="Text 55"/>
          <p:cNvSpPr/>
          <p:nvPr/>
        </p:nvSpPr>
        <p:spPr>
          <a:xfrm>
            <a:off x="3218688" y="3246120"/>
            <a:ext cx="914400" cy="402336"/>
          </a:xfrm>
          <a:prstGeom prst="rect">
            <a:avLst/>
          </a:prstGeom>
          <a:noFill/>
          <a:ln/>
        </p:spPr>
        <p:txBody>
          <a:bodyPr wrap="square" rtlCol="0" anchor="ctr"/>
          <a:lstStyle/>
          <a:p>
            <a:pPr marL="0" indent="0" algn="ctr">
              <a:buNone/>
            </a:pPr>
            <a:r>
              <a:rPr lang="en-US" sz="900" dirty="0">
                <a:solidFill>
                  <a:srgbClr val="0F2A47"/>
                </a:solidFill>
                <a:latin typeface="Calibri" pitchFamily="34" charset="0"/>
                <a:ea typeface="Calibri" pitchFamily="34" charset="-122"/>
                <a:cs typeface="Calibri" pitchFamily="34" charset="-120"/>
              </a:rPr>
              <a:t>Train</a:t>
            </a:r>
            <a:endParaRPr lang="en-US" sz="900" dirty="0"/>
          </a:p>
        </p:txBody>
      </p:sp>
      <p:sp>
        <p:nvSpPr>
          <p:cNvPr id="59" name="Shape 56"/>
          <p:cNvSpPr/>
          <p:nvPr/>
        </p:nvSpPr>
        <p:spPr>
          <a:xfrm>
            <a:off x="4187952" y="3246120"/>
            <a:ext cx="914400" cy="402336"/>
          </a:xfrm>
          <a:prstGeom prst="roundRect">
            <a:avLst>
              <a:gd name="adj" fmla="val 11364"/>
            </a:avLst>
          </a:prstGeom>
          <a:solidFill>
            <a:srgbClr val="DCE7F1"/>
          </a:solidFill>
          <a:ln/>
        </p:spPr>
        <p:txBody>
          <a:bodyPr/>
          <a:lstStyle/>
          <a:p>
            <a:endParaRPr lang="en-US"/>
          </a:p>
        </p:txBody>
      </p:sp>
      <p:sp>
        <p:nvSpPr>
          <p:cNvPr id="60" name="Text 57"/>
          <p:cNvSpPr/>
          <p:nvPr/>
        </p:nvSpPr>
        <p:spPr>
          <a:xfrm>
            <a:off x="4187952" y="3246120"/>
            <a:ext cx="914400" cy="402336"/>
          </a:xfrm>
          <a:prstGeom prst="rect">
            <a:avLst/>
          </a:prstGeom>
          <a:noFill/>
          <a:ln/>
        </p:spPr>
        <p:txBody>
          <a:bodyPr wrap="square" rtlCol="0" anchor="ctr"/>
          <a:lstStyle/>
          <a:p>
            <a:pPr marL="0" indent="0" algn="ctr">
              <a:buNone/>
            </a:pPr>
            <a:r>
              <a:rPr lang="en-US" sz="900" dirty="0">
                <a:solidFill>
                  <a:srgbClr val="0F2A47"/>
                </a:solidFill>
                <a:latin typeface="Calibri" pitchFamily="34" charset="0"/>
                <a:ea typeface="Calibri" pitchFamily="34" charset="-122"/>
                <a:cs typeface="Calibri" pitchFamily="34" charset="-120"/>
              </a:rPr>
              <a:t>Train</a:t>
            </a:r>
            <a:endParaRPr lang="en-US" sz="900" dirty="0"/>
          </a:p>
        </p:txBody>
      </p:sp>
      <p:sp>
        <p:nvSpPr>
          <p:cNvPr id="61" name="Shape 58"/>
          <p:cNvSpPr/>
          <p:nvPr/>
        </p:nvSpPr>
        <p:spPr>
          <a:xfrm>
            <a:off x="5157216" y="3246120"/>
            <a:ext cx="914400" cy="402336"/>
          </a:xfrm>
          <a:prstGeom prst="roundRect">
            <a:avLst>
              <a:gd name="adj" fmla="val 11364"/>
            </a:avLst>
          </a:prstGeom>
          <a:solidFill>
            <a:srgbClr val="E8833A"/>
          </a:solidFill>
          <a:ln/>
        </p:spPr>
        <p:txBody>
          <a:bodyPr/>
          <a:lstStyle/>
          <a:p>
            <a:endParaRPr lang="en-US"/>
          </a:p>
        </p:txBody>
      </p:sp>
      <p:sp>
        <p:nvSpPr>
          <p:cNvPr id="62" name="Text 59"/>
          <p:cNvSpPr/>
          <p:nvPr/>
        </p:nvSpPr>
        <p:spPr>
          <a:xfrm>
            <a:off x="5157216" y="3246120"/>
            <a:ext cx="914400" cy="402336"/>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Validation</a:t>
            </a:r>
            <a:endParaRPr lang="en-US" sz="900" dirty="0"/>
          </a:p>
        </p:txBody>
      </p:sp>
      <p:sp>
        <p:nvSpPr>
          <p:cNvPr id="63" name="Text 60"/>
          <p:cNvSpPr/>
          <p:nvPr/>
        </p:nvSpPr>
        <p:spPr>
          <a:xfrm>
            <a:off x="6355080" y="1371600"/>
            <a:ext cx="5333695" cy="2651760"/>
          </a:xfrm>
          <a:prstGeom prst="rect">
            <a:avLst/>
          </a:prstGeom>
          <a:noFill/>
          <a:ln/>
        </p:spPr>
        <p:txBody>
          <a:bodyPr wrap="square" rtlCol="0" anchor="t"/>
          <a:lstStyle/>
          <a:p>
            <a:pPr marL="228600" indent="-228600">
              <a:lnSpc>
                <a:spcPct val="112000"/>
              </a:lnSpc>
              <a:spcAft>
                <a:spcPts val="900"/>
              </a:spcAft>
              <a:buSzPct val="100000"/>
              <a:buChar char="▪"/>
            </a:pPr>
            <a:r>
              <a:rPr lang="en-US" sz="1200" dirty="0">
                <a:solidFill>
                  <a:srgbClr val="1A2433"/>
                </a:solidFill>
                <a:latin typeface="Calibri" pitchFamily="34" charset="0"/>
                <a:ea typeface="Calibri" pitchFamily="34" charset="-122"/>
                <a:cs typeface="Calibri" pitchFamily="34" charset="-120"/>
              </a:rPr>
              <a:t>Train set được chia thành 5 phần.</a:t>
            </a:r>
            <a:endParaRPr lang="en-US" sz="1200" dirty="0"/>
          </a:p>
          <a:p>
            <a:pPr marL="228600" indent="-228600">
              <a:lnSpc>
                <a:spcPct val="112000"/>
              </a:lnSpc>
              <a:spcAft>
                <a:spcPts val="900"/>
              </a:spcAft>
              <a:buSzPct val="100000"/>
              <a:buChar char="▪"/>
            </a:pPr>
            <a:r>
              <a:rPr lang="en-US" sz="1200" dirty="0">
                <a:solidFill>
                  <a:srgbClr val="1A2433"/>
                </a:solidFill>
                <a:latin typeface="Calibri" pitchFamily="34" charset="0"/>
                <a:ea typeface="Calibri" pitchFamily="34" charset="-122"/>
                <a:cs typeface="Calibri" pitchFamily="34" charset="-120"/>
              </a:rPr>
              <a:t>Mỗi lần sử dụng 4 Fold để huấn luyện và 1 Fold để validation.</a:t>
            </a:r>
            <a:endParaRPr lang="en-US" sz="1200" dirty="0"/>
          </a:p>
          <a:p>
            <a:pPr marL="228600" indent="-228600">
              <a:lnSpc>
                <a:spcPct val="112000"/>
              </a:lnSpc>
              <a:spcAft>
                <a:spcPts val="900"/>
              </a:spcAft>
              <a:buSzPct val="100000"/>
              <a:buChar char="▪"/>
            </a:pPr>
            <a:r>
              <a:rPr lang="en-US" sz="1200" dirty="0">
                <a:solidFill>
                  <a:srgbClr val="1A2433"/>
                </a:solidFill>
                <a:latin typeface="Calibri" pitchFamily="34" charset="0"/>
                <a:ea typeface="Calibri" pitchFamily="34" charset="-122"/>
                <a:cs typeface="Calibri" pitchFamily="34" charset="-120"/>
              </a:rPr>
              <a:t>Quá trình lặp lại 5 lần.</a:t>
            </a:r>
            <a:endParaRPr lang="en-US" sz="1200" dirty="0"/>
          </a:p>
          <a:p>
            <a:pPr marL="228600" indent="-228600">
              <a:lnSpc>
                <a:spcPct val="112000"/>
              </a:lnSpc>
              <a:spcAft>
                <a:spcPts val="900"/>
              </a:spcAft>
              <a:buSzPct val="100000"/>
              <a:buChar char="▪"/>
            </a:pPr>
            <a:r>
              <a:rPr lang="en-US" sz="1200" dirty="0">
                <a:solidFill>
                  <a:srgbClr val="1A2433"/>
                </a:solidFill>
                <a:latin typeface="Calibri" pitchFamily="34" charset="0"/>
                <a:ea typeface="Calibri" pitchFamily="34" charset="-122"/>
                <a:cs typeface="Calibri" pitchFamily="34" charset="-120"/>
              </a:rPr>
              <a:t>Kết quả trung bình giúp đánh giá mô hình ổn định hơn.</a:t>
            </a:r>
            <a:endParaRPr lang="en-US" sz="1200" dirty="0"/>
          </a:p>
        </p:txBody>
      </p:sp>
      <p:sp>
        <p:nvSpPr>
          <p:cNvPr id="64" name="Shape 61"/>
          <p:cNvSpPr/>
          <p:nvPr/>
        </p:nvSpPr>
        <p:spPr>
          <a:xfrm>
            <a:off x="502920" y="3931920"/>
            <a:ext cx="11185855" cy="1600200"/>
          </a:xfrm>
          <a:prstGeom prst="roundRect">
            <a:avLst>
              <a:gd name="adj" fmla="val 5143"/>
            </a:avLst>
          </a:prstGeom>
          <a:solidFill>
            <a:srgbClr val="F5F8FB"/>
          </a:solidFill>
          <a:ln/>
          <a:effectLst>
            <a:outerShdw blurRad="101600" dist="25400" dir="5400000" algn="bl" rotWithShape="0">
              <a:srgbClr val="1A2433">
                <a:alpha val="12000"/>
              </a:srgbClr>
            </a:outerShdw>
          </a:effectLst>
        </p:spPr>
        <p:txBody>
          <a:bodyPr/>
          <a:lstStyle/>
          <a:p>
            <a:endParaRPr lang="en-US"/>
          </a:p>
        </p:txBody>
      </p:sp>
      <p:sp>
        <p:nvSpPr>
          <p:cNvPr id="65" name="Text 62"/>
          <p:cNvSpPr/>
          <p:nvPr/>
        </p:nvSpPr>
        <p:spPr>
          <a:xfrm>
            <a:off x="777240" y="4087368"/>
            <a:ext cx="10637215" cy="502920"/>
          </a:xfrm>
          <a:prstGeom prst="rect">
            <a:avLst/>
          </a:prstGeom>
          <a:noFill/>
          <a:ln/>
        </p:spPr>
        <p:txBody>
          <a:bodyPr wrap="square" rtlCol="0" anchor="t"/>
          <a:lstStyle/>
          <a:p>
            <a:pPr marL="0" indent="0">
              <a:buNone/>
            </a:pPr>
            <a:r>
              <a:rPr lang="en-US" sz="1200" b="1" dirty="0">
                <a:solidFill>
                  <a:srgbClr val="0F2A47"/>
                </a:solidFill>
                <a:latin typeface="Calibri" pitchFamily="34" charset="0"/>
                <a:ea typeface="Calibri" pitchFamily="34" charset="-122"/>
                <a:cs typeface="Calibri" pitchFamily="34" charset="-120"/>
              </a:rPr>
              <a:t>Tuning:  </a:t>
            </a:r>
            <a:r>
              <a:rPr lang="en-US" sz="1200" dirty="0">
                <a:solidFill>
                  <a:srgbClr val="1A2433"/>
                </a:solidFill>
                <a:latin typeface="Calibri" pitchFamily="34" charset="0"/>
                <a:ea typeface="Calibri" pitchFamily="34" charset="-122"/>
                <a:cs typeface="Calibri" pitchFamily="34" charset="-120"/>
              </a:rPr>
              <a:t>Decision Tree: max_depth, min_samples_split, min_samples_leaf   ·   KNN: n_neighbors, weights, p   ·   SVR: C, epsilon, gamma</a:t>
            </a:r>
            <a:endParaRPr lang="en-US" sz="1200" dirty="0"/>
          </a:p>
        </p:txBody>
      </p:sp>
      <p:sp>
        <p:nvSpPr>
          <p:cNvPr id="66" name="Text 63"/>
          <p:cNvSpPr/>
          <p:nvPr/>
        </p:nvSpPr>
        <p:spPr>
          <a:xfrm>
            <a:off x="777240" y="4572000"/>
            <a:ext cx="10637215" cy="868680"/>
          </a:xfrm>
          <a:prstGeom prst="rect">
            <a:avLst/>
          </a:prstGeom>
          <a:noFill/>
          <a:ln/>
        </p:spPr>
        <p:txBody>
          <a:bodyPr wrap="square" rtlCol="0" anchor="t"/>
          <a:lstStyle/>
          <a:p>
            <a:pPr marL="228600" indent="-228600">
              <a:lnSpc>
                <a:spcPct val="112000"/>
              </a:lnSpc>
              <a:spcAft>
                <a:spcPts val="600"/>
              </a:spcAft>
              <a:buSzPct val="100000"/>
              <a:buChar char="▪"/>
            </a:pPr>
            <a:r>
              <a:rPr lang="en-US" sz="1200" dirty="0">
                <a:solidFill>
                  <a:srgbClr val="1A2433"/>
                </a:solidFill>
                <a:latin typeface="Calibri" pitchFamily="34" charset="0"/>
                <a:ea typeface="Calibri" pitchFamily="34" charset="-122"/>
                <a:cs typeface="Calibri" pitchFamily="34" charset="-120"/>
              </a:rPr>
              <a:t>Các cấu hình được đánh giá bằng Cross Validation.</a:t>
            </a:r>
            <a:endParaRPr lang="en-US" sz="1200" dirty="0"/>
          </a:p>
          <a:p>
            <a:pPr marL="228600" indent="-228600">
              <a:lnSpc>
                <a:spcPct val="112000"/>
              </a:lnSpc>
              <a:spcAft>
                <a:spcPts val="600"/>
              </a:spcAft>
              <a:buSzPct val="100000"/>
              <a:buChar char="▪"/>
            </a:pPr>
            <a:r>
              <a:rPr lang="en-US" sz="1200" dirty="0">
                <a:solidFill>
                  <a:srgbClr val="1A2433"/>
                </a:solidFill>
                <a:latin typeface="Calibri" pitchFamily="34" charset="0"/>
                <a:ea typeface="Calibri" pitchFamily="34" charset="-122"/>
                <a:cs typeface="Calibri" pitchFamily="34" charset="-120"/>
              </a:rPr>
              <a:t>Việc tuning chỉ được thực hiện trên Train set. Test set không tham gia vào quá trình chọn siêu tham số.</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686800" cy="256032"/>
          </a:xfrm>
          <a:prstGeom prst="rect">
            <a:avLst/>
          </a:prstGeom>
          <a:noFill/>
          <a:ln/>
        </p:spPr>
        <p:txBody>
          <a:bodyPr wrap="square" rtlCol="0" anchor="ctr"/>
          <a:lstStyle/>
          <a:p>
            <a:pPr marL="0" indent="0">
              <a:buNone/>
            </a:pPr>
            <a:r>
              <a:rPr lang="en-US" sz="1200" b="1" kern="0" spc="200" dirty="0">
                <a:solidFill>
                  <a:srgbClr val="E8833A"/>
                </a:solidFill>
                <a:latin typeface="Calibri" pitchFamily="34" charset="0"/>
                <a:ea typeface="Calibri" pitchFamily="34" charset="-122"/>
                <a:cs typeface="Calibri" pitchFamily="34" charset="-120"/>
              </a:rPr>
              <a:t>ĐÁNH GIÁ MÔ HÌNH</a:t>
            </a:r>
            <a:endParaRPr lang="en-US" sz="1200" dirty="0"/>
          </a:p>
        </p:txBody>
      </p:sp>
      <p:sp>
        <p:nvSpPr>
          <p:cNvPr id="3" name="Text 1"/>
          <p:cNvSpPr/>
          <p:nvPr/>
        </p:nvSpPr>
        <p:spPr>
          <a:xfrm>
            <a:off x="502920" y="621792"/>
            <a:ext cx="9692640" cy="566928"/>
          </a:xfrm>
          <a:prstGeom prst="rect">
            <a:avLst/>
          </a:prstGeom>
          <a:noFill/>
          <a:ln/>
        </p:spPr>
        <p:txBody>
          <a:bodyPr wrap="square" rtlCol="0" anchor="ctr"/>
          <a:lstStyle/>
          <a:p>
            <a:pPr marL="0" indent="0">
              <a:buNone/>
            </a:pPr>
            <a:r>
              <a:rPr lang="en-US" sz="2700" b="1" dirty="0">
                <a:solidFill>
                  <a:srgbClr val="0F2A47"/>
                </a:solidFill>
                <a:latin typeface="Cambria" pitchFamily="34" charset="0"/>
                <a:ea typeface="Cambria" pitchFamily="34" charset="-122"/>
                <a:cs typeface="Cambria" pitchFamily="34" charset="-120"/>
              </a:rPr>
              <a:t>CÁC METRIC ĐÁNH GIÁ</a:t>
            </a:r>
            <a:endParaRPr lang="en-US" sz="2700" dirty="0"/>
          </a:p>
        </p:txBody>
      </p:sp>
      <p:sp>
        <p:nvSpPr>
          <p:cNvPr id="4" name="Shape 2"/>
          <p:cNvSpPr/>
          <p:nvPr/>
        </p:nvSpPr>
        <p:spPr>
          <a:xfrm>
            <a:off x="11030407" y="384048"/>
            <a:ext cx="658368" cy="658368"/>
          </a:xfrm>
          <a:prstGeom prst="ellipse">
            <a:avLst/>
          </a:prstGeom>
          <a:solidFill>
            <a:srgbClr val="E8833A"/>
          </a:solidFill>
          <a:ln/>
        </p:spPr>
        <p:txBody>
          <a:bodyPr/>
          <a:lstStyle/>
          <a:p>
            <a:endParaRPr lang="en-US"/>
          </a:p>
        </p:txBody>
      </p:sp>
      <p:pic>
        <p:nvPicPr>
          <p:cNvPr id="5" name="Image 0" descr="/home/claude/work/icons/ruler_FFFFFF.png"/>
          <p:cNvPicPr>
            <a:picLocks noChangeAspect="1"/>
          </p:cNvPicPr>
          <p:nvPr/>
        </p:nvPicPr>
        <p:blipFill>
          <a:blip r:embed="rId3"/>
          <a:stretch>
            <a:fillRect/>
          </a:stretch>
        </p:blipFill>
        <p:spPr>
          <a:xfrm>
            <a:off x="11102828" y="456468"/>
            <a:ext cx="513527" cy="513527"/>
          </a:xfrm>
          <a:prstGeom prst="rect">
            <a:avLst/>
          </a:prstGeom>
        </p:spPr>
      </p:pic>
      <p:sp>
        <p:nvSpPr>
          <p:cNvPr id="6" name="Text 3"/>
          <p:cNvSpPr/>
          <p:nvPr/>
        </p:nvSpPr>
        <p:spPr>
          <a:xfrm>
            <a:off x="502920" y="6547104"/>
            <a:ext cx="7315200" cy="237744"/>
          </a:xfrm>
          <a:prstGeom prst="rect">
            <a:avLst/>
          </a:prstGeom>
          <a:noFill/>
          <a:ln/>
        </p:spPr>
        <p:txBody>
          <a:bodyPr wrap="square" rtlCol="0" anchor="ctr"/>
          <a:lstStyle/>
          <a:p>
            <a:pPr marL="0" indent="0">
              <a:buNone/>
            </a:pPr>
            <a:r>
              <a:rPr lang="en-US" sz="800" kern="0" spc="50" dirty="0">
                <a:solidFill>
                  <a:srgbClr val="6B7A89"/>
                </a:solidFill>
                <a:latin typeface="Calibri" pitchFamily="34" charset="0"/>
                <a:ea typeface="Calibri" pitchFamily="34" charset="-122"/>
                <a:cs typeface="Calibri" pitchFamily="34" charset="-120"/>
              </a:rPr>
              <a:t>HỆ THỐNG DỰ ĐOÁN MỨC TIÊU HAO NHIÊN LIỆU XE</a:t>
            </a:r>
            <a:endParaRPr lang="en-US" sz="800" dirty="0"/>
          </a:p>
        </p:txBody>
      </p:sp>
      <p:sp>
        <p:nvSpPr>
          <p:cNvPr id="7" name="Text 4"/>
          <p:cNvSpPr/>
          <p:nvPr/>
        </p:nvSpPr>
        <p:spPr>
          <a:xfrm>
            <a:off x="11231575" y="6547104"/>
            <a:ext cx="457200" cy="237744"/>
          </a:xfrm>
          <a:prstGeom prst="rect">
            <a:avLst/>
          </a:prstGeom>
          <a:noFill/>
          <a:ln/>
        </p:spPr>
        <p:txBody>
          <a:bodyPr wrap="square" rtlCol="0" anchor="ctr"/>
          <a:lstStyle/>
          <a:p>
            <a:pPr marL="0" indent="0" algn="r">
              <a:buNone/>
            </a:pPr>
            <a:r>
              <a:rPr lang="en-US" sz="900" b="1" dirty="0">
                <a:solidFill>
                  <a:srgbClr val="6B7A89"/>
                </a:solidFill>
                <a:latin typeface="Calibri" pitchFamily="34" charset="0"/>
                <a:ea typeface="Calibri" pitchFamily="34" charset="-122"/>
                <a:cs typeface="Calibri" pitchFamily="34" charset="-120"/>
              </a:rPr>
              <a:t>16</a:t>
            </a:r>
            <a:endParaRPr lang="en-US" sz="900" dirty="0"/>
          </a:p>
        </p:txBody>
      </p:sp>
      <p:sp>
        <p:nvSpPr>
          <p:cNvPr id="8" name="Shape 5"/>
          <p:cNvSpPr/>
          <p:nvPr/>
        </p:nvSpPr>
        <p:spPr>
          <a:xfrm>
            <a:off x="502920" y="1463040"/>
            <a:ext cx="2625014" cy="3794760"/>
          </a:xfrm>
          <a:prstGeom prst="roundRect">
            <a:avLst>
              <a:gd name="adj" fmla="val 3135"/>
            </a:avLst>
          </a:prstGeom>
          <a:solidFill>
            <a:srgbClr val="FFFFFF"/>
          </a:solidFill>
          <a:ln/>
          <a:effectLst>
            <a:outerShdw blurRad="101600" dist="25400" dir="5400000" algn="bl" rotWithShape="0">
              <a:srgbClr val="1A2433">
                <a:alpha val="12000"/>
              </a:srgbClr>
            </a:outerShdw>
          </a:effectLst>
        </p:spPr>
        <p:txBody>
          <a:bodyPr/>
          <a:lstStyle/>
          <a:p>
            <a:endParaRPr lang="en-US"/>
          </a:p>
        </p:txBody>
      </p:sp>
      <p:sp>
        <p:nvSpPr>
          <p:cNvPr id="9" name="Shape 6"/>
          <p:cNvSpPr/>
          <p:nvPr/>
        </p:nvSpPr>
        <p:spPr>
          <a:xfrm>
            <a:off x="1458811" y="1737360"/>
            <a:ext cx="713232" cy="713232"/>
          </a:xfrm>
          <a:prstGeom prst="ellipse">
            <a:avLst/>
          </a:prstGeom>
          <a:solidFill>
            <a:srgbClr val="E8833A"/>
          </a:solidFill>
          <a:ln/>
        </p:spPr>
        <p:txBody>
          <a:bodyPr/>
          <a:lstStyle/>
          <a:p>
            <a:endParaRPr lang="en-US"/>
          </a:p>
        </p:txBody>
      </p:sp>
      <p:sp>
        <p:nvSpPr>
          <p:cNvPr id="10" name="Text 7"/>
          <p:cNvSpPr/>
          <p:nvPr/>
        </p:nvSpPr>
        <p:spPr>
          <a:xfrm>
            <a:off x="1458811" y="1737360"/>
            <a:ext cx="713232" cy="713232"/>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MAE</a:t>
            </a:r>
            <a:endParaRPr lang="en-US" sz="1500" dirty="0"/>
          </a:p>
        </p:txBody>
      </p:sp>
      <p:sp>
        <p:nvSpPr>
          <p:cNvPr id="11" name="Text 8"/>
          <p:cNvSpPr/>
          <p:nvPr/>
        </p:nvSpPr>
        <p:spPr>
          <a:xfrm>
            <a:off x="685800" y="2560320"/>
            <a:ext cx="2259254" cy="2514600"/>
          </a:xfrm>
          <a:prstGeom prst="rect">
            <a:avLst/>
          </a:prstGeom>
          <a:noFill/>
          <a:ln/>
        </p:spPr>
        <p:txBody>
          <a:bodyPr wrap="square" rtlCol="0" anchor="t"/>
          <a:lstStyle/>
          <a:p>
            <a:pPr marL="0" indent="0" algn="ctr">
              <a:spcAft>
                <a:spcPts val="800"/>
              </a:spcAft>
              <a:buNone/>
            </a:pPr>
            <a:r>
              <a:rPr lang="en-US" sz="1150" dirty="0">
                <a:solidFill>
                  <a:srgbClr val="1A2433"/>
                </a:solidFill>
                <a:latin typeface="Calibri" pitchFamily="34" charset="0"/>
                <a:ea typeface="Calibri" pitchFamily="34" charset="-122"/>
                <a:cs typeface="Calibri" pitchFamily="34" charset="-120"/>
              </a:rPr>
              <a:t>Trung bình sai số tuyệt đối giữa giá trị thực và dự đoán.</a:t>
            </a:r>
            <a:endParaRPr lang="en-US" sz="1150" dirty="0"/>
          </a:p>
          <a:p>
            <a:pPr marL="0" indent="0" algn="ctr">
              <a:spcAft>
                <a:spcPts val="800"/>
              </a:spcAft>
              <a:buNone/>
            </a:pPr>
            <a:r>
              <a:rPr lang="en-US" sz="1150" dirty="0">
                <a:solidFill>
                  <a:srgbClr val="1A2433"/>
                </a:solidFill>
                <a:latin typeface="Calibri" pitchFamily="34" charset="0"/>
                <a:ea typeface="Calibri" pitchFamily="34" charset="-122"/>
                <a:cs typeface="Calibri" pitchFamily="34" charset="-120"/>
              </a:rPr>
              <a:t>MAE càng thấp càng tốt.</a:t>
            </a:r>
            <a:endParaRPr lang="en-US" sz="1150" dirty="0"/>
          </a:p>
        </p:txBody>
      </p:sp>
      <p:sp>
        <p:nvSpPr>
          <p:cNvPr id="12" name="Shape 9"/>
          <p:cNvSpPr/>
          <p:nvPr/>
        </p:nvSpPr>
        <p:spPr>
          <a:xfrm>
            <a:off x="3356534" y="1463040"/>
            <a:ext cx="2625014" cy="3794760"/>
          </a:xfrm>
          <a:prstGeom prst="roundRect">
            <a:avLst>
              <a:gd name="adj" fmla="val 3135"/>
            </a:avLst>
          </a:prstGeom>
          <a:solidFill>
            <a:srgbClr val="FFFFFF"/>
          </a:solidFill>
          <a:ln/>
          <a:effectLst>
            <a:outerShdw blurRad="101600" dist="25400" dir="5400000" algn="bl" rotWithShape="0">
              <a:srgbClr val="1A2433">
                <a:alpha val="12000"/>
              </a:srgbClr>
            </a:outerShdw>
          </a:effectLst>
        </p:spPr>
        <p:txBody>
          <a:bodyPr/>
          <a:lstStyle/>
          <a:p>
            <a:endParaRPr lang="en-US"/>
          </a:p>
        </p:txBody>
      </p:sp>
      <p:sp>
        <p:nvSpPr>
          <p:cNvPr id="13" name="Shape 10"/>
          <p:cNvSpPr/>
          <p:nvPr/>
        </p:nvSpPr>
        <p:spPr>
          <a:xfrm>
            <a:off x="4312425" y="1737360"/>
            <a:ext cx="713232" cy="713232"/>
          </a:xfrm>
          <a:prstGeom prst="ellipse">
            <a:avLst/>
          </a:prstGeom>
          <a:solidFill>
            <a:srgbClr val="E8833A"/>
          </a:solidFill>
          <a:ln/>
        </p:spPr>
        <p:txBody>
          <a:bodyPr/>
          <a:lstStyle/>
          <a:p>
            <a:endParaRPr lang="en-US"/>
          </a:p>
        </p:txBody>
      </p:sp>
      <p:sp>
        <p:nvSpPr>
          <p:cNvPr id="14" name="Text 11"/>
          <p:cNvSpPr/>
          <p:nvPr/>
        </p:nvSpPr>
        <p:spPr>
          <a:xfrm>
            <a:off x="4312425" y="1737360"/>
            <a:ext cx="713232" cy="713232"/>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MSE</a:t>
            </a:r>
            <a:endParaRPr lang="en-US" sz="1500" dirty="0"/>
          </a:p>
        </p:txBody>
      </p:sp>
      <p:sp>
        <p:nvSpPr>
          <p:cNvPr id="15" name="Text 12"/>
          <p:cNvSpPr/>
          <p:nvPr/>
        </p:nvSpPr>
        <p:spPr>
          <a:xfrm>
            <a:off x="3539414" y="2560320"/>
            <a:ext cx="2259254" cy="2514600"/>
          </a:xfrm>
          <a:prstGeom prst="rect">
            <a:avLst/>
          </a:prstGeom>
          <a:noFill/>
          <a:ln/>
        </p:spPr>
        <p:txBody>
          <a:bodyPr wrap="square" rtlCol="0" anchor="t"/>
          <a:lstStyle/>
          <a:p>
            <a:pPr marL="0" indent="0" algn="ctr">
              <a:spcAft>
                <a:spcPts val="800"/>
              </a:spcAft>
              <a:buNone/>
            </a:pPr>
            <a:r>
              <a:rPr lang="en-US" sz="1150" dirty="0">
                <a:solidFill>
                  <a:srgbClr val="1A2433"/>
                </a:solidFill>
                <a:latin typeface="Calibri" pitchFamily="34" charset="0"/>
                <a:ea typeface="Calibri" pitchFamily="34" charset="-122"/>
                <a:cs typeface="Calibri" pitchFamily="34" charset="-120"/>
              </a:rPr>
              <a:t>Bình phương sai số trước khi lấy trung bình.</a:t>
            </a:r>
            <a:endParaRPr lang="en-US" sz="1150" dirty="0"/>
          </a:p>
          <a:p>
            <a:pPr marL="0" indent="0" algn="ctr">
              <a:spcAft>
                <a:spcPts val="800"/>
              </a:spcAft>
              <a:buNone/>
            </a:pPr>
            <a:r>
              <a:rPr lang="en-US" sz="1150" dirty="0">
                <a:solidFill>
                  <a:srgbClr val="1A2433"/>
                </a:solidFill>
                <a:latin typeface="Calibri" pitchFamily="34" charset="0"/>
                <a:ea typeface="Calibri" pitchFamily="34" charset="-122"/>
                <a:cs typeface="Calibri" pitchFamily="34" charset="-120"/>
              </a:rPr>
              <a:t>Các dự đoán sai nhiều sẽ bị phạt mạnh hơn.</a:t>
            </a:r>
            <a:endParaRPr lang="en-US" sz="1150" dirty="0"/>
          </a:p>
        </p:txBody>
      </p:sp>
      <p:sp>
        <p:nvSpPr>
          <p:cNvPr id="16" name="Shape 13"/>
          <p:cNvSpPr/>
          <p:nvPr/>
        </p:nvSpPr>
        <p:spPr>
          <a:xfrm>
            <a:off x="6210148" y="1463040"/>
            <a:ext cx="2625014" cy="3794760"/>
          </a:xfrm>
          <a:prstGeom prst="roundRect">
            <a:avLst>
              <a:gd name="adj" fmla="val 3135"/>
            </a:avLst>
          </a:prstGeom>
          <a:solidFill>
            <a:srgbClr val="FFFFFF"/>
          </a:solidFill>
          <a:ln/>
          <a:effectLst>
            <a:outerShdw blurRad="101600" dist="25400" dir="5400000" algn="bl" rotWithShape="0">
              <a:srgbClr val="1A2433">
                <a:alpha val="12000"/>
              </a:srgbClr>
            </a:outerShdw>
          </a:effectLst>
        </p:spPr>
        <p:txBody>
          <a:bodyPr/>
          <a:lstStyle/>
          <a:p>
            <a:endParaRPr lang="en-US"/>
          </a:p>
        </p:txBody>
      </p:sp>
      <p:sp>
        <p:nvSpPr>
          <p:cNvPr id="17" name="Shape 14"/>
          <p:cNvSpPr/>
          <p:nvPr/>
        </p:nvSpPr>
        <p:spPr>
          <a:xfrm>
            <a:off x="7166038" y="1737360"/>
            <a:ext cx="713232" cy="713232"/>
          </a:xfrm>
          <a:prstGeom prst="ellipse">
            <a:avLst/>
          </a:prstGeom>
          <a:solidFill>
            <a:srgbClr val="E8833A"/>
          </a:solidFill>
          <a:ln/>
        </p:spPr>
        <p:txBody>
          <a:bodyPr/>
          <a:lstStyle/>
          <a:p>
            <a:endParaRPr lang="en-US"/>
          </a:p>
        </p:txBody>
      </p:sp>
      <p:sp>
        <p:nvSpPr>
          <p:cNvPr id="18" name="Text 15"/>
          <p:cNvSpPr/>
          <p:nvPr/>
        </p:nvSpPr>
        <p:spPr>
          <a:xfrm>
            <a:off x="7166038" y="1737360"/>
            <a:ext cx="713232" cy="713232"/>
          </a:xfrm>
          <a:prstGeom prst="rect">
            <a:avLst/>
          </a:prstGeom>
          <a:noFill/>
          <a:ln/>
        </p:spPr>
        <p:txBody>
          <a:bodyPr wrap="square"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RMSE</a:t>
            </a:r>
            <a:endParaRPr lang="en-US" sz="1250" dirty="0"/>
          </a:p>
        </p:txBody>
      </p:sp>
      <p:sp>
        <p:nvSpPr>
          <p:cNvPr id="19" name="Text 16"/>
          <p:cNvSpPr/>
          <p:nvPr/>
        </p:nvSpPr>
        <p:spPr>
          <a:xfrm>
            <a:off x="6393028" y="2560320"/>
            <a:ext cx="2259254" cy="2514600"/>
          </a:xfrm>
          <a:prstGeom prst="rect">
            <a:avLst/>
          </a:prstGeom>
          <a:noFill/>
          <a:ln/>
        </p:spPr>
        <p:txBody>
          <a:bodyPr wrap="square" rtlCol="0" anchor="t"/>
          <a:lstStyle/>
          <a:p>
            <a:pPr marL="0" indent="0" algn="ctr">
              <a:spcAft>
                <a:spcPts val="800"/>
              </a:spcAft>
              <a:buNone/>
            </a:pPr>
            <a:r>
              <a:rPr lang="en-US" sz="1150" dirty="0">
                <a:solidFill>
                  <a:srgbClr val="1A2433"/>
                </a:solidFill>
                <a:latin typeface="Calibri" pitchFamily="34" charset="0"/>
                <a:ea typeface="Calibri" pitchFamily="34" charset="-122"/>
                <a:cs typeface="Calibri" pitchFamily="34" charset="-120"/>
              </a:rPr>
              <a:t>Là căn bậc hai của MSE.</a:t>
            </a:r>
            <a:endParaRPr lang="en-US" sz="1150" dirty="0"/>
          </a:p>
          <a:p>
            <a:pPr marL="0" indent="0" algn="ctr">
              <a:spcAft>
                <a:spcPts val="800"/>
              </a:spcAft>
              <a:buNone/>
            </a:pPr>
            <a:r>
              <a:rPr lang="en-US" sz="1150" dirty="0">
                <a:solidFill>
                  <a:srgbClr val="1A2433"/>
                </a:solidFill>
                <a:latin typeface="Calibri" pitchFamily="34" charset="0"/>
                <a:ea typeface="Calibri" pitchFamily="34" charset="-122"/>
                <a:cs typeface="Calibri" pitchFamily="34" charset="-120"/>
              </a:rPr>
              <a:t>Có cùng đơn vị L/100 km với target.</a:t>
            </a:r>
            <a:endParaRPr lang="en-US" sz="1150" dirty="0"/>
          </a:p>
          <a:p>
            <a:pPr marL="0" indent="0" algn="ctr">
              <a:spcAft>
                <a:spcPts val="800"/>
              </a:spcAft>
              <a:buNone/>
            </a:pPr>
            <a:r>
              <a:rPr lang="en-US" sz="1150" dirty="0">
                <a:solidFill>
                  <a:srgbClr val="1A2433"/>
                </a:solidFill>
                <a:latin typeface="Calibri" pitchFamily="34" charset="0"/>
                <a:ea typeface="Calibri" pitchFamily="34" charset="-122"/>
                <a:cs typeface="Calibri" pitchFamily="34" charset="-120"/>
              </a:rPr>
              <a:t>RMSE càng thấp càng tốt.</a:t>
            </a:r>
            <a:endParaRPr lang="en-US" sz="1150" dirty="0"/>
          </a:p>
        </p:txBody>
      </p:sp>
      <p:sp>
        <p:nvSpPr>
          <p:cNvPr id="20" name="Shape 17"/>
          <p:cNvSpPr/>
          <p:nvPr/>
        </p:nvSpPr>
        <p:spPr>
          <a:xfrm>
            <a:off x="9063761" y="1463040"/>
            <a:ext cx="2625014" cy="3794760"/>
          </a:xfrm>
          <a:prstGeom prst="roundRect">
            <a:avLst>
              <a:gd name="adj" fmla="val 3135"/>
            </a:avLst>
          </a:prstGeom>
          <a:solidFill>
            <a:srgbClr val="FFFFFF"/>
          </a:solidFill>
          <a:ln/>
          <a:effectLst>
            <a:outerShdw blurRad="101600" dist="25400" dir="5400000" algn="bl" rotWithShape="0">
              <a:srgbClr val="1A2433">
                <a:alpha val="12000"/>
              </a:srgbClr>
            </a:outerShdw>
          </a:effectLst>
        </p:spPr>
        <p:txBody>
          <a:bodyPr/>
          <a:lstStyle/>
          <a:p>
            <a:endParaRPr lang="en-US"/>
          </a:p>
        </p:txBody>
      </p:sp>
      <p:sp>
        <p:nvSpPr>
          <p:cNvPr id="21" name="Shape 18"/>
          <p:cNvSpPr/>
          <p:nvPr/>
        </p:nvSpPr>
        <p:spPr>
          <a:xfrm>
            <a:off x="10019652" y="1737360"/>
            <a:ext cx="713232" cy="713232"/>
          </a:xfrm>
          <a:prstGeom prst="ellipse">
            <a:avLst/>
          </a:prstGeom>
          <a:solidFill>
            <a:srgbClr val="E8833A"/>
          </a:solidFill>
          <a:ln/>
        </p:spPr>
        <p:txBody>
          <a:bodyPr/>
          <a:lstStyle/>
          <a:p>
            <a:endParaRPr lang="en-US"/>
          </a:p>
        </p:txBody>
      </p:sp>
      <p:sp>
        <p:nvSpPr>
          <p:cNvPr id="22" name="Text 19"/>
          <p:cNvSpPr/>
          <p:nvPr/>
        </p:nvSpPr>
        <p:spPr>
          <a:xfrm>
            <a:off x="10019652" y="1737360"/>
            <a:ext cx="713232" cy="713232"/>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R²</a:t>
            </a:r>
            <a:endParaRPr lang="en-US" sz="2000" dirty="0"/>
          </a:p>
        </p:txBody>
      </p:sp>
      <p:sp>
        <p:nvSpPr>
          <p:cNvPr id="23" name="Text 20"/>
          <p:cNvSpPr/>
          <p:nvPr/>
        </p:nvSpPr>
        <p:spPr>
          <a:xfrm>
            <a:off x="9246641" y="2560320"/>
            <a:ext cx="2259254" cy="2514600"/>
          </a:xfrm>
          <a:prstGeom prst="rect">
            <a:avLst/>
          </a:prstGeom>
          <a:noFill/>
          <a:ln/>
        </p:spPr>
        <p:txBody>
          <a:bodyPr wrap="square" rtlCol="0" anchor="t"/>
          <a:lstStyle/>
          <a:p>
            <a:pPr marL="0" indent="0" algn="ctr">
              <a:spcAft>
                <a:spcPts val="800"/>
              </a:spcAft>
              <a:buNone/>
            </a:pPr>
            <a:r>
              <a:rPr lang="en-US" sz="1150" dirty="0">
                <a:solidFill>
                  <a:srgbClr val="1A2433"/>
                </a:solidFill>
                <a:latin typeface="Calibri" pitchFamily="34" charset="0"/>
                <a:ea typeface="Calibri" pitchFamily="34" charset="-122"/>
                <a:cs typeface="Calibri" pitchFamily="34" charset="-120"/>
              </a:rPr>
              <a:t>Đánh giá khả năng mô hình giải thích sự biến thiên của dữ liệu.</a:t>
            </a:r>
            <a:endParaRPr lang="en-US" sz="1150" dirty="0"/>
          </a:p>
          <a:p>
            <a:pPr marL="0" indent="0" algn="ctr">
              <a:spcAft>
                <a:spcPts val="800"/>
              </a:spcAft>
              <a:buNone/>
            </a:pPr>
            <a:r>
              <a:rPr lang="en-US" sz="1150" dirty="0">
                <a:solidFill>
                  <a:srgbClr val="1A2433"/>
                </a:solidFill>
                <a:latin typeface="Calibri" pitchFamily="34" charset="0"/>
                <a:ea typeface="Calibri" pitchFamily="34" charset="-122"/>
                <a:cs typeface="Calibri" pitchFamily="34" charset="-120"/>
              </a:rPr>
              <a:t>R² càng cao thường cho thấy mô hình phù hợp hơn.</a:t>
            </a:r>
            <a:endParaRPr lang="en-US" sz="1150" dirty="0"/>
          </a:p>
        </p:txBody>
      </p:sp>
      <p:sp>
        <p:nvSpPr>
          <p:cNvPr id="24" name="Shape 21"/>
          <p:cNvSpPr/>
          <p:nvPr/>
        </p:nvSpPr>
        <p:spPr>
          <a:xfrm>
            <a:off x="502920" y="5532120"/>
            <a:ext cx="11185855" cy="777240"/>
          </a:xfrm>
          <a:prstGeom prst="roundRect">
            <a:avLst>
              <a:gd name="adj" fmla="val 9412"/>
            </a:avLst>
          </a:prstGeom>
          <a:solidFill>
            <a:srgbClr val="0F2A47"/>
          </a:solidFill>
          <a:ln/>
        </p:spPr>
        <p:txBody>
          <a:bodyPr/>
          <a:lstStyle/>
          <a:p>
            <a:endParaRPr lang="en-US"/>
          </a:p>
        </p:txBody>
      </p:sp>
      <p:sp>
        <p:nvSpPr>
          <p:cNvPr id="25" name="Text 22"/>
          <p:cNvSpPr/>
          <p:nvPr/>
        </p:nvSpPr>
        <p:spPr>
          <a:xfrm>
            <a:off x="822960" y="5532120"/>
            <a:ext cx="10545775" cy="777240"/>
          </a:xfrm>
          <a:prstGeom prst="rect">
            <a:avLst/>
          </a:prstGeom>
          <a:noFill/>
          <a:ln/>
        </p:spPr>
        <p:txBody>
          <a:bodyPr wrap="square" rtlCol="0" anchor="ctr"/>
          <a:lstStyle/>
          <a:p>
            <a:pPr marL="0" indent="0" algn="ctr">
              <a:buNone/>
            </a:pPr>
            <a:r>
              <a:rPr lang="en-US" sz="1300" b="1" dirty="0">
                <a:solidFill>
                  <a:srgbClr val="E8833A"/>
                </a:solidFill>
                <a:latin typeface="Calibri" pitchFamily="34" charset="0"/>
                <a:ea typeface="Calibri" pitchFamily="34" charset="-122"/>
                <a:cs typeface="Calibri" pitchFamily="34" charset="-120"/>
              </a:rPr>
              <a:t>MAE, MSE, RMSE </a:t>
            </a:r>
            <a:r>
              <a:rPr lang="en-US" sz="1300" dirty="0">
                <a:solidFill>
                  <a:srgbClr val="FFFFFF"/>
                </a:solidFill>
                <a:latin typeface="Calibri" pitchFamily="34" charset="0"/>
                <a:ea typeface="Calibri" pitchFamily="34" charset="-122"/>
                <a:cs typeface="Calibri" pitchFamily="34" charset="-120"/>
              </a:rPr>
              <a:t>→ càng thấp càng tốt.   </a:t>
            </a:r>
            <a:r>
              <a:rPr lang="en-US" sz="1300" b="1" dirty="0">
                <a:solidFill>
                  <a:srgbClr val="E8833A"/>
                </a:solidFill>
                <a:latin typeface="Calibri" pitchFamily="34" charset="0"/>
                <a:ea typeface="Calibri" pitchFamily="34" charset="-122"/>
                <a:cs typeface="Calibri" pitchFamily="34" charset="-120"/>
              </a:rPr>
              <a:t>R² </a:t>
            </a:r>
            <a:r>
              <a:rPr lang="en-US" sz="1300" dirty="0">
                <a:solidFill>
                  <a:srgbClr val="FFFFFF"/>
                </a:solidFill>
                <a:latin typeface="Calibri" pitchFamily="34" charset="0"/>
                <a:ea typeface="Calibri" pitchFamily="34" charset="-122"/>
                <a:cs typeface="Calibri" pitchFamily="34" charset="-120"/>
              </a:rPr>
              <a:t>→ càng cao càng tốt.   R² KHÔNG PHẢI ACCURACY.</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686800" cy="256032"/>
          </a:xfrm>
          <a:prstGeom prst="rect">
            <a:avLst/>
          </a:prstGeom>
          <a:noFill/>
          <a:ln/>
        </p:spPr>
        <p:txBody>
          <a:bodyPr wrap="square" rtlCol="0" anchor="ctr"/>
          <a:lstStyle/>
          <a:p>
            <a:pPr marL="0" indent="0">
              <a:buNone/>
            </a:pPr>
            <a:r>
              <a:rPr lang="en-US" sz="1200" b="1" kern="0" spc="200" dirty="0">
                <a:solidFill>
                  <a:srgbClr val="E8833A"/>
                </a:solidFill>
                <a:latin typeface="Calibri" pitchFamily="34" charset="0"/>
                <a:ea typeface="Calibri" pitchFamily="34" charset="-122"/>
                <a:cs typeface="Calibri" pitchFamily="34" charset="-120"/>
              </a:rPr>
              <a:t>KẾT QUẢ</a:t>
            </a:r>
            <a:endParaRPr lang="en-US" sz="1200" dirty="0"/>
          </a:p>
        </p:txBody>
      </p:sp>
      <p:sp>
        <p:nvSpPr>
          <p:cNvPr id="3" name="Text 1"/>
          <p:cNvSpPr/>
          <p:nvPr/>
        </p:nvSpPr>
        <p:spPr>
          <a:xfrm>
            <a:off x="502920" y="621792"/>
            <a:ext cx="9692640" cy="566928"/>
          </a:xfrm>
          <a:prstGeom prst="rect">
            <a:avLst/>
          </a:prstGeom>
          <a:noFill/>
          <a:ln/>
        </p:spPr>
        <p:txBody>
          <a:bodyPr wrap="square" rtlCol="0" anchor="ctr"/>
          <a:lstStyle/>
          <a:p>
            <a:pPr marL="0" indent="0">
              <a:buNone/>
            </a:pPr>
            <a:r>
              <a:rPr lang="en-US" sz="2400" b="1" dirty="0">
                <a:solidFill>
                  <a:srgbClr val="0F2A47"/>
                </a:solidFill>
                <a:latin typeface="Cambria" pitchFamily="34" charset="0"/>
                <a:ea typeface="Cambria" pitchFamily="34" charset="-122"/>
                <a:cs typeface="Cambria" pitchFamily="34" charset="-120"/>
              </a:rPr>
              <a:t>KẾT QUẢ VÀ SO SÁNH 4 MÔ HÌNH</a:t>
            </a:r>
            <a:endParaRPr lang="en-US" sz="2400" dirty="0"/>
          </a:p>
        </p:txBody>
      </p:sp>
      <p:sp>
        <p:nvSpPr>
          <p:cNvPr id="4" name="Shape 2"/>
          <p:cNvSpPr/>
          <p:nvPr/>
        </p:nvSpPr>
        <p:spPr>
          <a:xfrm>
            <a:off x="11030407" y="384048"/>
            <a:ext cx="658368" cy="658368"/>
          </a:xfrm>
          <a:prstGeom prst="ellipse">
            <a:avLst/>
          </a:prstGeom>
          <a:solidFill>
            <a:srgbClr val="E8833A"/>
          </a:solidFill>
          <a:ln/>
        </p:spPr>
        <p:txBody>
          <a:bodyPr/>
          <a:lstStyle/>
          <a:p>
            <a:endParaRPr lang="en-US"/>
          </a:p>
        </p:txBody>
      </p:sp>
      <p:pic>
        <p:nvPicPr>
          <p:cNvPr id="5" name="Image 0" descr="/home/claude/work/icons/trophy_FFFFFF.png"/>
          <p:cNvPicPr>
            <a:picLocks noChangeAspect="1"/>
          </p:cNvPicPr>
          <p:nvPr/>
        </p:nvPicPr>
        <p:blipFill>
          <a:blip r:embed="rId3"/>
          <a:stretch>
            <a:fillRect/>
          </a:stretch>
        </p:blipFill>
        <p:spPr>
          <a:xfrm>
            <a:off x="11102828" y="456468"/>
            <a:ext cx="513527" cy="513527"/>
          </a:xfrm>
          <a:prstGeom prst="rect">
            <a:avLst/>
          </a:prstGeom>
        </p:spPr>
      </p:pic>
      <p:sp>
        <p:nvSpPr>
          <p:cNvPr id="6" name="Text 3"/>
          <p:cNvSpPr/>
          <p:nvPr/>
        </p:nvSpPr>
        <p:spPr>
          <a:xfrm>
            <a:off x="502920" y="6547104"/>
            <a:ext cx="7315200" cy="237744"/>
          </a:xfrm>
          <a:prstGeom prst="rect">
            <a:avLst/>
          </a:prstGeom>
          <a:noFill/>
          <a:ln/>
        </p:spPr>
        <p:txBody>
          <a:bodyPr wrap="square" rtlCol="0" anchor="ctr"/>
          <a:lstStyle/>
          <a:p>
            <a:pPr marL="0" indent="0">
              <a:buNone/>
            </a:pPr>
            <a:r>
              <a:rPr lang="en-US" sz="800" kern="0" spc="50" dirty="0">
                <a:solidFill>
                  <a:srgbClr val="6B7A89"/>
                </a:solidFill>
                <a:latin typeface="Calibri" pitchFamily="34" charset="0"/>
                <a:ea typeface="Calibri" pitchFamily="34" charset="-122"/>
                <a:cs typeface="Calibri" pitchFamily="34" charset="-120"/>
              </a:rPr>
              <a:t>HỆ THỐNG DỰ ĐOÁN MỨC TIÊU HAO NHIÊN LIỆU XE</a:t>
            </a:r>
            <a:endParaRPr lang="en-US" sz="800" dirty="0"/>
          </a:p>
        </p:txBody>
      </p:sp>
      <p:sp>
        <p:nvSpPr>
          <p:cNvPr id="7" name="Text 4"/>
          <p:cNvSpPr/>
          <p:nvPr/>
        </p:nvSpPr>
        <p:spPr>
          <a:xfrm>
            <a:off x="11231575" y="6547104"/>
            <a:ext cx="457200" cy="237744"/>
          </a:xfrm>
          <a:prstGeom prst="rect">
            <a:avLst/>
          </a:prstGeom>
          <a:noFill/>
          <a:ln/>
        </p:spPr>
        <p:txBody>
          <a:bodyPr wrap="square" rtlCol="0" anchor="ctr"/>
          <a:lstStyle/>
          <a:p>
            <a:pPr marL="0" indent="0" algn="r">
              <a:buNone/>
            </a:pPr>
            <a:r>
              <a:rPr lang="en-US" sz="900" b="1" dirty="0">
                <a:solidFill>
                  <a:srgbClr val="6B7A89"/>
                </a:solidFill>
                <a:latin typeface="Calibri" pitchFamily="34" charset="0"/>
                <a:ea typeface="Calibri" pitchFamily="34" charset="-122"/>
                <a:cs typeface="Calibri" pitchFamily="34" charset="-120"/>
              </a:rPr>
              <a:t>17</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6035040" cy="1956816"/>
        </p:xfrm>
        <a:graphic>
          <a:graphicData uri="http://schemas.openxmlformats.org/drawingml/2006/table">
            <a:tbl>
              <a:tblPr/>
              <a:tblGrid>
                <a:gridCol w="1207008">
                  <a:extLst>
                    <a:ext uri="{9D8B030D-6E8A-4147-A177-3AD203B41FA5}">
                      <a16:colId xmlns:a16="http://schemas.microsoft.com/office/drawing/2014/main" val="20000"/>
                    </a:ext>
                  </a:extLst>
                </a:gridCol>
                <a:gridCol w="1207008">
                  <a:extLst>
                    <a:ext uri="{9D8B030D-6E8A-4147-A177-3AD203B41FA5}">
                      <a16:colId xmlns:a16="http://schemas.microsoft.com/office/drawing/2014/main" val="20001"/>
                    </a:ext>
                  </a:extLst>
                </a:gridCol>
                <a:gridCol w="1207008">
                  <a:extLst>
                    <a:ext uri="{9D8B030D-6E8A-4147-A177-3AD203B41FA5}">
                      <a16:colId xmlns:a16="http://schemas.microsoft.com/office/drawing/2014/main" val="20002"/>
                    </a:ext>
                  </a:extLst>
                </a:gridCol>
                <a:gridCol w="1207008">
                  <a:extLst>
                    <a:ext uri="{9D8B030D-6E8A-4147-A177-3AD203B41FA5}">
                      <a16:colId xmlns:a16="http://schemas.microsoft.com/office/drawing/2014/main" val="20003"/>
                    </a:ext>
                  </a:extLst>
                </a:gridCol>
                <a:gridCol w="1207008">
                  <a:extLst>
                    <a:ext uri="{9D8B030D-6E8A-4147-A177-3AD203B41FA5}">
                      <a16:colId xmlns:a16="http://schemas.microsoft.com/office/drawing/2014/main" val="20004"/>
                    </a:ext>
                  </a:extLst>
                </a:gridCol>
              </a:tblGrid>
              <a:tr h="347472">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Mô hình</a:t>
                      </a:r>
                      <a:endParaRPr lang="en-US" sz="1200" dirty="0">
                        <a:latin typeface="Calibri" charset="0"/>
                        <a:ea typeface="Calibri" charset="0"/>
                        <a:cs typeface="Calibri" charset="0"/>
                      </a:endParaRPr>
                    </a:p>
                  </a:txBody>
                  <a:tcPr anchor="ctr">
                    <a:lnL w="9525" cap="flat" cmpd="sng" algn="ctr">
                      <a:solidFill>
                        <a:srgbClr val="E3EAF0"/>
                      </a:solidFill>
                      <a:prstDash val="solid"/>
                      <a:round/>
                      <a:headEnd type="none" w="med" len="med"/>
                      <a:tailEnd type="none" w="med" len="med"/>
                    </a:lnL>
                    <a:lnR w="9525" cap="flat" cmpd="sng" algn="ctr">
                      <a:solidFill>
                        <a:srgbClr val="E3EAF0"/>
                      </a:solidFill>
                      <a:prstDash val="solid"/>
                      <a:round/>
                      <a:headEnd type="none" w="med" len="med"/>
                      <a:tailEnd type="none" w="med" len="med"/>
                    </a:lnR>
                    <a:lnT w="9525" cap="flat" cmpd="sng" algn="ctr">
                      <a:solidFill>
                        <a:srgbClr val="E3EAF0"/>
                      </a:solidFill>
                      <a:prstDash val="solid"/>
                      <a:round/>
                      <a:headEnd type="none" w="med" len="med"/>
                      <a:tailEnd type="none" w="med" len="med"/>
                    </a:lnT>
                    <a:lnB w="9525" cap="flat" cmpd="sng" algn="ctr">
                      <a:solidFill>
                        <a:srgbClr val="E3EAF0"/>
                      </a:solidFill>
                      <a:prstDash val="solid"/>
                      <a:round/>
                      <a:headEnd type="none" w="med" len="med"/>
                      <a:tailEnd type="none" w="med" len="med"/>
                    </a:lnB>
                    <a:solidFill>
                      <a:srgbClr val="0F2A47"/>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MAE</a:t>
                      </a:r>
                      <a:endParaRPr lang="en-US" sz="1200" dirty="0">
                        <a:latin typeface="Calibri" charset="0"/>
                        <a:ea typeface="Calibri" charset="0"/>
                        <a:cs typeface="Calibri" charset="0"/>
                      </a:endParaRPr>
                    </a:p>
                  </a:txBody>
                  <a:tcPr anchor="ctr">
                    <a:lnL w="9525" cap="flat" cmpd="sng" algn="ctr">
                      <a:solidFill>
                        <a:srgbClr val="E3EAF0"/>
                      </a:solidFill>
                      <a:prstDash val="solid"/>
                      <a:round/>
                      <a:headEnd type="none" w="med" len="med"/>
                      <a:tailEnd type="none" w="med" len="med"/>
                    </a:lnL>
                    <a:lnR w="9525" cap="flat" cmpd="sng" algn="ctr">
                      <a:solidFill>
                        <a:srgbClr val="E3EAF0"/>
                      </a:solidFill>
                      <a:prstDash val="solid"/>
                      <a:round/>
                      <a:headEnd type="none" w="med" len="med"/>
                      <a:tailEnd type="none" w="med" len="med"/>
                    </a:lnR>
                    <a:lnT w="9525" cap="flat" cmpd="sng" algn="ctr">
                      <a:solidFill>
                        <a:srgbClr val="E3EAF0"/>
                      </a:solidFill>
                      <a:prstDash val="solid"/>
                      <a:round/>
                      <a:headEnd type="none" w="med" len="med"/>
                      <a:tailEnd type="none" w="med" len="med"/>
                    </a:lnT>
                    <a:lnB w="9525" cap="flat" cmpd="sng" algn="ctr">
                      <a:solidFill>
                        <a:srgbClr val="E3EAF0"/>
                      </a:solidFill>
                      <a:prstDash val="solid"/>
                      <a:round/>
                      <a:headEnd type="none" w="med" len="med"/>
                      <a:tailEnd type="none" w="med" len="med"/>
                    </a:lnB>
                    <a:solidFill>
                      <a:srgbClr val="0F2A47"/>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MSE</a:t>
                      </a:r>
                      <a:endParaRPr lang="en-US" sz="1200" dirty="0">
                        <a:latin typeface="Calibri" charset="0"/>
                        <a:ea typeface="Calibri" charset="0"/>
                        <a:cs typeface="Calibri" charset="0"/>
                      </a:endParaRPr>
                    </a:p>
                  </a:txBody>
                  <a:tcPr anchor="ctr">
                    <a:lnL w="9525" cap="flat" cmpd="sng" algn="ctr">
                      <a:solidFill>
                        <a:srgbClr val="E3EAF0"/>
                      </a:solidFill>
                      <a:prstDash val="solid"/>
                      <a:round/>
                      <a:headEnd type="none" w="med" len="med"/>
                      <a:tailEnd type="none" w="med" len="med"/>
                    </a:lnL>
                    <a:lnR w="9525" cap="flat" cmpd="sng" algn="ctr">
                      <a:solidFill>
                        <a:srgbClr val="E3EAF0"/>
                      </a:solidFill>
                      <a:prstDash val="solid"/>
                      <a:round/>
                      <a:headEnd type="none" w="med" len="med"/>
                      <a:tailEnd type="none" w="med" len="med"/>
                    </a:lnR>
                    <a:lnT w="9525" cap="flat" cmpd="sng" algn="ctr">
                      <a:solidFill>
                        <a:srgbClr val="E3EAF0"/>
                      </a:solidFill>
                      <a:prstDash val="solid"/>
                      <a:round/>
                      <a:headEnd type="none" w="med" len="med"/>
                      <a:tailEnd type="none" w="med" len="med"/>
                    </a:lnT>
                    <a:lnB w="9525" cap="flat" cmpd="sng" algn="ctr">
                      <a:solidFill>
                        <a:srgbClr val="E3EAF0"/>
                      </a:solidFill>
                      <a:prstDash val="solid"/>
                      <a:round/>
                      <a:headEnd type="none" w="med" len="med"/>
                      <a:tailEnd type="none" w="med" len="med"/>
                    </a:lnB>
                    <a:solidFill>
                      <a:srgbClr val="0F2A47"/>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RMSE</a:t>
                      </a:r>
                      <a:endParaRPr lang="en-US" sz="1200" dirty="0">
                        <a:latin typeface="Calibri" charset="0"/>
                        <a:ea typeface="Calibri" charset="0"/>
                        <a:cs typeface="Calibri" charset="0"/>
                      </a:endParaRPr>
                    </a:p>
                  </a:txBody>
                  <a:tcPr anchor="ctr">
                    <a:lnL w="9525" cap="flat" cmpd="sng" algn="ctr">
                      <a:solidFill>
                        <a:srgbClr val="E3EAF0"/>
                      </a:solidFill>
                      <a:prstDash val="solid"/>
                      <a:round/>
                      <a:headEnd type="none" w="med" len="med"/>
                      <a:tailEnd type="none" w="med" len="med"/>
                    </a:lnL>
                    <a:lnR w="9525" cap="flat" cmpd="sng" algn="ctr">
                      <a:solidFill>
                        <a:srgbClr val="E3EAF0"/>
                      </a:solidFill>
                      <a:prstDash val="solid"/>
                      <a:round/>
                      <a:headEnd type="none" w="med" len="med"/>
                      <a:tailEnd type="none" w="med" len="med"/>
                    </a:lnR>
                    <a:lnT w="9525" cap="flat" cmpd="sng" algn="ctr">
                      <a:solidFill>
                        <a:srgbClr val="E3EAF0"/>
                      </a:solidFill>
                      <a:prstDash val="solid"/>
                      <a:round/>
                      <a:headEnd type="none" w="med" len="med"/>
                      <a:tailEnd type="none" w="med" len="med"/>
                    </a:lnT>
                    <a:lnB w="9525" cap="flat" cmpd="sng" algn="ctr">
                      <a:solidFill>
                        <a:srgbClr val="E3EAF0"/>
                      </a:solidFill>
                      <a:prstDash val="solid"/>
                      <a:round/>
                      <a:headEnd type="none" w="med" len="med"/>
                      <a:tailEnd type="none" w="med" len="med"/>
                    </a:lnB>
                    <a:solidFill>
                      <a:srgbClr val="0F2A47"/>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R²</a:t>
                      </a:r>
                      <a:endParaRPr lang="en-US" sz="1200" dirty="0">
                        <a:latin typeface="Calibri" charset="0"/>
                        <a:ea typeface="Calibri" charset="0"/>
                        <a:cs typeface="Calibri" charset="0"/>
                      </a:endParaRPr>
                    </a:p>
                  </a:txBody>
                  <a:tcPr anchor="ctr">
                    <a:lnL w="9525" cap="flat" cmpd="sng" algn="ctr">
                      <a:solidFill>
                        <a:srgbClr val="E3EAF0"/>
                      </a:solidFill>
                      <a:prstDash val="solid"/>
                      <a:round/>
                      <a:headEnd type="none" w="med" len="med"/>
                      <a:tailEnd type="none" w="med" len="med"/>
                    </a:lnL>
                    <a:lnR w="9525" cap="flat" cmpd="sng" algn="ctr">
                      <a:solidFill>
                        <a:srgbClr val="E3EAF0"/>
                      </a:solidFill>
                      <a:prstDash val="solid"/>
                      <a:round/>
                      <a:headEnd type="none" w="med" len="med"/>
                      <a:tailEnd type="none" w="med" len="med"/>
                    </a:lnR>
                    <a:lnT w="9525" cap="flat" cmpd="sng" algn="ctr">
                      <a:solidFill>
                        <a:srgbClr val="E3EAF0"/>
                      </a:solidFill>
                      <a:prstDash val="solid"/>
                      <a:round/>
                      <a:headEnd type="none" w="med" len="med"/>
                      <a:tailEnd type="none" w="med" len="med"/>
                    </a:lnT>
                    <a:lnB w="9525" cap="flat" cmpd="sng" algn="ctr">
                      <a:solidFill>
                        <a:srgbClr val="E3EAF0"/>
                      </a:solidFill>
                      <a:prstDash val="solid"/>
                      <a:round/>
                      <a:headEnd type="none" w="med" len="med"/>
                      <a:tailEnd type="none" w="med" len="med"/>
                    </a:lnB>
                    <a:solidFill>
                      <a:srgbClr val="0F2A47"/>
                    </a:solidFill>
                  </a:tcPr>
                </a:tc>
                <a:extLst>
                  <a:ext uri="{0D108BD9-81ED-4DB2-BD59-A6C34878D82A}">
                    <a16:rowId xmlns:a16="http://schemas.microsoft.com/office/drawing/2014/main" val="10000"/>
                  </a:ext>
                </a:extLst>
              </a:tr>
              <a:tr h="347472">
                <a:tc>
                  <a:txBody>
                    <a:bodyPr/>
                    <a:lstStyle/>
                    <a:p>
                      <a:pPr marL="0" indent="0" algn="l">
                        <a:buNone/>
                      </a:pPr>
                      <a:r>
                        <a:rPr lang="en-US" sz="1200" b="1" dirty="0">
                          <a:solidFill>
                            <a:srgbClr val="1A2433"/>
                          </a:solidFill>
                          <a:latin typeface="Calibri" pitchFamily="34" charset="0"/>
                          <a:ea typeface="Calibri" pitchFamily="34" charset="-122"/>
                          <a:cs typeface="Calibri" pitchFamily="34" charset="-120"/>
                        </a:rPr>
                        <a:t>Linear Regression</a:t>
                      </a:r>
                      <a:endParaRPr lang="en-US" sz="1200" dirty="0">
                        <a:latin typeface="Calibri" charset="0"/>
                        <a:ea typeface="Calibri" charset="0"/>
                        <a:cs typeface="Calibri" charset="0"/>
                      </a:endParaRPr>
                    </a:p>
                  </a:txBody>
                  <a:tcPr anchor="ctr">
                    <a:lnL w="9525" cap="flat" cmpd="sng" algn="ctr">
                      <a:solidFill>
                        <a:srgbClr val="E3EAF0"/>
                      </a:solidFill>
                      <a:prstDash val="solid"/>
                      <a:round/>
                      <a:headEnd type="none" w="med" len="med"/>
                      <a:tailEnd type="none" w="med" len="med"/>
                    </a:lnL>
                    <a:lnR w="9525" cap="flat" cmpd="sng" algn="ctr">
                      <a:solidFill>
                        <a:srgbClr val="E3EAF0"/>
                      </a:solidFill>
                      <a:prstDash val="solid"/>
                      <a:round/>
                      <a:headEnd type="none" w="med" len="med"/>
                      <a:tailEnd type="none" w="med" len="med"/>
                    </a:lnR>
                    <a:lnT w="9525" cap="flat" cmpd="sng" algn="ctr">
                      <a:solidFill>
                        <a:srgbClr val="E3EAF0"/>
                      </a:solidFill>
                      <a:prstDash val="solid"/>
                      <a:round/>
                      <a:headEnd type="none" w="med" len="med"/>
                      <a:tailEnd type="none" w="med" len="med"/>
                    </a:lnT>
                    <a:lnB w="9525" cap="flat" cmpd="sng" algn="ctr">
                      <a:solidFill>
                        <a:srgbClr val="E3EA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433"/>
                          </a:solidFill>
                          <a:latin typeface="Calibri" pitchFamily="34" charset="0"/>
                          <a:ea typeface="Calibri" pitchFamily="34" charset="-122"/>
                          <a:cs typeface="Calibri" pitchFamily="34" charset="-120"/>
                        </a:rPr>
                        <a:t>0.7839</a:t>
                      </a:r>
                      <a:endParaRPr lang="en-US" sz="1200" dirty="0">
                        <a:latin typeface="Calibri" charset="0"/>
                        <a:ea typeface="Calibri" charset="0"/>
                        <a:cs typeface="Calibri" charset="0"/>
                      </a:endParaRPr>
                    </a:p>
                  </a:txBody>
                  <a:tcPr anchor="ctr">
                    <a:lnL w="9525" cap="flat" cmpd="sng" algn="ctr">
                      <a:solidFill>
                        <a:srgbClr val="E3EAF0"/>
                      </a:solidFill>
                      <a:prstDash val="solid"/>
                      <a:round/>
                      <a:headEnd type="none" w="med" len="med"/>
                      <a:tailEnd type="none" w="med" len="med"/>
                    </a:lnL>
                    <a:lnR w="9525" cap="flat" cmpd="sng" algn="ctr">
                      <a:solidFill>
                        <a:srgbClr val="E3EAF0"/>
                      </a:solidFill>
                      <a:prstDash val="solid"/>
                      <a:round/>
                      <a:headEnd type="none" w="med" len="med"/>
                      <a:tailEnd type="none" w="med" len="med"/>
                    </a:lnR>
                    <a:lnT w="9525" cap="flat" cmpd="sng" algn="ctr">
                      <a:solidFill>
                        <a:srgbClr val="E3EAF0"/>
                      </a:solidFill>
                      <a:prstDash val="solid"/>
                      <a:round/>
                      <a:headEnd type="none" w="med" len="med"/>
                      <a:tailEnd type="none" w="med" len="med"/>
                    </a:lnT>
                    <a:lnB w="9525" cap="flat" cmpd="sng" algn="ctr">
                      <a:solidFill>
                        <a:srgbClr val="E3EA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433"/>
                          </a:solidFill>
                          <a:latin typeface="Calibri" pitchFamily="34" charset="0"/>
                          <a:ea typeface="Calibri" pitchFamily="34" charset="-122"/>
                          <a:cs typeface="Calibri" pitchFamily="34" charset="-120"/>
                        </a:rPr>
                        <a:t>1.1048</a:t>
                      </a:r>
                      <a:endParaRPr lang="en-US" sz="1200" dirty="0">
                        <a:latin typeface="Calibri" charset="0"/>
                        <a:ea typeface="Calibri" charset="0"/>
                        <a:cs typeface="Calibri" charset="0"/>
                      </a:endParaRPr>
                    </a:p>
                  </a:txBody>
                  <a:tcPr anchor="ctr">
                    <a:lnL w="9525" cap="flat" cmpd="sng" algn="ctr">
                      <a:solidFill>
                        <a:srgbClr val="E3EAF0"/>
                      </a:solidFill>
                      <a:prstDash val="solid"/>
                      <a:round/>
                      <a:headEnd type="none" w="med" len="med"/>
                      <a:tailEnd type="none" w="med" len="med"/>
                    </a:lnL>
                    <a:lnR w="9525" cap="flat" cmpd="sng" algn="ctr">
                      <a:solidFill>
                        <a:srgbClr val="E3EAF0"/>
                      </a:solidFill>
                      <a:prstDash val="solid"/>
                      <a:round/>
                      <a:headEnd type="none" w="med" len="med"/>
                      <a:tailEnd type="none" w="med" len="med"/>
                    </a:lnR>
                    <a:lnT w="9525" cap="flat" cmpd="sng" algn="ctr">
                      <a:solidFill>
                        <a:srgbClr val="E3EAF0"/>
                      </a:solidFill>
                      <a:prstDash val="solid"/>
                      <a:round/>
                      <a:headEnd type="none" w="med" len="med"/>
                      <a:tailEnd type="none" w="med" len="med"/>
                    </a:lnT>
                    <a:lnB w="9525" cap="flat" cmpd="sng" algn="ctr">
                      <a:solidFill>
                        <a:srgbClr val="E3EA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433"/>
                          </a:solidFill>
                          <a:latin typeface="Calibri" pitchFamily="34" charset="0"/>
                          <a:ea typeface="Calibri" pitchFamily="34" charset="-122"/>
                          <a:cs typeface="Calibri" pitchFamily="34" charset="-120"/>
                        </a:rPr>
                        <a:t>1.0506</a:t>
                      </a:r>
                      <a:endParaRPr lang="en-US" sz="1200" dirty="0">
                        <a:latin typeface="Calibri" charset="0"/>
                        <a:ea typeface="Calibri" charset="0"/>
                        <a:cs typeface="Calibri" charset="0"/>
                      </a:endParaRPr>
                    </a:p>
                  </a:txBody>
                  <a:tcPr anchor="ctr">
                    <a:lnL w="9525" cap="flat" cmpd="sng" algn="ctr">
                      <a:solidFill>
                        <a:srgbClr val="E3EAF0"/>
                      </a:solidFill>
                      <a:prstDash val="solid"/>
                      <a:round/>
                      <a:headEnd type="none" w="med" len="med"/>
                      <a:tailEnd type="none" w="med" len="med"/>
                    </a:lnL>
                    <a:lnR w="9525" cap="flat" cmpd="sng" algn="ctr">
                      <a:solidFill>
                        <a:srgbClr val="E3EAF0"/>
                      </a:solidFill>
                      <a:prstDash val="solid"/>
                      <a:round/>
                      <a:headEnd type="none" w="med" len="med"/>
                      <a:tailEnd type="none" w="med" len="med"/>
                    </a:lnR>
                    <a:lnT w="9525" cap="flat" cmpd="sng" algn="ctr">
                      <a:solidFill>
                        <a:srgbClr val="E3EAF0"/>
                      </a:solidFill>
                      <a:prstDash val="solid"/>
                      <a:round/>
                      <a:headEnd type="none" w="med" len="med"/>
                      <a:tailEnd type="none" w="med" len="med"/>
                    </a:lnT>
                    <a:lnB w="9525" cap="flat" cmpd="sng" algn="ctr">
                      <a:solidFill>
                        <a:srgbClr val="E3EA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433"/>
                          </a:solidFill>
                          <a:latin typeface="Calibri" pitchFamily="34" charset="0"/>
                          <a:ea typeface="Calibri" pitchFamily="34" charset="-122"/>
                          <a:cs typeface="Calibri" pitchFamily="34" charset="-120"/>
                        </a:rPr>
                        <a:t>0.8909</a:t>
                      </a:r>
                      <a:endParaRPr lang="en-US" sz="1200" dirty="0">
                        <a:latin typeface="Calibri" charset="0"/>
                        <a:ea typeface="Calibri" charset="0"/>
                        <a:cs typeface="Calibri" charset="0"/>
                      </a:endParaRPr>
                    </a:p>
                  </a:txBody>
                  <a:tcPr anchor="ctr">
                    <a:lnL w="9525" cap="flat" cmpd="sng" algn="ctr">
                      <a:solidFill>
                        <a:srgbClr val="E3EAF0"/>
                      </a:solidFill>
                      <a:prstDash val="solid"/>
                      <a:round/>
                      <a:headEnd type="none" w="med" len="med"/>
                      <a:tailEnd type="none" w="med" len="med"/>
                    </a:lnL>
                    <a:lnR w="9525" cap="flat" cmpd="sng" algn="ctr">
                      <a:solidFill>
                        <a:srgbClr val="E3EAF0"/>
                      </a:solidFill>
                      <a:prstDash val="solid"/>
                      <a:round/>
                      <a:headEnd type="none" w="med" len="med"/>
                      <a:tailEnd type="none" w="med" len="med"/>
                    </a:lnR>
                    <a:lnT w="9525" cap="flat" cmpd="sng" algn="ctr">
                      <a:solidFill>
                        <a:srgbClr val="E3EAF0"/>
                      </a:solidFill>
                      <a:prstDash val="solid"/>
                      <a:round/>
                      <a:headEnd type="none" w="med" len="med"/>
                      <a:tailEnd type="none" w="med" len="med"/>
                    </a:lnT>
                    <a:lnB w="9525" cap="flat" cmpd="sng" algn="ctr">
                      <a:solidFill>
                        <a:srgbClr val="E3EA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l">
                        <a:buNone/>
                      </a:pPr>
                      <a:r>
                        <a:rPr lang="en-US" sz="1200" b="1" dirty="0">
                          <a:solidFill>
                            <a:srgbClr val="1A2433"/>
                          </a:solidFill>
                          <a:latin typeface="Calibri" pitchFamily="34" charset="0"/>
                          <a:ea typeface="Calibri" pitchFamily="34" charset="-122"/>
                          <a:cs typeface="Calibri" pitchFamily="34" charset="-120"/>
                        </a:rPr>
                        <a:t>Decision Tree Regressor</a:t>
                      </a:r>
                      <a:endParaRPr lang="en-US" sz="1200" dirty="0">
                        <a:latin typeface="Calibri" charset="0"/>
                        <a:ea typeface="Calibri" charset="0"/>
                        <a:cs typeface="Calibri" charset="0"/>
                      </a:endParaRPr>
                    </a:p>
                  </a:txBody>
                  <a:tcPr anchor="ctr">
                    <a:lnL w="9525" cap="flat" cmpd="sng" algn="ctr">
                      <a:solidFill>
                        <a:srgbClr val="E3EAF0"/>
                      </a:solidFill>
                      <a:prstDash val="solid"/>
                      <a:round/>
                      <a:headEnd type="none" w="med" len="med"/>
                      <a:tailEnd type="none" w="med" len="med"/>
                    </a:lnL>
                    <a:lnR w="9525" cap="flat" cmpd="sng" algn="ctr">
                      <a:solidFill>
                        <a:srgbClr val="E3EAF0"/>
                      </a:solidFill>
                      <a:prstDash val="solid"/>
                      <a:round/>
                      <a:headEnd type="none" w="med" len="med"/>
                      <a:tailEnd type="none" w="med" len="med"/>
                    </a:lnR>
                    <a:lnT w="9525" cap="flat" cmpd="sng" algn="ctr">
                      <a:solidFill>
                        <a:srgbClr val="E3EAF0"/>
                      </a:solidFill>
                      <a:prstDash val="solid"/>
                      <a:round/>
                      <a:headEnd type="none" w="med" len="med"/>
                      <a:tailEnd type="none" w="med" len="med"/>
                    </a:lnT>
                    <a:lnB w="9525" cap="flat" cmpd="sng" algn="ctr">
                      <a:solidFill>
                        <a:srgbClr val="E3EAF0"/>
                      </a:solidFill>
                      <a:prstDash val="solid"/>
                      <a:round/>
                      <a:headEnd type="none" w="med" len="med"/>
                      <a:tailEnd type="none" w="med" len="med"/>
                    </a:lnB>
                    <a:solidFill>
                      <a:srgbClr val="F0F4F8"/>
                    </a:solidFill>
                  </a:tcPr>
                </a:tc>
                <a:tc>
                  <a:txBody>
                    <a:bodyPr/>
                    <a:lstStyle/>
                    <a:p>
                      <a:pPr marL="0" indent="0" algn="ctr">
                        <a:buNone/>
                      </a:pPr>
                      <a:r>
                        <a:rPr lang="en-US" sz="1200" dirty="0">
                          <a:solidFill>
                            <a:srgbClr val="1A2433"/>
                          </a:solidFill>
                          <a:latin typeface="Calibri" pitchFamily="34" charset="0"/>
                          <a:ea typeface="Calibri" pitchFamily="34" charset="-122"/>
                          <a:cs typeface="Calibri" pitchFamily="34" charset="-120"/>
                        </a:rPr>
                        <a:t>0.4665</a:t>
                      </a:r>
                      <a:endParaRPr lang="en-US" sz="1200" dirty="0">
                        <a:latin typeface="Calibri" charset="0"/>
                        <a:ea typeface="Calibri" charset="0"/>
                        <a:cs typeface="Calibri" charset="0"/>
                      </a:endParaRPr>
                    </a:p>
                  </a:txBody>
                  <a:tcPr anchor="ctr">
                    <a:lnL w="9525" cap="flat" cmpd="sng" algn="ctr">
                      <a:solidFill>
                        <a:srgbClr val="E3EAF0"/>
                      </a:solidFill>
                      <a:prstDash val="solid"/>
                      <a:round/>
                      <a:headEnd type="none" w="med" len="med"/>
                      <a:tailEnd type="none" w="med" len="med"/>
                    </a:lnL>
                    <a:lnR w="9525" cap="flat" cmpd="sng" algn="ctr">
                      <a:solidFill>
                        <a:srgbClr val="E3EAF0"/>
                      </a:solidFill>
                      <a:prstDash val="solid"/>
                      <a:round/>
                      <a:headEnd type="none" w="med" len="med"/>
                      <a:tailEnd type="none" w="med" len="med"/>
                    </a:lnR>
                    <a:lnT w="9525" cap="flat" cmpd="sng" algn="ctr">
                      <a:solidFill>
                        <a:srgbClr val="E3EAF0"/>
                      </a:solidFill>
                      <a:prstDash val="solid"/>
                      <a:round/>
                      <a:headEnd type="none" w="med" len="med"/>
                      <a:tailEnd type="none" w="med" len="med"/>
                    </a:lnT>
                    <a:lnB w="9525" cap="flat" cmpd="sng" algn="ctr">
                      <a:solidFill>
                        <a:srgbClr val="E3EAF0"/>
                      </a:solidFill>
                      <a:prstDash val="solid"/>
                      <a:round/>
                      <a:headEnd type="none" w="med" len="med"/>
                      <a:tailEnd type="none" w="med" len="med"/>
                    </a:lnB>
                    <a:solidFill>
                      <a:srgbClr val="F0F4F8"/>
                    </a:solidFill>
                  </a:tcPr>
                </a:tc>
                <a:tc>
                  <a:txBody>
                    <a:bodyPr/>
                    <a:lstStyle/>
                    <a:p>
                      <a:pPr marL="0" indent="0" algn="ctr">
                        <a:buNone/>
                      </a:pPr>
                      <a:r>
                        <a:rPr lang="en-US" sz="1200" dirty="0">
                          <a:solidFill>
                            <a:srgbClr val="1A2433"/>
                          </a:solidFill>
                          <a:latin typeface="Calibri" pitchFamily="34" charset="0"/>
                          <a:ea typeface="Calibri" pitchFamily="34" charset="-122"/>
                          <a:cs typeface="Calibri" pitchFamily="34" charset="-120"/>
                        </a:rPr>
                        <a:t>0.4793</a:t>
                      </a:r>
                      <a:endParaRPr lang="en-US" sz="1200" dirty="0">
                        <a:latin typeface="Calibri" charset="0"/>
                        <a:ea typeface="Calibri" charset="0"/>
                        <a:cs typeface="Calibri" charset="0"/>
                      </a:endParaRPr>
                    </a:p>
                  </a:txBody>
                  <a:tcPr anchor="ctr">
                    <a:lnL w="9525" cap="flat" cmpd="sng" algn="ctr">
                      <a:solidFill>
                        <a:srgbClr val="E3EAF0"/>
                      </a:solidFill>
                      <a:prstDash val="solid"/>
                      <a:round/>
                      <a:headEnd type="none" w="med" len="med"/>
                      <a:tailEnd type="none" w="med" len="med"/>
                    </a:lnL>
                    <a:lnR w="9525" cap="flat" cmpd="sng" algn="ctr">
                      <a:solidFill>
                        <a:srgbClr val="E3EAF0"/>
                      </a:solidFill>
                      <a:prstDash val="solid"/>
                      <a:round/>
                      <a:headEnd type="none" w="med" len="med"/>
                      <a:tailEnd type="none" w="med" len="med"/>
                    </a:lnR>
                    <a:lnT w="9525" cap="flat" cmpd="sng" algn="ctr">
                      <a:solidFill>
                        <a:srgbClr val="E3EAF0"/>
                      </a:solidFill>
                      <a:prstDash val="solid"/>
                      <a:round/>
                      <a:headEnd type="none" w="med" len="med"/>
                      <a:tailEnd type="none" w="med" len="med"/>
                    </a:lnT>
                    <a:lnB w="9525" cap="flat" cmpd="sng" algn="ctr">
                      <a:solidFill>
                        <a:srgbClr val="E3EAF0"/>
                      </a:solidFill>
                      <a:prstDash val="solid"/>
                      <a:round/>
                      <a:headEnd type="none" w="med" len="med"/>
                      <a:tailEnd type="none" w="med" len="med"/>
                    </a:lnB>
                    <a:solidFill>
                      <a:srgbClr val="F0F4F8"/>
                    </a:solidFill>
                  </a:tcPr>
                </a:tc>
                <a:tc>
                  <a:txBody>
                    <a:bodyPr/>
                    <a:lstStyle/>
                    <a:p>
                      <a:pPr marL="0" indent="0" algn="ctr">
                        <a:buNone/>
                      </a:pPr>
                      <a:r>
                        <a:rPr lang="en-US" sz="1200" dirty="0">
                          <a:solidFill>
                            <a:srgbClr val="1A2433"/>
                          </a:solidFill>
                          <a:latin typeface="Calibri" pitchFamily="34" charset="0"/>
                          <a:ea typeface="Calibri" pitchFamily="34" charset="-122"/>
                          <a:cs typeface="Calibri" pitchFamily="34" charset="-120"/>
                        </a:rPr>
                        <a:t>0.6923</a:t>
                      </a:r>
                      <a:endParaRPr lang="en-US" sz="1200" dirty="0">
                        <a:latin typeface="Calibri" charset="0"/>
                        <a:ea typeface="Calibri" charset="0"/>
                        <a:cs typeface="Calibri" charset="0"/>
                      </a:endParaRPr>
                    </a:p>
                  </a:txBody>
                  <a:tcPr anchor="ctr">
                    <a:lnL w="9525" cap="flat" cmpd="sng" algn="ctr">
                      <a:solidFill>
                        <a:srgbClr val="E3EAF0"/>
                      </a:solidFill>
                      <a:prstDash val="solid"/>
                      <a:round/>
                      <a:headEnd type="none" w="med" len="med"/>
                      <a:tailEnd type="none" w="med" len="med"/>
                    </a:lnL>
                    <a:lnR w="9525" cap="flat" cmpd="sng" algn="ctr">
                      <a:solidFill>
                        <a:srgbClr val="E3EAF0"/>
                      </a:solidFill>
                      <a:prstDash val="solid"/>
                      <a:round/>
                      <a:headEnd type="none" w="med" len="med"/>
                      <a:tailEnd type="none" w="med" len="med"/>
                    </a:lnR>
                    <a:lnT w="9525" cap="flat" cmpd="sng" algn="ctr">
                      <a:solidFill>
                        <a:srgbClr val="E3EAF0"/>
                      </a:solidFill>
                      <a:prstDash val="solid"/>
                      <a:round/>
                      <a:headEnd type="none" w="med" len="med"/>
                      <a:tailEnd type="none" w="med" len="med"/>
                    </a:lnT>
                    <a:lnB w="9525" cap="flat" cmpd="sng" algn="ctr">
                      <a:solidFill>
                        <a:srgbClr val="E3EAF0"/>
                      </a:solidFill>
                      <a:prstDash val="solid"/>
                      <a:round/>
                      <a:headEnd type="none" w="med" len="med"/>
                      <a:tailEnd type="none" w="med" len="med"/>
                    </a:lnB>
                    <a:solidFill>
                      <a:srgbClr val="F0F4F8"/>
                    </a:solidFill>
                  </a:tcPr>
                </a:tc>
                <a:tc>
                  <a:txBody>
                    <a:bodyPr/>
                    <a:lstStyle/>
                    <a:p>
                      <a:pPr marL="0" indent="0" algn="ctr">
                        <a:buNone/>
                      </a:pPr>
                      <a:r>
                        <a:rPr lang="en-US" sz="1200" dirty="0">
                          <a:solidFill>
                            <a:srgbClr val="1A2433"/>
                          </a:solidFill>
                          <a:latin typeface="Calibri" pitchFamily="34" charset="0"/>
                          <a:ea typeface="Calibri" pitchFamily="34" charset="-122"/>
                          <a:cs typeface="Calibri" pitchFamily="34" charset="-120"/>
                        </a:rPr>
                        <a:t>0.9526</a:t>
                      </a:r>
                      <a:endParaRPr lang="en-US" sz="1200" dirty="0">
                        <a:latin typeface="Calibri" charset="0"/>
                        <a:ea typeface="Calibri" charset="0"/>
                        <a:cs typeface="Calibri" charset="0"/>
                      </a:endParaRPr>
                    </a:p>
                  </a:txBody>
                  <a:tcPr anchor="ctr">
                    <a:lnL w="9525" cap="flat" cmpd="sng" algn="ctr">
                      <a:solidFill>
                        <a:srgbClr val="E3EAF0"/>
                      </a:solidFill>
                      <a:prstDash val="solid"/>
                      <a:round/>
                      <a:headEnd type="none" w="med" len="med"/>
                      <a:tailEnd type="none" w="med" len="med"/>
                    </a:lnL>
                    <a:lnR w="9525" cap="flat" cmpd="sng" algn="ctr">
                      <a:solidFill>
                        <a:srgbClr val="E3EAF0"/>
                      </a:solidFill>
                      <a:prstDash val="solid"/>
                      <a:round/>
                      <a:headEnd type="none" w="med" len="med"/>
                      <a:tailEnd type="none" w="med" len="med"/>
                    </a:lnR>
                    <a:lnT w="9525" cap="flat" cmpd="sng" algn="ctr">
                      <a:solidFill>
                        <a:srgbClr val="E3EAF0"/>
                      </a:solidFill>
                      <a:prstDash val="solid"/>
                      <a:round/>
                      <a:headEnd type="none" w="med" len="med"/>
                      <a:tailEnd type="none" w="med" len="med"/>
                    </a:lnT>
                    <a:lnB w="9525" cap="flat" cmpd="sng" algn="ctr">
                      <a:solidFill>
                        <a:srgbClr val="E3EAF0"/>
                      </a:solidFill>
                      <a:prstDash val="solid"/>
                      <a:round/>
                      <a:headEnd type="none" w="med" len="med"/>
                      <a:tailEnd type="none" w="med" len="med"/>
                    </a:lnB>
                    <a:solidFill>
                      <a:srgbClr val="F0F4F8"/>
                    </a:solidFill>
                  </a:tcPr>
                </a:tc>
                <a:extLst>
                  <a:ext uri="{0D108BD9-81ED-4DB2-BD59-A6C34878D82A}">
                    <a16:rowId xmlns:a16="http://schemas.microsoft.com/office/drawing/2014/main" val="10002"/>
                  </a:ext>
                </a:extLst>
              </a:tr>
              <a:tr h="347472">
                <a:tc>
                  <a:txBody>
                    <a:bodyPr/>
                    <a:lstStyle/>
                    <a:p>
                      <a:pPr marL="0" indent="0" algn="l">
                        <a:buNone/>
                      </a:pPr>
                      <a:r>
                        <a:rPr lang="en-US" sz="1200" b="1" dirty="0">
                          <a:solidFill>
                            <a:srgbClr val="1A2433"/>
                          </a:solidFill>
                          <a:latin typeface="Calibri" pitchFamily="34" charset="0"/>
                          <a:ea typeface="Calibri" pitchFamily="34" charset="-122"/>
                          <a:cs typeface="Calibri" pitchFamily="34" charset="-120"/>
                        </a:rPr>
                        <a:t>KNN Regressor</a:t>
                      </a:r>
                      <a:endParaRPr lang="en-US" sz="1200" dirty="0">
                        <a:latin typeface="Calibri" charset="0"/>
                        <a:ea typeface="Calibri" charset="0"/>
                        <a:cs typeface="Calibri" charset="0"/>
                      </a:endParaRPr>
                    </a:p>
                  </a:txBody>
                  <a:tcPr anchor="ctr">
                    <a:lnL w="9525" cap="flat" cmpd="sng" algn="ctr">
                      <a:solidFill>
                        <a:srgbClr val="E3EAF0"/>
                      </a:solidFill>
                      <a:prstDash val="solid"/>
                      <a:round/>
                      <a:headEnd type="none" w="med" len="med"/>
                      <a:tailEnd type="none" w="med" len="med"/>
                    </a:lnL>
                    <a:lnR w="9525" cap="flat" cmpd="sng" algn="ctr">
                      <a:solidFill>
                        <a:srgbClr val="E3EAF0"/>
                      </a:solidFill>
                      <a:prstDash val="solid"/>
                      <a:round/>
                      <a:headEnd type="none" w="med" len="med"/>
                      <a:tailEnd type="none" w="med" len="med"/>
                    </a:lnR>
                    <a:lnT w="9525" cap="flat" cmpd="sng" algn="ctr">
                      <a:solidFill>
                        <a:srgbClr val="E3EAF0"/>
                      </a:solidFill>
                      <a:prstDash val="solid"/>
                      <a:round/>
                      <a:headEnd type="none" w="med" len="med"/>
                      <a:tailEnd type="none" w="med" len="med"/>
                    </a:lnT>
                    <a:lnB w="9525" cap="flat" cmpd="sng" algn="ctr">
                      <a:solidFill>
                        <a:srgbClr val="E3EA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433"/>
                          </a:solidFill>
                          <a:latin typeface="Calibri" pitchFamily="34" charset="0"/>
                          <a:ea typeface="Calibri" pitchFamily="34" charset="-122"/>
                          <a:cs typeface="Calibri" pitchFamily="34" charset="-120"/>
                        </a:rPr>
                        <a:t>0.4351</a:t>
                      </a:r>
                      <a:endParaRPr lang="en-US" sz="1200" dirty="0">
                        <a:latin typeface="Calibri" charset="0"/>
                        <a:ea typeface="Calibri" charset="0"/>
                        <a:cs typeface="Calibri" charset="0"/>
                      </a:endParaRPr>
                    </a:p>
                  </a:txBody>
                  <a:tcPr anchor="ctr">
                    <a:lnL w="9525" cap="flat" cmpd="sng" algn="ctr">
                      <a:solidFill>
                        <a:srgbClr val="E3EAF0"/>
                      </a:solidFill>
                      <a:prstDash val="solid"/>
                      <a:round/>
                      <a:headEnd type="none" w="med" len="med"/>
                      <a:tailEnd type="none" w="med" len="med"/>
                    </a:lnL>
                    <a:lnR w="9525" cap="flat" cmpd="sng" algn="ctr">
                      <a:solidFill>
                        <a:srgbClr val="E3EAF0"/>
                      </a:solidFill>
                      <a:prstDash val="solid"/>
                      <a:round/>
                      <a:headEnd type="none" w="med" len="med"/>
                      <a:tailEnd type="none" w="med" len="med"/>
                    </a:lnR>
                    <a:lnT w="9525" cap="flat" cmpd="sng" algn="ctr">
                      <a:solidFill>
                        <a:srgbClr val="E3EAF0"/>
                      </a:solidFill>
                      <a:prstDash val="solid"/>
                      <a:round/>
                      <a:headEnd type="none" w="med" len="med"/>
                      <a:tailEnd type="none" w="med" len="med"/>
                    </a:lnT>
                    <a:lnB w="9525" cap="flat" cmpd="sng" algn="ctr">
                      <a:solidFill>
                        <a:srgbClr val="E3EA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433"/>
                          </a:solidFill>
                          <a:latin typeface="Calibri" pitchFamily="34" charset="0"/>
                          <a:ea typeface="Calibri" pitchFamily="34" charset="-122"/>
                          <a:cs typeface="Calibri" pitchFamily="34" charset="-120"/>
                        </a:rPr>
                        <a:t>0.4405</a:t>
                      </a:r>
                      <a:endParaRPr lang="en-US" sz="1200" dirty="0">
                        <a:latin typeface="Calibri" charset="0"/>
                        <a:ea typeface="Calibri" charset="0"/>
                        <a:cs typeface="Calibri" charset="0"/>
                      </a:endParaRPr>
                    </a:p>
                  </a:txBody>
                  <a:tcPr anchor="ctr">
                    <a:lnL w="9525" cap="flat" cmpd="sng" algn="ctr">
                      <a:solidFill>
                        <a:srgbClr val="E3EAF0"/>
                      </a:solidFill>
                      <a:prstDash val="solid"/>
                      <a:round/>
                      <a:headEnd type="none" w="med" len="med"/>
                      <a:tailEnd type="none" w="med" len="med"/>
                    </a:lnL>
                    <a:lnR w="9525" cap="flat" cmpd="sng" algn="ctr">
                      <a:solidFill>
                        <a:srgbClr val="E3EAF0"/>
                      </a:solidFill>
                      <a:prstDash val="solid"/>
                      <a:round/>
                      <a:headEnd type="none" w="med" len="med"/>
                      <a:tailEnd type="none" w="med" len="med"/>
                    </a:lnR>
                    <a:lnT w="9525" cap="flat" cmpd="sng" algn="ctr">
                      <a:solidFill>
                        <a:srgbClr val="E3EAF0"/>
                      </a:solidFill>
                      <a:prstDash val="solid"/>
                      <a:round/>
                      <a:headEnd type="none" w="med" len="med"/>
                      <a:tailEnd type="none" w="med" len="med"/>
                    </a:lnT>
                    <a:lnB w="9525" cap="flat" cmpd="sng" algn="ctr">
                      <a:solidFill>
                        <a:srgbClr val="E3EA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433"/>
                          </a:solidFill>
                          <a:latin typeface="Calibri" pitchFamily="34" charset="0"/>
                          <a:ea typeface="Calibri" pitchFamily="34" charset="-122"/>
                          <a:cs typeface="Calibri" pitchFamily="34" charset="-120"/>
                        </a:rPr>
                        <a:t>0.6637</a:t>
                      </a:r>
                      <a:endParaRPr lang="en-US" sz="1200" dirty="0">
                        <a:latin typeface="Calibri" charset="0"/>
                        <a:ea typeface="Calibri" charset="0"/>
                        <a:cs typeface="Calibri" charset="0"/>
                      </a:endParaRPr>
                    </a:p>
                  </a:txBody>
                  <a:tcPr anchor="ctr">
                    <a:lnL w="9525" cap="flat" cmpd="sng" algn="ctr">
                      <a:solidFill>
                        <a:srgbClr val="E3EAF0"/>
                      </a:solidFill>
                      <a:prstDash val="solid"/>
                      <a:round/>
                      <a:headEnd type="none" w="med" len="med"/>
                      <a:tailEnd type="none" w="med" len="med"/>
                    </a:lnL>
                    <a:lnR w="9525" cap="flat" cmpd="sng" algn="ctr">
                      <a:solidFill>
                        <a:srgbClr val="E3EAF0"/>
                      </a:solidFill>
                      <a:prstDash val="solid"/>
                      <a:round/>
                      <a:headEnd type="none" w="med" len="med"/>
                      <a:tailEnd type="none" w="med" len="med"/>
                    </a:lnR>
                    <a:lnT w="9525" cap="flat" cmpd="sng" algn="ctr">
                      <a:solidFill>
                        <a:srgbClr val="E3EAF0"/>
                      </a:solidFill>
                      <a:prstDash val="solid"/>
                      <a:round/>
                      <a:headEnd type="none" w="med" len="med"/>
                      <a:tailEnd type="none" w="med" len="med"/>
                    </a:lnT>
                    <a:lnB w="9525" cap="flat" cmpd="sng" algn="ctr">
                      <a:solidFill>
                        <a:srgbClr val="E3EA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2433"/>
                          </a:solidFill>
                          <a:latin typeface="Calibri" pitchFamily="34" charset="0"/>
                          <a:ea typeface="Calibri" pitchFamily="34" charset="-122"/>
                          <a:cs typeface="Calibri" pitchFamily="34" charset="-120"/>
                        </a:rPr>
                        <a:t>0.9565</a:t>
                      </a:r>
                      <a:endParaRPr lang="en-US" sz="1200" dirty="0">
                        <a:latin typeface="Calibri" charset="0"/>
                        <a:ea typeface="Calibri" charset="0"/>
                        <a:cs typeface="Calibri" charset="0"/>
                      </a:endParaRPr>
                    </a:p>
                  </a:txBody>
                  <a:tcPr anchor="ctr">
                    <a:lnL w="9525" cap="flat" cmpd="sng" algn="ctr">
                      <a:solidFill>
                        <a:srgbClr val="E3EAF0"/>
                      </a:solidFill>
                      <a:prstDash val="solid"/>
                      <a:round/>
                      <a:headEnd type="none" w="med" len="med"/>
                      <a:tailEnd type="none" w="med" len="med"/>
                    </a:lnL>
                    <a:lnR w="9525" cap="flat" cmpd="sng" algn="ctr">
                      <a:solidFill>
                        <a:srgbClr val="E3EAF0"/>
                      </a:solidFill>
                      <a:prstDash val="solid"/>
                      <a:round/>
                      <a:headEnd type="none" w="med" len="med"/>
                      <a:tailEnd type="none" w="med" len="med"/>
                    </a:lnR>
                    <a:lnT w="9525" cap="flat" cmpd="sng" algn="ctr">
                      <a:solidFill>
                        <a:srgbClr val="E3EAF0"/>
                      </a:solidFill>
                      <a:prstDash val="solid"/>
                      <a:round/>
                      <a:headEnd type="none" w="med" len="med"/>
                      <a:tailEnd type="none" w="med" len="med"/>
                    </a:lnT>
                    <a:lnB w="9525" cap="flat" cmpd="sng" algn="ctr">
                      <a:solidFill>
                        <a:srgbClr val="E3EA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lgn="l">
                        <a:buNone/>
                      </a:pPr>
                      <a:r>
                        <a:rPr lang="en-US" sz="1200" b="1" dirty="0">
                          <a:solidFill>
                            <a:srgbClr val="C96A26"/>
                          </a:solidFill>
                          <a:latin typeface="Calibri" pitchFamily="34" charset="0"/>
                          <a:ea typeface="Calibri" pitchFamily="34" charset="-122"/>
                          <a:cs typeface="Calibri" pitchFamily="34" charset="-120"/>
                        </a:rPr>
                        <a:t>SVR</a:t>
                      </a:r>
                      <a:endParaRPr lang="en-US" sz="1200" dirty="0">
                        <a:latin typeface="Calibri" charset="0"/>
                        <a:ea typeface="Calibri" charset="0"/>
                        <a:cs typeface="Calibri" charset="0"/>
                      </a:endParaRPr>
                    </a:p>
                  </a:txBody>
                  <a:tcPr anchor="ctr">
                    <a:lnL w="9525" cap="flat" cmpd="sng" algn="ctr">
                      <a:solidFill>
                        <a:srgbClr val="E3EAF0"/>
                      </a:solidFill>
                      <a:prstDash val="solid"/>
                      <a:round/>
                      <a:headEnd type="none" w="med" len="med"/>
                      <a:tailEnd type="none" w="med" len="med"/>
                    </a:lnL>
                    <a:lnR w="9525" cap="flat" cmpd="sng" algn="ctr">
                      <a:solidFill>
                        <a:srgbClr val="E3EAF0"/>
                      </a:solidFill>
                      <a:prstDash val="solid"/>
                      <a:round/>
                      <a:headEnd type="none" w="med" len="med"/>
                      <a:tailEnd type="none" w="med" len="med"/>
                    </a:lnR>
                    <a:lnT w="9525" cap="flat" cmpd="sng" algn="ctr">
                      <a:solidFill>
                        <a:srgbClr val="E3EAF0"/>
                      </a:solidFill>
                      <a:prstDash val="solid"/>
                      <a:round/>
                      <a:headEnd type="none" w="med" len="med"/>
                      <a:tailEnd type="none" w="med" len="med"/>
                    </a:lnT>
                    <a:lnB w="9525" cap="flat" cmpd="sng" algn="ctr">
                      <a:solidFill>
                        <a:srgbClr val="E3EAF0"/>
                      </a:solidFill>
                      <a:prstDash val="solid"/>
                      <a:round/>
                      <a:headEnd type="none" w="med" len="med"/>
                      <a:tailEnd type="none" w="med" len="med"/>
                    </a:lnB>
                    <a:solidFill>
                      <a:srgbClr val="F0F4F8"/>
                    </a:solidFill>
                  </a:tcPr>
                </a:tc>
                <a:tc>
                  <a:txBody>
                    <a:bodyPr/>
                    <a:lstStyle/>
                    <a:p>
                      <a:pPr marL="0" indent="0" algn="ctr">
                        <a:buNone/>
                      </a:pPr>
                      <a:r>
                        <a:rPr lang="en-US" sz="1200" b="1" dirty="0">
                          <a:solidFill>
                            <a:srgbClr val="C96A26"/>
                          </a:solidFill>
                          <a:latin typeface="Calibri" pitchFamily="34" charset="0"/>
                          <a:ea typeface="Calibri" pitchFamily="34" charset="-122"/>
                          <a:cs typeface="Calibri" pitchFamily="34" charset="-120"/>
                        </a:rPr>
                        <a:t>0.4293</a:t>
                      </a:r>
                      <a:endParaRPr lang="en-US" sz="1200" dirty="0">
                        <a:latin typeface="Calibri" charset="0"/>
                        <a:ea typeface="Calibri" charset="0"/>
                        <a:cs typeface="Calibri" charset="0"/>
                      </a:endParaRPr>
                    </a:p>
                  </a:txBody>
                  <a:tcPr anchor="ctr">
                    <a:lnL w="9525" cap="flat" cmpd="sng" algn="ctr">
                      <a:solidFill>
                        <a:srgbClr val="E3EAF0"/>
                      </a:solidFill>
                      <a:prstDash val="solid"/>
                      <a:round/>
                      <a:headEnd type="none" w="med" len="med"/>
                      <a:tailEnd type="none" w="med" len="med"/>
                    </a:lnL>
                    <a:lnR w="9525" cap="flat" cmpd="sng" algn="ctr">
                      <a:solidFill>
                        <a:srgbClr val="E3EAF0"/>
                      </a:solidFill>
                      <a:prstDash val="solid"/>
                      <a:round/>
                      <a:headEnd type="none" w="med" len="med"/>
                      <a:tailEnd type="none" w="med" len="med"/>
                    </a:lnR>
                    <a:lnT w="9525" cap="flat" cmpd="sng" algn="ctr">
                      <a:solidFill>
                        <a:srgbClr val="E3EAF0"/>
                      </a:solidFill>
                      <a:prstDash val="solid"/>
                      <a:round/>
                      <a:headEnd type="none" w="med" len="med"/>
                      <a:tailEnd type="none" w="med" len="med"/>
                    </a:lnT>
                    <a:lnB w="9525" cap="flat" cmpd="sng" algn="ctr">
                      <a:solidFill>
                        <a:srgbClr val="E3EAF0"/>
                      </a:solidFill>
                      <a:prstDash val="solid"/>
                      <a:round/>
                      <a:headEnd type="none" w="med" len="med"/>
                      <a:tailEnd type="none" w="med" len="med"/>
                    </a:lnB>
                    <a:solidFill>
                      <a:srgbClr val="F0F4F8"/>
                    </a:solidFill>
                  </a:tcPr>
                </a:tc>
                <a:tc>
                  <a:txBody>
                    <a:bodyPr/>
                    <a:lstStyle/>
                    <a:p>
                      <a:pPr marL="0" indent="0" algn="ctr">
                        <a:buNone/>
                      </a:pPr>
                      <a:r>
                        <a:rPr lang="en-US" sz="1200" b="1" dirty="0">
                          <a:solidFill>
                            <a:srgbClr val="C96A26"/>
                          </a:solidFill>
                          <a:latin typeface="Calibri" pitchFamily="34" charset="0"/>
                          <a:ea typeface="Calibri" pitchFamily="34" charset="-122"/>
                          <a:cs typeface="Calibri" pitchFamily="34" charset="-120"/>
                        </a:rPr>
                        <a:t>0.4222</a:t>
                      </a:r>
                      <a:endParaRPr lang="en-US" sz="1200" dirty="0">
                        <a:latin typeface="Calibri" charset="0"/>
                        <a:ea typeface="Calibri" charset="0"/>
                        <a:cs typeface="Calibri" charset="0"/>
                      </a:endParaRPr>
                    </a:p>
                  </a:txBody>
                  <a:tcPr anchor="ctr">
                    <a:lnL w="9525" cap="flat" cmpd="sng" algn="ctr">
                      <a:solidFill>
                        <a:srgbClr val="E3EAF0"/>
                      </a:solidFill>
                      <a:prstDash val="solid"/>
                      <a:round/>
                      <a:headEnd type="none" w="med" len="med"/>
                      <a:tailEnd type="none" w="med" len="med"/>
                    </a:lnL>
                    <a:lnR w="9525" cap="flat" cmpd="sng" algn="ctr">
                      <a:solidFill>
                        <a:srgbClr val="E3EAF0"/>
                      </a:solidFill>
                      <a:prstDash val="solid"/>
                      <a:round/>
                      <a:headEnd type="none" w="med" len="med"/>
                      <a:tailEnd type="none" w="med" len="med"/>
                    </a:lnR>
                    <a:lnT w="9525" cap="flat" cmpd="sng" algn="ctr">
                      <a:solidFill>
                        <a:srgbClr val="E3EAF0"/>
                      </a:solidFill>
                      <a:prstDash val="solid"/>
                      <a:round/>
                      <a:headEnd type="none" w="med" len="med"/>
                      <a:tailEnd type="none" w="med" len="med"/>
                    </a:lnT>
                    <a:lnB w="9525" cap="flat" cmpd="sng" algn="ctr">
                      <a:solidFill>
                        <a:srgbClr val="E3EAF0"/>
                      </a:solidFill>
                      <a:prstDash val="solid"/>
                      <a:round/>
                      <a:headEnd type="none" w="med" len="med"/>
                      <a:tailEnd type="none" w="med" len="med"/>
                    </a:lnB>
                    <a:solidFill>
                      <a:srgbClr val="F0F4F8"/>
                    </a:solidFill>
                  </a:tcPr>
                </a:tc>
                <a:tc>
                  <a:txBody>
                    <a:bodyPr/>
                    <a:lstStyle/>
                    <a:p>
                      <a:pPr marL="0" indent="0" algn="ctr">
                        <a:buNone/>
                      </a:pPr>
                      <a:r>
                        <a:rPr lang="en-US" sz="1200" b="1" dirty="0">
                          <a:solidFill>
                            <a:srgbClr val="C96A26"/>
                          </a:solidFill>
                          <a:latin typeface="Calibri" pitchFamily="34" charset="0"/>
                          <a:ea typeface="Calibri" pitchFamily="34" charset="-122"/>
                          <a:cs typeface="Calibri" pitchFamily="34" charset="-120"/>
                        </a:rPr>
                        <a:t>0.6498</a:t>
                      </a:r>
                      <a:endParaRPr lang="en-US" sz="1200" dirty="0">
                        <a:latin typeface="Calibri" charset="0"/>
                        <a:ea typeface="Calibri" charset="0"/>
                        <a:cs typeface="Calibri" charset="0"/>
                      </a:endParaRPr>
                    </a:p>
                  </a:txBody>
                  <a:tcPr anchor="ctr">
                    <a:lnL w="9525" cap="flat" cmpd="sng" algn="ctr">
                      <a:solidFill>
                        <a:srgbClr val="E3EAF0"/>
                      </a:solidFill>
                      <a:prstDash val="solid"/>
                      <a:round/>
                      <a:headEnd type="none" w="med" len="med"/>
                      <a:tailEnd type="none" w="med" len="med"/>
                    </a:lnL>
                    <a:lnR w="9525" cap="flat" cmpd="sng" algn="ctr">
                      <a:solidFill>
                        <a:srgbClr val="E3EAF0"/>
                      </a:solidFill>
                      <a:prstDash val="solid"/>
                      <a:round/>
                      <a:headEnd type="none" w="med" len="med"/>
                      <a:tailEnd type="none" w="med" len="med"/>
                    </a:lnR>
                    <a:lnT w="9525" cap="flat" cmpd="sng" algn="ctr">
                      <a:solidFill>
                        <a:srgbClr val="E3EAF0"/>
                      </a:solidFill>
                      <a:prstDash val="solid"/>
                      <a:round/>
                      <a:headEnd type="none" w="med" len="med"/>
                      <a:tailEnd type="none" w="med" len="med"/>
                    </a:lnT>
                    <a:lnB w="9525" cap="flat" cmpd="sng" algn="ctr">
                      <a:solidFill>
                        <a:srgbClr val="E3EAF0"/>
                      </a:solidFill>
                      <a:prstDash val="solid"/>
                      <a:round/>
                      <a:headEnd type="none" w="med" len="med"/>
                      <a:tailEnd type="none" w="med" len="med"/>
                    </a:lnB>
                    <a:solidFill>
                      <a:srgbClr val="F0F4F8"/>
                    </a:solidFill>
                  </a:tcPr>
                </a:tc>
                <a:tc>
                  <a:txBody>
                    <a:bodyPr/>
                    <a:lstStyle/>
                    <a:p>
                      <a:pPr marL="0" indent="0" algn="ctr">
                        <a:buNone/>
                      </a:pPr>
                      <a:r>
                        <a:rPr lang="en-US" sz="1200" b="1" dirty="0">
                          <a:solidFill>
                            <a:srgbClr val="C96A26"/>
                          </a:solidFill>
                          <a:latin typeface="Calibri" pitchFamily="34" charset="0"/>
                          <a:ea typeface="Calibri" pitchFamily="34" charset="-122"/>
                          <a:cs typeface="Calibri" pitchFamily="34" charset="-120"/>
                        </a:rPr>
                        <a:t>0.9583</a:t>
                      </a:r>
                      <a:endParaRPr lang="en-US" sz="1200" dirty="0">
                        <a:latin typeface="Calibri" charset="0"/>
                        <a:ea typeface="Calibri" charset="0"/>
                        <a:cs typeface="Calibri" charset="0"/>
                      </a:endParaRPr>
                    </a:p>
                  </a:txBody>
                  <a:tcPr anchor="ctr">
                    <a:lnL w="9525" cap="flat" cmpd="sng" algn="ctr">
                      <a:solidFill>
                        <a:srgbClr val="E3EAF0"/>
                      </a:solidFill>
                      <a:prstDash val="solid"/>
                      <a:round/>
                      <a:headEnd type="none" w="med" len="med"/>
                      <a:tailEnd type="none" w="med" len="med"/>
                    </a:lnL>
                    <a:lnR w="9525" cap="flat" cmpd="sng" algn="ctr">
                      <a:solidFill>
                        <a:srgbClr val="E3EAF0"/>
                      </a:solidFill>
                      <a:prstDash val="solid"/>
                      <a:round/>
                      <a:headEnd type="none" w="med" len="med"/>
                      <a:tailEnd type="none" w="med" len="med"/>
                    </a:lnR>
                    <a:lnT w="9525" cap="flat" cmpd="sng" algn="ctr">
                      <a:solidFill>
                        <a:srgbClr val="E3EAF0"/>
                      </a:solidFill>
                      <a:prstDash val="solid"/>
                      <a:round/>
                      <a:headEnd type="none" w="med" len="med"/>
                      <a:tailEnd type="none" w="med" len="med"/>
                    </a:lnT>
                    <a:lnB w="9525" cap="flat" cmpd="sng" algn="ctr">
                      <a:solidFill>
                        <a:srgbClr val="E3EAF0"/>
                      </a:solidFill>
                      <a:prstDash val="solid"/>
                      <a:round/>
                      <a:headEnd type="none" w="med" len="med"/>
                      <a:tailEnd type="none" w="med" len="med"/>
                    </a:lnB>
                    <a:solidFill>
                      <a:srgbClr val="F0F4F8"/>
                    </a:solidFill>
                  </a:tcPr>
                </a:tc>
                <a:extLst>
                  <a:ext uri="{0D108BD9-81ED-4DB2-BD59-A6C34878D82A}">
                    <a16:rowId xmlns:a16="http://schemas.microsoft.com/office/drawing/2014/main" val="10004"/>
                  </a:ext>
                </a:extLst>
              </a:tr>
            </a:tbl>
          </a:graphicData>
        </a:graphic>
      </p:graphicFrame>
      <p:sp>
        <p:nvSpPr>
          <p:cNvPr id="9" name="Shape 5"/>
          <p:cNvSpPr/>
          <p:nvPr/>
        </p:nvSpPr>
        <p:spPr>
          <a:xfrm>
            <a:off x="502920" y="3429000"/>
            <a:ext cx="6035040" cy="1691640"/>
          </a:xfrm>
          <a:prstGeom prst="roundRect">
            <a:avLst>
              <a:gd name="adj" fmla="val 4865"/>
            </a:avLst>
          </a:prstGeom>
          <a:solidFill>
            <a:srgbClr val="F5F8FB"/>
          </a:solidFill>
          <a:ln/>
          <a:effectLst>
            <a:outerShdw blurRad="101600" dist="25400" dir="5400000" algn="bl" rotWithShape="0">
              <a:srgbClr val="1A2433">
                <a:alpha val="12000"/>
              </a:srgbClr>
            </a:outerShdw>
          </a:effectLst>
        </p:spPr>
        <p:txBody>
          <a:bodyPr/>
          <a:lstStyle/>
          <a:p>
            <a:endParaRPr lang="en-US"/>
          </a:p>
        </p:txBody>
      </p:sp>
      <p:sp>
        <p:nvSpPr>
          <p:cNvPr id="10" name="Text 6"/>
          <p:cNvSpPr/>
          <p:nvPr/>
        </p:nvSpPr>
        <p:spPr>
          <a:xfrm>
            <a:off x="777240" y="3611880"/>
            <a:ext cx="2651760" cy="548640"/>
          </a:xfrm>
          <a:prstGeom prst="rect">
            <a:avLst/>
          </a:prstGeom>
          <a:noFill/>
          <a:ln/>
        </p:spPr>
        <p:txBody>
          <a:bodyPr wrap="square" rtlCol="0" anchor="t"/>
          <a:lstStyle/>
          <a:p>
            <a:pPr marL="0" indent="0">
              <a:buNone/>
            </a:pPr>
            <a:r>
              <a:rPr lang="en-US" sz="1150" b="1" dirty="0">
                <a:solidFill>
                  <a:srgbClr val="0F2A47"/>
                </a:solidFill>
                <a:latin typeface="Calibri" pitchFamily="34" charset="0"/>
                <a:ea typeface="Calibri" pitchFamily="34" charset="-122"/>
                <a:cs typeface="Calibri" pitchFamily="34" charset="-120"/>
              </a:rPr>
              <a:t>Linear Regression: </a:t>
            </a:r>
            <a:r>
              <a:rPr lang="en-US" sz="1150" dirty="0">
                <a:solidFill>
                  <a:srgbClr val="1A2433"/>
                </a:solidFill>
                <a:latin typeface="Calibri" pitchFamily="34" charset="0"/>
                <a:ea typeface="Calibri" pitchFamily="34" charset="-122"/>
                <a:cs typeface="Calibri" pitchFamily="34" charset="-120"/>
              </a:rPr>
              <a:t>[điền nhận xét thực tế].</a:t>
            </a:r>
            <a:endParaRPr lang="en-US" sz="1150" dirty="0"/>
          </a:p>
        </p:txBody>
      </p:sp>
      <p:sp>
        <p:nvSpPr>
          <p:cNvPr id="11" name="Text 7"/>
          <p:cNvSpPr/>
          <p:nvPr/>
        </p:nvSpPr>
        <p:spPr>
          <a:xfrm>
            <a:off x="3657600" y="3611880"/>
            <a:ext cx="2651760" cy="548640"/>
          </a:xfrm>
          <a:prstGeom prst="rect">
            <a:avLst/>
          </a:prstGeom>
          <a:noFill/>
          <a:ln/>
        </p:spPr>
        <p:txBody>
          <a:bodyPr wrap="square" rtlCol="0" anchor="t"/>
          <a:lstStyle/>
          <a:p>
            <a:pPr marL="0" indent="0">
              <a:buNone/>
            </a:pPr>
            <a:r>
              <a:rPr lang="en-US" sz="1150" b="1" dirty="0">
                <a:solidFill>
                  <a:srgbClr val="0F2A47"/>
                </a:solidFill>
                <a:latin typeface="Calibri" pitchFamily="34" charset="0"/>
                <a:ea typeface="Calibri" pitchFamily="34" charset="-122"/>
                <a:cs typeface="Calibri" pitchFamily="34" charset="-120"/>
              </a:rPr>
              <a:t>Decision Tree: </a:t>
            </a:r>
            <a:r>
              <a:rPr lang="en-US" sz="1150" dirty="0">
                <a:solidFill>
                  <a:srgbClr val="1A2433"/>
                </a:solidFill>
                <a:latin typeface="Calibri" pitchFamily="34" charset="0"/>
                <a:ea typeface="Calibri" pitchFamily="34" charset="-122"/>
                <a:cs typeface="Calibri" pitchFamily="34" charset="-120"/>
              </a:rPr>
              <a:t>[điền nhận xét thực tế].</a:t>
            </a:r>
            <a:endParaRPr lang="en-US" sz="1150" dirty="0"/>
          </a:p>
        </p:txBody>
      </p:sp>
      <p:sp>
        <p:nvSpPr>
          <p:cNvPr id="12" name="Text 8"/>
          <p:cNvSpPr/>
          <p:nvPr/>
        </p:nvSpPr>
        <p:spPr>
          <a:xfrm>
            <a:off x="777240" y="4297680"/>
            <a:ext cx="2651760" cy="548640"/>
          </a:xfrm>
          <a:prstGeom prst="rect">
            <a:avLst/>
          </a:prstGeom>
          <a:noFill/>
          <a:ln/>
        </p:spPr>
        <p:txBody>
          <a:bodyPr wrap="square" rtlCol="0" anchor="t"/>
          <a:lstStyle/>
          <a:p>
            <a:pPr marL="0" indent="0">
              <a:buNone/>
            </a:pPr>
            <a:r>
              <a:rPr lang="en-US" sz="1150" b="1" dirty="0">
                <a:solidFill>
                  <a:srgbClr val="0F2A47"/>
                </a:solidFill>
                <a:latin typeface="Calibri" pitchFamily="34" charset="0"/>
                <a:ea typeface="Calibri" pitchFamily="34" charset="-122"/>
                <a:cs typeface="Calibri" pitchFamily="34" charset="-120"/>
              </a:rPr>
              <a:t>KNN: </a:t>
            </a:r>
            <a:r>
              <a:rPr lang="en-US" sz="1150" dirty="0">
                <a:solidFill>
                  <a:srgbClr val="1A2433"/>
                </a:solidFill>
                <a:latin typeface="Calibri" pitchFamily="34" charset="0"/>
                <a:ea typeface="Calibri" pitchFamily="34" charset="-122"/>
                <a:cs typeface="Calibri" pitchFamily="34" charset="-120"/>
              </a:rPr>
              <a:t>[điền nhận xét thực tế].</a:t>
            </a:r>
            <a:endParaRPr lang="en-US" sz="1150" dirty="0"/>
          </a:p>
        </p:txBody>
      </p:sp>
      <p:sp>
        <p:nvSpPr>
          <p:cNvPr id="13" name="Text 9"/>
          <p:cNvSpPr/>
          <p:nvPr/>
        </p:nvSpPr>
        <p:spPr>
          <a:xfrm>
            <a:off x="3657600" y="4297680"/>
            <a:ext cx="2651760" cy="548640"/>
          </a:xfrm>
          <a:prstGeom prst="rect">
            <a:avLst/>
          </a:prstGeom>
          <a:noFill/>
          <a:ln/>
        </p:spPr>
        <p:txBody>
          <a:bodyPr wrap="square" rtlCol="0" anchor="t"/>
          <a:lstStyle/>
          <a:p>
            <a:pPr marL="0" indent="0">
              <a:buNone/>
            </a:pPr>
            <a:r>
              <a:rPr lang="en-US" sz="1150" b="1" dirty="0">
                <a:solidFill>
                  <a:srgbClr val="0F2A47"/>
                </a:solidFill>
                <a:latin typeface="Calibri" pitchFamily="34" charset="0"/>
                <a:ea typeface="Calibri" pitchFamily="34" charset="-122"/>
                <a:cs typeface="Calibri" pitchFamily="34" charset="-120"/>
              </a:rPr>
              <a:t>SVR: </a:t>
            </a:r>
            <a:r>
              <a:rPr lang="en-US" sz="1150" dirty="0">
                <a:solidFill>
                  <a:srgbClr val="1A2433"/>
                </a:solidFill>
                <a:latin typeface="Calibri" pitchFamily="34" charset="0"/>
                <a:ea typeface="Calibri" pitchFamily="34" charset="-122"/>
                <a:cs typeface="Calibri" pitchFamily="34" charset="-120"/>
              </a:rPr>
              <a:t>[điền nhận xét thực tế].</a:t>
            </a:r>
            <a:endParaRPr lang="en-US" sz="1150" dirty="0"/>
          </a:p>
        </p:txBody>
      </p:sp>
      <p:sp>
        <p:nvSpPr>
          <p:cNvPr id="14" name="Shape 10"/>
          <p:cNvSpPr/>
          <p:nvPr/>
        </p:nvSpPr>
        <p:spPr>
          <a:xfrm>
            <a:off x="6858000" y="1417320"/>
            <a:ext cx="4830775" cy="2880360"/>
          </a:xfrm>
          <a:prstGeom prst="roundRect">
            <a:avLst>
              <a:gd name="adj" fmla="val 2857"/>
            </a:avLst>
          </a:prstGeom>
          <a:solidFill>
            <a:srgbClr val="FFFFFF"/>
          </a:solidFill>
          <a:ln/>
          <a:effectLst>
            <a:outerShdw blurRad="101600" dist="25400" dir="5400000" algn="bl" rotWithShape="0">
              <a:srgbClr val="1A2433">
                <a:alpha val="12000"/>
              </a:srgbClr>
            </a:outerShdw>
          </a:effectLst>
        </p:spPr>
        <p:txBody>
          <a:bodyPr/>
          <a:lstStyle/>
          <a:p>
            <a:endParaRPr lang="en-US"/>
          </a:p>
        </p:txBody>
      </p:sp>
      <p:pic>
        <p:nvPicPr>
          <p:cNvPr id="15" name="Image 1" descr="/home/claude/work/charts/image9.png"/>
          <p:cNvPicPr>
            <a:picLocks noChangeAspect="1"/>
          </p:cNvPicPr>
          <p:nvPr/>
        </p:nvPicPr>
        <p:blipFill>
          <a:blip r:embed="rId4"/>
          <a:stretch>
            <a:fillRect/>
          </a:stretch>
        </p:blipFill>
        <p:spPr>
          <a:xfrm>
            <a:off x="7022592" y="2079539"/>
            <a:ext cx="4501591" cy="1555921"/>
          </a:xfrm>
          <a:prstGeom prst="rect">
            <a:avLst/>
          </a:prstGeom>
        </p:spPr>
      </p:pic>
      <p:sp>
        <p:nvSpPr>
          <p:cNvPr id="16" name="Shape 11"/>
          <p:cNvSpPr/>
          <p:nvPr/>
        </p:nvSpPr>
        <p:spPr>
          <a:xfrm>
            <a:off x="6858000" y="4480560"/>
            <a:ext cx="4830775" cy="1600200"/>
          </a:xfrm>
          <a:prstGeom prst="roundRect">
            <a:avLst>
              <a:gd name="adj" fmla="val 5143"/>
            </a:avLst>
          </a:prstGeom>
          <a:solidFill>
            <a:srgbClr val="0F2A47"/>
          </a:solidFill>
          <a:ln/>
          <a:effectLst>
            <a:outerShdw blurRad="101600" dist="25400" dir="5400000" algn="bl" rotWithShape="0">
              <a:srgbClr val="1A2433">
                <a:alpha val="12000"/>
              </a:srgbClr>
            </a:outerShdw>
          </a:effectLst>
        </p:spPr>
        <p:txBody>
          <a:bodyPr/>
          <a:lstStyle/>
          <a:p>
            <a:endParaRPr lang="en-US"/>
          </a:p>
        </p:txBody>
      </p:sp>
      <p:sp>
        <p:nvSpPr>
          <p:cNvPr id="17" name="Text 12"/>
          <p:cNvSpPr/>
          <p:nvPr/>
        </p:nvSpPr>
        <p:spPr>
          <a:xfrm>
            <a:off x="7086600" y="4480560"/>
            <a:ext cx="4373575" cy="1600200"/>
          </a:xfrm>
          <a:prstGeom prst="rect">
            <a:avLst/>
          </a:prstGeom>
          <a:noFill/>
          <a:ln/>
        </p:spPr>
        <p:txBody>
          <a:bodyPr wrap="square"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Không lựa chọn model chỉ dựa trên một metric. Cần xem xét đồng thời MAE, RMSE, R², Cross Validation, khả năng overfitting và thời gian dự đoán.</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686800" cy="256032"/>
          </a:xfrm>
          <a:prstGeom prst="rect">
            <a:avLst/>
          </a:prstGeom>
          <a:noFill/>
          <a:ln/>
        </p:spPr>
        <p:txBody>
          <a:bodyPr wrap="square" rtlCol="0" anchor="ctr"/>
          <a:lstStyle/>
          <a:p>
            <a:pPr marL="0" indent="0">
              <a:buNone/>
            </a:pPr>
            <a:r>
              <a:rPr lang="en-US" sz="1200" b="1" kern="0" spc="200" dirty="0">
                <a:solidFill>
                  <a:srgbClr val="E8833A"/>
                </a:solidFill>
                <a:latin typeface="Calibri" pitchFamily="34" charset="0"/>
                <a:ea typeface="Calibri" pitchFamily="34" charset="-122"/>
                <a:cs typeface="Calibri" pitchFamily="34" charset="-120"/>
              </a:rPr>
              <a:t>TRIỂN KHAI</a:t>
            </a:r>
            <a:endParaRPr lang="en-US" sz="1200" dirty="0"/>
          </a:p>
        </p:txBody>
      </p:sp>
      <p:sp>
        <p:nvSpPr>
          <p:cNvPr id="3" name="Text 1"/>
          <p:cNvSpPr/>
          <p:nvPr/>
        </p:nvSpPr>
        <p:spPr>
          <a:xfrm>
            <a:off x="502920" y="621792"/>
            <a:ext cx="9692640" cy="566928"/>
          </a:xfrm>
          <a:prstGeom prst="rect">
            <a:avLst/>
          </a:prstGeom>
          <a:noFill/>
          <a:ln/>
        </p:spPr>
        <p:txBody>
          <a:bodyPr wrap="square" rtlCol="0" anchor="ctr"/>
          <a:lstStyle/>
          <a:p>
            <a:pPr marL="0" indent="0">
              <a:buNone/>
            </a:pPr>
            <a:r>
              <a:rPr lang="en-US" sz="2200" b="1" dirty="0">
                <a:solidFill>
                  <a:srgbClr val="0F2A47"/>
                </a:solidFill>
                <a:latin typeface="Cambria" pitchFamily="34" charset="0"/>
                <a:ea typeface="Cambria" pitchFamily="34" charset="-122"/>
                <a:cs typeface="Cambria" pitchFamily="34" charset="-120"/>
              </a:rPr>
              <a:t>MÔ HÌNH ĐƯỢC CHỌN VÀ KIẾN TRÚC HỆ THỐNG</a:t>
            </a:r>
            <a:endParaRPr lang="en-US" sz="2200" dirty="0"/>
          </a:p>
        </p:txBody>
      </p:sp>
      <p:sp>
        <p:nvSpPr>
          <p:cNvPr id="4" name="Shape 2"/>
          <p:cNvSpPr/>
          <p:nvPr/>
        </p:nvSpPr>
        <p:spPr>
          <a:xfrm>
            <a:off x="11030407" y="384048"/>
            <a:ext cx="658368" cy="658368"/>
          </a:xfrm>
          <a:prstGeom prst="ellipse">
            <a:avLst/>
          </a:prstGeom>
          <a:solidFill>
            <a:srgbClr val="E8833A"/>
          </a:solidFill>
          <a:ln/>
        </p:spPr>
        <p:txBody>
          <a:bodyPr/>
          <a:lstStyle/>
          <a:p>
            <a:endParaRPr lang="en-US"/>
          </a:p>
        </p:txBody>
      </p:sp>
      <p:pic>
        <p:nvPicPr>
          <p:cNvPr id="5" name="Image 0" descr="/home/claude/work/icons/server_FFFFFF.png"/>
          <p:cNvPicPr>
            <a:picLocks noChangeAspect="1"/>
          </p:cNvPicPr>
          <p:nvPr/>
        </p:nvPicPr>
        <p:blipFill>
          <a:blip r:embed="rId3"/>
          <a:stretch>
            <a:fillRect/>
          </a:stretch>
        </p:blipFill>
        <p:spPr>
          <a:xfrm>
            <a:off x="11102828" y="456468"/>
            <a:ext cx="513527" cy="513527"/>
          </a:xfrm>
          <a:prstGeom prst="rect">
            <a:avLst/>
          </a:prstGeom>
        </p:spPr>
      </p:pic>
      <p:sp>
        <p:nvSpPr>
          <p:cNvPr id="6" name="Text 3"/>
          <p:cNvSpPr/>
          <p:nvPr/>
        </p:nvSpPr>
        <p:spPr>
          <a:xfrm>
            <a:off x="502920" y="6547104"/>
            <a:ext cx="7315200" cy="237744"/>
          </a:xfrm>
          <a:prstGeom prst="rect">
            <a:avLst/>
          </a:prstGeom>
          <a:noFill/>
          <a:ln/>
        </p:spPr>
        <p:txBody>
          <a:bodyPr wrap="square" rtlCol="0" anchor="ctr"/>
          <a:lstStyle/>
          <a:p>
            <a:pPr marL="0" indent="0">
              <a:buNone/>
            </a:pPr>
            <a:r>
              <a:rPr lang="en-US" sz="800" kern="0" spc="50" dirty="0">
                <a:solidFill>
                  <a:srgbClr val="6B7A89"/>
                </a:solidFill>
                <a:latin typeface="Calibri" pitchFamily="34" charset="0"/>
                <a:ea typeface="Calibri" pitchFamily="34" charset="-122"/>
                <a:cs typeface="Calibri" pitchFamily="34" charset="-120"/>
              </a:rPr>
              <a:t>HỆ THỐNG DỰ ĐOÁN MỨC TIÊU HAO NHIÊN LIỆU XE</a:t>
            </a:r>
            <a:endParaRPr lang="en-US" sz="800" dirty="0"/>
          </a:p>
        </p:txBody>
      </p:sp>
      <p:sp>
        <p:nvSpPr>
          <p:cNvPr id="7" name="Text 4"/>
          <p:cNvSpPr/>
          <p:nvPr/>
        </p:nvSpPr>
        <p:spPr>
          <a:xfrm>
            <a:off x="11231575" y="6547104"/>
            <a:ext cx="457200" cy="237744"/>
          </a:xfrm>
          <a:prstGeom prst="rect">
            <a:avLst/>
          </a:prstGeom>
          <a:noFill/>
          <a:ln/>
        </p:spPr>
        <p:txBody>
          <a:bodyPr wrap="square" rtlCol="0" anchor="ctr"/>
          <a:lstStyle/>
          <a:p>
            <a:pPr marL="0" indent="0" algn="r">
              <a:buNone/>
            </a:pPr>
            <a:r>
              <a:rPr lang="en-US" sz="900" b="1" dirty="0">
                <a:solidFill>
                  <a:srgbClr val="6B7A89"/>
                </a:solidFill>
                <a:latin typeface="Calibri" pitchFamily="34" charset="0"/>
                <a:ea typeface="Calibri" pitchFamily="34" charset="-122"/>
                <a:cs typeface="Calibri" pitchFamily="34" charset="-120"/>
              </a:rPr>
              <a:t>18</a:t>
            </a:r>
            <a:endParaRPr lang="en-US" sz="900" dirty="0"/>
          </a:p>
        </p:txBody>
      </p:sp>
      <p:sp>
        <p:nvSpPr>
          <p:cNvPr id="8" name="Shape 5"/>
          <p:cNvSpPr/>
          <p:nvPr/>
        </p:nvSpPr>
        <p:spPr>
          <a:xfrm>
            <a:off x="502920" y="1417320"/>
            <a:ext cx="3291840" cy="3246120"/>
          </a:xfrm>
          <a:prstGeom prst="roundRect">
            <a:avLst>
              <a:gd name="adj" fmla="val 2535"/>
            </a:avLst>
          </a:prstGeom>
          <a:solidFill>
            <a:srgbClr val="0F2A47"/>
          </a:solidFill>
          <a:ln/>
          <a:effectLst>
            <a:outerShdw blurRad="101600" dist="25400" dir="5400000" algn="bl" rotWithShape="0">
              <a:srgbClr val="1A2433">
                <a:alpha val="12000"/>
              </a:srgbClr>
            </a:outerShdw>
          </a:effectLst>
        </p:spPr>
        <p:txBody>
          <a:bodyPr/>
          <a:lstStyle/>
          <a:p>
            <a:endParaRPr lang="en-US"/>
          </a:p>
        </p:txBody>
      </p:sp>
      <p:sp>
        <p:nvSpPr>
          <p:cNvPr id="9" name="Text 6"/>
          <p:cNvSpPr/>
          <p:nvPr/>
        </p:nvSpPr>
        <p:spPr>
          <a:xfrm>
            <a:off x="777240" y="1645920"/>
            <a:ext cx="2743200" cy="274320"/>
          </a:xfrm>
          <a:prstGeom prst="rect">
            <a:avLst/>
          </a:prstGeom>
          <a:noFill/>
          <a:ln/>
        </p:spPr>
        <p:txBody>
          <a:bodyPr wrap="square" rtlCol="0" anchor="ctr"/>
          <a:lstStyle/>
          <a:p>
            <a:pPr marL="0" indent="0">
              <a:buNone/>
            </a:pPr>
            <a:r>
              <a:rPr lang="en-US" sz="1100" b="1" kern="0" spc="150" dirty="0">
                <a:solidFill>
                  <a:srgbClr val="9FB3C8"/>
                </a:solidFill>
                <a:latin typeface="Calibri" pitchFamily="34" charset="0"/>
                <a:ea typeface="Calibri" pitchFamily="34" charset="-122"/>
                <a:cs typeface="Calibri" pitchFamily="34" charset="-120"/>
              </a:rPr>
              <a:t>MÔ HÌNH CUỐI CÙNG</a:t>
            </a:r>
            <a:endParaRPr lang="en-US" sz="1100" dirty="0"/>
          </a:p>
        </p:txBody>
      </p:sp>
      <p:sp>
        <p:nvSpPr>
          <p:cNvPr id="10" name="Text 7"/>
          <p:cNvSpPr/>
          <p:nvPr/>
        </p:nvSpPr>
        <p:spPr>
          <a:xfrm>
            <a:off x="777240" y="1874520"/>
            <a:ext cx="2743200" cy="594360"/>
          </a:xfrm>
          <a:prstGeom prst="rect">
            <a:avLst/>
          </a:prstGeom>
          <a:noFill/>
          <a:ln/>
        </p:spPr>
        <p:txBody>
          <a:bodyPr wrap="square" rtlCol="0" anchor="ctr"/>
          <a:lstStyle/>
          <a:p>
            <a:pPr marL="0" indent="0">
              <a:buNone/>
            </a:pPr>
            <a:r>
              <a:rPr lang="en-US" sz="3400" b="1" dirty="0">
                <a:solidFill>
                  <a:srgbClr val="E8833A"/>
                </a:solidFill>
                <a:latin typeface="Cambria" pitchFamily="34" charset="0"/>
                <a:ea typeface="Cambria" pitchFamily="34" charset="-122"/>
                <a:cs typeface="Cambria" pitchFamily="34" charset="-120"/>
              </a:rPr>
              <a:t>SVR</a:t>
            </a:r>
            <a:endParaRPr lang="en-US" sz="3400" dirty="0"/>
          </a:p>
        </p:txBody>
      </p:sp>
      <p:sp>
        <p:nvSpPr>
          <p:cNvPr id="11" name="Text 8"/>
          <p:cNvSpPr/>
          <p:nvPr/>
        </p:nvSpPr>
        <p:spPr>
          <a:xfrm>
            <a:off x="777240" y="2560320"/>
            <a:ext cx="2743200" cy="2011680"/>
          </a:xfrm>
          <a:prstGeom prst="rect">
            <a:avLst/>
          </a:prstGeom>
          <a:noFill/>
          <a:ln/>
        </p:spPr>
        <p:txBody>
          <a:bodyPr wrap="square" rtlCol="0" anchor="t"/>
          <a:lstStyle/>
          <a:p>
            <a:pPr marL="342900" indent="-342900">
              <a:spcAft>
                <a:spcPts val="800"/>
              </a:spcAft>
              <a:buSzPct val="100000"/>
              <a:buChar char="▪"/>
            </a:pPr>
            <a:r>
              <a:rPr lang="en-US" sz="1150" dirty="0">
                <a:solidFill>
                  <a:srgbClr val="FFFFFF"/>
                </a:solidFill>
              </a:rPr>
              <a:t>Có kết quả MAE/RMSE phù hợp.</a:t>
            </a:r>
            <a:endParaRPr lang="en-US" sz="1150" dirty="0"/>
          </a:p>
          <a:p>
            <a:pPr marL="342900" indent="-342900">
              <a:spcAft>
                <a:spcPts val="800"/>
              </a:spcAft>
              <a:buSzPct val="100000"/>
              <a:buChar char="▪"/>
            </a:pPr>
            <a:r>
              <a:rPr lang="en-US" sz="1150" dirty="0">
                <a:solidFill>
                  <a:srgbClr val="FFFFFF"/>
                </a:solidFill>
              </a:rPr>
              <a:t>R² đạt 0.9583 trong thực nghiệm.</a:t>
            </a:r>
            <a:endParaRPr lang="en-US" sz="1150" dirty="0"/>
          </a:p>
          <a:p>
            <a:pPr marL="342900" indent="-342900">
              <a:spcAft>
                <a:spcPts val="800"/>
              </a:spcAft>
              <a:buSzPct val="100000"/>
              <a:buChar char="▪"/>
            </a:pPr>
            <a:r>
              <a:rPr lang="en-US" sz="1150" dirty="0">
                <a:solidFill>
                  <a:srgbClr val="FFFFFF"/>
                </a:solidFill>
              </a:rPr>
              <a:t>Cross Validation tương đối ổn định.</a:t>
            </a:r>
            <a:endParaRPr lang="en-US" sz="1150" dirty="0"/>
          </a:p>
          <a:p>
            <a:pPr marL="342900" indent="-342900">
              <a:spcAft>
                <a:spcPts val="800"/>
              </a:spcAft>
              <a:buSzPct val="100000"/>
              <a:buChar char="▪"/>
            </a:pPr>
            <a:r>
              <a:rPr lang="en-US" sz="1150" dirty="0">
                <a:solidFill>
                  <a:srgbClr val="FFFFFF"/>
                </a:solidFill>
              </a:rPr>
              <a:t>Khoảng cách giữa Train và Test hợp lý.</a:t>
            </a:r>
            <a:endParaRPr lang="en-US" sz="1150" dirty="0"/>
          </a:p>
          <a:p>
            <a:pPr marL="342900" indent="-342900">
              <a:spcAft>
                <a:spcPts val="800"/>
              </a:spcAft>
              <a:buSzPct val="100000"/>
              <a:buChar char="▪"/>
            </a:pPr>
            <a:r>
              <a:rPr lang="en-US" sz="1150" dirty="0">
                <a:solidFill>
                  <a:srgbClr val="FFFFFF"/>
                </a:solidFill>
              </a:rPr>
              <a:t>Có khả năng tích hợp vào AI Service.</a:t>
            </a:r>
            <a:endParaRPr lang="en-US" sz="1150" dirty="0"/>
          </a:p>
        </p:txBody>
      </p:sp>
      <p:sp>
        <p:nvSpPr>
          <p:cNvPr id="12" name="Shape 9"/>
          <p:cNvSpPr/>
          <p:nvPr/>
        </p:nvSpPr>
        <p:spPr>
          <a:xfrm>
            <a:off x="4160520" y="1600200"/>
            <a:ext cx="1371600" cy="777240"/>
          </a:xfrm>
          <a:prstGeom prst="roundRect">
            <a:avLst>
              <a:gd name="adj" fmla="val 9412"/>
            </a:avLst>
          </a:prstGeom>
          <a:solidFill>
            <a:srgbClr val="3A6EA5"/>
          </a:solidFill>
          <a:ln/>
          <a:effectLst>
            <a:outerShdw blurRad="101600" dist="25400" dir="5400000" algn="bl" rotWithShape="0">
              <a:srgbClr val="1A2433">
                <a:alpha val="12000"/>
              </a:srgbClr>
            </a:outerShdw>
          </a:effectLst>
        </p:spPr>
        <p:txBody>
          <a:bodyPr/>
          <a:lstStyle/>
          <a:p>
            <a:endParaRPr lang="en-US"/>
          </a:p>
        </p:txBody>
      </p:sp>
      <p:sp>
        <p:nvSpPr>
          <p:cNvPr id="13" name="Text 10"/>
          <p:cNvSpPr/>
          <p:nvPr/>
        </p:nvSpPr>
        <p:spPr>
          <a:xfrm>
            <a:off x="4215384" y="1600200"/>
            <a:ext cx="1261872" cy="7772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Người dùng</a:t>
            </a:r>
            <a:endParaRPr lang="en-US" sz="1100" dirty="0"/>
          </a:p>
        </p:txBody>
      </p:sp>
      <p:sp>
        <p:nvSpPr>
          <p:cNvPr id="14" name="Shape 11"/>
          <p:cNvSpPr/>
          <p:nvPr/>
        </p:nvSpPr>
        <p:spPr>
          <a:xfrm>
            <a:off x="5568696" y="1869948"/>
            <a:ext cx="309067" cy="237744"/>
          </a:xfrm>
          <a:prstGeom prst="rightArrow">
            <a:avLst/>
          </a:prstGeom>
          <a:solidFill>
            <a:srgbClr val="0F2A47"/>
          </a:solidFill>
          <a:ln/>
        </p:spPr>
        <p:txBody>
          <a:bodyPr/>
          <a:lstStyle/>
          <a:p>
            <a:endParaRPr lang="en-US"/>
          </a:p>
        </p:txBody>
      </p:sp>
      <p:sp>
        <p:nvSpPr>
          <p:cNvPr id="15" name="Shape 12"/>
          <p:cNvSpPr/>
          <p:nvPr/>
        </p:nvSpPr>
        <p:spPr>
          <a:xfrm>
            <a:off x="5824728" y="1600200"/>
            <a:ext cx="1371600" cy="777240"/>
          </a:xfrm>
          <a:prstGeom prst="roundRect">
            <a:avLst>
              <a:gd name="adj" fmla="val 9412"/>
            </a:avLst>
          </a:prstGeom>
          <a:solidFill>
            <a:srgbClr val="3A6EA5"/>
          </a:solidFill>
          <a:ln/>
          <a:effectLst>
            <a:outerShdw blurRad="101600" dist="25400" dir="5400000" algn="bl" rotWithShape="0">
              <a:srgbClr val="1A2433">
                <a:alpha val="12000"/>
              </a:srgbClr>
            </a:outerShdw>
          </a:effectLst>
        </p:spPr>
        <p:txBody>
          <a:bodyPr/>
          <a:lstStyle/>
          <a:p>
            <a:endParaRPr lang="en-US"/>
          </a:p>
        </p:txBody>
      </p:sp>
      <p:sp>
        <p:nvSpPr>
          <p:cNvPr id="16" name="Text 13"/>
          <p:cNvSpPr/>
          <p:nvPr/>
        </p:nvSpPr>
        <p:spPr>
          <a:xfrm>
            <a:off x="5879592" y="1600200"/>
            <a:ext cx="1261872" cy="7772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Frontend</a:t>
            </a:r>
            <a:endParaRPr lang="en-US" sz="1100" dirty="0"/>
          </a:p>
        </p:txBody>
      </p:sp>
      <p:sp>
        <p:nvSpPr>
          <p:cNvPr id="17" name="Shape 14"/>
          <p:cNvSpPr/>
          <p:nvPr/>
        </p:nvSpPr>
        <p:spPr>
          <a:xfrm>
            <a:off x="7232904" y="1869948"/>
            <a:ext cx="309067" cy="237744"/>
          </a:xfrm>
          <a:prstGeom prst="rightArrow">
            <a:avLst/>
          </a:prstGeom>
          <a:solidFill>
            <a:srgbClr val="0F2A47"/>
          </a:solidFill>
          <a:ln/>
        </p:spPr>
        <p:txBody>
          <a:bodyPr/>
          <a:lstStyle/>
          <a:p>
            <a:endParaRPr lang="en-US"/>
          </a:p>
        </p:txBody>
      </p:sp>
      <p:sp>
        <p:nvSpPr>
          <p:cNvPr id="18" name="Shape 15"/>
          <p:cNvSpPr/>
          <p:nvPr/>
        </p:nvSpPr>
        <p:spPr>
          <a:xfrm>
            <a:off x="7488936" y="1600200"/>
            <a:ext cx="1371600" cy="777240"/>
          </a:xfrm>
          <a:prstGeom prst="roundRect">
            <a:avLst>
              <a:gd name="adj" fmla="val 9412"/>
            </a:avLst>
          </a:prstGeom>
          <a:solidFill>
            <a:srgbClr val="3A6EA5"/>
          </a:solidFill>
          <a:ln/>
          <a:effectLst>
            <a:outerShdw blurRad="101600" dist="25400" dir="5400000" algn="bl" rotWithShape="0">
              <a:srgbClr val="1A2433">
                <a:alpha val="12000"/>
              </a:srgbClr>
            </a:outerShdw>
          </a:effectLst>
        </p:spPr>
        <p:txBody>
          <a:bodyPr/>
          <a:lstStyle/>
          <a:p>
            <a:endParaRPr lang="en-US"/>
          </a:p>
        </p:txBody>
      </p:sp>
      <p:sp>
        <p:nvSpPr>
          <p:cNvPr id="19" name="Text 16"/>
          <p:cNvSpPr/>
          <p:nvPr/>
        </p:nvSpPr>
        <p:spPr>
          <a:xfrm>
            <a:off x="7543800" y="1600200"/>
            <a:ext cx="1261872" cy="7772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Backend</a:t>
            </a:r>
            <a:endParaRPr lang="en-US" sz="1100" dirty="0"/>
          </a:p>
        </p:txBody>
      </p:sp>
      <p:sp>
        <p:nvSpPr>
          <p:cNvPr id="20" name="Shape 17"/>
          <p:cNvSpPr/>
          <p:nvPr/>
        </p:nvSpPr>
        <p:spPr>
          <a:xfrm>
            <a:off x="8897112" y="1869948"/>
            <a:ext cx="309067" cy="237744"/>
          </a:xfrm>
          <a:prstGeom prst="rightArrow">
            <a:avLst/>
          </a:prstGeom>
          <a:solidFill>
            <a:srgbClr val="0F2A47"/>
          </a:solidFill>
          <a:ln/>
        </p:spPr>
        <p:txBody>
          <a:bodyPr/>
          <a:lstStyle/>
          <a:p>
            <a:endParaRPr lang="en-US"/>
          </a:p>
        </p:txBody>
      </p:sp>
      <p:sp>
        <p:nvSpPr>
          <p:cNvPr id="21" name="Shape 18"/>
          <p:cNvSpPr/>
          <p:nvPr/>
        </p:nvSpPr>
        <p:spPr>
          <a:xfrm>
            <a:off x="9153144" y="1463040"/>
            <a:ext cx="2535631" cy="1051560"/>
          </a:xfrm>
          <a:prstGeom prst="roundRect">
            <a:avLst>
              <a:gd name="adj" fmla="val 7826"/>
            </a:avLst>
          </a:prstGeom>
          <a:solidFill>
            <a:srgbClr val="E8833A"/>
          </a:solidFill>
          <a:ln/>
          <a:effectLst>
            <a:outerShdw blurRad="101600" dist="25400" dir="5400000" algn="bl" rotWithShape="0">
              <a:srgbClr val="1A2433">
                <a:alpha val="12000"/>
              </a:srgbClr>
            </a:outerShdw>
          </a:effectLst>
        </p:spPr>
        <p:txBody>
          <a:bodyPr/>
          <a:lstStyle/>
          <a:p>
            <a:endParaRPr lang="en-US"/>
          </a:p>
        </p:txBody>
      </p:sp>
      <p:sp>
        <p:nvSpPr>
          <p:cNvPr id="22" name="Text 19"/>
          <p:cNvSpPr/>
          <p:nvPr/>
        </p:nvSpPr>
        <p:spPr>
          <a:xfrm>
            <a:off x="9336024" y="1554480"/>
            <a:ext cx="2169871" cy="256032"/>
          </a:xfrm>
          <a:prstGeom prst="rect">
            <a:avLst/>
          </a:prstGeom>
          <a:noFill/>
          <a:ln/>
        </p:spPr>
        <p:txBody>
          <a:bodyPr wrap="square" rtlCol="0" anchor="ctr"/>
          <a:lstStyle/>
          <a:p>
            <a:pPr marL="0" indent="0">
              <a:buNone/>
            </a:pPr>
            <a:r>
              <a:rPr lang="en-US" sz="1000" b="1" kern="0" spc="100" dirty="0">
                <a:solidFill>
                  <a:srgbClr val="FFFFFF"/>
                </a:solidFill>
                <a:latin typeface="Calibri" pitchFamily="34" charset="0"/>
                <a:ea typeface="Calibri" pitchFamily="34" charset="-122"/>
                <a:cs typeface="Calibri" pitchFamily="34" charset="-120"/>
              </a:rPr>
              <a:t>AI SERVICE</a:t>
            </a:r>
            <a:endParaRPr lang="en-US" sz="1000" dirty="0"/>
          </a:p>
        </p:txBody>
      </p:sp>
      <p:sp>
        <p:nvSpPr>
          <p:cNvPr id="23" name="Text 20"/>
          <p:cNvSpPr/>
          <p:nvPr/>
        </p:nvSpPr>
        <p:spPr>
          <a:xfrm>
            <a:off x="9336024" y="1801368"/>
            <a:ext cx="2169871" cy="502920"/>
          </a:xfrm>
          <a:prstGeom prst="rect">
            <a:avLst/>
          </a:prstGeom>
          <a:noFill/>
          <a:ln/>
        </p:spPr>
        <p:txBody>
          <a:bodyPr wrap="square"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Preprocessing + Model  →  Prediction: L/100 km</a:t>
            </a:r>
            <a:endParaRPr lang="en-US" sz="1250" dirty="0"/>
          </a:p>
        </p:txBody>
      </p:sp>
      <p:sp>
        <p:nvSpPr>
          <p:cNvPr id="24" name="Shape 21"/>
          <p:cNvSpPr/>
          <p:nvPr/>
        </p:nvSpPr>
        <p:spPr>
          <a:xfrm>
            <a:off x="7488936" y="2880360"/>
            <a:ext cx="1371600" cy="777240"/>
          </a:xfrm>
          <a:prstGeom prst="roundRect">
            <a:avLst>
              <a:gd name="adj" fmla="val 9412"/>
            </a:avLst>
          </a:prstGeom>
          <a:solidFill>
            <a:srgbClr val="3A6EA5"/>
          </a:solidFill>
          <a:ln/>
          <a:effectLst>
            <a:outerShdw blurRad="101600" dist="25400" dir="5400000" algn="bl" rotWithShape="0">
              <a:srgbClr val="1A2433">
                <a:alpha val="12000"/>
              </a:srgbClr>
            </a:outerShdw>
          </a:effectLst>
        </p:spPr>
        <p:txBody>
          <a:bodyPr/>
          <a:lstStyle/>
          <a:p>
            <a:endParaRPr lang="en-US"/>
          </a:p>
        </p:txBody>
      </p:sp>
      <p:sp>
        <p:nvSpPr>
          <p:cNvPr id="25" name="Text 22"/>
          <p:cNvSpPr/>
          <p:nvPr/>
        </p:nvSpPr>
        <p:spPr>
          <a:xfrm>
            <a:off x="7543800" y="2880360"/>
            <a:ext cx="1261872" cy="7772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Backend</a:t>
            </a:r>
            <a:endParaRPr lang="en-US" sz="1100" dirty="0"/>
          </a:p>
        </p:txBody>
      </p:sp>
      <p:sp>
        <p:nvSpPr>
          <p:cNvPr id="26" name="Shape 23"/>
          <p:cNvSpPr/>
          <p:nvPr/>
        </p:nvSpPr>
        <p:spPr>
          <a:xfrm>
            <a:off x="8897112" y="3150108"/>
            <a:ext cx="309067" cy="237744"/>
          </a:xfrm>
          <a:prstGeom prst="rightArrow">
            <a:avLst/>
          </a:prstGeom>
          <a:solidFill>
            <a:srgbClr val="0F2A47"/>
          </a:solidFill>
          <a:ln/>
        </p:spPr>
        <p:txBody>
          <a:bodyPr/>
          <a:lstStyle/>
          <a:p>
            <a:endParaRPr lang="en-US"/>
          </a:p>
        </p:txBody>
      </p:sp>
      <p:sp>
        <p:nvSpPr>
          <p:cNvPr id="27" name="Shape 24"/>
          <p:cNvSpPr/>
          <p:nvPr/>
        </p:nvSpPr>
        <p:spPr>
          <a:xfrm>
            <a:off x="9153144" y="2880360"/>
            <a:ext cx="1645920" cy="777240"/>
          </a:xfrm>
          <a:prstGeom prst="roundRect">
            <a:avLst>
              <a:gd name="adj" fmla="val 9412"/>
            </a:avLst>
          </a:prstGeom>
          <a:solidFill>
            <a:srgbClr val="0F2A47"/>
          </a:solidFill>
          <a:ln/>
          <a:effectLst>
            <a:outerShdw blurRad="101600" dist="25400" dir="5400000" algn="bl" rotWithShape="0">
              <a:srgbClr val="1A2433">
                <a:alpha val="12000"/>
              </a:srgbClr>
            </a:outerShdw>
          </a:effectLst>
        </p:spPr>
        <p:txBody>
          <a:bodyPr/>
          <a:lstStyle/>
          <a:p>
            <a:endParaRPr lang="en-US"/>
          </a:p>
        </p:txBody>
      </p:sp>
      <p:sp>
        <p:nvSpPr>
          <p:cNvPr id="28" name="Text 25"/>
          <p:cNvSpPr/>
          <p:nvPr/>
        </p:nvSpPr>
        <p:spPr>
          <a:xfrm>
            <a:off x="9208008" y="2880360"/>
            <a:ext cx="1536192" cy="77724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MongoDB</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 trả kết quả</a:t>
            </a:r>
            <a:endParaRPr lang="en-US" sz="1050" dirty="0"/>
          </a:p>
        </p:txBody>
      </p:sp>
      <p:sp>
        <p:nvSpPr>
          <p:cNvPr id="29" name="Shape 26"/>
          <p:cNvSpPr/>
          <p:nvPr/>
        </p:nvSpPr>
        <p:spPr>
          <a:xfrm>
            <a:off x="10420960" y="2423160"/>
            <a:ext cx="914" cy="457200"/>
          </a:xfrm>
          <a:prstGeom prst="line">
            <a:avLst/>
          </a:prstGeom>
          <a:noFill/>
          <a:ln w="19050">
            <a:solidFill>
              <a:srgbClr val="3A6EA5"/>
            </a:solidFill>
            <a:prstDash val="solid"/>
            <a:tailEnd type="triangle"/>
          </a:ln>
        </p:spPr>
        <p:txBody>
          <a:bodyPr/>
          <a:lstStyle/>
          <a:p>
            <a:endParaRPr lang="en-US"/>
          </a:p>
        </p:txBody>
      </p:sp>
      <p:sp>
        <p:nvSpPr>
          <p:cNvPr id="30" name="Shape 27"/>
          <p:cNvSpPr/>
          <p:nvPr/>
        </p:nvSpPr>
        <p:spPr>
          <a:xfrm>
            <a:off x="4160520" y="4892040"/>
            <a:ext cx="7528255" cy="1737360"/>
          </a:xfrm>
          <a:prstGeom prst="roundRect">
            <a:avLst>
              <a:gd name="adj" fmla="val 4737"/>
            </a:avLst>
          </a:prstGeom>
          <a:solidFill>
            <a:srgbClr val="F5F8FB"/>
          </a:solidFill>
          <a:ln/>
          <a:effectLst>
            <a:outerShdw blurRad="101600" dist="25400" dir="5400000" algn="bl" rotWithShape="0">
              <a:srgbClr val="1A2433">
                <a:alpha val="12000"/>
              </a:srgbClr>
            </a:outerShdw>
          </a:effectLst>
        </p:spPr>
        <p:txBody>
          <a:bodyPr/>
          <a:lstStyle/>
          <a:p>
            <a:endParaRPr lang="en-US"/>
          </a:p>
        </p:txBody>
      </p:sp>
      <p:sp>
        <p:nvSpPr>
          <p:cNvPr id="31" name="Text 28"/>
          <p:cNvSpPr/>
          <p:nvPr/>
        </p:nvSpPr>
        <p:spPr>
          <a:xfrm>
            <a:off x="4434840" y="4892040"/>
            <a:ext cx="6979615" cy="1737360"/>
          </a:xfrm>
          <a:prstGeom prst="rect">
            <a:avLst/>
          </a:prstGeom>
          <a:noFill/>
          <a:ln/>
        </p:spPr>
        <p:txBody>
          <a:bodyPr wrap="square" rtlCol="0" anchor="ctr"/>
          <a:lstStyle/>
          <a:p>
            <a:pPr marL="0" indent="0">
              <a:lnSpc>
                <a:spcPct val="120000"/>
              </a:lnSpc>
              <a:buNone/>
            </a:pPr>
            <a:r>
              <a:rPr lang="en-US" sz="1300" b="1" dirty="0">
                <a:solidFill>
                  <a:srgbClr val="0F2A47"/>
                </a:solidFill>
                <a:latin typeface="Calibri" pitchFamily="34" charset="0"/>
                <a:ea typeface="Calibri" pitchFamily="34" charset="-122"/>
                <a:cs typeface="Calibri" pitchFamily="34" charset="-120"/>
              </a:rPr>
              <a:t>Giải thích:  </a:t>
            </a:r>
            <a:r>
              <a:rPr lang="en-US" sz="1300" dirty="0">
                <a:solidFill>
                  <a:srgbClr val="1A2433"/>
                </a:solidFill>
                <a:latin typeface="Calibri" pitchFamily="34" charset="0"/>
                <a:ea typeface="Calibri" pitchFamily="34" charset="-122"/>
                <a:cs typeface="Calibri" pitchFamily="34" charset="-120"/>
              </a:rPr>
              <a:t>Người dùng nhập thông số của xe. Frontend gửi dữ liệu tới Backend. Backend kiểm tra dữ liệu, gọi AI Service và lưu lịch sử vào MongoDB.</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2A47"/>
        </a:solidFill>
        <a:effectLst/>
      </p:bgPr>
    </p:bg>
    <p:spTree>
      <p:nvGrpSpPr>
        <p:cNvPr id="1" name=""/>
        <p:cNvGrpSpPr/>
        <p:nvPr/>
      </p:nvGrpSpPr>
      <p:grpSpPr>
        <a:xfrm>
          <a:off x="0" y="0"/>
          <a:ext cx="0" cy="0"/>
          <a:chOff x="0" y="0"/>
          <a:chExt cx="0" cy="0"/>
        </a:xfrm>
      </p:grpSpPr>
      <p:sp>
        <p:nvSpPr>
          <p:cNvPr id="2" name="Text 0"/>
          <p:cNvSpPr/>
          <p:nvPr/>
        </p:nvSpPr>
        <p:spPr>
          <a:xfrm>
            <a:off x="502920" y="384048"/>
            <a:ext cx="8686800" cy="256032"/>
          </a:xfrm>
          <a:prstGeom prst="rect">
            <a:avLst/>
          </a:prstGeom>
          <a:noFill/>
          <a:ln/>
        </p:spPr>
        <p:txBody>
          <a:bodyPr wrap="square" rtlCol="0" anchor="ctr"/>
          <a:lstStyle/>
          <a:p>
            <a:pPr marL="0" indent="0">
              <a:buNone/>
            </a:pPr>
            <a:r>
              <a:rPr lang="en-US" sz="1200" b="1" kern="0" spc="200" dirty="0">
                <a:solidFill>
                  <a:srgbClr val="E8833A"/>
                </a:solidFill>
                <a:latin typeface="Calibri" pitchFamily="34" charset="0"/>
                <a:ea typeface="Calibri" pitchFamily="34" charset="-122"/>
                <a:cs typeface="Calibri" pitchFamily="34" charset="-120"/>
              </a:rPr>
              <a:t>KẾT LUẬN</a:t>
            </a:r>
            <a:endParaRPr lang="en-US" sz="1200" dirty="0"/>
          </a:p>
        </p:txBody>
      </p:sp>
      <p:sp>
        <p:nvSpPr>
          <p:cNvPr id="3" name="Text 1"/>
          <p:cNvSpPr/>
          <p:nvPr/>
        </p:nvSpPr>
        <p:spPr>
          <a:xfrm>
            <a:off x="502920" y="621792"/>
            <a:ext cx="9692640" cy="566928"/>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KẾT LUẬN VÀ HƯỚNG PHÁT TRIỂN</a:t>
            </a:r>
            <a:endParaRPr lang="en-US" sz="2400" dirty="0"/>
          </a:p>
        </p:txBody>
      </p:sp>
      <p:sp>
        <p:nvSpPr>
          <p:cNvPr id="4" name="Shape 2"/>
          <p:cNvSpPr/>
          <p:nvPr/>
        </p:nvSpPr>
        <p:spPr>
          <a:xfrm>
            <a:off x="11030407" y="384048"/>
            <a:ext cx="658368" cy="658368"/>
          </a:xfrm>
          <a:prstGeom prst="ellipse">
            <a:avLst/>
          </a:prstGeom>
          <a:solidFill>
            <a:srgbClr val="E8833A"/>
          </a:solidFill>
          <a:ln/>
        </p:spPr>
        <p:txBody>
          <a:bodyPr/>
          <a:lstStyle/>
          <a:p>
            <a:endParaRPr lang="en-US"/>
          </a:p>
        </p:txBody>
      </p:sp>
      <p:pic>
        <p:nvPicPr>
          <p:cNvPr id="5" name="Image 0" descr="/home/claude/work/icons/flag_FFFFFF.png"/>
          <p:cNvPicPr>
            <a:picLocks noChangeAspect="1"/>
          </p:cNvPicPr>
          <p:nvPr/>
        </p:nvPicPr>
        <p:blipFill>
          <a:blip r:embed="rId3"/>
          <a:stretch>
            <a:fillRect/>
          </a:stretch>
        </p:blipFill>
        <p:spPr>
          <a:xfrm>
            <a:off x="11102828" y="456468"/>
            <a:ext cx="513527" cy="513527"/>
          </a:xfrm>
          <a:prstGeom prst="rect">
            <a:avLst/>
          </a:prstGeom>
        </p:spPr>
      </p:pic>
      <p:sp>
        <p:nvSpPr>
          <p:cNvPr id="6" name="Text 3"/>
          <p:cNvSpPr/>
          <p:nvPr/>
        </p:nvSpPr>
        <p:spPr>
          <a:xfrm>
            <a:off x="502920" y="6547104"/>
            <a:ext cx="7315200" cy="237744"/>
          </a:xfrm>
          <a:prstGeom prst="rect">
            <a:avLst/>
          </a:prstGeom>
          <a:noFill/>
          <a:ln/>
        </p:spPr>
        <p:txBody>
          <a:bodyPr wrap="square" rtlCol="0" anchor="ctr"/>
          <a:lstStyle/>
          <a:p>
            <a:pPr marL="0" indent="0">
              <a:buNone/>
            </a:pPr>
            <a:r>
              <a:rPr lang="en-US" sz="800" kern="0" spc="50" dirty="0">
                <a:solidFill>
                  <a:srgbClr val="9FB3C8"/>
                </a:solidFill>
                <a:latin typeface="Calibri" pitchFamily="34" charset="0"/>
                <a:ea typeface="Calibri" pitchFamily="34" charset="-122"/>
                <a:cs typeface="Calibri" pitchFamily="34" charset="-120"/>
              </a:rPr>
              <a:t>HỆ THỐNG DỰ ĐOÁN MỨC TIÊU HAO NHIÊN LIỆU XE</a:t>
            </a:r>
            <a:endParaRPr lang="en-US" sz="800" dirty="0"/>
          </a:p>
        </p:txBody>
      </p:sp>
      <p:sp>
        <p:nvSpPr>
          <p:cNvPr id="7" name="Text 4"/>
          <p:cNvSpPr/>
          <p:nvPr/>
        </p:nvSpPr>
        <p:spPr>
          <a:xfrm>
            <a:off x="11231575" y="6547104"/>
            <a:ext cx="457200" cy="237744"/>
          </a:xfrm>
          <a:prstGeom prst="rect">
            <a:avLst/>
          </a:prstGeom>
          <a:noFill/>
          <a:ln/>
        </p:spPr>
        <p:txBody>
          <a:bodyPr wrap="square" rtlCol="0" anchor="ctr"/>
          <a:lstStyle/>
          <a:p>
            <a:pPr marL="0" indent="0" algn="r">
              <a:buNone/>
            </a:pPr>
            <a:r>
              <a:rPr lang="en-US" sz="900" b="1" dirty="0">
                <a:solidFill>
                  <a:srgbClr val="9FB3C8"/>
                </a:solidFill>
                <a:latin typeface="Calibri" pitchFamily="34" charset="0"/>
                <a:ea typeface="Calibri" pitchFamily="34" charset="-122"/>
                <a:cs typeface="Calibri" pitchFamily="34" charset="-120"/>
              </a:rPr>
              <a:t>19</a:t>
            </a:r>
            <a:endParaRPr lang="en-US" sz="900" dirty="0"/>
          </a:p>
        </p:txBody>
      </p:sp>
      <p:sp>
        <p:nvSpPr>
          <p:cNvPr id="8" name="Text 5"/>
          <p:cNvSpPr/>
          <p:nvPr/>
        </p:nvSpPr>
        <p:spPr>
          <a:xfrm>
            <a:off x="502920" y="1417320"/>
            <a:ext cx="6035040" cy="4206240"/>
          </a:xfrm>
          <a:prstGeom prst="rect">
            <a:avLst/>
          </a:prstGeom>
          <a:noFill/>
          <a:ln/>
        </p:spPr>
        <p:txBody>
          <a:bodyPr wrap="square" rtlCol="0" anchor="t"/>
          <a:lstStyle/>
          <a:p>
            <a:pPr marL="342900" indent="-342900">
              <a:lnSpc>
                <a:spcPct val="110000"/>
              </a:lnSpc>
              <a:spcAft>
                <a:spcPts val="900"/>
              </a:spcAft>
              <a:buSzPct val="100000"/>
              <a:buChar char="▪"/>
            </a:pPr>
            <a:r>
              <a:rPr lang="en-US" sz="1200" dirty="0">
                <a:solidFill>
                  <a:srgbClr val="FFFFFF"/>
                </a:solidFill>
              </a:rPr>
              <a:t>Đề tài đã xây dựng quy trình Machine Learning cho bài toán dự đoán mức tiêu hao nhiên liệu của xe.</a:t>
            </a:r>
            <a:endParaRPr lang="en-US" sz="1200" dirty="0"/>
          </a:p>
          <a:p>
            <a:pPr marL="342900" indent="-342900">
              <a:lnSpc>
                <a:spcPct val="110000"/>
              </a:lnSpc>
              <a:spcAft>
                <a:spcPts val="900"/>
              </a:spcAft>
              <a:buSzPct val="100000"/>
              <a:buChar char="▪"/>
            </a:pPr>
            <a:r>
              <a:rPr lang="en-US" sz="1200" dirty="0">
                <a:solidFill>
                  <a:srgbClr val="FFFFFF"/>
                </a:solidFill>
              </a:rPr>
              <a:t>Dataset được phân tích bằng EDA để tìm hiểu phân bố và mối quan hệ giữa các đặc trưng.</a:t>
            </a:r>
            <a:endParaRPr lang="en-US" sz="1200" dirty="0"/>
          </a:p>
          <a:p>
            <a:pPr marL="342900" indent="-342900">
              <a:lnSpc>
                <a:spcPct val="110000"/>
              </a:lnSpc>
              <a:spcAft>
                <a:spcPts val="900"/>
              </a:spcAft>
              <a:buSzPct val="100000"/>
              <a:buChar char="▪"/>
            </a:pPr>
            <a:r>
              <a:rPr lang="en-US" sz="1200" dirty="0">
                <a:solidFill>
                  <a:srgbClr val="FFFFFF"/>
                </a:solidFill>
              </a:rPr>
              <a:t>Dữ liệu được làm sạch và tiền xử lý bằng Pipeline nhằm hạn chế Data Leakage.</a:t>
            </a:r>
            <a:endParaRPr lang="en-US" sz="1200" dirty="0"/>
          </a:p>
          <a:p>
            <a:pPr marL="342900" indent="-342900">
              <a:lnSpc>
                <a:spcPct val="110000"/>
              </a:lnSpc>
              <a:spcAft>
                <a:spcPts val="900"/>
              </a:spcAft>
              <a:buSzPct val="100000"/>
              <a:buChar char="▪"/>
            </a:pPr>
            <a:r>
              <a:rPr lang="en-US" sz="1200" dirty="0">
                <a:solidFill>
                  <a:srgbClr val="FFFFFF"/>
                </a:solidFill>
              </a:rPr>
              <a:t>Bốn mô hình gồm Linear Regression, Decision Tree Regressor, KNN Regressor và SVR được huấn luyện và đánh giá.</a:t>
            </a:r>
            <a:endParaRPr lang="en-US" sz="1200" dirty="0"/>
          </a:p>
          <a:p>
            <a:pPr marL="342900" indent="-342900">
              <a:lnSpc>
                <a:spcPct val="110000"/>
              </a:lnSpc>
              <a:spcAft>
                <a:spcPts val="900"/>
              </a:spcAft>
              <a:buSzPct val="100000"/>
              <a:buChar char="▪"/>
            </a:pPr>
            <a:r>
              <a:rPr lang="en-US" sz="1200" dirty="0">
                <a:solidFill>
                  <a:srgbClr val="FFFFFF"/>
                </a:solidFill>
              </a:rPr>
              <a:t>Mô hình cuối được lựa chọn dựa trên kết quả thực nghiệm.</a:t>
            </a:r>
            <a:endParaRPr lang="en-US" sz="1200" dirty="0"/>
          </a:p>
          <a:p>
            <a:pPr marL="342900" indent="-342900">
              <a:lnSpc>
                <a:spcPct val="110000"/>
              </a:lnSpc>
              <a:spcAft>
                <a:spcPts val="900"/>
              </a:spcAft>
              <a:buSzPct val="100000"/>
              <a:buChar char="▪"/>
            </a:pPr>
            <a:r>
              <a:rPr lang="en-US" sz="1200" dirty="0">
                <a:solidFill>
                  <a:srgbClr val="FFFFFF"/>
                </a:solidFill>
              </a:rPr>
              <a:t>Mô hình được đóng gói thành model.joblib để AI Service sử dụng khi dự đoán.</a:t>
            </a:r>
            <a:endParaRPr lang="en-US" sz="1200" dirty="0"/>
          </a:p>
        </p:txBody>
      </p:sp>
      <p:sp>
        <p:nvSpPr>
          <p:cNvPr id="9" name="Shape 6"/>
          <p:cNvSpPr/>
          <p:nvPr/>
        </p:nvSpPr>
        <p:spPr>
          <a:xfrm>
            <a:off x="6858000" y="1417320"/>
            <a:ext cx="4830775" cy="2148840"/>
          </a:xfrm>
          <a:prstGeom prst="roundRect">
            <a:avLst>
              <a:gd name="adj" fmla="val 3830"/>
            </a:avLst>
          </a:prstGeom>
          <a:solidFill>
            <a:srgbClr val="163554"/>
          </a:solidFill>
          <a:ln/>
          <a:effectLst>
            <a:outerShdw blurRad="101600" dist="25400" dir="5400000" algn="bl" rotWithShape="0">
              <a:srgbClr val="1A2433">
                <a:alpha val="12000"/>
              </a:srgbClr>
            </a:outerShdw>
          </a:effectLst>
        </p:spPr>
        <p:txBody>
          <a:bodyPr/>
          <a:lstStyle/>
          <a:p>
            <a:endParaRPr lang="en-US"/>
          </a:p>
        </p:txBody>
      </p:sp>
      <p:sp>
        <p:nvSpPr>
          <p:cNvPr id="10" name="Text 7"/>
          <p:cNvSpPr/>
          <p:nvPr/>
        </p:nvSpPr>
        <p:spPr>
          <a:xfrm>
            <a:off x="7086600" y="1554480"/>
            <a:ext cx="4373575" cy="274320"/>
          </a:xfrm>
          <a:prstGeom prst="rect">
            <a:avLst/>
          </a:prstGeom>
          <a:noFill/>
          <a:ln/>
        </p:spPr>
        <p:txBody>
          <a:bodyPr wrap="square" rtlCol="0" anchor="ctr"/>
          <a:lstStyle/>
          <a:p>
            <a:pPr marL="0" indent="0">
              <a:buNone/>
            </a:pPr>
            <a:r>
              <a:rPr lang="en-US" sz="1150" b="1" kern="0" spc="150" dirty="0">
                <a:solidFill>
                  <a:srgbClr val="E8833A"/>
                </a:solidFill>
                <a:latin typeface="Calibri" pitchFamily="34" charset="0"/>
                <a:ea typeface="Calibri" pitchFamily="34" charset="-122"/>
                <a:cs typeface="Calibri" pitchFamily="34" charset="-120"/>
              </a:rPr>
              <a:t>HẠN CHẾ</a:t>
            </a:r>
            <a:endParaRPr lang="en-US" sz="1150" dirty="0"/>
          </a:p>
        </p:txBody>
      </p:sp>
      <p:sp>
        <p:nvSpPr>
          <p:cNvPr id="11" name="Text 8"/>
          <p:cNvSpPr/>
          <p:nvPr/>
        </p:nvSpPr>
        <p:spPr>
          <a:xfrm>
            <a:off x="7086600" y="1874520"/>
            <a:ext cx="4373575" cy="1645920"/>
          </a:xfrm>
          <a:prstGeom prst="rect">
            <a:avLst/>
          </a:prstGeom>
          <a:noFill/>
          <a:ln/>
        </p:spPr>
        <p:txBody>
          <a:bodyPr wrap="square" rtlCol="0" anchor="t"/>
          <a:lstStyle/>
          <a:p>
            <a:pPr marL="342900" indent="-342900">
              <a:lnSpc>
                <a:spcPct val="105000"/>
              </a:lnSpc>
              <a:spcAft>
                <a:spcPts val="600"/>
              </a:spcAft>
              <a:buSzPct val="100000"/>
              <a:buChar char="•"/>
            </a:pPr>
            <a:r>
              <a:rPr lang="en-US" sz="1050" dirty="0">
                <a:solidFill>
                  <a:srgbClr val="E7EEF5"/>
                </a:solidFill>
              </a:rPr>
              <a:t>Kết quả phụ thuộc vào phạm vi dữ liệu của dataset.</a:t>
            </a:r>
            <a:endParaRPr lang="en-US" sz="1050" dirty="0"/>
          </a:p>
          <a:p>
            <a:pPr marL="342900" indent="-342900">
              <a:lnSpc>
                <a:spcPct val="105000"/>
              </a:lnSpc>
              <a:spcAft>
                <a:spcPts val="600"/>
              </a:spcAft>
              <a:buSzPct val="100000"/>
              <a:buChar char="•"/>
            </a:pPr>
            <a:r>
              <a:rPr lang="en-US" sz="1050" dirty="0">
                <a:solidFill>
                  <a:srgbClr val="E7EEF5"/>
                </a:solidFill>
              </a:rPr>
              <a:t>Các yếu tố thực tế như điều kiện đường, tải trọng và hành vi lái xe chưa được phản ánh đầy đủ.</a:t>
            </a:r>
            <a:endParaRPr lang="en-US" sz="1050" dirty="0"/>
          </a:p>
          <a:p>
            <a:pPr marL="342900" indent="-342900">
              <a:lnSpc>
                <a:spcPct val="105000"/>
              </a:lnSpc>
              <a:spcAft>
                <a:spcPts val="600"/>
              </a:spcAft>
              <a:buSzPct val="100000"/>
              <a:buChar char="•"/>
            </a:pPr>
            <a:r>
              <a:rPr lang="en-US" sz="1050" dirty="0">
                <a:solidFill>
                  <a:srgbClr val="E7EEF5"/>
                </a:solidFill>
              </a:rPr>
              <a:t>Mô hình dự đoán dựa trên dữ liệu lịch sử và không thay thế kết quả đo thực tế.</a:t>
            </a:r>
            <a:endParaRPr lang="en-US" sz="1050" dirty="0"/>
          </a:p>
        </p:txBody>
      </p:sp>
      <p:sp>
        <p:nvSpPr>
          <p:cNvPr id="12" name="Shape 9"/>
          <p:cNvSpPr/>
          <p:nvPr/>
        </p:nvSpPr>
        <p:spPr>
          <a:xfrm>
            <a:off x="6858000" y="3703320"/>
            <a:ext cx="4830775" cy="1920240"/>
          </a:xfrm>
          <a:prstGeom prst="roundRect">
            <a:avLst>
              <a:gd name="adj" fmla="val 4286"/>
            </a:avLst>
          </a:prstGeom>
          <a:solidFill>
            <a:srgbClr val="163554"/>
          </a:solidFill>
          <a:ln/>
          <a:effectLst>
            <a:outerShdw blurRad="101600" dist="25400" dir="5400000" algn="bl" rotWithShape="0">
              <a:srgbClr val="1A2433">
                <a:alpha val="12000"/>
              </a:srgbClr>
            </a:outerShdw>
          </a:effectLst>
        </p:spPr>
        <p:txBody>
          <a:bodyPr/>
          <a:lstStyle/>
          <a:p>
            <a:endParaRPr lang="en-US"/>
          </a:p>
        </p:txBody>
      </p:sp>
      <p:sp>
        <p:nvSpPr>
          <p:cNvPr id="13" name="Text 10"/>
          <p:cNvSpPr/>
          <p:nvPr/>
        </p:nvSpPr>
        <p:spPr>
          <a:xfrm>
            <a:off x="7086600" y="3840480"/>
            <a:ext cx="4373575" cy="274320"/>
          </a:xfrm>
          <a:prstGeom prst="rect">
            <a:avLst/>
          </a:prstGeom>
          <a:noFill/>
          <a:ln/>
        </p:spPr>
        <p:txBody>
          <a:bodyPr wrap="square" rtlCol="0" anchor="ctr"/>
          <a:lstStyle/>
          <a:p>
            <a:pPr marL="0" indent="0">
              <a:buNone/>
            </a:pPr>
            <a:r>
              <a:rPr lang="en-US" sz="1150" b="1" kern="0" spc="150" dirty="0">
                <a:solidFill>
                  <a:srgbClr val="E8833A"/>
                </a:solidFill>
                <a:latin typeface="Calibri" pitchFamily="34" charset="0"/>
                <a:ea typeface="Calibri" pitchFamily="34" charset="-122"/>
                <a:cs typeface="Calibri" pitchFamily="34" charset="-120"/>
              </a:rPr>
              <a:t>HƯỚNG PHÁT TRIỂN</a:t>
            </a:r>
            <a:endParaRPr lang="en-US" sz="1150" dirty="0"/>
          </a:p>
        </p:txBody>
      </p:sp>
      <p:sp>
        <p:nvSpPr>
          <p:cNvPr id="14" name="Text 11"/>
          <p:cNvSpPr/>
          <p:nvPr/>
        </p:nvSpPr>
        <p:spPr>
          <a:xfrm>
            <a:off x="7086600" y="4160520"/>
            <a:ext cx="4373575" cy="1417320"/>
          </a:xfrm>
          <a:prstGeom prst="rect">
            <a:avLst/>
          </a:prstGeom>
          <a:noFill/>
          <a:ln/>
        </p:spPr>
        <p:txBody>
          <a:bodyPr wrap="square" rtlCol="0" anchor="t"/>
          <a:lstStyle/>
          <a:p>
            <a:pPr marL="342900" indent="-342900">
              <a:lnSpc>
                <a:spcPct val="100000"/>
              </a:lnSpc>
              <a:spcAft>
                <a:spcPts val="500"/>
              </a:spcAft>
              <a:buSzPct val="100000"/>
              <a:buChar char="•"/>
            </a:pPr>
            <a:r>
              <a:rPr lang="en-US" sz="1000" dirty="0">
                <a:solidFill>
                  <a:srgbClr val="E7EEF5"/>
                </a:solidFill>
              </a:rPr>
              <a:t>Cập nhật thêm dữ liệu xe mới.</a:t>
            </a:r>
            <a:endParaRPr lang="en-US" sz="1000" dirty="0"/>
          </a:p>
          <a:p>
            <a:pPr marL="342900" indent="-342900">
              <a:lnSpc>
                <a:spcPct val="100000"/>
              </a:lnSpc>
              <a:spcAft>
                <a:spcPts val="500"/>
              </a:spcAft>
              <a:buSzPct val="100000"/>
              <a:buChar char="•"/>
            </a:pPr>
            <a:r>
              <a:rPr lang="en-US" sz="1000" dirty="0">
                <a:solidFill>
                  <a:srgbClr val="E7EEF5"/>
                </a:solidFill>
              </a:rPr>
              <a:t>Bổ sung thêm các đặc trưng liên quan đến điều kiện vận hành.</a:t>
            </a:r>
            <a:endParaRPr lang="en-US" sz="1000" dirty="0"/>
          </a:p>
          <a:p>
            <a:pPr marL="342900" indent="-342900">
              <a:lnSpc>
                <a:spcPct val="100000"/>
              </a:lnSpc>
              <a:spcAft>
                <a:spcPts val="500"/>
              </a:spcAft>
              <a:buSzPct val="100000"/>
              <a:buChar char="•"/>
            </a:pPr>
            <a:r>
              <a:rPr lang="en-US" sz="1000" dirty="0">
                <a:solidFill>
                  <a:srgbClr val="E7EEF5"/>
                </a:solidFill>
              </a:rPr>
              <a:t>Thử nghiệm thêm các thuật toán khác.</a:t>
            </a:r>
            <a:endParaRPr lang="en-US" sz="1000" dirty="0"/>
          </a:p>
          <a:p>
            <a:pPr marL="342900" indent="-342900">
              <a:lnSpc>
                <a:spcPct val="100000"/>
              </a:lnSpc>
              <a:spcAft>
                <a:spcPts val="500"/>
              </a:spcAft>
              <a:buSzPct val="100000"/>
              <a:buChar char="•"/>
            </a:pPr>
            <a:r>
              <a:rPr lang="en-US" sz="1000" dirty="0">
                <a:solidFill>
                  <a:srgbClr val="E7EEF5"/>
                </a:solidFill>
              </a:rPr>
              <a:t>Nghiên cứu Feature Importance hoặc SHAP.</a:t>
            </a:r>
            <a:endParaRPr lang="en-US" sz="1000" dirty="0"/>
          </a:p>
          <a:p>
            <a:pPr marL="342900" indent="-342900">
              <a:lnSpc>
                <a:spcPct val="100000"/>
              </a:lnSpc>
              <a:spcAft>
                <a:spcPts val="500"/>
              </a:spcAft>
              <a:buSzPct val="100000"/>
              <a:buChar char="•"/>
            </a:pPr>
            <a:r>
              <a:rPr lang="en-US" sz="1000" dirty="0">
                <a:solidFill>
                  <a:srgbClr val="E7EEF5"/>
                </a:solidFill>
              </a:rPr>
              <a:t>Hoàn thiện giao diện và hệ thống lưu lịch sử dự đoán.</a:t>
            </a:r>
            <a:endParaRPr lang="en-US" sz="1000" dirty="0"/>
          </a:p>
        </p:txBody>
      </p:sp>
      <p:sp>
        <p:nvSpPr>
          <p:cNvPr id="15" name="Shape 12"/>
          <p:cNvSpPr/>
          <p:nvPr/>
        </p:nvSpPr>
        <p:spPr>
          <a:xfrm>
            <a:off x="502920" y="5806440"/>
            <a:ext cx="11185855" cy="502920"/>
          </a:xfrm>
          <a:prstGeom prst="roundRect">
            <a:avLst>
              <a:gd name="adj" fmla="val 50909"/>
            </a:avLst>
          </a:prstGeom>
          <a:solidFill>
            <a:srgbClr val="E8833A"/>
          </a:solidFill>
          <a:ln/>
        </p:spPr>
        <p:txBody>
          <a:bodyPr/>
          <a:lstStyle/>
          <a:p>
            <a:endParaRPr lang="en-US"/>
          </a:p>
        </p:txBody>
      </p:sp>
      <p:sp>
        <p:nvSpPr>
          <p:cNvPr id="16" name="Text 13"/>
          <p:cNvSpPr/>
          <p:nvPr/>
        </p:nvSpPr>
        <p:spPr>
          <a:xfrm>
            <a:off x="502920" y="5806440"/>
            <a:ext cx="11185855"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Kết thúc: Xin cảm ơn thầy/cô và các bạn đã lắng nghe.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2603</Words>
  <Application>Microsoft Office PowerPoint</Application>
  <PresentationFormat>Widescreen</PresentationFormat>
  <Paragraphs>321</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Phạm Sáng</cp:lastModifiedBy>
  <cp:revision>3</cp:revision>
  <dcterms:created xsi:type="dcterms:W3CDTF">2026-09-27T17:16:08Z</dcterms:created>
  <dcterms:modified xsi:type="dcterms:W3CDTF">2026-09-27T17:24:26Z</dcterms:modified>
</cp:coreProperties>
</file>