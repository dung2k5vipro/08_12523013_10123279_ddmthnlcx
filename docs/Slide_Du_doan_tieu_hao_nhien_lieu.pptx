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4" autoAdjust="0"/>
    <p:restoredTop sz="85007" autoAdjust="0"/>
  </p:normalViewPr>
  <p:slideViewPr>
    <p:cSldViewPr snapToGrid="0" snapToObjects="1">
      <p:cViewPr>
        <p:scale>
          <a:sx n="78" d="100"/>
          <a:sy n="78" d="100"/>
        </p:scale>
        <p:origin x="653"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9535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chào thầy/cô và các bạn. Em xin trình bày đồ án: Dự đoán mức tiêu hao nhiên liệu của xe, thuộc học phần Học máy cơ bản. Đây là bài toán hồi quy, dự đoán một giá trị số liên tục dựa trên các thông tin kỹ thuật của xe. Phần thông tin nhóm/giảng viên/ngày báo cáo cần được bổ sung trước khi nộp bài.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của project là xây dựng mô hình dự đoán mức tiêu hao nhiên liệu kết hợp của xe, tính bằng lít trên 100 km, dựa trên các thông số kỹ thuật đầu vào. Đây là bài toán hồi quy: đầu vào là 7 đặc trưng của xe, đầu ra là một giá trị số liên tục.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lý thuyết chung, không phải kết quả riêng của project. Học có giám sát nghĩa là mô hình học từ các cặp dữ liệu đã biết trước kết quả. Trong bài toán hồi quy, đầu ra cần dự đoán là một số liên tục, khác với bài toán phân loại vốn dự đoán một nhãn rời rạc.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mô hình được huấn luyện và so sánh gồm Linear Regression, Decision Tree, KNN và SVR — đây là kiến thức lý thuyết chung về từng mô hình, không phải kết quả cụ thể. SVR là mô hình được chọn để triển khai, dựa trên ý tưởng tìm hàm dự đoán với dải sai số epsilon-insensitive.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gồm 27.001 dòng ban đầu, sau khi loại 3 bản ghi trùng còn 26.998 dòng. Mô hình sử dụng 7 feature liên quan đến đặc điểm kỹ thuật của xe. Các trường như mức tiêu hao city/highway, MPG và CO2 bị loại bỏ vì có nguy cơ rò rỉ dữ liệu, do chúng là biến dẫn xuất gần trực tiếp từ target.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thực nghiệm gồm các bước: tiền xử lý dữ liệu, chia tập train/test theo tỉ lệ 80/20 với random_state cố định, huấn luyện 4 mô hình, sử dụng GridSearchCV và cross-validation để tinh chỉnh, sau đó chọn mô hình phù hợp nhất để triển khai. Chi tiết cụ thể của bước tiền xử lý cần được nhóm bổ sung.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mô hình SVR, MAE đạt 0,4293 L/100 km, RMSE đạt 0,6498 L/100 km, và R² đạt 0,9583. R² ở đây là hệ số xác định thể hiện mức độ phù hợp của mô hình, không nên hiểu là độ chính xác phần trăm. Do chưa có đầy đủ số liệu của ba mô hình còn lại nên slide này chưa thể trình bày bảng so sánh, cần nhóm bổ sung.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4 thành phần: Frontend xây dựng bằng Next.js, Backend bằng Express, AI Service bằng Python chạy mô hình, và MongoDB lưu lịch sử dự đoán. Khi người dùng nhập thông tin xe, dữ liệu đi qua Backend để kiểm tra, sau đó AI Service thực hiện dự đoán, kết quả được lưu vào MongoDB và trả về hiển thị trên Frontend.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minh hoạ luồng sử dụng ứng dụng, chưa phải ảnh chụp giao diện thật, cần thay bằng ảnh demo thực tế nếu có. Người dùng nhập thông tin xe, hệ thống trả về kết quả dự đoán mức tiêu hao nhiên liệu, đồng thời có thể xem lại lịch sử và thống kê các lượt dự đoán.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project đã xây dựng thành công quy trình dự đoán mức tiêu hao nhiên liệu với mô hình SVR đạt kết quả khả quan, và triển khai thành ứng dụng hoàn chỉnh. Tuy nhiên, đây là kết quả ước lượng dựa trên dữ liệu lịch sử, còn thiếu bảng so sánh đầy đủ giữa các mô hình. Hướng phát triển tiếp theo gồm kiểm thử trên dữ liệu mới, bổ sung khả năng giải thích dự đoán và theo dõi chất lượng mô hình theo thời gian. Xin cảm ơn thầy/cô và các bạn đã lắng nghe.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a:effectLst/>
      </p:bgPr>
    </p:bg>
    <p:spTree>
      <p:nvGrpSpPr>
        <p:cNvPr id="1" name=""/>
        <p:cNvGrpSpPr/>
        <p:nvPr/>
      </p:nvGrpSpPr>
      <p:grpSpPr>
        <a:xfrm>
          <a:off x="0" y="0"/>
          <a:ext cx="0" cy="0"/>
          <a:chOff x="0" y="0"/>
          <a:chExt cx="0" cy="0"/>
        </a:xfrm>
      </p:grpSpPr>
      <p:sp>
        <p:nvSpPr>
          <p:cNvPr id="2" name="Shape 0"/>
          <p:cNvSpPr/>
          <p:nvPr/>
        </p:nvSpPr>
        <p:spPr>
          <a:xfrm>
            <a:off x="8778240" y="-1645920"/>
            <a:ext cx="4754880" cy="4754880"/>
          </a:xfrm>
          <a:prstGeom prst="ellipse">
            <a:avLst/>
          </a:prstGeom>
          <a:solidFill>
            <a:srgbClr val="028090">
              <a:alpha val="45000"/>
            </a:srgbClr>
          </a:solidFill>
          <a:ln/>
        </p:spPr>
        <p:txBody>
          <a:bodyPr/>
          <a:lstStyle/>
          <a:p>
            <a:endParaRPr lang="en-US"/>
          </a:p>
        </p:txBody>
      </p:sp>
      <p:sp>
        <p:nvSpPr>
          <p:cNvPr id="3" name="Shape 1"/>
          <p:cNvSpPr/>
          <p:nvPr/>
        </p:nvSpPr>
        <p:spPr>
          <a:xfrm>
            <a:off x="10332720" y="4206240"/>
            <a:ext cx="3108960" cy="3108960"/>
          </a:xfrm>
          <a:prstGeom prst="ellipse">
            <a:avLst/>
          </a:prstGeom>
          <a:solidFill>
            <a:srgbClr val="02C39A">
              <a:alpha val="40000"/>
            </a:srgbClr>
          </a:solidFill>
          <a:ln/>
        </p:spPr>
        <p:txBody>
          <a:bodyPr/>
          <a:lstStyle/>
          <a:p>
            <a:endParaRPr lang="en-US"/>
          </a:p>
        </p:txBody>
      </p:sp>
      <p:sp>
        <p:nvSpPr>
          <p:cNvPr id="4" name="Text 2"/>
          <p:cNvSpPr/>
          <p:nvPr/>
        </p:nvSpPr>
        <p:spPr>
          <a:xfrm>
            <a:off x="822960" y="2103120"/>
            <a:ext cx="9692640" cy="14630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Dự đoán mức tiêu hao nhiên liệu của xe</a:t>
            </a:r>
            <a:endParaRPr lang="en-US" sz="4000" dirty="0"/>
          </a:p>
        </p:txBody>
      </p:sp>
      <p:sp>
        <p:nvSpPr>
          <p:cNvPr id="5" name="Text 3"/>
          <p:cNvSpPr/>
          <p:nvPr/>
        </p:nvSpPr>
        <p:spPr>
          <a:xfrm>
            <a:off x="822960" y="3429000"/>
            <a:ext cx="9692640" cy="548640"/>
          </a:xfrm>
          <a:prstGeom prst="rect">
            <a:avLst/>
          </a:prstGeom>
          <a:noFill/>
          <a:ln/>
        </p:spPr>
        <p:txBody>
          <a:bodyPr wrap="square" rtlCol="0" anchor="ctr"/>
          <a:lstStyle/>
          <a:p>
            <a:pPr marL="0" indent="0">
              <a:buNone/>
            </a:pPr>
            <a:r>
              <a:rPr lang="en-US" sz="1600" dirty="0">
                <a:solidFill>
                  <a:srgbClr val="02C39A"/>
                </a:solidFill>
                <a:latin typeface="Calibri" pitchFamily="34" charset="0"/>
                <a:ea typeface="Calibri" pitchFamily="34" charset="-122"/>
                <a:cs typeface="Calibri" pitchFamily="34" charset="-120"/>
              </a:rPr>
              <a:t>Bài toán hồi quy (Regression) trong Học máy — MY1995-2023 Fuel Consumption Ratings</a:t>
            </a:r>
            <a:endParaRPr lang="en-US" sz="1600" dirty="0"/>
          </a:p>
        </p:txBody>
      </p:sp>
      <p:sp>
        <p:nvSpPr>
          <p:cNvPr id="6" name="Text 4"/>
          <p:cNvSpPr/>
          <p:nvPr/>
        </p:nvSpPr>
        <p:spPr>
          <a:xfrm>
            <a:off x="822960" y="3977640"/>
            <a:ext cx="9692640" cy="365760"/>
          </a:xfrm>
          <a:prstGeom prst="rect">
            <a:avLst/>
          </a:prstGeom>
          <a:noFill/>
          <a:ln/>
        </p:spPr>
        <p:txBody>
          <a:bodyPr wrap="square" rtlCol="0" anchor="ctr"/>
          <a:lstStyle/>
          <a:p>
            <a:pPr marL="0" indent="0">
              <a:buNone/>
            </a:pPr>
            <a:r>
              <a:rPr lang="en-US" sz="1400" dirty="0">
                <a:solidFill>
                  <a:srgbClr val="C9D6D3"/>
                </a:solidFill>
                <a:latin typeface="Calibri" pitchFamily="34" charset="0"/>
                <a:ea typeface="Calibri" pitchFamily="34" charset="-122"/>
                <a:cs typeface="Calibri" pitchFamily="34" charset="-120"/>
              </a:rPr>
              <a:t>Đồ án môn học: Học máy cơ bản</a:t>
            </a:r>
            <a:endParaRPr lang="en-US" sz="1400" dirty="0"/>
          </a:p>
        </p:txBody>
      </p:sp>
      <p:sp>
        <p:nvSpPr>
          <p:cNvPr id="7" name="Shape 5"/>
          <p:cNvSpPr/>
          <p:nvPr/>
        </p:nvSpPr>
        <p:spPr>
          <a:xfrm>
            <a:off x="822960" y="5029200"/>
            <a:ext cx="3840480" cy="0"/>
          </a:xfrm>
          <a:prstGeom prst="line">
            <a:avLst/>
          </a:prstGeom>
          <a:noFill/>
          <a:ln w="19050">
            <a:solidFill>
              <a:srgbClr val="00A896"/>
            </a:solidFill>
            <a:prstDash val="solid"/>
          </a:ln>
        </p:spPr>
        <p:txBody>
          <a:bodyPr/>
          <a:lstStyle/>
          <a:p>
            <a:endParaRPr lang="en-US"/>
          </a:p>
        </p:txBody>
      </p:sp>
      <p:sp>
        <p:nvSpPr>
          <p:cNvPr id="8" name="Text 6"/>
          <p:cNvSpPr/>
          <p:nvPr/>
        </p:nvSpPr>
        <p:spPr>
          <a:xfrm>
            <a:off x="822960" y="5212080"/>
            <a:ext cx="7315200" cy="1188720"/>
          </a:xfrm>
          <a:prstGeom prst="rect">
            <a:avLst/>
          </a:prstGeom>
          <a:noFill/>
          <a:ln/>
        </p:spPr>
        <p:txBody>
          <a:bodyPr wrap="square" rtlCol="0" anchor="ctr"/>
          <a:lstStyle/>
          <a:p>
            <a:pPr marL="0" indent="0">
              <a:lnSpc>
                <a:spcPts val="2200"/>
              </a:lnSpc>
              <a:buNone/>
            </a:pPr>
            <a:r>
              <a:rPr lang="en-US" sz="1300" dirty="0">
                <a:solidFill>
                  <a:srgbClr val="C9D6D3"/>
                </a:solidFill>
                <a:latin typeface="Calibri" pitchFamily="34" charset="0"/>
                <a:ea typeface="Calibri" pitchFamily="34" charset="-122"/>
                <a:cs typeface="Calibri" pitchFamily="34" charset="-120"/>
              </a:rPr>
              <a:t>[CẦN BỔ SUNG: Tên nhóm / Họ tên thành viên]
</a:t>
            </a:r>
            <a:endParaRPr lang="en-US" sz="1300" dirty="0"/>
          </a:p>
          <a:p>
            <a:pPr marL="0" indent="0">
              <a:lnSpc>
                <a:spcPts val="2200"/>
              </a:lnSpc>
              <a:buNone/>
            </a:pPr>
            <a:r>
              <a:rPr lang="en-US" sz="1300" dirty="0">
                <a:solidFill>
                  <a:srgbClr val="C9D6D3"/>
                </a:solidFill>
                <a:latin typeface="Calibri" pitchFamily="34" charset="0"/>
                <a:ea typeface="Calibri" pitchFamily="34" charset="-122"/>
                <a:cs typeface="Calibri" pitchFamily="34" charset="-120"/>
              </a:rPr>
              <a:t>[CẦN BỔ SUNG: Giảng viên hướng dẫn]
</a:t>
            </a:r>
            <a:endParaRPr lang="en-US" sz="1300" dirty="0"/>
          </a:p>
          <a:p>
            <a:pPr marL="0" indent="0">
              <a:lnSpc>
                <a:spcPts val="2200"/>
              </a:lnSpc>
              <a:buNone/>
            </a:pPr>
            <a:r>
              <a:rPr lang="en-US" sz="1300" dirty="0">
                <a:solidFill>
                  <a:srgbClr val="C9D6D3"/>
                </a:solidFill>
                <a:latin typeface="Calibri" pitchFamily="34" charset="0"/>
                <a:ea typeface="Calibri" pitchFamily="34" charset="-122"/>
                <a:cs typeface="Calibri" pitchFamily="34" charset="-120"/>
              </a:rPr>
              <a:t>[CẦN BỔ SUNG: Ngày báo cáo]</a:t>
            </a:r>
            <a:endParaRPr lang="en-US" sz="1300" dirty="0"/>
          </a:p>
        </p:txBody>
      </p:sp>
      <p:sp>
        <p:nvSpPr>
          <p:cNvPr id="10" name="Text 7"/>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Bài toán và mục tiêu</a:t>
            </a:r>
            <a:endParaRPr lang="en-US" sz="3000" dirty="0"/>
          </a:p>
        </p:txBody>
      </p:sp>
      <p:sp>
        <p:nvSpPr>
          <p:cNvPr id="5" name="Text 3"/>
          <p:cNvSpPr/>
          <p:nvPr/>
        </p:nvSpPr>
        <p:spPr>
          <a:xfrm>
            <a:off x="822960" y="1554480"/>
            <a:ext cx="5120640" cy="457200"/>
          </a:xfrm>
          <a:prstGeom prst="rect">
            <a:avLst/>
          </a:prstGeom>
          <a:noFill/>
          <a:ln/>
        </p:spPr>
        <p:txBody>
          <a:bodyPr wrap="square" rtlCol="0" anchor="ctr"/>
          <a:lstStyle/>
          <a:p>
            <a:pPr marL="0" indent="0">
              <a:buNone/>
            </a:pPr>
            <a:r>
              <a:rPr lang="en-US" sz="1600" b="1" dirty="0">
                <a:solidFill>
                  <a:srgbClr val="028090"/>
                </a:solidFill>
                <a:latin typeface="Calibri" pitchFamily="34" charset="0"/>
                <a:ea typeface="Calibri" pitchFamily="34" charset="-122"/>
                <a:cs typeface="Calibri" pitchFamily="34" charset="-120"/>
              </a:rPr>
              <a:t>Vì sao cần dự đoán mức tiêu hao nhiên liệu?</a:t>
            </a:r>
            <a:endParaRPr lang="en-US" sz="1600" dirty="0"/>
          </a:p>
        </p:txBody>
      </p:sp>
      <p:sp>
        <p:nvSpPr>
          <p:cNvPr id="6" name="Text 4"/>
          <p:cNvSpPr/>
          <p:nvPr/>
        </p:nvSpPr>
        <p:spPr>
          <a:xfrm>
            <a:off x="822960" y="2011680"/>
            <a:ext cx="5120640" cy="2377440"/>
          </a:xfrm>
          <a:prstGeom prst="rect">
            <a:avLst/>
          </a:prstGeom>
          <a:noFill/>
          <a:ln/>
        </p:spPr>
        <p:txBody>
          <a:bodyPr wrap="square" rtlCol="0" anchor="t"/>
          <a:lstStyle/>
          <a:p>
            <a:pPr marL="342900" indent="-342900">
              <a:spcAft>
                <a:spcPts val="1000"/>
              </a:spcAft>
              <a:buSzPct val="100000"/>
              <a:buChar char="•"/>
            </a:pPr>
            <a:r>
              <a:rPr lang="en-US" sz="1400" dirty="0">
                <a:solidFill>
                  <a:srgbClr val="2B2F33"/>
                </a:solidFill>
                <a:latin typeface="Calibri" pitchFamily="34" charset="0"/>
                <a:ea typeface="Calibri" pitchFamily="34" charset="-122"/>
                <a:cs typeface="Calibri" pitchFamily="34" charset="-120"/>
              </a:rPr>
              <a:t>Giúp người mua/nhà sản xuất ước tính mức tiêu hao nhiên liệu từ thông số kỹ thuật, trước khi có dữ liệu vận hành thực tế.</a:t>
            </a:r>
            <a:endParaRPr lang="en-US" sz="1400" dirty="0"/>
          </a:p>
          <a:p>
            <a:pPr marL="342900" indent="-342900">
              <a:spcAft>
                <a:spcPts val="1000"/>
              </a:spcAft>
              <a:buSzPct val="100000"/>
              <a:buChar char="•"/>
            </a:pPr>
            <a:r>
              <a:rPr lang="en-US" sz="1400" dirty="0">
                <a:solidFill>
                  <a:srgbClr val="2B2F33"/>
                </a:solidFill>
                <a:latin typeface="Calibri" pitchFamily="34" charset="0"/>
                <a:ea typeface="Calibri" pitchFamily="34" charset="-122"/>
                <a:cs typeface="Calibri" pitchFamily="34" charset="-120"/>
              </a:rPr>
              <a:t>Hỗ trợ so sánh nhanh giữa các dòng xe theo hiệu suất nhiên liệu.</a:t>
            </a:r>
            <a:endParaRPr lang="en-US" sz="1400" dirty="0"/>
          </a:p>
          <a:p>
            <a:pPr marL="342900" indent="-342900">
              <a:spcAft>
                <a:spcPts val="1000"/>
              </a:spcAft>
              <a:buSzPct val="100000"/>
              <a:buChar char="•"/>
            </a:pPr>
            <a:r>
              <a:rPr lang="en-US" sz="1400" dirty="0">
                <a:solidFill>
                  <a:srgbClr val="2B2F33"/>
                </a:solidFill>
                <a:latin typeface="Calibri" pitchFamily="34" charset="0"/>
                <a:ea typeface="Calibri" pitchFamily="34" charset="-122"/>
                <a:cs typeface="Calibri" pitchFamily="34" charset="-120"/>
              </a:rPr>
              <a:t>Là bài toán hồi quy điển hình để thực hành quy trình Học máy có giám sát.</a:t>
            </a:r>
            <a:endParaRPr lang="en-US" sz="1400" dirty="0"/>
          </a:p>
        </p:txBody>
      </p:sp>
      <p:sp>
        <p:nvSpPr>
          <p:cNvPr id="7" name="Shape 5"/>
          <p:cNvSpPr/>
          <p:nvPr/>
        </p:nvSpPr>
        <p:spPr>
          <a:xfrm>
            <a:off x="822960" y="4023360"/>
            <a:ext cx="2926080" cy="1371600"/>
          </a:xfrm>
          <a:prstGeom prst="roundRect">
            <a:avLst>
              <a:gd name="adj" fmla="val 5333"/>
            </a:avLst>
          </a:prstGeom>
          <a:solidFill>
            <a:srgbClr val="F4F7F6"/>
          </a:solidFill>
          <a:ln w="12700">
            <a:solidFill>
              <a:srgbClr val="028090"/>
            </a:solidFill>
            <a:prstDash val="solid"/>
          </a:ln>
        </p:spPr>
        <p:txBody>
          <a:bodyPr/>
          <a:lstStyle/>
          <a:p>
            <a:endParaRPr lang="en-US"/>
          </a:p>
        </p:txBody>
      </p:sp>
      <p:sp>
        <p:nvSpPr>
          <p:cNvPr id="8" name="Text 6"/>
          <p:cNvSpPr/>
          <p:nvPr/>
        </p:nvSpPr>
        <p:spPr>
          <a:xfrm>
            <a:off x="822960" y="4023360"/>
            <a:ext cx="2926080" cy="1371600"/>
          </a:xfrm>
          <a:prstGeom prst="rect">
            <a:avLst/>
          </a:prstGeom>
          <a:noFill/>
          <a:ln/>
        </p:spPr>
        <p:txBody>
          <a:bodyPr wrap="square" rtlCol="0" anchor="ctr"/>
          <a:lstStyle/>
          <a:p>
            <a:pPr marL="0" indent="0" algn="ctr">
              <a:buNone/>
            </a:pPr>
            <a:r>
              <a:rPr lang="en-US" sz="1200" dirty="0">
                <a:solidFill>
                  <a:srgbClr val="2B2F33"/>
                </a:solidFill>
                <a:latin typeface="Calibri" pitchFamily="34" charset="0"/>
                <a:ea typeface="Calibri" pitchFamily="34" charset="-122"/>
                <a:cs typeface="Calibri" pitchFamily="34" charset="-120"/>
              </a:rPr>
              <a:t>Đầu vào</a:t>
            </a:r>
            <a:endParaRPr lang="en-US" sz="1200" dirty="0"/>
          </a:p>
          <a:p>
            <a:pPr marL="0" indent="0" algn="ctr">
              <a:buNone/>
            </a:pPr>
            <a:r>
              <a:rPr lang="en-US" sz="1200" dirty="0">
                <a:solidFill>
                  <a:srgbClr val="2B2F33"/>
                </a:solidFill>
                <a:latin typeface="Calibri" pitchFamily="34" charset="0"/>
                <a:ea typeface="Calibri" pitchFamily="34" charset="-122"/>
                <a:cs typeface="Calibri" pitchFamily="34" charset="-120"/>
              </a:rPr>
              <a:t>7 đặc trưng của xe</a:t>
            </a:r>
            <a:endParaRPr lang="en-US" sz="1200" dirty="0"/>
          </a:p>
          <a:p>
            <a:pPr marL="0" indent="0" algn="ctr">
              <a:buNone/>
            </a:pPr>
            <a:r>
              <a:rPr lang="en-US" sz="1200" dirty="0">
                <a:solidFill>
                  <a:srgbClr val="2B2F33"/>
                </a:solidFill>
                <a:latin typeface="Calibri" pitchFamily="34" charset="0"/>
                <a:ea typeface="Calibri" pitchFamily="34" charset="-122"/>
                <a:cs typeface="Calibri" pitchFamily="34" charset="-120"/>
              </a:rPr>
              <a:t>(model_year, make, engine_size, ...)</a:t>
            </a:r>
            <a:endParaRPr lang="en-US" sz="1200" dirty="0"/>
          </a:p>
        </p:txBody>
      </p:sp>
      <p:sp>
        <p:nvSpPr>
          <p:cNvPr id="9" name="Shape 7"/>
          <p:cNvSpPr/>
          <p:nvPr/>
        </p:nvSpPr>
        <p:spPr>
          <a:xfrm>
            <a:off x="3886200" y="4572000"/>
            <a:ext cx="548640" cy="274320"/>
          </a:xfrm>
          <a:prstGeom prst="rightArrow">
            <a:avLst/>
          </a:prstGeom>
          <a:solidFill>
            <a:srgbClr val="00A896"/>
          </a:solidFill>
          <a:ln/>
        </p:spPr>
        <p:txBody>
          <a:bodyPr/>
          <a:lstStyle/>
          <a:p>
            <a:endParaRPr lang="en-US"/>
          </a:p>
        </p:txBody>
      </p:sp>
      <p:sp>
        <p:nvSpPr>
          <p:cNvPr id="10" name="Shape 8"/>
          <p:cNvSpPr/>
          <p:nvPr/>
        </p:nvSpPr>
        <p:spPr>
          <a:xfrm>
            <a:off x="4572000" y="4023360"/>
            <a:ext cx="2377440" cy="1371600"/>
          </a:xfrm>
          <a:prstGeom prst="roundRect">
            <a:avLst>
              <a:gd name="adj" fmla="val 5333"/>
            </a:avLst>
          </a:prstGeom>
          <a:solidFill>
            <a:srgbClr val="028090"/>
          </a:solidFill>
          <a:ln/>
        </p:spPr>
        <p:txBody>
          <a:bodyPr/>
          <a:lstStyle/>
          <a:p>
            <a:endParaRPr lang="en-US"/>
          </a:p>
        </p:txBody>
      </p:sp>
      <p:sp>
        <p:nvSpPr>
          <p:cNvPr id="11" name="Text 9"/>
          <p:cNvSpPr/>
          <p:nvPr/>
        </p:nvSpPr>
        <p:spPr>
          <a:xfrm>
            <a:off x="4572000" y="4023360"/>
            <a:ext cx="2377440" cy="13716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Mô hình</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Học máy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(SVR)</a:t>
            </a:r>
            <a:endParaRPr lang="en-US" sz="1300" dirty="0"/>
          </a:p>
        </p:txBody>
      </p:sp>
      <p:sp>
        <p:nvSpPr>
          <p:cNvPr id="12" name="Shape 10"/>
          <p:cNvSpPr/>
          <p:nvPr/>
        </p:nvSpPr>
        <p:spPr>
          <a:xfrm>
            <a:off x="7086600" y="4572000"/>
            <a:ext cx="548640" cy="274320"/>
          </a:xfrm>
          <a:prstGeom prst="rightArrow">
            <a:avLst/>
          </a:prstGeom>
          <a:solidFill>
            <a:srgbClr val="00A896"/>
          </a:solidFill>
          <a:ln/>
        </p:spPr>
        <p:txBody>
          <a:bodyPr/>
          <a:lstStyle/>
          <a:p>
            <a:endParaRPr lang="en-US"/>
          </a:p>
        </p:txBody>
      </p:sp>
      <p:sp>
        <p:nvSpPr>
          <p:cNvPr id="13" name="Shape 11"/>
          <p:cNvSpPr/>
          <p:nvPr/>
        </p:nvSpPr>
        <p:spPr>
          <a:xfrm>
            <a:off x="7772400" y="4023360"/>
            <a:ext cx="2926080" cy="1371600"/>
          </a:xfrm>
          <a:prstGeom prst="roundRect">
            <a:avLst>
              <a:gd name="adj" fmla="val 5333"/>
            </a:avLst>
          </a:prstGeom>
          <a:solidFill>
            <a:srgbClr val="02C39A"/>
          </a:solidFill>
          <a:ln/>
        </p:spPr>
        <p:txBody>
          <a:bodyPr/>
          <a:lstStyle/>
          <a:p>
            <a:endParaRPr lang="en-US"/>
          </a:p>
        </p:txBody>
      </p:sp>
      <p:sp>
        <p:nvSpPr>
          <p:cNvPr id="14" name="Text 12"/>
          <p:cNvSpPr/>
          <p:nvPr/>
        </p:nvSpPr>
        <p:spPr>
          <a:xfrm>
            <a:off x="7772400" y="4023360"/>
            <a:ext cx="2926080" cy="1371600"/>
          </a:xfrm>
          <a:prstGeom prst="rect">
            <a:avLst/>
          </a:prstGeom>
          <a:noFill/>
          <a:ln/>
        </p:spPr>
        <p:txBody>
          <a:bodyPr wrap="square" rtlCol="0" anchor="ctr"/>
          <a:lstStyle/>
          <a:p>
            <a:pPr marL="0" indent="0" algn="ctr">
              <a:buNone/>
            </a:pPr>
            <a:r>
              <a:rPr lang="en-US" sz="1200" b="1" dirty="0">
                <a:solidFill>
                  <a:srgbClr val="2B2F33"/>
                </a:solidFill>
                <a:latin typeface="Calibri" pitchFamily="34" charset="0"/>
                <a:ea typeface="Calibri" pitchFamily="34" charset="-122"/>
                <a:cs typeface="Calibri" pitchFamily="34" charset="-120"/>
              </a:rPr>
              <a:t>Đầu ra</a:t>
            </a:r>
            <a:endParaRPr lang="en-US" sz="1200" dirty="0"/>
          </a:p>
          <a:p>
            <a:pPr marL="0" indent="0" algn="ctr">
              <a:buNone/>
            </a:pPr>
            <a:r>
              <a:rPr lang="en-US" sz="1200" b="1" dirty="0">
                <a:solidFill>
                  <a:srgbClr val="2B2F33"/>
                </a:solidFill>
                <a:latin typeface="Calibri" pitchFamily="34" charset="0"/>
                <a:ea typeface="Calibri" pitchFamily="34" charset="-122"/>
                <a:cs typeface="Calibri" pitchFamily="34" charset="-120"/>
              </a:rPr>
              <a:t>fuel_consumption_comb</a:t>
            </a:r>
            <a:endParaRPr lang="en-US" sz="1200" dirty="0"/>
          </a:p>
          <a:p>
            <a:pPr marL="0" indent="0" algn="ctr">
              <a:buNone/>
            </a:pPr>
            <a:r>
              <a:rPr lang="en-US" sz="1200" b="1" dirty="0">
                <a:solidFill>
                  <a:srgbClr val="2B2F33"/>
                </a:solidFill>
                <a:latin typeface="Calibri" pitchFamily="34" charset="0"/>
                <a:ea typeface="Calibri" pitchFamily="34" charset="-122"/>
                <a:cs typeface="Calibri" pitchFamily="34" charset="-120"/>
              </a:rPr>
              <a:t>(L/100 km)</a:t>
            </a:r>
            <a:endParaRPr lang="en-US" sz="1200" dirty="0"/>
          </a:p>
        </p:txBody>
      </p:sp>
      <p:sp>
        <p:nvSpPr>
          <p:cNvPr id="16" name="Text 13"/>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Σ</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Cơ sở lý thuyết: Học có giám sát &amp; Hồi quy</a:t>
            </a:r>
            <a:endParaRPr lang="en-US" sz="3000" dirty="0"/>
          </a:p>
        </p:txBody>
      </p:sp>
      <p:sp>
        <p:nvSpPr>
          <p:cNvPr id="5" name="Text 3"/>
          <p:cNvSpPr/>
          <p:nvPr/>
        </p:nvSpPr>
        <p:spPr>
          <a:xfrm>
            <a:off x="822960" y="1554480"/>
            <a:ext cx="512064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Supervised Learning (Học có giám sát)</a:t>
            </a:r>
            <a:endParaRPr lang="en-US" sz="1500" dirty="0"/>
          </a:p>
        </p:txBody>
      </p:sp>
      <p:sp>
        <p:nvSpPr>
          <p:cNvPr id="6" name="Text 4"/>
          <p:cNvSpPr/>
          <p:nvPr/>
        </p:nvSpPr>
        <p:spPr>
          <a:xfrm>
            <a:off x="822960" y="1965960"/>
            <a:ext cx="5120640" cy="914400"/>
          </a:xfrm>
          <a:prstGeom prst="rect">
            <a:avLst/>
          </a:prstGeom>
          <a:noFill/>
          <a:ln/>
        </p:spPr>
        <p:txBody>
          <a:bodyPr wrap="square" rtlCol="0" anchor="ctr"/>
          <a:lstStyle/>
          <a:p>
            <a:pPr marL="0" indent="0">
              <a:buNone/>
            </a:pPr>
            <a:r>
              <a:rPr lang="en-US" sz="1300" dirty="0">
                <a:solidFill>
                  <a:srgbClr val="2B2F33"/>
                </a:solidFill>
                <a:latin typeface="Calibri" pitchFamily="34" charset="0"/>
                <a:ea typeface="Calibri" pitchFamily="34" charset="-122"/>
                <a:cs typeface="Calibri" pitchFamily="34" charset="-120"/>
              </a:rPr>
              <a:t>Mô hình học từ dữ liệu đã có nhãn (cặp đầu vào – đầu ra đúng), sau đó dự đoán đầu ra cho dữ liệu mới chưa biết.</a:t>
            </a:r>
            <a:endParaRPr lang="en-US" sz="1300" dirty="0"/>
          </a:p>
        </p:txBody>
      </p:sp>
      <p:sp>
        <p:nvSpPr>
          <p:cNvPr id="7" name="Text 5"/>
          <p:cNvSpPr/>
          <p:nvPr/>
        </p:nvSpPr>
        <p:spPr>
          <a:xfrm>
            <a:off x="822960" y="3017520"/>
            <a:ext cx="5120640" cy="365760"/>
          </a:xfrm>
          <a:prstGeom prst="rect">
            <a:avLst/>
          </a:prstGeom>
          <a:noFill/>
          <a:ln/>
        </p:spPr>
        <p:txBody>
          <a:bodyPr wrap="square"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Regression vs. Classification</a:t>
            </a:r>
            <a:endParaRPr lang="en-US" sz="1500" dirty="0"/>
          </a:p>
        </p:txBody>
      </p:sp>
      <p:sp>
        <p:nvSpPr>
          <p:cNvPr id="8" name="Text 6"/>
          <p:cNvSpPr/>
          <p:nvPr/>
        </p:nvSpPr>
        <p:spPr>
          <a:xfrm>
            <a:off x="822960" y="3429000"/>
            <a:ext cx="5120640" cy="1280160"/>
          </a:xfrm>
          <a:prstGeom prst="rect">
            <a:avLst/>
          </a:prstGeom>
          <a:noFill/>
          <a:ln/>
        </p:spPr>
        <p:txBody>
          <a:bodyPr wrap="square" rtlCol="0" anchor="ctr"/>
          <a:lstStyle/>
          <a:p>
            <a:pPr marL="342900" indent="-342900">
              <a:spcAft>
                <a:spcPts val="800"/>
              </a:spcAft>
              <a:buSzPct val="100000"/>
              <a:buChar char="•"/>
            </a:pPr>
            <a:r>
              <a:rPr lang="en-US" sz="1300" dirty="0">
                <a:solidFill>
                  <a:srgbClr val="2B2F33"/>
                </a:solidFill>
                <a:latin typeface="Calibri" pitchFamily="34" charset="0"/>
                <a:ea typeface="Calibri" pitchFamily="34" charset="-122"/>
                <a:cs typeface="Calibri" pitchFamily="34" charset="-120"/>
              </a:rPr>
              <a:t>Regression: dự đoán một giá trị số liên tục (ví dụ: L/100 km).</a:t>
            </a:r>
            <a:endParaRPr lang="en-US" sz="1300" dirty="0"/>
          </a:p>
          <a:p>
            <a:pPr marL="342900" indent="-342900">
              <a:spcAft>
                <a:spcPts val="800"/>
              </a:spcAft>
              <a:buSzPct val="100000"/>
              <a:buChar char="•"/>
            </a:pPr>
            <a:r>
              <a:rPr lang="en-US" sz="1300" dirty="0">
                <a:solidFill>
                  <a:srgbClr val="2B2F33"/>
                </a:solidFill>
                <a:latin typeface="Calibri" pitchFamily="34" charset="0"/>
                <a:ea typeface="Calibri" pitchFamily="34" charset="-122"/>
                <a:cs typeface="Calibri" pitchFamily="34" charset="-120"/>
              </a:rPr>
              <a:t>Classification: dự đoán một nhãn rời rạc (ví dụ: đạt/không đạt chuẩn khí thải).</a:t>
            </a:r>
            <a:endParaRPr lang="en-US" sz="1300" dirty="0"/>
          </a:p>
        </p:txBody>
      </p:sp>
      <p:sp>
        <p:nvSpPr>
          <p:cNvPr id="9" name="Shape 7"/>
          <p:cNvSpPr/>
          <p:nvPr/>
        </p:nvSpPr>
        <p:spPr>
          <a:xfrm>
            <a:off x="6492240" y="1554480"/>
            <a:ext cx="4846320" cy="2103120"/>
          </a:xfrm>
          <a:prstGeom prst="roundRect">
            <a:avLst>
              <a:gd name="adj" fmla="val 2609"/>
            </a:avLst>
          </a:prstGeom>
          <a:solidFill>
            <a:srgbClr val="F4F7F6"/>
          </a:solidFill>
          <a:ln/>
        </p:spPr>
        <p:txBody>
          <a:bodyPr/>
          <a:lstStyle/>
          <a:p>
            <a:endParaRPr lang="en-US"/>
          </a:p>
        </p:txBody>
      </p:sp>
      <p:sp>
        <p:nvSpPr>
          <p:cNvPr id="10" name="Text 8"/>
          <p:cNvSpPr/>
          <p:nvPr/>
        </p:nvSpPr>
        <p:spPr>
          <a:xfrm>
            <a:off x="6766560" y="1691640"/>
            <a:ext cx="438912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Regression — giá trị liên tục</a:t>
            </a:r>
            <a:endParaRPr lang="en-US" sz="1200" dirty="0"/>
          </a:p>
        </p:txBody>
      </p:sp>
      <p:sp>
        <p:nvSpPr>
          <p:cNvPr id="11" name="Shape 9"/>
          <p:cNvSpPr/>
          <p:nvPr/>
        </p:nvSpPr>
        <p:spPr>
          <a:xfrm>
            <a:off x="6858000" y="3246120"/>
            <a:ext cx="4206240" cy="0"/>
          </a:xfrm>
          <a:prstGeom prst="line">
            <a:avLst/>
          </a:prstGeom>
          <a:noFill/>
          <a:ln w="12700">
            <a:solidFill>
              <a:srgbClr val="6B7280"/>
            </a:solidFill>
            <a:prstDash val="solid"/>
          </a:ln>
        </p:spPr>
        <p:txBody>
          <a:bodyPr/>
          <a:lstStyle/>
          <a:p>
            <a:endParaRPr lang="en-US"/>
          </a:p>
        </p:txBody>
      </p:sp>
      <p:sp>
        <p:nvSpPr>
          <p:cNvPr id="12" name="Shape 10"/>
          <p:cNvSpPr/>
          <p:nvPr/>
        </p:nvSpPr>
        <p:spPr>
          <a:xfrm>
            <a:off x="7040880" y="3108960"/>
            <a:ext cx="109728" cy="109728"/>
          </a:xfrm>
          <a:prstGeom prst="ellipse">
            <a:avLst/>
          </a:prstGeom>
          <a:solidFill>
            <a:srgbClr val="00A896"/>
          </a:solidFill>
          <a:ln/>
        </p:spPr>
        <p:txBody>
          <a:bodyPr/>
          <a:lstStyle/>
          <a:p>
            <a:endParaRPr lang="en-US"/>
          </a:p>
        </p:txBody>
      </p:sp>
      <p:sp>
        <p:nvSpPr>
          <p:cNvPr id="13" name="Shape 11"/>
          <p:cNvSpPr/>
          <p:nvPr/>
        </p:nvSpPr>
        <p:spPr>
          <a:xfrm>
            <a:off x="7818120" y="2834640"/>
            <a:ext cx="109728" cy="109728"/>
          </a:xfrm>
          <a:prstGeom prst="ellipse">
            <a:avLst/>
          </a:prstGeom>
          <a:solidFill>
            <a:srgbClr val="00A896"/>
          </a:solidFill>
          <a:ln/>
        </p:spPr>
        <p:txBody>
          <a:bodyPr/>
          <a:lstStyle/>
          <a:p>
            <a:endParaRPr lang="en-US"/>
          </a:p>
        </p:txBody>
      </p:sp>
      <p:sp>
        <p:nvSpPr>
          <p:cNvPr id="14" name="Shape 12"/>
          <p:cNvSpPr/>
          <p:nvPr/>
        </p:nvSpPr>
        <p:spPr>
          <a:xfrm>
            <a:off x="8595360" y="2697480"/>
            <a:ext cx="109728" cy="109728"/>
          </a:xfrm>
          <a:prstGeom prst="ellipse">
            <a:avLst/>
          </a:prstGeom>
          <a:solidFill>
            <a:srgbClr val="00A896"/>
          </a:solidFill>
          <a:ln/>
        </p:spPr>
        <p:txBody>
          <a:bodyPr/>
          <a:lstStyle/>
          <a:p>
            <a:endParaRPr lang="en-US"/>
          </a:p>
        </p:txBody>
      </p:sp>
      <p:sp>
        <p:nvSpPr>
          <p:cNvPr id="15" name="Shape 13"/>
          <p:cNvSpPr/>
          <p:nvPr/>
        </p:nvSpPr>
        <p:spPr>
          <a:xfrm>
            <a:off x="9372600" y="2377440"/>
            <a:ext cx="109728" cy="109728"/>
          </a:xfrm>
          <a:prstGeom prst="ellipse">
            <a:avLst/>
          </a:prstGeom>
          <a:solidFill>
            <a:srgbClr val="00A896"/>
          </a:solidFill>
          <a:ln/>
        </p:spPr>
        <p:txBody>
          <a:bodyPr/>
          <a:lstStyle/>
          <a:p>
            <a:endParaRPr lang="en-US"/>
          </a:p>
        </p:txBody>
      </p:sp>
      <p:sp>
        <p:nvSpPr>
          <p:cNvPr id="16" name="Shape 14"/>
          <p:cNvSpPr/>
          <p:nvPr/>
        </p:nvSpPr>
        <p:spPr>
          <a:xfrm>
            <a:off x="10149840" y="2194560"/>
            <a:ext cx="109728" cy="109728"/>
          </a:xfrm>
          <a:prstGeom prst="ellipse">
            <a:avLst/>
          </a:prstGeom>
          <a:solidFill>
            <a:srgbClr val="00A896"/>
          </a:solidFill>
          <a:ln/>
        </p:spPr>
        <p:txBody>
          <a:bodyPr/>
          <a:lstStyle/>
          <a:p>
            <a:endParaRPr lang="en-US"/>
          </a:p>
        </p:txBody>
      </p:sp>
      <p:sp>
        <p:nvSpPr>
          <p:cNvPr id="17" name="Shape 15"/>
          <p:cNvSpPr/>
          <p:nvPr/>
        </p:nvSpPr>
        <p:spPr>
          <a:xfrm>
            <a:off x="7086600" y="3127248"/>
            <a:ext cx="3291840" cy="0"/>
          </a:xfrm>
          <a:prstGeom prst="line">
            <a:avLst/>
          </a:prstGeom>
          <a:noFill/>
          <a:ln w="25400">
            <a:solidFill>
              <a:srgbClr val="028090"/>
            </a:solidFill>
            <a:prstDash val="solid"/>
          </a:ln>
        </p:spPr>
        <p:txBody>
          <a:bodyPr/>
          <a:lstStyle/>
          <a:p>
            <a:endParaRPr lang="en-US"/>
          </a:p>
        </p:txBody>
      </p:sp>
      <p:sp>
        <p:nvSpPr>
          <p:cNvPr id="18" name="Shape 16"/>
          <p:cNvSpPr/>
          <p:nvPr/>
        </p:nvSpPr>
        <p:spPr>
          <a:xfrm>
            <a:off x="6492240" y="3886200"/>
            <a:ext cx="4846320" cy="1828800"/>
          </a:xfrm>
          <a:prstGeom prst="roundRect">
            <a:avLst>
              <a:gd name="adj" fmla="val 3000"/>
            </a:avLst>
          </a:prstGeom>
          <a:solidFill>
            <a:srgbClr val="F4F7F6"/>
          </a:solidFill>
          <a:ln/>
        </p:spPr>
        <p:txBody>
          <a:bodyPr/>
          <a:lstStyle/>
          <a:p>
            <a:endParaRPr lang="en-US"/>
          </a:p>
        </p:txBody>
      </p:sp>
      <p:sp>
        <p:nvSpPr>
          <p:cNvPr id="19" name="Text 17"/>
          <p:cNvSpPr/>
          <p:nvPr/>
        </p:nvSpPr>
        <p:spPr>
          <a:xfrm>
            <a:off x="6766560" y="4023360"/>
            <a:ext cx="4389120" cy="32004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Classification — nhãn rời rạc</a:t>
            </a:r>
            <a:endParaRPr lang="en-US" sz="1200" dirty="0"/>
          </a:p>
        </p:txBody>
      </p:sp>
      <p:sp>
        <p:nvSpPr>
          <p:cNvPr id="20" name="Shape 18"/>
          <p:cNvSpPr/>
          <p:nvPr/>
        </p:nvSpPr>
        <p:spPr>
          <a:xfrm>
            <a:off x="6766560" y="4572000"/>
            <a:ext cx="1371600" cy="822960"/>
          </a:xfrm>
          <a:prstGeom prst="roundRect">
            <a:avLst>
              <a:gd name="adj" fmla="val 6667"/>
            </a:avLst>
          </a:prstGeom>
          <a:solidFill>
            <a:srgbClr val="D8E6E4"/>
          </a:solidFill>
          <a:ln/>
        </p:spPr>
        <p:txBody>
          <a:bodyPr/>
          <a:lstStyle/>
          <a:p>
            <a:endParaRPr lang="en-US"/>
          </a:p>
        </p:txBody>
      </p:sp>
      <p:sp>
        <p:nvSpPr>
          <p:cNvPr id="21" name="Text 19"/>
          <p:cNvSpPr/>
          <p:nvPr/>
        </p:nvSpPr>
        <p:spPr>
          <a:xfrm>
            <a:off x="6766560" y="4572000"/>
            <a:ext cx="1371600" cy="8229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Nhóm A</a:t>
            </a:r>
            <a:endParaRPr lang="en-US" sz="1100" dirty="0"/>
          </a:p>
        </p:txBody>
      </p:sp>
      <p:sp>
        <p:nvSpPr>
          <p:cNvPr id="22" name="Shape 20"/>
          <p:cNvSpPr/>
          <p:nvPr/>
        </p:nvSpPr>
        <p:spPr>
          <a:xfrm>
            <a:off x="8321040" y="4572000"/>
            <a:ext cx="1371600" cy="822960"/>
          </a:xfrm>
          <a:prstGeom prst="roundRect">
            <a:avLst>
              <a:gd name="adj" fmla="val 6667"/>
            </a:avLst>
          </a:prstGeom>
          <a:solidFill>
            <a:srgbClr val="02C39A"/>
          </a:solidFill>
          <a:ln/>
        </p:spPr>
        <p:txBody>
          <a:bodyPr/>
          <a:lstStyle/>
          <a:p>
            <a:endParaRPr lang="en-US"/>
          </a:p>
        </p:txBody>
      </p:sp>
      <p:sp>
        <p:nvSpPr>
          <p:cNvPr id="23" name="Text 21"/>
          <p:cNvSpPr/>
          <p:nvPr/>
        </p:nvSpPr>
        <p:spPr>
          <a:xfrm>
            <a:off x="8321040" y="4572000"/>
            <a:ext cx="1371600" cy="822960"/>
          </a:xfrm>
          <a:prstGeom prst="rect">
            <a:avLst/>
          </a:prstGeom>
          <a:noFill/>
          <a:ln/>
        </p:spPr>
        <p:txBody>
          <a:bodyPr wrap="square" rtlCol="0" anchor="ctr"/>
          <a:lstStyle/>
          <a:p>
            <a:pPr marL="0" indent="0" algn="ctr">
              <a:buNone/>
            </a:pPr>
            <a:r>
              <a:rPr lang="en-US" sz="1100" dirty="0">
                <a:solidFill>
                  <a:srgbClr val="2B2F33"/>
                </a:solidFill>
                <a:latin typeface="Calibri" pitchFamily="34" charset="0"/>
                <a:ea typeface="Calibri" pitchFamily="34" charset="-122"/>
                <a:cs typeface="Calibri" pitchFamily="34" charset="-120"/>
              </a:rPr>
              <a:t>Nhóm B</a:t>
            </a:r>
            <a:endParaRPr lang="en-US" sz="1100" dirty="0"/>
          </a:p>
        </p:txBody>
      </p:sp>
      <p:sp>
        <p:nvSpPr>
          <p:cNvPr id="24" name="Shape 22"/>
          <p:cNvSpPr/>
          <p:nvPr/>
        </p:nvSpPr>
        <p:spPr>
          <a:xfrm>
            <a:off x="9875520" y="4572000"/>
            <a:ext cx="1371600" cy="822960"/>
          </a:xfrm>
          <a:prstGeom prst="roundRect">
            <a:avLst>
              <a:gd name="adj" fmla="val 6667"/>
            </a:avLst>
          </a:prstGeom>
          <a:solidFill>
            <a:srgbClr val="D8E6E4"/>
          </a:solidFill>
          <a:ln/>
        </p:spPr>
        <p:txBody>
          <a:bodyPr/>
          <a:lstStyle/>
          <a:p>
            <a:endParaRPr lang="en-US"/>
          </a:p>
        </p:txBody>
      </p:sp>
      <p:sp>
        <p:nvSpPr>
          <p:cNvPr id="25" name="Text 23"/>
          <p:cNvSpPr/>
          <p:nvPr/>
        </p:nvSpPr>
        <p:spPr>
          <a:xfrm>
            <a:off x="9875520" y="4572000"/>
            <a:ext cx="1371600" cy="82296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Nhóm C</a:t>
            </a:r>
            <a:endParaRPr lang="en-US" sz="1100" dirty="0"/>
          </a:p>
        </p:txBody>
      </p:sp>
      <p:sp>
        <p:nvSpPr>
          <p:cNvPr id="27" name="Text 24"/>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Cơ sở lý thuyết: Các mô hình hồi quy</a:t>
            </a:r>
            <a:endParaRPr lang="en-US" sz="3000" dirty="0"/>
          </a:p>
        </p:txBody>
      </p:sp>
      <p:sp>
        <p:nvSpPr>
          <p:cNvPr id="5" name="Shape 3"/>
          <p:cNvSpPr/>
          <p:nvPr/>
        </p:nvSpPr>
        <p:spPr>
          <a:xfrm>
            <a:off x="822960" y="1600200"/>
            <a:ext cx="320040" cy="320040"/>
          </a:xfrm>
          <a:prstGeom prst="ellipse">
            <a:avLst/>
          </a:prstGeom>
          <a:solidFill>
            <a:srgbClr val="D8E6E4"/>
          </a:solidFill>
          <a:ln/>
        </p:spPr>
        <p:txBody>
          <a:bodyPr/>
          <a:lstStyle/>
          <a:p>
            <a:endParaRPr lang="en-US"/>
          </a:p>
        </p:txBody>
      </p:sp>
      <p:sp>
        <p:nvSpPr>
          <p:cNvPr id="6" name="Text 4"/>
          <p:cNvSpPr/>
          <p:nvPr/>
        </p:nvSpPr>
        <p:spPr>
          <a:xfrm>
            <a:off x="822960" y="1600200"/>
            <a:ext cx="320040" cy="32004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554480"/>
            <a:ext cx="4572000" cy="320040"/>
          </a:xfrm>
          <a:prstGeom prst="rect">
            <a:avLst/>
          </a:prstGeom>
          <a:noFill/>
          <a:ln/>
        </p:spPr>
        <p:txBody>
          <a:bodyPr wrap="square" rtlCol="0" anchor="ctr"/>
          <a:lstStyle/>
          <a:p>
            <a:pPr marL="0" indent="0">
              <a:buNone/>
            </a:pPr>
            <a:r>
              <a:rPr lang="en-US" sz="1300" b="1" dirty="0">
                <a:solidFill>
                  <a:srgbClr val="2B2F33"/>
                </a:solidFill>
                <a:latin typeface="Calibri" pitchFamily="34" charset="0"/>
                <a:ea typeface="Calibri" pitchFamily="34" charset="-122"/>
                <a:cs typeface="Calibri" pitchFamily="34" charset="-120"/>
              </a:rPr>
              <a:t>Linear Regression</a:t>
            </a:r>
            <a:endParaRPr lang="en-US" sz="1300" dirty="0"/>
          </a:p>
        </p:txBody>
      </p:sp>
      <p:sp>
        <p:nvSpPr>
          <p:cNvPr id="8" name="Text 6"/>
          <p:cNvSpPr/>
          <p:nvPr/>
        </p:nvSpPr>
        <p:spPr>
          <a:xfrm>
            <a:off x="1280160" y="1856232"/>
            <a:ext cx="4572000" cy="4114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Tìm một đường/mặt phẳng tuyến tính khớp với dữ liệu.</a:t>
            </a:r>
            <a:endParaRPr lang="en-US" sz="1100" dirty="0"/>
          </a:p>
        </p:txBody>
      </p:sp>
      <p:sp>
        <p:nvSpPr>
          <p:cNvPr id="9" name="Shape 7"/>
          <p:cNvSpPr/>
          <p:nvPr/>
        </p:nvSpPr>
        <p:spPr>
          <a:xfrm>
            <a:off x="822960" y="2377440"/>
            <a:ext cx="320040" cy="320040"/>
          </a:xfrm>
          <a:prstGeom prst="ellipse">
            <a:avLst/>
          </a:prstGeom>
          <a:solidFill>
            <a:srgbClr val="D8E6E4"/>
          </a:solidFill>
          <a:ln/>
        </p:spPr>
        <p:txBody>
          <a:bodyPr/>
          <a:lstStyle/>
          <a:p>
            <a:endParaRPr lang="en-US"/>
          </a:p>
        </p:txBody>
      </p:sp>
      <p:sp>
        <p:nvSpPr>
          <p:cNvPr id="10" name="Text 8"/>
          <p:cNvSpPr/>
          <p:nvPr/>
        </p:nvSpPr>
        <p:spPr>
          <a:xfrm>
            <a:off x="822960" y="2377440"/>
            <a:ext cx="320040" cy="32004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280160" y="2331720"/>
            <a:ext cx="4572000" cy="320040"/>
          </a:xfrm>
          <a:prstGeom prst="rect">
            <a:avLst/>
          </a:prstGeom>
          <a:noFill/>
          <a:ln/>
        </p:spPr>
        <p:txBody>
          <a:bodyPr wrap="square" rtlCol="0" anchor="ctr"/>
          <a:lstStyle/>
          <a:p>
            <a:pPr marL="0" indent="0">
              <a:buNone/>
            </a:pPr>
            <a:r>
              <a:rPr lang="en-US" sz="1300" b="1" dirty="0">
                <a:solidFill>
                  <a:srgbClr val="2B2F33"/>
                </a:solidFill>
                <a:latin typeface="Calibri" pitchFamily="34" charset="0"/>
                <a:ea typeface="Calibri" pitchFamily="34" charset="-122"/>
                <a:cs typeface="Calibri" pitchFamily="34" charset="-120"/>
              </a:rPr>
              <a:t>Decision Tree Regressor</a:t>
            </a:r>
            <a:endParaRPr lang="en-US" sz="1300" dirty="0"/>
          </a:p>
        </p:txBody>
      </p:sp>
      <p:sp>
        <p:nvSpPr>
          <p:cNvPr id="12" name="Text 10"/>
          <p:cNvSpPr/>
          <p:nvPr/>
        </p:nvSpPr>
        <p:spPr>
          <a:xfrm>
            <a:off x="1280160" y="2633472"/>
            <a:ext cx="4572000" cy="4114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Chia dữ liệu theo các quy tắc rẽ nhánh dựa trên đặc trưng.</a:t>
            </a:r>
            <a:endParaRPr lang="en-US" sz="1100" dirty="0"/>
          </a:p>
        </p:txBody>
      </p:sp>
      <p:sp>
        <p:nvSpPr>
          <p:cNvPr id="13" name="Shape 11"/>
          <p:cNvSpPr/>
          <p:nvPr/>
        </p:nvSpPr>
        <p:spPr>
          <a:xfrm>
            <a:off x="822960" y="3154680"/>
            <a:ext cx="320040" cy="320040"/>
          </a:xfrm>
          <a:prstGeom prst="ellipse">
            <a:avLst/>
          </a:prstGeom>
          <a:solidFill>
            <a:srgbClr val="D8E6E4"/>
          </a:solidFill>
          <a:ln/>
        </p:spPr>
        <p:txBody>
          <a:bodyPr/>
          <a:lstStyle/>
          <a:p>
            <a:endParaRPr lang="en-US"/>
          </a:p>
        </p:txBody>
      </p:sp>
      <p:sp>
        <p:nvSpPr>
          <p:cNvPr id="14" name="Text 12"/>
          <p:cNvSpPr/>
          <p:nvPr/>
        </p:nvSpPr>
        <p:spPr>
          <a:xfrm>
            <a:off x="822960" y="3154680"/>
            <a:ext cx="320040" cy="320040"/>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280160" y="3108960"/>
            <a:ext cx="4572000" cy="320040"/>
          </a:xfrm>
          <a:prstGeom prst="rect">
            <a:avLst/>
          </a:prstGeom>
          <a:noFill/>
          <a:ln/>
        </p:spPr>
        <p:txBody>
          <a:bodyPr wrap="square" rtlCol="0" anchor="ctr"/>
          <a:lstStyle/>
          <a:p>
            <a:pPr marL="0" indent="0">
              <a:buNone/>
            </a:pPr>
            <a:r>
              <a:rPr lang="en-US" sz="1300" b="1" dirty="0">
                <a:solidFill>
                  <a:srgbClr val="2B2F33"/>
                </a:solidFill>
                <a:latin typeface="Calibri" pitchFamily="34" charset="0"/>
                <a:ea typeface="Calibri" pitchFamily="34" charset="-122"/>
                <a:cs typeface="Calibri" pitchFamily="34" charset="-120"/>
              </a:rPr>
              <a:t>KNN Regressor</a:t>
            </a:r>
            <a:endParaRPr lang="en-US" sz="1300" dirty="0"/>
          </a:p>
        </p:txBody>
      </p:sp>
      <p:sp>
        <p:nvSpPr>
          <p:cNvPr id="16" name="Text 14"/>
          <p:cNvSpPr/>
          <p:nvPr/>
        </p:nvSpPr>
        <p:spPr>
          <a:xfrm>
            <a:off x="1280160" y="3410712"/>
            <a:ext cx="4572000" cy="41148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Dự đoán dựa trên trung bình của các điểm dữ liệu gần nhất.</a:t>
            </a:r>
            <a:endParaRPr lang="en-US" sz="1100" dirty="0"/>
          </a:p>
        </p:txBody>
      </p:sp>
      <p:sp>
        <p:nvSpPr>
          <p:cNvPr id="17" name="Shape 15"/>
          <p:cNvSpPr/>
          <p:nvPr/>
        </p:nvSpPr>
        <p:spPr>
          <a:xfrm>
            <a:off x="6309360" y="1508760"/>
            <a:ext cx="5029200" cy="4754880"/>
          </a:xfrm>
          <a:prstGeom prst="roundRect">
            <a:avLst>
              <a:gd name="adj" fmla="val 1538"/>
            </a:avLst>
          </a:prstGeom>
          <a:solidFill>
            <a:srgbClr val="028090"/>
          </a:solidFill>
          <a:ln/>
        </p:spPr>
        <p:txBody>
          <a:bodyPr/>
          <a:lstStyle/>
          <a:p>
            <a:endParaRPr lang="en-US"/>
          </a:p>
        </p:txBody>
      </p:sp>
      <p:sp>
        <p:nvSpPr>
          <p:cNvPr id="18" name="Text 16"/>
          <p:cNvSpPr/>
          <p:nvPr/>
        </p:nvSpPr>
        <p:spPr>
          <a:xfrm>
            <a:off x="6583680" y="1691640"/>
            <a:ext cx="4480560" cy="54864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SVR — Support Vector Regression</a:t>
            </a:r>
            <a:endParaRPr lang="en-US" sz="1700" dirty="0"/>
          </a:p>
        </p:txBody>
      </p:sp>
      <p:sp>
        <p:nvSpPr>
          <p:cNvPr id="19" name="Text 17"/>
          <p:cNvSpPr/>
          <p:nvPr/>
        </p:nvSpPr>
        <p:spPr>
          <a:xfrm>
            <a:off x="6583680" y="2148840"/>
            <a:ext cx="4480560" cy="320040"/>
          </a:xfrm>
          <a:prstGeom prst="rect">
            <a:avLst/>
          </a:prstGeom>
          <a:noFill/>
          <a:ln/>
        </p:spPr>
        <p:txBody>
          <a:bodyPr wrap="square" rtlCol="0" anchor="ctr"/>
          <a:lstStyle/>
          <a:p>
            <a:pPr marL="0" indent="0">
              <a:buNone/>
            </a:pPr>
            <a:r>
              <a:rPr lang="en-US" sz="1200" i="1" dirty="0">
                <a:solidFill>
                  <a:srgbClr val="02C39A"/>
                </a:solidFill>
                <a:latin typeface="Calibri" pitchFamily="34" charset="0"/>
                <a:ea typeface="Calibri" pitchFamily="34" charset="-122"/>
                <a:cs typeface="Calibri" pitchFamily="34" charset="-120"/>
              </a:rPr>
              <a:t>Mô hình được chọn để triển khai trong hệ thống</a:t>
            </a:r>
            <a:endParaRPr lang="en-US" sz="1200" dirty="0"/>
          </a:p>
        </p:txBody>
      </p:sp>
      <p:sp>
        <p:nvSpPr>
          <p:cNvPr id="20" name="Text 18"/>
          <p:cNvSpPr/>
          <p:nvPr/>
        </p:nvSpPr>
        <p:spPr>
          <a:xfrm>
            <a:off x="6583680" y="2606040"/>
            <a:ext cx="4480560" cy="3291840"/>
          </a:xfrm>
          <a:prstGeom prst="rect">
            <a:avLst/>
          </a:prstGeom>
          <a:noFill/>
          <a:ln/>
        </p:spPr>
        <p:txBody>
          <a:bodyPr wrap="square" rtlCol="0" anchor="ctr"/>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Tìm một hàm dự đoán sao cho phần lớn điểm dữ liệu nằm trong một "dải sai số" chấp nhận được quanh hàm đó (epsilon-insensitive).</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Sai số nhỏ trong dải cho phép không bị phạt; chỉ điểm lệch ra ngoài dải mới ảnh hưởng đến mô hình.</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Có thể dùng kernel để mô hình hoá quan hệ phi tuyến giữa đặc trưng và mức tiêu hao nhiên liệu.</a:t>
            </a:r>
            <a:endParaRPr lang="en-US" sz="1250" dirty="0"/>
          </a:p>
        </p:txBody>
      </p:sp>
      <p:sp>
        <p:nvSpPr>
          <p:cNvPr id="22" name="Text 19"/>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Dữ liệu và tiền xử lý</a:t>
            </a:r>
            <a:endParaRPr lang="en-US" sz="3000" dirty="0"/>
          </a:p>
        </p:txBody>
      </p:sp>
      <p:sp>
        <p:nvSpPr>
          <p:cNvPr id="5" name="Shape 3"/>
          <p:cNvSpPr/>
          <p:nvPr/>
        </p:nvSpPr>
        <p:spPr>
          <a:xfrm>
            <a:off x="822960" y="1554480"/>
            <a:ext cx="3291840" cy="1371600"/>
          </a:xfrm>
          <a:prstGeom prst="roundRect">
            <a:avLst>
              <a:gd name="adj" fmla="val 5333"/>
            </a:avLst>
          </a:prstGeom>
          <a:solidFill>
            <a:srgbClr val="F4F7F6"/>
          </a:solidFill>
          <a:ln/>
        </p:spPr>
        <p:txBody>
          <a:bodyPr/>
          <a:lstStyle/>
          <a:p>
            <a:endParaRPr lang="en-US"/>
          </a:p>
        </p:txBody>
      </p:sp>
      <p:sp>
        <p:nvSpPr>
          <p:cNvPr id="6" name="Text 4"/>
          <p:cNvSpPr/>
          <p:nvPr/>
        </p:nvSpPr>
        <p:spPr>
          <a:xfrm>
            <a:off x="822960" y="1627632"/>
            <a:ext cx="3291840" cy="685800"/>
          </a:xfrm>
          <a:prstGeom prst="rect">
            <a:avLst/>
          </a:prstGeom>
          <a:noFill/>
          <a:ln/>
        </p:spPr>
        <p:txBody>
          <a:bodyPr wrap="square" rtlCol="0" anchor="ctr"/>
          <a:lstStyle/>
          <a:p>
            <a:pPr marL="0" indent="0" algn="ctr">
              <a:buNone/>
            </a:pPr>
            <a:r>
              <a:rPr lang="en-US" sz="3000" b="1" dirty="0">
                <a:solidFill>
                  <a:srgbClr val="028090"/>
                </a:solidFill>
                <a:latin typeface="Cambria" pitchFamily="34" charset="0"/>
                <a:ea typeface="Cambria" pitchFamily="34" charset="-122"/>
                <a:cs typeface="Cambria" pitchFamily="34" charset="-120"/>
              </a:rPr>
              <a:t>27.001</a:t>
            </a:r>
            <a:endParaRPr lang="en-US" sz="3000" dirty="0"/>
          </a:p>
        </p:txBody>
      </p:sp>
      <p:sp>
        <p:nvSpPr>
          <p:cNvPr id="7" name="Text 5"/>
          <p:cNvSpPr/>
          <p:nvPr/>
        </p:nvSpPr>
        <p:spPr>
          <a:xfrm>
            <a:off x="822960" y="2286000"/>
            <a:ext cx="3291840" cy="54864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Bản ghi ban đầu</a:t>
            </a:r>
            <a:endParaRPr lang="en-US" sz="1150" dirty="0"/>
          </a:p>
        </p:txBody>
      </p:sp>
      <p:sp>
        <p:nvSpPr>
          <p:cNvPr id="8" name="Shape 6"/>
          <p:cNvSpPr/>
          <p:nvPr/>
        </p:nvSpPr>
        <p:spPr>
          <a:xfrm>
            <a:off x="4389120" y="1554480"/>
            <a:ext cx="3291840" cy="1371600"/>
          </a:xfrm>
          <a:prstGeom prst="roundRect">
            <a:avLst>
              <a:gd name="adj" fmla="val 5333"/>
            </a:avLst>
          </a:prstGeom>
          <a:solidFill>
            <a:srgbClr val="F4F7F6"/>
          </a:solidFill>
          <a:ln/>
        </p:spPr>
        <p:txBody>
          <a:bodyPr/>
          <a:lstStyle/>
          <a:p>
            <a:endParaRPr lang="en-US"/>
          </a:p>
        </p:txBody>
      </p:sp>
      <p:sp>
        <p:nvSpPr>
          <p:cNvPr id="9" name="Text 7"/>
          <p:cNvSpPr/>
          <p:nvPr/>
        </p:nvSpPr>
        <p:spPr>
          <a:xfrm>
            <a:off x="4389120" y="1627632"/>
            <a:ext cx="3291840" cy="685800"/>
          </a:xfrm>
          <a:prstGeom prst="rect">
            <a:avLst/>
          </a:prstGeom>
          <a:noFill/>
          <a:ln/>
        </p:spPr>
        <p:txBody>
          <a:bodyPr wrap="square" rtlCol="0" anchor="ctr"/>
          <a:lstStyle/>
          <a:p>
            <a:pPr marL="0" indent="0" algn="ctr">
              <a:buNone/>
            </a:pPr>
            <a:r>
              <a:rPr lang="en-US" sz="3000" b="1" dirty="0">
                <a:solidFill>
                  <a:srgbClr val="028090"/>
                </a:solidFill>
                <a:latin typeface="Cambria" pitchFamily="34" charset="0"/>
                <a:ea typeface="Cambria" pitchFamily="34" charset="-122"/>
                <a:cs typeface="Cambria" pitchFamily="34" charset="-120"/>
              </a:rPr>
              <a:t>26.998</a:t>
            </a:r>
            <a:endParaRPr lang="en-US" sz="3000" dirty="0"/>
          </a:p>
        </p:txBody>
      </p:sp>
      <p:sp>
        <p:nvSpPr>
          <p:cNvPr id="10" name="Text 8"/>
          <p:cNvSpPr/>
          <p:nvPr/>
        </p:nvSpPr>
        <p:spPr>
          <a:xfrm>
            <a:off x="4389120" y="2286000"/>
            <a:ext cx="3291840" cy="54864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Sau khi loại 3 bản ghi trùng</a:t>
            </a:r>
            <a:endParaRPr lang="en-US" sz="1150" dirty="0"/>
          </a:p>
        </p:txBody>
      </p:sp>
      <p:sp>
        <p:nvSpPr>
          <p:cNvPr id="11" name="Shape 9"/>
          <p:cNvSpPr/>
          <p:nvPr/>
        </p:nvSpPr>
        <p:spPr>
          <a:xfrm>
            <a:off x="7955280" y="1554480"/>
            <a:ext cx="3291840" cy="1371600"/>
          </a:xfrm>
          <a:prstGeom prst="roundRect">
            <a:avLst>
              <a:gd name="adj" fmla="val 5333"/>
            </a:avLst>
          </a:prstGeom>
          <a:solidFill>
            <a:srgbClr val="F4F7F6"/>
          </a:solidFill>
          <a:ln/>
        </p:spPr>
        <p:txBody>
          <a:bodyPr/>
          <a:lstStyle/>
          <a:p>
            <a:endParaRPr lang="en-US"/>
          </a:p>
        </p:txBody>
      </p:sp>
      <p:sp>
        <p:nvSpPr>
          <p:cNvPr id="12" name="Text 10"/>
          <p:cNvSpPr/>
          <p:nvPr/>
        </p:nvSpPr>
        <p:spPr>
          <a:xfrm>
            <a:off x="7955280" y="1627632"/>
            <a:ext cx="3291840" cy="685800"/>
          </a:xfrm>
          <a:prstGeom prst="rect">
            <a:avLst/>
          </a:prstGeom>
          <a:noFill/>
          <a:ln/>
        </p:spPr>
        <p:txBody>
          <a:bodyPr wrap="square" rtlCol="0" anchor="ctr"/>
          <a:lstStyle/>
          <a:p>
            <a:pPr marL="0" indent="0" algn="ctr">
              <a:buNone/>
            </a:pPr>
            <a:r>
              <a:rPr lang="en-US" sz="3000" b="1" dirty="0">
                <a:solidFill>
                  <a:srgbClr val="028090"/>
                </a:solidFill>
                <a:latin typeface="Cambria" pitchFamily="34" charset="0"/>
                <a:ea typeface="Cambria" pitchFamily="34" charset="-122"/>
                <a:cs typeface="Cambria" pitchFamily="34" charset="-120"/>
              </a:rPr>
              <a:t>7</a:t>
            </a:r>
            <a:endParaRPr lang="en-US" sz="3000" dirty="0"/>
          </a:p>
        </p:txBody>
      </p:sp>
      <p:sp>
        <p:nvSpPr>
          <p:cNvPr id="13" name="Text 11"/>
          <p:cNvSpPr/>
          <p:nvPr/>
        </p:nvSpPr>
        <p:spPr>
          <a:xfrm>
            <a:off x="7955280" y="2286000"/>
            <a:ext cx="3291840" cy="548640"/>
          </a:xfrm>
          <a:prstGeom prst="rect">
            <a:avLst/>
          </a:prstGeom>
          <a:noFill/>
          <a:ln/>
        </p:spPr>
        <p:txBody>
          <a:bodyPr wrap="square" rtlCol="0" anchor="ctr"/>
          <a:lstStyle/>
          <a:p>
            <a:pPr marL="0" indent="0" algn="ctr">
              <a:buNone/>
            </a:pPr>
            <a:r>
              <a:rPr lang="en-US" sz="1150" dirty="0">
                <a:solidFill>
                  <a:srgbClr val="6B7280"/>
                </a:solidFill>
                <a:latin typeface="Calibri" pitchFamily="34" charset="0"/>
                <a:ea typeface="Calibri" pitchFamily="34" charset="-122"/>
                <a:cs typeface="Calibri" pitchFamily="34" charset="-120"/>
              </a:rPr>
              <a:t>Đặc trưng (feature) sử dụng</a:t>
            </a:r>
            <a:endParaRPr lang="en-US" sz="1150" dirty="0"/>
          </a:p>
        </p:txBody>
      </p:sp>
      <p:sp>
        <p:nvSpPr>
          <p:cNvPr id="14" name="Text 12"/>
          <p:cNvSpPr/>
          <p:nvPr/>
        </p:nvSpPr>
        <p:spPr>
          <a:xfrm>
            <a:off x="822960" y="3063240"/>
            <a:ext cx="10515600"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Nguồn: MY1995-2023 Fuel Consumption Ratings (Kaggle / Government of Canada)</a:t>
            </a:r>
            <a:endParaRPr lang="en-US" sz="1100" dirty="0"/>
          </a:p>
        </p:txBody>
      </p:sp>
      <p:sp>
        <p:nvSpPr>
          <p:cNvPr id="15" name="Text 13"/>
          <p:cNvSpPr/>
          <p:nvPr/>
        </p:nvSpPr>
        <p:spPr>
          <a:xfrm>
            <a:off x="822960" y="3611880"/>
            <a:ext cx="5120640" cy="32004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7 feature được sử dụng:</a:t>
            </a:r>
            <a:endParaRPr lang="en-US" sz="1300" dirty="0"/>
          </a:p>
        </p:txBody>
      </p:sp>
      <p:sp>
        <p:nvSpPr>
          <p:cNvPr id="16" name="Text 14"/>
          <p:cNvSpPr/>
          <p:nvPr/>
        </p:nvSpPr>
        <p:spPr>
          <a:xfrm>
            <a:off x="822960" y="3977640"/>
            <a:ext cx="5120640" cy="2468880"/>
          </a:xfrm>
          <a:prstGeom prst="rect">
            <a:avLst/>
          </a:prstGeom>
          <a:noFill/>
          <a:ln/>
        </p:spPr>
        <p:txBody>
          <a:bodyPr wrap="square" rtlCol="0" anchor="ctr"/>
          <a:lstStyle/>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model_year</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make</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vehicle_class</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engine_size</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cylinders</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transmission</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fuel_type</a:t>
            </a:r>
            <a:endParaRPr lang="en-US" sz="1250" dirty="0"/>
          </a:p>
        </p:txBody>
      </p:sp>
      <p:sp>
        <p:nvSpPr>
          <p:cNvPr id="17" name="Shape 15"/>
          <p:cNvSpPr/>
          <p:nvPr/>
        </p:nvSpPr>
        <p:spPr>
          <a:xfrm>
            <a:off x="6309360" y="3611880"/>
            <a:ext cx="5029200" cy="2834640"/>
          </a:xfrm>
          <a:prstGeom prst="roundRect">
            <a:avLst>
              <a:gd name="adj" fmla="val 2581"/>
            </a:avLst>
          </a:prstGeom>
          <a:solidFill>
            <a:srgbClr val="FDECEC"/>
          </a:solidFill>
          <a:ln w="12700">
            <a:solidFill>
              <a:srgbClr val="E08A8A"/>
            </a:solidFill>
            <a:prstDash val="solid"/>
          </a:ln>
        </p:spPr>
        <p:txBody>
          <a:bodyPr/>
          <a:lstStyle/>
          <a:p>
            <a:endParaRPr lang="en-US"/>
          </a:p>
        </p:txBody>
      </p:sp>
      <p:sp>
        <p:nvSpPr>
          <p:cNvPr id="18" name="Text 16"/>
          <p:cNvSpPr/>
          <p:nvPr/>
        </p:nvSpPr>
        <p:spPr>
          <a:xfrm>
            <a:off x="6537960" y="3749040"/>
            <a:ext cx="4572000" cy="365760"/>
          </a:xfrm>
          <a:prstGeom prst="rect">
            <a:avLst/>
          </a:prstGeom>
          <a:noFill/>
          <a:ln/>
        </p:spPr>
        <p:txBody>
          <a:bodyPr wrap="square" rtlCol="0" anchor="ctr"/>
          <a:lstStyle/>
          <a:p>
            <a:pPr marL="0" indent="0">
              <a:buNone/>
            </a:pPr>
            <a:r>
              <a:rPr lang="en-US" sz="1300" b="1" dirty="0">
                <a:solidFill>
                  <a:srgbClr val="B0413E"/>
                </a:solidFill>
                <a:latin typeface="Calibri" pitchFamily="34" charset="0"/>
                <a:ea typeface="Calibri" pitchFamily="34" charset="-122"/>
                <a:cs typeface="Calibri" pitchFamily="34" charset="-120"/>
              </a:rPr>
              <a:t>Loại khỏi tập feature (nguy cơ data leakage)</a:t>
            </a:r>
            <a:endParaRPr lang="en-US" sz="1300" dirty="0"/>
          </a:p>
        </p:txBody>
      </p:sp>
      <p:sp>
        <p:nvSpPr>
          <p:cNvPr id="19" name="Text 17"/>
          <p:cNvSpPr/>
          <p:nvPr/>
        </p:nvSpPr>
        <p:spPr>
          <a:xfrm>
            <a:off x="6537960" y="4160520"/>
            <a:ext cx="4572000" cy="1280160"/>
          </a:xfrm>
          <a:prstGeom prst="rect">
            <a:avLst/>
          </a:prstGeom>
          <a:noFill/>
          <a:ln/>
        </p:spPr>
        <p:txBody>
          <a:bodyPr wrap="square" rtlCol="0" anchor="ctr"/>
          <a:lstStyle/>
          <a:p>
            <a:pPr marL="342900" indent="-342900">
              <a:spcAft>
                <a:spcPts val="600"/>
              </a:spcAft>
              <a:buSzPct val="100000"/>
              <a:buChar char="•"/>
            </a:pPr>
            <a:r>
              <a:rPr lang="en-US" sz="1200" dirty="0">
                <a:solidFill>
                  <a:srgbClr val="2B2F33"/>
                </a:solidFill>
                <a:latin typeface="Calibri" pitchFamily="34" charset="0"/>
                <a:ea typeface="Calibri" pitchFamily="34" charset="-122"/>
                <a:cs typeface="Calibri" pitchFamily="34" charset="-120"/>
              </a:rPr>
              <a:t>Mức tiêu hao nhiên liệu city/highway</a:t>
            </a:r>
            <a:endParaRPr lang="en-US" sz="1200" dirty="0"/>
          </a:p>
          <a:p>
            <a:pPr marL="342900" indent="-342900">
              <a:spcAft>
                <a:spcPts val="600"/>
              </a:spcAft>
              <a:buSzPct val="100000"/>
              <a:buChar char="•"/>
            </a:pPr>
            <a:r>
              <a:rPr lang="en-US" sz="1200" dirty="0">
                <a:solidFill>
                  <a:srgbClr val="2B2F33"/>
                </a:solidFill>
                <a:latin typeface="Calibri" pitchFamily="34" charset="0"/>
                <a:ea typeface="Calibri" pitchFamily="34" charset="-122"/>
                <a:cs typeface="Calibri" pitchFamily="34" charset="-120"/>
              </a:rPr>
              <a:t>MPG (miles per gallon)</a:t>
            </a:r>
            <a:endParaRPr lang="en-US" sz="1200" dirty="0"/>
          </a:p>
          <a:p>
            <a:pPr marL="342900" indent="-342900">
              <a:spcAft>
                <a:spcPts val="600"/>
              </a:spcAft>
              <a:buSzPct val="100000"/>
              <a:buChar char="•"/>
            </a:pPr>
            <a:r>
              <a:rPr lang="en-US" sz="1200" dirty="0">
                <a:solidFill>
                  <a:srgbClr val="2B2F33"/>
                </a:solidFill>
                <a:latin typeface="Calibri" pitchFamily="34" charset="0"/>
                <a:ea typeface="Calibri" pitchFamily="34" charset="-122"/>
                <a:cs typeface="Calibri" pitchFamily="34" charset="-120"/>
              </a:rPr>
              <a:t>CO2 emissions</a:t>
            </a:r>
            <a:endParaRPr lang="en-US" sz="1200" dirty="0"/>
          </a:p>
        </p:txBody>
      </p:sp>
      <p:sp>
        <p:nvSpPr>
          <p:cNvPr id="20" name="Text 18"/>
          <p:cNvSpPr/>
          <p:nvPr/>
        </p:nvSpPr>
        <p:spPr>
          <a:xfrm>
            <a:off x="6537960" y="5486400"/>
            <a:ext cx="4572000" cy="822960"/>
          </a:xfrm>
          <a:prstGeom prst="rect">
            <a:avLst/>
          </a:prstGeom>
          <a:noFill/>
          <a:ln/>
        </p:spPr>
        <p:txBody>
          <a:bodyPr wrap="square" rtlCol="0" anchor="ctr"/>
          <a:lstStyle/>
          <a:p>
            <a:pPr marL="0" indent="0">
              <a:buNone/>
            </a:pPr>
            <a:r>
              <a:rPr lang="en-US" sz="1150" i="1" dirty="0">
                <a:solidFill>
                  <a:srgbClr val="8A3B39"/>
                </a:solidFill>
                <a:latin typeface="Calibri" pitchFamily="34" charset="0"/>
                <a:ea typeface="Calibri" pitchFamily="34" charset="-122"/>
                <a:cs typeface="Calibri" pitchFamily="34" charset="-120"/>
              </a:rPr>
              <a:t>Lý do: đây là các biến dẫn xuất gần trực tiếp từ target hoặc có mối liên hệ quá chặt với target.</a:t>
            </a:r>
            <a:endParaRPr lang="en-US" sz="1150" dirty="0"/>
          </a:p>
        </p:txBody>
      </p:sp>
      <p:sp>
        <p:nvSpPr>
          <p:cNvPr id="22" name="Text 19"/>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Quy trình thực nghiệm</a:t>
            </a:r>
            <a:endParaRPr lang="en-US" sz="3000" dirty="0"/>
          </a:p>
        </p:txBody>
      </p:sp>
      <p:sp>
        <p:nvSpPr>
          <p:cNvPr id="5" name="Shape 3"/>
          <p:cNvSpPr/>
          <p:nvPr/>
        </p:nvSpPr>
        <p:spPr>
          <a:xfrm>
            <a:off x="822960" y="2377440"/>
            <a:ext cx="1965960" cy="1463040"/>
          </a:xfrm>
          <a:prstGeom prst="roundRect">
            <a:avLst>
              <a:gd name="adj" fmla="val 5000"/>
            </a:avLst>
          </a:prstGeom>
          <a:solidFill>
            <a:srgbClr val="028090"/>
          </a:solidFill>
          <a:ln/>
        </p:spPr>
        <p:txBody>
          <a:bodyPr/>
          <a:lstStyle/>
          <a:p>
            <a:endParaRPr lang="en-US"/>
          </a:p>
        </p:txBody>
      </p:sp>
      <p:sp>
        <p:nvSpPr>
          <p:cNvPr id="6" name="Text 4"/>
          <p:cNvSpPr/>
          <p:nvPr/>
        </p:nvSpPr>
        <p:spPr>
          <a:xfrm>
            <a:off x="822960" y="2377440"/>
            <a:ext cx="1965960" cy="14630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Tiền xử lý dữ liệu</a:t>
            </a:r>
            <a:endParaRPr lang="en-US" sz="1150" dirty="0"/>
          </a:p>
        </p:txBody>
      </p:sp>
      <p:sp>
        <p:nvSpPr>
          <p:cNvPr id="7" name="Shape 5"/>
          <p:cNvSpPr/>
          <p:nvPr/>
        </p:nvSpPr>
        <p:spPr>
          <a:xfrm>
            <a:off x="2807208" y="2999232"/>
            <a:ext cx="192024" cy="219456"/>
          </a:xfrm>
          <a:prstGeom prst="rightArrow">
            <a:avLst/>
          </a:prstGeom>
          <a:solidFill>
            <a:srgbClr val="00A896"/>
          </a:solidFill>
          <a:ln/>
        </p:spPr>
        <p:txBody>
          <a:bodyPr/>
          <a:lstStyle/>
          <a:p>
            <a:endParaRPr lang="en-US"/>
          </a:p>
        </p:txBody>
      </p:sp>
      <p:sp>
        <p:nvSpPr>
          <p:cNvPr id="8" name="Shape 6"/>
          <p:cNvSpPr/>
          <p:nvPr/>
        </p:nvSpPr>
        <p:spPr>
          <a:xfrm>
            <a:off x="3017520" y="2377440"/>
            <a:ext cx="1965960" cy="1463040"/>
          </a:xfrm>
          <a:prstGeom prst="roundRect">
            <a:avLst>
              <a:gd name="adj" fmla="val 5000"/>
            </a:avLst>
          </a:prstGeom>
          <a:solidFill>
            <a:srgbClr val="028090"/>
          </a:solidFill>
          <a:ln/>
        </p:spPr>
        <p:txBody>
          <a:bodyPr/>
          <a:lstStyle/>
          <a:p>
            <a:endParaRPr lang="en-US"/>
          </a:p>
        </p:txBody>
      </p:sp>
      <p:sp>
        <p:nvSpPr>
          <p:cNvPr id="9" name="Text 7"/>
          <p:cNvSpPr/>
          <p:nvPr/>
        </p:nvSpPr>
        <p:spPr>
          <a:xfrm>
            <a:off x="3017520" y="2377440"/>
            <a:ext cx="1965960" cy="14630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Chia train/test</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80/20, random_state=42</a:t>
            </a:r>
            <a:endParaRPr lang="en-US" sz="1150" dirty="0"/>
          </a:p>
        </p:txBody>
      </p:sp>
      <p:sp>
        <p:nvSpPr>
          <p:cNvPr id="10" name="Shape 8"/>
          <p:cNvSpPr/>
          <p:nvPr/>
        </p:nvSpPr>
        <p:spPr>
          <a:xfrm>
            <a:off x="5001768" y="2999232"/>
            <a:ext cx="192024" cy="219456"/>
          </a:xfrm>
          <a:prstGeom prst="rightArrow">
            <a:avLst/>
          </a:prstGeom>
          <a:solidFill>
            <a:srgbClr val="00A896"/>
          </a:solidFill>
          <a:ln/>
        </p:spPr>
        <p:txBody>
          <a:bodyPr/>
          <a:lstStyle/>
          <a:p>
            <a:endParaRPr lang="en-US"/>
          </a:p>
        </p:txBody>
      </p:sp>
      <p:sp>
        <p:nvSpPr>
          <p:cNvPr id="11" name="Shape 9"/>
          <p:cNvSpPr/>
          <p:nvPr/>
        </p:nvSpPr>
        <p:spPr>
          <a:xfrm>
            <a:off x="5212080" y="2377440"/>
            <a:ext cx="1965960" cy="1463040"/>
          </a:xfrm>
          <a:prstGeom prst="roundRect">
            <a:avLst>
              <a:gd name="adj" fmla="val 5000"/>
            </a:avLst>
          </a:prstGeom>
          <a:solidFill>
            <a:srgbClr val="028090"/>
          </a:solidFill>
          <a:ln/>
        </p:spPr>
        <p:txBody>
          <a:bodyPr/>
          <a:lstStyle/>
          <a:p>
            <a:endParaRPr lang="en-US"/>
          </a:p>
        </p:txBody>
      </p:sp>
      <p:sp>
        <p:nvSpPr>
          <p:cNvPr id="12" name="Text 10"/>
          <p:cNvSpPr/>
          <p:nvPr/>
        </p:nvSpPr>
        <p:spPr>
          <a:xfrm>
            <a:off x="5212080" y="2377440"/>
            <a:ext cx="1965960" cy="14630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Huấn luyện 4 mô hình</a:t>
            </a:r>
            <a:endParaRPr lang="en-US" sz="1150" dirty="0"/>
          </a:p>
        </p:txBody>
      </p:sp>
      <p:sp>
        <p:nvSpPr>
          <p:cNvPr id="13" name="Shape 11"/>
          <p:cNvSpPr/>
          <p:nvPr/>
        </p:nvSpPr>
        <p:spPr>
          <a:xfrm>
            <a:off x="7196328" y="2999232"/>
            <a:ext cx="192024" cy="219456"/>
          </a:xfrm>
          <a:prstGeom prst="rightArrow">
            <a:avLst/>
          </a:prstGeom>
          <a:solidFill>
            <a:srgbClr val="00A896"/>
          </a:solidFill>
          <a:ln/>
        </p:spPr>
        <p:txBody>
          <a:bodyPr/>
          <a:lstStyle/>
          <a:p>
            <a:endParaRPr lang="en-US"/>
          </a:p>
        </p:txBody>
      </p:sp>
      <p:sp>
        <p:nvSpPr>
          <p:cNvPr id="14" name="Shape 12"/>
          <p:cNvSpPr/>
          <p:nvPr/>
        </p:nvSpPr>
        <p:spPr>
          <a:xfrm>
            <a:off x="7406640" y="2377440"/>
            <a:ext cx="1965960" cy="1463040"/>
          </a:xfrm>
          <a:prstGeom prst="roundRect">
            <a:avLst>
              <a:gd name="adj" fmla="val 5000"/>
            </a:avLst>
          </a:prstGeom>
          <a:solidFill>
            <a:srgbClr val="028090"/>
          </a:solidFill>
          <a:ln/>
        </p:spPr>
        <p:txBody>
          <a:bodyPr/>
          <a:lstStyle/>
          <a:p>
            <a:endParaRPr lang="en-US"/>
          </a:p>
        </p:txBody>
      </p:sp>
      <p:sp>
        <p:nvSpPr>
          <p:cNvPr id="15" name="Text 13"/>
          <p:cNvSpPr/>
          <p:nvPr/>
        </p:nvSpPr>
        <p:spPr>
          <a:xfrm>
            <a:off x="7406640" y="2377440"/>
            <a:ext cx="1965960" cy="146304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GridSearchCV +</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Cross-Validation</a:t>
            </a:r>
            <a:endParaRPr lang="en-US" sz="1150" dirty="0"/>
          </a:p>
        </p:txBody>
      </p:sp>
      <p:sp>
        <p:nvSpPr>
          <p:cNvPr id="16" name="Shape 14"/>
          <p:cNvSpPr/>
          <p:nvPr/>
        </p:nvSpPr>
        <p:spPr>
          <a:xfrm>
            <a:off x="9390888" y="2999232"/>
            <a:ext cx="192024" cy="219456"/>
          </a:xfrm>
          <a:prstGeom prst="rightArrow">
            <a:avLst/>
          </a:prstGeom>
          <a:solidFill>
            <a:srgbClr val="00A896"/>
          </a:solidFill>
          <a:ln/>
        </p:spPr>
        <p:txBody>
          <a:bodyPr/>
          <a:lstStyle/>
          <a:p>
            <a:endParaRPr lang="en-US"/>
          </a:p>
        </p:txBody>
      </p:sp>
      <p:sp>
        <p:nvSpPr>
          <p:cNvPr id="17" name="Shape 15"/>
          <p:cNvSpPr/>
          <p:nvPr/>
        </p:nvSpPr>
        <p:spPr>
          <a:xfrm>
            <a:off x="9601200" y="2377440"/>
            <a:ext cx="1965960" cy="1463040"/>
          </a:xfrm>
          <a:prstGeom prst="roundRect">
            <a:avLst>
              <a:gd name="adj" fmla="val 5000"/>
            </a:avLst>
          </a:prstGeom>
          <a:solidFill>
            <a:srgbClr val="02C39A"/>
          </a:solidFill>
          <a:ln/>
        </p:spPr>
        <p:txBody>
          <a:bodyPr/>
          <a:lstStyle/>
          <a:p>
            <a:endParaRPr lang="en-US"/>
          </a:p>
        </p:txBody>
      </p:sp>
      <p:sp>
        <p:nvSpPr>
          <p:cNvPr id="18" name="Text 16"/>
          <p:cNvSpPr/>
          <p:nvPr/>
        </p:nvSpPr>
        <p:spPr>
          <a:xfrm>
            <a:off x="9601200" y="2377440"/>
            <a:ext cx="1965960" cy="1463040"/>
          </a:xfrm>
          <a:prstGeom prst="rect">
            <a:avLst/>
          </a:prstGeom>
          <a:noFill/>
          <a:ln/>
        </p:spPr>
        <p:txBody>
          <a:bodyPr wrap="square" rtlCol="0" anchor="ctr"/>
          <a:lstStyle/>
          <a:p>
            <a:pPr marL="0" indent="0" algn="ctr">
              <a:buNone/>
            </a:pPr>
            <a:r>
              <a:rPr lang="en-US" sz="1150" b="1" dirty="0">
                <a:solidFill>
                  <a:srgbClr val="2B2F33"/>
                </a:solidFill>
                <a:latin typeface="Calibri" pitchFamily="34" charset="0"/>
                <a:ea typeface="Calibri" pitchFamily="34" charset="-122"/>
                <a:cs typeface="Calibri" pitchFamily="34" charset="-120"/>
              </a:rPr>
              <a:t>Chọn mô hình</a:t>
            </a:r>
            <a:endParaRPr lang="en-US" sz="1150" dirty="0"/>
          </a:p>
          <a:p>
            <a:pPr marL="0" indent="0" algn="ctr">
              <a:buNone/>
            </a:pPr>
            <a:r>
              <a:rPr lang="en-US" sz="1150" b="1" dirty="0">
                <a:solidFill>
                  <a:srgbClr val="2B2F33"/>
                </a:solidFill>
                <a:latin typeface="Calibri" pitchFamily="34" charset="0"/>
                <a:ea typeface="Calibri" pitchFamily="34" charset="-122"/>
                <a:cs typeface="Calibri" pitchFamily="34" charset="-120"/>
              </a:rPr>
              <a:t>triển khai (SVR)</a:t>
            </a:r>
            <a:endParaRPr lang="en-US" sz="1150" dirty="0"/>
          </a:p>
        </p:txBody>
      </p:sp>
      <p:sp>
        <p:nvSpPr>
          <p:cNvPr id="19" name="Text 17"/>
          <p:cNvSpPr/>
          <p:nvPr/>
        </p:nvSpPr>
        <p:spPr>
          <a:xfrm>
            <a:off x="822960" y="4297680"/>
            <a:ext cx="10515600" cy="2011680"/>
          </a:xfrm>
          <a:prstGeom prst="rect">
            <a:avLst/>
          </a:prstGeom>
          <a:noFill/>
          <a:ln/>
        </p:spPr>
        <p:txBody>
          <a:bodyPr wrap="square" rtlCol="0" anchor="ctr"/>
          <a:lstStyle/>
          <a:p>
            <a:pPr marL="342900" indent="-342900">
              <a:spcAft>
                <a:spcPts val="1000"/>
              </a:spcAft>
              <a:buSzPct val="100000"/>
              <a:buChar char="•"/>
            </a:pPr>
            <a:r>
              <a:rPr lang="en-US" sz="1300" dirty="0">
                <a:solidFill>
                  <a:srgbClr val="2B2F33"/>
                </a:solidFill>
                <a:latin typeface="Calibri" pitchFamily="34" charset="0"/>
                <a:ea typeface="Calibri" pitchFamily="34" charset="-122"/>
                <a:cs typeface="Calibri" pitchFamily="34" charset="-120"/>
              </a:rPr>
              <a:t>Dữ liệu được chia thành tập huấn luyện (80%) và tập kiểm tra (20%), cố định random_state = 42 để đảm bảo tái lập kết quả.</a:t>
            </a:r>
            <a:endParaRPr lang="en-US" sz="1300" dirty="0"/>
          </a:p>
          <a:p>
            <a:pPr marL="342900" indent="-342900">
              <a:spcAft>
                <a:spcPts val="1000"/>
              </a:spcAft>
              <a:buSzPct val="100000"/>
              <a:buChar char="•"/>
            </a:pPr>
            <a:r>
              <a:rPr lang="en-US" sz="1300" dirty="0">
                <a:solidFill>
                  <a:srgbClr val="2B2F33"/>
                </a:solidFill>
                <a:latin typeface="Calibri" pitchFamily="34" charset="0"/>
                <a:ea typeface="Calibri" pitchFamily="34" charset="-122"/>
                <a:cs typeface="Calibri" pitchFamily="34" charset="-120"/>
              </a:rPr>
              <a:t>GridSearchCV và cross-validation được dùng để tinh chỉnh siêu tham số cho một số mô hình.</a:t>
            </a:r>
            <a:endParaRPr lang="en-US" sz="1300" dirty="0"/>
          </a:p>
          <a:p>
            <a:pPr marL="342900" indent="-342900">
              <a:spcAft>
                <a:spcPts val="1000"/>
              </a:spcAft>
              <a:buSzPct val="100000"/>
              <a:buChar char="•"/>
            </a:pPr>
            <a:r>
              <a:rPr lang="en-US" sz="1300" dirty="0">
                <a:solidFill>
                  <a:srgbClr val="2B2F33"/>
                </a:solidFill>
                <a:latin typeface="Calibri" pitchFamily="34" charset="0"/>
                <a:ea typeface="Calibri" pitchFamily="34" charset="-122"/>
                <a:cs typeface="Calibri" pitchFamily="34" charset="-120"/>
              </a:rPr>
              <a:t>[CẦN BỔ SUNG: chi tiết các bước tiền xử lý cụ thể — mã hoá biến phân loại, chuẩn hoá đặc trưng, v.v.]</a:t>
            </a:r>
            <a:endParaRPr lang="en-US" sz="1300" dirty="0"/>
          </a:p>
        </p:txBody>
      </p:sp>
      <p:sp>
        <p:nvSpPr>
          <p:cNvPr id="21" name="Text 18"/>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Kết quả đánh giá — Mô hình SVR</a:t>
            </a:r>
            <a:endParaRPr lang="en-US" sz="3000" dirty="0"/>
          </a:p>
        </p:txBody>
      </p:sp>
      <p:sp>
        <p:nvSpPr>
          <p:cNvPr id="5" name="Text 3"/>
          <p:cNvSpPr/>
          <p:nvPr/>
        </p:nvSpPr>
        <p:spPr>
          <a:xfrm>
            <a:off x="1188720" y="960120"/>
            <a:ext cx="10454335"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Kết quả trên tập kiểm tra (test set)</a:t>
            </a:r>
            <a:endParaRPr lang="en-US" sz="1400" dirty="0"/>
          </a:p>
        </p:txBody>
      </p:sp>
      <p:sp>
        <p:nvSpPr>
          <p:cNvPr id="6" name="Shape 4"/>
          <p:cNvSpPr/>
          <p:nvPr/>
        </p:nvSpPr>
        <p:spPr>
          <a:xfrm>
            <a:off x="822960" y="1965960"/>
            <a:ext cx="3291840" cy="1737360"/>
          </a:xfrm>
          <a:prstGeom prst="roundRect">
            <a:avLst>
              <a:gd name="adj" fmla="val 4211"/>
            </a:avLst>
          </a:prstGeom>
          <a:solidFill>
            <a:srgbClr val="F4F7F6"/>
          </a:solidFill>
          <a:ln/>
        </p:spPr>
        <p:txBody>
          <a:bodyPr/>
          <a:lstStyle/>
          <a:p>
            <a:endParaRPr lang="en-US"/>
          </a:p>
        </p:txBody>
      </p:sp>
      <p:sp>
        <p:nvSpPr>
          <p:cNvPr id="7" name="Text 5"/>
          <p:cNvSpPr/>
          <p:nvPr/>
        </p:nvSpPr>
        <p:spPr>
          <a:xfrm>
            <a:off x="822960" y="2103120"/>
            <a:ext cx="329184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MAE</a:t>
            </a:r>
            <a:endParaRPr lang="en-US" sz="1300" dirty="0"/>
          </a:p>
        </p:txBody>
      </p:sp>
      <p:sp>
        <p:nvSpPr>
          <p:cNvPr id="8" name="Text 6"/>
          <p:cNvSpPr/>
          <p:nvPr/>
        </p:nvSpPr>
        <p:spPr>
          <a:xfrm>
            <a:off x="822960" y="2423160"/>
            <a:ext cx="3291840" cy="777240"/>
          </a:xfrm>
          <a:prstGeom prst="rect">
            <a:avLst/>
          </a:prstGeom>
          <a:noFill/>
          <a:ln/>
        </p:spPr>
        <p:txBody>
          <a:bodyPr wrap="square" rtlCol="0" anchor="ctr"/>
          <a:lstStyle/>
          <a:p>
            <a:pPr marL="0" indent="0" algn="ctr">
              <a:buNone/>
            </a:pPr>
            <a:r>
              <a:rPr lang="en-US" sz="3400" b="1" dirty="0">
                <a:solidFill>
                  <a:srgbClr val="2B2F33"/>
                </a:solidFill>
                <a:latin typeface="Cambria" pitchFamily="34" charset="0"/>
                <a:ea typeface="Cambria" pitchFamily="34" charset="-122"/>
                <a:cs typeface="Cambria" pitchFamily="34" charset="-120"/>
              </a:rPr>
              <a:t>0,4293</a:t>
            </a:r>
            <a:endParaRPr lang="en-US" sz="3400" dirty="0"/>
          </a:p>
        </p:txBody>
      </p:sp>
      <p:sp>
        <p:nvSpPr>
          <p:cNvPr id="9" name="Text 7"/>
          <p:cNvSpPr/>
          <p:nvPr/>
        </p:nvSpPr>
        <p:spPr>
          <a:xfrm>
            <a:off x="822960" y="3246120"/>
            <a:ext cx="3291840" cy="36576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L/100 km</a:t>
            </a:r>
            <a:endParaRPr lang="en-US" sz="1100" dirty="0"/>
          </a:p>
        </p:txBody>
      </p:sp>
      <p:sp>
        <p:nvSpPr>
          <p:cNvPr id="10" name="Shape 8"/>
          <p:cNvSpPr/>
          <p:nvPr/>
        </p:nvSpPr>
        <p:spPr>
          <a:xfrm>
            <a:off x="4389120" y="1965960"/>
            <a:ext cx="3291840" cy="1737360"/>
          </a:xfrm>
          <a:prstGeom prst="roundRect">
            <a:avLst>
              <a:gd name="adj" fmla="val 4211"/>
            </a:avLst>
          </a:prstGeom>
          <a:solidFill>
            <a:srgbClr val="F4F7F6"/>
          </a:solidFill>
          <a:ln/>
        </p:spPr>
        <p:txBody>
          <a:bodyPr/>
          <a:lstStyle/>
          <a:p>
            <a:endParaRPr lang="en-US"/>
          </a:p>
        </p:txBody>
      </p:sp>
      <p:sp>
        <p:nvSpPr>
          <p:cNvPr id="11" name="Text 9"/>
          <p:cNvSpPr/>
          <p:nvPr/>
        </p:nvSpPr>
        <p:spPr>
          <a:xfrm>
            <a:off x="4389120" y="2103120"/>
            <a:ext cx="329184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RMSE</a:t>
            </a:r>
            <a:endParaRPr lang="en-US" sz="1300" dirty="0"/>
          </a:p>
        </p:txBody>
      </p:sp>
      <p:sp>
        <p:nvSpPr>
          <p:cNvPr id="12" name="Text 10"/>
          <p:cNvSpPr/>
          <p:nvPr/>
        </p:nvSpPr>
        <p:spPr>
          <a:xfrm>
            <a:off x="4389120" y="2423160"/>
            <a:ext cx="3291840" cy="777240"/>
          </a:xfrm>
          <a:prstGeom prst="rect">
            <a:avLst/>
          </a:prstGeom>
          <a:noFill/>
          <a:ln/>
        </p:spPr>
        <p:txBody>
          <a:bodyPr wrap="square" rtlCol="0" anchor="ctr"/>
          <a:lstStyle/>
          <a:p>
            <a:pPr marL="0" indent="0" algn="ctr">
              <a:buNone/>
            </a:pPr>
            <a:r>
              <a:rPr lang="en-US" sz="3400" b="1" dirty="0">
                <a:solidFill>
                  <a:srgbClr val="2B2F33"/>
                </a:solidFill>
                <a:latin typeface="Cambria" pitchFamily="34" charset="0"/>
                <a:ea typeface="Cambria" pitchFamily="34" charset="-122"/>
                <a:cs typeface="Cambria" pitchFamily="34" charset="-120"/>
              </a:rPr>
              <a:t>0,6498</a:t>
            </a:r>
            <a:endParaRPr lang="en-US" sz="3400" dirty="0"/>
          </a:p>
        </p:txBody>
      </p:sp>
      <p:sp>
        <p:nvSpPr>
          <p:cNvPr id="13" name="Text 11"/>
          <p:cNvSpPr/>
          <p:nvPr/>
        </p:nvSpPr>
        <p:spPr>
          <a:xfrm>
            <a:off x="4389120" y="3246120"/>
            <a:ext cx="3291840" cy="365760"/>
          </a:xfrm>
          <a:prstGeom prst="rect">
            <a:avLst/>
          </a:prstGeom>
          <a:noFill/>
          <a:ln/>
        </p:spPr>
        <p:txBody>
          <a:bodyPr wrap="square"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L/100 km</a:t>
            </a:r>
            <a:endParaRPr lang="en-US" sz="1100" dirty="0"/>
          </a:p>
        </p:txBody>
      </p:sp>
      <p:sp>
        <p:nvSpPr>
          <p:cNvPr id="14" name="Shape 12"/>
          <p:cNvSpPr/>
          <p:nvPr/>
        </p:nvSpPr>
        <p:spPr>
          <a:xfrm>
            <a:off x="7955280" y="1965960"/>
            <a:ext cx="3291840" cy="1737360"/>
          </a:xfrm>
          <a:prstGeom prst="roundRect">
            <a:avLst>
              <a:gd name="adj" fmla="val 4211"/>
            </a:avLst>
          </a:prstGeom>
          <a:solidFill>
            <a:srgbClr val="02C39A"/>
          </a:solidFill>
          <a:ln/>
        </p:spPr>
        <p:txBody>
          <a:bodyPr/>
          <a:lstStyle/>
          <a:p>
            <a:endParaRPr lang="en-US"/>
          </a:p>
        </p:txBody>
      </p:sp>
      <p:sp>
        <p:nvSpPr>
          <p:cNvPr id="15" name="Text 13"/>
          <p:cNvSpPr/>
          <p:nvPr/>
        </p:nvSpPr>
        <p:spPr>
          <a:xfrm>
            <a:off x="7955280" y="2103120"/>
            <a:ext cx="3291840" cy="365760"/>
          </a:xfrm>
          <a:prstGeom prst="rect">
            <a:avLst/>
          </a:prstGeom>
          <a:noFill/>
          <a:ln/>
        </p:spPr>
        <p:txBody>
          <a:bodyPr wrap="square" rtlCol="0" anchor="ctr"/>
          <a:lstStyle/>
          <a:p>
            <a:pPr marL="0" indent="0" algn="ctr">
              <a:buNone/>
            </a:pPr>
            <a:r>
              <a:rPr lang="en-US" sz="1300" b="1" dirty="0">
                <a:solidFill>
                  <a:srgbClr val="2B2F33"/>
                </a:solidFill>
                <a:latin typeface="Calibri" pitchFamily="34" charset="0"/>
                <a:ea typeface="Calibri" pitchFamily="34" charset="-122"/>
                <a:cs typeface="Calibri" pitchFamily="34" charset="-120"/>
              </a:rPr>
              <a:t>R²</a:t>
            </a:r>
            <a:endParaRPr lang="en-US" sz="1300" dirty="0"/>
          </a:p>
        </p:txBody>
      </p:sp>
      <p:sp>
        <p:nvSpPr>
          <p:cNvPr id="16" name="Text 14"/>
          <p:cNvSpPr/>
          <p:nvPr/>
        </p:nvSpPr>
        <p:spPr>
          <a:xfrm>
            <a:off x="7955280" y="2423160"/>
            <a:ext cx="3291840" cy="777240"/>
          </a:xfrm>
          <a:prstGeom prst="rect">
            <a:avLst/>
          </a:prstGeom>
          <a:noFill/>
          <a:ln/>
        </p:spPr>
        <p:txBody>
          <a:bodyPr wrap="square" rtlCol="0" anchor="ctr"/>
          <a:lstStyle/>
          <a:p>
            <a:pPr marL="0" indent="0" algn="ctr">
              <a:buNone/>
            </a:pPr>
            <a:r>
              <a:rPr lang="en-US" sz="3400" b="1" dirty="0">
                <a:solidFill>
                  <a:srgbClr val="2B2F33"/>
                </a:solidFill>
                <a:latin typeface="Cambria" pitchFamily="34" charset="0"/>
                <a:ea typeface="Cambria" pitchFamily="34" charset="-122"/>
                <a:cs typeface="Cambria" pitchFamily="34" charset="-120"/>
              </a:rPr>
              <a:t>0,9583</a:t>
            </a:r>
            <a:endParaRPr lang="en-US" sz="3400" dirty="0"/>
          </a:p>
        </p:txBody>
      </p:sp>
      <p:sp>
        <p:nvSpPr>
          <p:cNvPr id="17" name="Text 15"/>
          <p:cNvSpPr/>
          <p:nvPr/>
        </p:nvSpPr>
        <p:spPr>
          <a:xfrm>
            <a:off x="7955280" y="3246120"/>
            <a:ext cx="3291840" cy="365760"/>
          </a:xfrm>
          <a:prstGeom prst="rect">
            <a:avLst/>
          </a:prstGeom>
          <a:noFill/>
          <a:ln/>
        </p:spPr>
        <p:txBody>
          <a:bodyPr wrap="square" rtlCol="0" anchor="ctr"/>
          <a:lstStyle/>
          <a:p>
            <a:pPr marL="0" indent="0" algn="ctr">
              <a:buNone/>
            </a:pPr>
            <a:r>
              <a:rPr lang="en-US" sz="1100" i="1" dirty="0">
                <a:solidFill>
                  <a:srgbClr val="3A4147"/>
                </a:solidFill>
                <a:latin typeface="Calibri" pitchFamily="34" charset="0"/>
                <a:ea typeface="Calibri" pitchFamily="34" charset="-122"/>
                <a:cs typeface="Calibri" pitchFamily="34" charset="-120"/>
              </a:rPr>
              <a:t>hệ số xác định</a:t>
            </a:r>
            <a:endParaRPr lang="en-US" sz="1100" dirty="0"/>
          </a:p>
        </p:txBody>
      </p:sp>
      <p:sp>
        <p:nvSpPr>
          <p:cNvPr id="18" name="Text 16"/>
          <p:cNvSpPr/>
          <p:nvPr/>
        </p:nvSpPr>
        <p:spPr>
          <a:xfrm>
            <a:off x="822960" y="4023360"/>
            <a:ext cx="10515600" cy="2011680"/>
          </a:xfrm>
          <a:prstGeom prst="rect">
            <a:avLst/>
          </a:prstGeom>
          <a:noFill/>
          <a:ln/>
        </p:spPr>
        <p:txBody>
          <a:bodyPr wrap="square" rtlCol="0" anchor="ctr"/>
          <a:lstStyle/>
          <a:p>
            <a:pPr marL="342900" indent="-342900">
              <a:spcAft>
                <a:spcPts val="800"/>
              </a:spcAft>
              <a:buSzPct val="100000"/>
              <a:buChar char="•"/>
            </a:pPr>
            <a:r>
              <a:rPr lang="en-US" sz="1300" dirty="0">
                <a:solidFill>
                  <a:srgbClr val="2B2F33"/>
                </a:solidFill>
                <a:latin typeface="Calibri" pitchFamily="34" charset="0"/>
                <a:ea typeface="Calibri" pitchFamily="34" charset="-122"/>
                <a:cs typeface="Calibri" pitchFamily="34" charset="-120"/>
              </a:rPr>
              <a:t>MAE = (1/n) × tổng |yᵢ − ŷᵢ|  —  sai số tuyệt đối trung bình, cùng đơn vị với target.</a:t>
            </a:r>
            <a:endParaRPr lang="en-US" sz="1300" dirty="0"/>
          </a:p>
          <a:p>
            <a:pPr marL="342900" indent="-342900">
              <a:spcAft>
                <a:spcPts val="800"/>
              </a:spcAft>
              <a:buSzPct val="100000"/>
              <a:buChar char="•"/>
            </a:pPr>
            <a:r>
              <a:rPr lang="en-US" sz="1300" dirty="0">
                <a:solidFill>
                  <a:srgbClr val="2B2F33"/>
                </a:solidFill>
                <a:latin typeface="Calibri" pitchFamily="34" charset="0"/>
                <a:ea typeface="Calibri" pitchFamily="34" charset="-122"/>
                <a:cs typeface="Calibri" pitchFamily="34" charset="-120"/>
              </a:rPr>
              <a:t>RMSE = căn bậc hai của trung bình (yᵢ − ŷᵢ)²  —  phạt nặng hơn các sai số lớn.</a:t>
            </a:r>
            <a:endParaRPr lang="en-US" sz="1300" dirty="0"/>
          </a:p>
          <a:p>
            <a:pPr marL="342900" indent="-342900">
              <a:spcAft>
                <a:spcPts val="800"/>
              </a:spcAft>
              <a:buSzPct val="100000"/>
              <a:buChar char="•"/>
            </a:pPr>
            <a:r>
              <a:rPr lang="en-US" sz="1300" dirty="0">
                <a:solidFill>
                  <a:srgbClr val="2B2F33"/>
                </a:solidFill>
                <a:latin typeface="Calibri" pitchFamily="34" charset="0"/>
                <a:ea typeface="Calibri" pitchFamily="34" charset="-122"/>
                <a:cs typeface="Calibri" pitchFamily="34" charset="-120"/>
              </a:rPr>
              <a:t>R² = 1 − SS_res / SS_tot  —  hệ số xác định, thể hiện mức độ phù hợp của mô hình với dữ liệu (KHÔNG phải "độ chính xác %").</a:t>
            </a:r>
            <a:endParaRPr lang="en-US" sz="1300" dirty="0"/>
          </a:p>
        </p:txBody>
      </p:sp>
      <p:sp>
        <p:nvSpPr>
          <p:cNvPr id="19" name="Text 17"/>
          <p:cNvSpPr/>
          <p:nvPr/>
        </p:nvSpPr>
        <p:spPr>
          <a:xfrm>
            <a:off x="822960" y="5989320"/>
            <a:ext cx="10515600" cy="5486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Lưu ý: đây là kết quả ước lượng của mô hình trên tập dữ liệu lịch sử, không phải mức tiêu hao thực tế được đảm bảo cho mọi xe. [CẦN BỔ SUNG: kết quả đánh giá đầy đủ của Linear Regression, Decision Tree, KNN để so sánh]</a:t>
            </a:r>
            <a:endParaRPr lang="en-US" sz="1100" dirty="0"/>
          </a:p>
        </p:txBody>
      </p:sp>
      <p:sp>
        <p:nvSpPr>
          <p:cNvPr id="21" name="Text 18"/>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Kiến trúc hệ thống</a:t>
            </a:r>
            <a:endParaRPr lang="en-US" sz="3000" dirty="0"/>
          </a:p>
        </p:txBody>
      </p:sp>
      <p:sp>
        <p:nvSpPr>
          <p:cNvPr id="5" name="Shape 3"/>
          <p:cNvSpPr/>
          <p:nvPr/>
        </p:nvSpPr>
        <p:spPr>
          <a:xfrm>
            <a:off x="860908" y="2194560"/>
            <a:ext cx="2377440" cy="1554480"/>
          </a:xfrm>
          <a:prstGeom prst="roundRect">
            <a:avLst>
              <a:gd name="adj" fmla="val 4706"/>
            </a:avLst>
          </a:prstGeom>
          <a:solidFill>
            <a:srgbClr val="028090"/>
          </a:solidFill>
          <a:ln/>
        </p:spPr>
        <p:txBody>
          <a:bodyPr/>
          <a:lstStyle/>
          <a:p>
            <a:endParaRPr lang="en-US"/>
          </a:p>
        </p:txBody>
      </p:sp>
      <p:sp>
        <p:nvSpPr>
          <p:cNvPr id="6" name="Text 4"/>
          <p:cNvSpPr/>
          <p:nvPr/>
        </p:nvSpPr>
        <p:spPr>
          <a:xfrm>
            <a:off x="860908" y="2423160"/>
            <a:ext cx="237744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Frontend</a:t>
            </a:r>
            <a:endParaRPr lang="en-US" sz="1500" dirty="0"/>
          </a:p>
        </p:txBody>
      </p:sp>
      <p:sp>
        <p:nvSpPr>
          <p:cNvPr id="7" name="Text 5"/>
          <p:cNvSpPr/>
          <p:nvPr/>
        </p:nvSpPr>
        <p:spPr>
          <a:xfrm>
            <a:off x="860908" y="2971800"/>
            <a:ext cx="2377440" cy="548640"/>
          </a:xfrm>
          <a:prstGeom prst="rect">
            <a:avLst/>
          </a:prstGeom>
          <a:noFill/>
          <a:ln/>
        </p:spPr>
        <p:txBody>
          <a:bodyPr wrap="square" rtlCol="0" anchor="ctr"/>
          <a:lstStyle/>
          <a:p>
            <a:pPr marL="0" indent="0" algn="ctr">
              <a:buNone/>
            </a:pPr>
            <a:r>
              <a:rPr lang="en-US" sz="1150" dirty="0">
                <a:solidFill>
                  <a:srgbClr val="E9F3F1"/>
                </a:solidFill>
                <a:latin typeface="Calibri" pitchFamily="34" charset="0"/>
                <a:ea typeface="Calibri" pitchFamily="34" charset="-122"/>
                <a:cs typeface="Calibri" pitchFamily="34" charset="-120"/>
              </a:rPr>
              <a:t>Next.js</a:t>
            </a:r>
            <a:endParaRPr lang="en-US" sz="1150" dirty="0"/>
          </a:p>
        </p:txBody>
      </p:sp>
      <p:sp>
        <p:nvSpPr>
          <p:cNvPr id="8" name="Shape 6"/>
          <p:cNvSpPr/>
          <p:nvPr/>
        </p:nvSpPr>
        <p:spPr>
          <a:xfrm>
            <a:off x="3256636" y="2862072"/>
            <a:ext cx="283464" cy="219456"/>
          </a:xfrm>
          <a:prstGeom prst="rightArrow">
            <a:avLst/>
          </a:prstGeom>
          <a:solidFill>
            <a:srgbClr val="6B7280"/>
          </a:solidFill>
          <a:ln/>
        </p:spPr>
        <p:txBody>
          <a:bodyPr/>
          <a:lstStyle/>
          <a:p>
            <a:endParaRPr lang="en-US"/>
          </a:p>
        </p:txBody>
      </p:sp>
      <p:sp>
        <p:nvSpPr>
          <p:cNvPr id="9" name="Shape 7"/>
          <p:cNvSpPr/>
          <p:nvPr/>
        </p:nvSpPr>
        <p:spPr>
          <a:xfrm>
            <a:off x="3558388" y="2194560"/>
            <a:ext cx="2377440" cy="1554480"/>
          </a:xfrm>
          <a:prstGeom prst="roundRect">
            <a:avLst>
              <a:gd name="adj" fmla="val 4706"/>
            </a:avLst>
          </a:prstGeom>
          <a:solidFill>
            <a:srgbClr val="00A896"/>
          </a:solidFill>
          <a:ln/>
        </p:spPr>
        <p:txBody>
          <a:bodyPr/>
          <a:lstStyle/>
          <a:p>
            <a:endParaRPr lang="en-US"/>
          </a:p>
        </p:txBody>
      </p:sp>
      <p:sp>
        <p:nvSpPr>
          <p:cNvPr id="10" name="Text 8"/>
          <p:cNvSpPr/>
          <p:nvPr/>
        </p:nvSpPr>
        <p:spPr>
          <a:xfrm>
            <a:off x="3558388" y="2423160"/>
            <a:ext cx="237744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Backend</a:t>
            </a:r>
            <a:endParaRPr lang="en-US" sz="1500" dirty="0"/>
          </a:p>
        </p:txBody>
      </p:sp>
      <p:sp>
        <p:nvSpPr>
          <p:cNvPr id="11" name="Text 9"/>
          <p:cNvSpPr/>
          <p:nvPr/>
        </p:nvSpPr>
        <p:spPr>
          <a:xfrm>
            <a:off x="3558388" y="2971800"/>
            <a:ext cx="2377440" cy="548640"/>
          </a:xfrm>
          <a:prstGeom prst="rect">
            <a:avLst/>
          </a:prstGeom>
          <a:noFill/>
          <a:ln/>
        </p:spPr>
        <p:txBody>
          <a:bodyPr wrap="square" rtlCol="0" anchor="ctr"/>
          <a:lstStyle/>
          <a:p>
            <a:pPr marL="0" indent="0" algn="ctr">
              <a:buNone/>
            </a:pPr>
            <a:r>
              <a:rPr lang="en-US" sz="1150" dirty="0">
                <a:solidFill>
                  <a:srgbClr val="E9F3F1"/>
                </a:solidFill>
                <a:latin typeface="Calibri" pitchFamily="34" charset="0"/>
                <a:ea typeface="Calibri" pitchFamily="34" charset="-122"/>
                <a:cs typeface="Calibri" pitchFamily="34" charset="-120"/>
              </a:rPr>
              <a:t>Express</a:t>
            </a:r>
            <a:endParaRPr lang="en-US" sz="1150" dirty="0"/>
          </a:p>
        </p:txBody>
      </p:sp>
      <p:sp>
        <p:nvSpPr>
          <p:cNvPr id="12" name="Shape 10"/>
          <p:cNvSpPr/>
          <p:nvPr/>
        </p:nvSpPr>
        <p:spPr>
          <a:xfrm>
            <a:off x="5954116" y="2862072"/>
            <a:ext cx="283464" cy="219456"/>
          </a:xfrm>
          <a:prstGeom prst="rightArrow">
            <a:avLst/>
          </a:prstGeom>
          <a:solidFill>
            <a:srgbClr val="6B7280"/>
          </a:solidFill>
          <a:ln/>
        </p:spPr>
        <p:txBody>
          <a:bodyPr/>
          <a:lstStyle/>
          <a:p>
            <a:endParaRPr lang="en-US"/>
          </a:p>
        </p:txBody>
      </p:sp>
      <p:sp>
        <p:nvSpPr>
          <p:cNvPr id="13" name="Shape 11"/>
          <p:cNvSpPr/>
          <p:nvPr/>
        </p:nvSpPr>
        <p:spPr>
          <a:xfrm>
            <a:off x="6255868" y="2194560"/>
            <a:ext cx="2377440" cy="1554480"/>
          </a:xfrm>
          <a:prstGeom prst="roundRect">
            <a:avLst>
              <a:gd name="adj" fmla="val 4706"/>
            </a:avLst>
          </a:prstGeom>
          <a:solidFill>
            <a:srgbClr val="02C39A"/>
          </a:solidFill>
          <a:ln/>
        </p:spPr>
        <p:txBody>
          <a:bodyPr/>
          <a:lstStyle/>
          <a:p>
            <a:endParaRPr lang="en-US"/>
          </a:p>
        </p:txBody>
      </p:sp>
      <p:sp>
        <p:nvSpPr>
          <p:cNvPr id="14" name="Text 12"/>
          <p:cNvSpPr/>
          <p:nvPr/>
        </p:nvSpPr>
        <p:spPr>
          <a:xfrm>
            <a:off x="6255868" y="2423160"/>
            <a:ext cx="237744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AI Service</a:t>
            </a:r>
            <a:endParaRPr lang="en-US" sz="1500" dirty="0"/>
          </a:p>
        </p:txBody>
      </p:sp>
      <p:sp>
        <p:nvSpPr>
          <p:cNvPr id="15" name="Text 13"/>
          <p:cNvSpPr/>
          <p:nvPr/>
        </p:nvSpPr>
        <p:spPr>
          <a:xfrm>
            <a:off x="6255868" y="2971800"/>
            <a:ext cx="2377440" cy="548640"/>
          </a:xfrm>
          <a:prstGeom prst="rect">
            <a:avLst/>
          </a:prstGeom>
          <a:noFill/>
          <a:ln/>
        </p:spPr>
        <p:txBody>
          <a:bodyPr wrap="square" rtlCol="0" anchor="ctr"/>
          <a:lstStyle/>
          <a:p>
            <a:pPr marL="0" indent="0" algn="ctr">
              <a:buNone/>
            </a:pPr>
            <a:r>
              <a:rPr lang="en-US" sz="1150" dirty="0">
                <a:solidFill>
                  <a:srgbClr val="E9F3F1"/>
                </a:solidFill>
                <a:latin typeface="Calibri" pitchFamily="34" charset="0"/>
                <a:ea typeface="Calibri" pitchFamily="34" charset="-122"/>
                <a:cs typeface="Calibri" pitchFamily="34" charset="-120"/>
              </a:rPr>
              <a:t>Python</a:t>
            </a:r>
            <a:endParaRPr lang="en-US" sz="1150" dirty="0"/>
          </a:p>
        </p:txBody>
      </p:sp>
      <p:sp>
        <p:nvSpPr>
          <p:cNvPr id="16" name="Shape 14"/>
          <p:cNvSpPr/>
          <p:nvPr/>
        </p:nvSpPr>
        <p:spPr>
          <a:xfrm>
            <a:off x="8651596" y="2862072"/>
            <a:ext cx="283464" cy="219456"/>
          </a:xfrm>
          <a:prstGeom prst="rightArrow">
            <a:avLst/>
          </a:prstGeom>
          <a:solidFill>
            <a:srgbClr val="6B7280"/>
          </a:solidFill>
          <a:ln/>
        </p:spPr>
        <p:txBody>
          <a:bodyPr/>
          <a:lstStyle/>
          <a:p>
            <a:endParaRPr lang="en-US"/>
          </a:p>
        </p:txBody>
      </p:sp>
      <p:sp>
        <p:nvSpPr>
          <p:cNvPr id="17" name="Shape 15"/>
          <p:cNvSpPr/>
          <p:nvPr/>
        </p:nvSpPr>
        <p:spPr>
          <a:xfrm>
            <a:off x="8953348" y="2194560"/>
            <a:ext cx="2377440" cy="1554480"/>
          </a:xfrm>
          <a:prstGeom prst="roundRect">
            <a:avLst>
              <a:gd name="adj" fmla="val 4706"/>
            </a:avLst>
          </a:prstGeom>
          <a:solidFill>
            <a:srgbClr val="3A4147"/>
          </a:solidFill>
          <a:ln/>
        </p:spPr>
        <p:txBody>
          <a:bodyPr/>
          <a:lstStyle/>
          <a:p>
            <a:endParaRPr lang="en-US"/>
          </a:p>
        </p:txBody>
      </p:sp>
      <p:sp>
        <p:nvSpPr>
          <p:cNvPr id="18" name="Text 16"/>
          <p:cNvSpPr/>
          <p:nvPr/>
        </p:nvSpPr>
        <p:spPr>
          <a:xfrm>
            <a:off x="8953348" y="2423160"/>
            <a:ext cx="237744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MongoDB</a:t>
            </a:r>
            <a:endParaRPr lang="en-US" sz="1500" dirty="0"/>
          </a:p>
        </p:txBody>
      </p:sp>
      <p:sp>
        <p:nvSpPr>
          <p:cNvPr id="19" name="Text 17"/>
          <p:cNvSpPr/>
          <p:nvPr/>
        </p:nvSpPr>
        <p:spPr>
          <a:xfrm>
            <a:off x="8953348" y="2971800"/>
            <a:ext cx="2377440" cy="548640"/>
          </a:xfrm>
          <a:prstGeom prst="rect">
            <a:avLst/>
          </a:prstGeom>
          <a:noFill/>
          <a:ln/>
        </p:spPr>
        <p:txBody>
          <a:bodyPr wrap="square" rtlCol="0" anchor="ctr"/>
          <a:lstStyle/>
          <a:p>
            <a:pPr marL="0" indent="0" algn="ctr">
              <a:buNone/>
            </a:pPr>
            <a:r>
              <a:rPr lang="en-US" sz="1150" dirty="0">
                <a:solidFill>
                  <a:srgbClr val="E9F3F1"/>
                </a:solidFill>
                <a:latin typeface="Calibri" pitchFamily="34" charset="0"/>
                <a:ea typeface="Calibri" pitchFamily="34" charset="-122"/>
                <a:cs typeface="Calibri" pitchFamily="34" charset="-120"/>
              </a:rPr>
              <a:t>Lưu lịch sử dự đoán</a:t>
            </a:r>
            <a:endParaRPr lang="en-US" sz="1150" dirty="0"/>
          </a:p>
        </p:txBody>
      </p:sp>
      <p:sp>
        <p:nvSpPr>
          <p:cNvPr id="20" name="Text 18"/>
          <p:cNvSpPr/>
          <p:nvPr/>
        </p:nvSpPr>
        <p:spPr>
          <a:xfrm>
            <a:off x="822960" y="4160520"/>
            <a:ext cx="10515600" cy="365760"/>
          </a:xfrm>
          <a:prstGeom prst="rect">
            <a:avLst/>
          </a:prstGeom>
          <a:noFill/>
          <a:ln/>
        </p:spPr>
        <p:txBody>
          <a:bodyPr wrap="square"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Luồng xử lý một yêu cầu dự đoán:</a:t>
            </a:r>
            <a:endParaRPr lang="en-US" sz="1400" dirty="0"/>
          </a:p>
        </p:txBody>
      </p:sp>
      <p:sp>
        <p:nvSpPr>
          <p:cNvPr id="21" name="Text 19"/>
          <p:cNvSpPr/>
          <p:nvPr/>
        </p:nvSpPr>
        <p:spPr>
          <a:xfrm>
            <a:off x="822960" y="4572000"/>
            <a:ext cx="10515600" cy="1828800"/>
          </a:xfrm>
          <a:prstGeom prst="rect">
            <a:avLst/>
          </a:prstGeom>
          <a:noFill/>
          <a:ln/>
        </p:spPr>
        <p:txBody>
          <a:bodyPr wrap="square" rtlCol="0" anchor="ctr"/>
          <a:lstStyle/>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Người dùng nhập thông tin xe trên Frontend.</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Backend kiểm tra tính hợp lệ của dữ liệu.</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AI Service chạy mô hình SVR để dự đoán mức tiêu hao.</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Backend lưu kết quả dự đoán vào MongoDB.</a:t>
            </a:r>
            <a:endParaRPr lang="en-US" sz="1250" dirty="0"/>
          </a:p>
          <a:p>
            <a:pPr marL="342900" indent="-342900">
              <a:spcAft>
                <a:spcPts val="400"/>
              </a:spcAft>
              <a:buSzPct val="100000"/>
              <a:buChar char="•"/>
            </a:pPr>
            <a:r>
              <a:rPr lang="en-US" sz="1250" dirty="0">
                <a:solidFill>
                  <a:srgbClr val="2B2F33"/>
                </a:solidFill>
                <a:latin typeface="Calibri" pitchFamily="34" charset="0"/>
                <a:ea typeface="Calibri" pitchFamily="34" charset="-122"/>
                <a:cs typeface="Calibri" pitchFamily="34" charset="-120"/>
              </a:rPr>
              <a:t>Frontend hiển thị kết quả cho người dùng.</a:t>
            </a:r>
            <a:endParaRPr lang="en-US" sz="1250" dirty="0"/>
          </a:p>
        </p:txBody>
      </p:sp>
      <p:sp>
        <p:nvSpPr>
          <p:cNvPr id="23" name="Text 20"/>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02C39A"/>
          </a:solidFill>
          <a:ln/>
        </p:spPr>
        <p:txBody>
          <a:bodyPr/>
          <a:lstStyle/>
          <a:p>
            <a:endParaRPr lang="en-US"/>
          </a:p>
        </p:txBody>
      </p:sp>
      <p:sp>
        <p:nvSpPr>
          <p:cNvPr id="3" name="Text 1"/>
          <p:cNvSpPr/>
          <p:nvPr/>
        </p:nvSpPr>
        <p:spPr>
          <a:xfrm>
            <a:off x="548640" y="50292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1188720" y="411480"/>
            <a:ext cx="10454335" cy="640080"/>
          </a:xfrm>
          <a:prstGeom prst="rect">
            <a:avLst/>
          </a:prstGeom>
          <a:noFill/>
          <a:ln/>
        </p:spPr>
        <p:txBody>
          <a:bodyPr wrap="square" rtlCol="0" anchor="ctr"/>
          <a:lstStyle/>
          <a:p>
            <a:pPr marL="0" indent="0">
              <a:buNone/>
            </a:pPr>
            <a:r>
              <a:rPr lang="en-US" sz="3000" b="1" dirty="0">
                <a:solidFill>
                  <a:srgbClr val="2B2F33"/>
                </a:solidFill>
                <a:latin typeface="Cambria" pitchFamily="34" charset="0"/>
                <a:ea typeface="Cambria" pitchFamily="34" charset="-122"/>
                <a:cs typeface="Cambria" pitchFamily="34" charset="-120"/>
              </a:rPr>
              <a:t>Demo ứng dụng</a:t>
            </a:r>
            <a:endParaRPr lang="en-US" sz="3000" dirty="0"/>
          </a:p>
        </p:txBody>
      </p:sp>
      <p:sp>
        <p:nvSpPr>
          <p:cNvPr id="5" name="Text 3"/>
          <p:cNvSpPr/>
          <p:nvPr/>
        </p:nvSpPr>
        <p:spPr>
          <a:xfrm>
            <a:off x="1188720" y="960120"/>
            <a:ext cx="10454335" cy="365760"/>
          </a:xfrm>
          <a:prstGeom prst="rect">
            <a:avLst/>
          </a:prstGeom>
          <a:noFill/>
          <a:ln/>
        </p:spPr>
        <p:txBody>
          <a:bodyPr wrap="square" rtlCol="0" anchor="ctr"/>
          <a:lstStyle/>
          <a:p>
            <a:pPr marL="0" indent="0">
              <a:buNone/>
            </a:pPr>
            <a:r>
              <a:rPr lang="en-US" sz="1400" i="1" dirty="0">
                <a:solidFill>
                  <a:srgbClr val="6B7280"/>
                </a:solidFill>
                <a:latin typeface="Calibri" pitchFamily="34" charset="0"/>
                <a:ea typeface="Calibri" pitchFamily="34" charset="-122"/>
                <a:cs typeface="Calibri" pitchFamily="34" charset="-120"/>
              </a:rPr>
              <a:t>Minh hoạ giao diện — thay bằng ảnh chụp thực tế khi có</a:t>
            </a:r>
            <a:endParaRPr lang="en-US" sz="1400" dirty="0"/>
          </a:p>
        </p:txBody>
      </p:sp>
      <p:sp>
        <p:nvSpPr>
          <p:cNvPr id="6" name="Shape 4"/>
          <p:cNvSpPr/>
          <p:nvPr/>
        </p:nvSpPr>
        <p:spPr>
          <a:xfrm>
            <a:off x="822960" y="1600200"/>
            <a:ext cx="3383280" cy="3566160"/>
          </a:xfrm>
          <a:prstGeom prst="roundRect">
            <a:avLst>
              <a:gd name="adj" fmla="val 2162"/>
            </a:avLst>
          </a:prstGeom>
          <a:solidFill>
            <a:srgbClr val="F4F7F6"/>
          </a:solidFill>
          <a:ln w="12700">
            <a:solidFill>
              <a:srgbClr val="D5DEDC"/>
            </a:solidFill>
            <a:prstDash val="solid"/>
          </a:ln>
        </p:spPr>
        <p:txBody>
          <a:bodyPr/>
          <a:lstStyle/>
          <a:p>
            <a:endParaRPr lang="en-US"/>
          </a:p>
        </p:txBody>
      </p:sp>
      <p:sp>
        <p:nvSpPr>
          <p:cNvPr id="7" name="Shape 5"/>
          <p:cNvSpPr/>
          <p:nvPr/>
        </p:nvSpPr>
        <p:spPr>
          <a:xfrm>
            <a:off x="1051560" y="1874520"/>
            <a:ext cx="2926080" cy="2377440"/>
          </a:xfrm>
          <a:prstGeom prst="rect">
            <a:avLst/>
          </a:prstGeom>
          <a:solidFill>
            <a:srgbClr val="FFFFFF"/>
          </a:solidFill>
          <a:ln w="12700">
            <a:solidFill>
              <a:srgbClr val="D5DEDC"/>
            </a:solidFill>
            <a:prstDash val="solid"/>
          </a:ln>
        </p:spPr>
        <p:txBody>
          <a:bodyPr/>
          <a:lstStyle/>
          <a:p>
            <a:endParaRPr lang="en-US"/>
          </a:p>
        </p:txBody>
      </p:sp>
      <p:sp>
        <p:nvSpPr>
          <p:cNvPr id="8" name="Shape 6"/>
          <p:cNvSpPr/>
          <p:nvPr/>
        </p:nvSpPr>
        <p:spPr>
          <a:xfrm>
            <a:off x="1234440" y="2103120"/>
            <a:ext cx="2560320" cy="164592"/>
          </a:xfrm>
          <a:prstGeom prst="rect">
            <a:avLst/>
          </a:prstGeom>
          <a:solidFill>
            <a:srgbClr val="E3EAE9"/>
          </a:solidFill>
          <a:ln/>
        </p:spPr>
        <p:txBody>
          <a:bodyPr/>
          <a:lstStyle/>
          <a:p>
            <a:endParaRPr lang="en-US"/>
          </a:p>
        </p:txBody>
      </p:sp>
      <p:sp>
        <p:nvSpPr>
          <p:cNvPr id="9" name="Shape 7"/>
          <p:cNvSpPr/>
          <p:nvPr/>
        </p:nvSpPr>
        <p:spPr>
          <a:xfrm>
            <a:off x="1234440" y="2560320"/>
            <a:ext cx="2560320" cy="164592"/>
          </a:xfrm>
          <a:prstGeom prst="rect">
            <a:avLst/>
          </a:prstGeom>
          <a:solidFill>
            <a:srgbClr val="E3EAE9"/>
          </a:solidFill>
          <a:ln/>
        </p:spPr>
        <p:txBody>
          <a:bodyPr/>
          <a:lstStyle/>
          <a:p>
            <a:endParaRPr lang="en-US"/>
          </a:p>
        </p:txBody>
      </p:sp>
      <p:sp>
        <p:nvSpPr>
          <p:cNvPr id="10" name="Shape 8"/>
          <p:cNvSpPr/>
          <p:nvPr/>
        </p:nvSpPr>
        <p:spPr>
          <a:xfrm>
            <a:off x="1234440" y="3017520"/>
            <a:ext cx="2560320" cy="164592"/>
          </a:xfrm>
          <a:prstGeom prst="rect">
            <a:avLst/>
          </a:prstGeom>
          <a:solidFill>
            <a:srgbClr val="E3EAE9"/>
          </a:solidFill>
          <a:ln/>
        </p:spPr>
        <p:txBody>
          <a:bodyPr/>
          <a:lstStyle/>
          <a:p>
            <a:endParaRPr lang="en-US"/>
          </a:p>
        </p:txBody>
      </p:sp>
      <p:sp>
        <p:nvSpPr>
          <p:cNvPr id="11" name="Shape 9"/>
          <p:cNvSpPr/>
          <p:nvPr/>
        </p:nvSpPr>
        <p:spPr>
          <a:xfrm>
            <a:off x="1234440" y="3474720"/>
            <a:ext cx="2560320" cy="164592"/>
          </a:xfrm>
          <a:prstGeom prst="rect">
            <a:avLst/>
          </a:prstGeom>
          <a:solidFill>
            <a:srgbClr val="E3EAE9"/>
          </a:solidFill>
          <a:ln/>
        </p:spPr>
        <p:txBody>
          <a:bodyPr/>
          <a:lstStyle/>
          <a:p>
            <a:endParaRPr lang="en-US"/>
          </a:p>
        </p:txBody>
      </p:sp>
      <p:sp>
        <p:nvSpPr>
          <p:cNvPr id="12" name="Text 10"/>
          <p:cNvSpPr/>
          <p:nvPr/>
        </p:nvSpPr>
        <p:spPr>
          <a:xfrm>
            <a:off x="822960" y="4297680"/>
            <a:ext cx="338328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Nhập thông tin xe</a:t>
            </a:r>
            <a:endParaRPr lang="en-US" sz="1300" dirty="0"/>
          </a:p>
        </p:txBody>
      </p:sp>
      <p:sp>
        <p:nvSpPr>
          <p:cNvPr id="13" name="Text 11"/>
          <p:cNvSpPr/>
          <p:nvPr/>
        </p:nvSpPr>
        <p:spPr>
          <a:xfrm>
            <a:off x="1005840" y="4617720"/>
            <a:ext cx="3017520" cy="50292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Form nhập model_year, make, vehicle_class, engine_size, cylinders, transmission, fuel_type.</a:t>
            </a:r>
            <a:endParaRPr lang="en-US" sz="1000" dirty="0"/>
          </a:p>
        </p:txBody>
      </p:sp>
      <p:sp>
        <p:nvSpPr>
          <p:cNvPr id="14" name="Shape 12"/>
          <p:cNvSpPr/>
          <p:nvPr/>
        </p:nvSpPr>
        <p:spPr>
          <a:xfrm>
            <a:off x="4434840" y="1600200"/>
            <a:ext cx="3383280" cy="3566160"/>
          </a:xfrm>
          <a:prstGeom prst="roundRect">
            <a:avLst>
              <a:gd name="adj" fmla="val 2162"/>
            </a:avLst>
          </a:prstGeom>
          <a:solidFill>
            <a:srgbClr val="F4F7F6"/>
          </a:solidFill>
          <a:ln w="12700">
            <a:solidFill>
              <a:srgbClr val="D5DEDC"/>
            </a:solidFill>
            <a:prstDash val="solid"/>
          </a:ln>
        </p:spPr>
        <p:txBody>
          <a:bodyPr/>
          <a:lstStyle/>
          <a:p>
            <a:endParaRPr lang="en-US"/>
          </a:p>
        </p:txBody>
      </p:sp>
      <p:sp>
        <p:nvSpPr>
          <p:cNvPr id="15" name="Shape 13"/>
          <p:cNvSpPr/>
          <p:nvPr/>
        </p:nvSpPr>
        <p:spPr>
          <a:xfrm>
            <a:off x="4663440" y="1874520"/>
            <a:ext cx="2926080" cy="2377440"/>
          </a:xfrm>
          <a:prstGeom prst="rect">
            <a:avLst/>
          </a:prstGeom>
          <a:solidFill>
            <a:srgbClr val="FFFFFF"/>
          </a:solidFill>
          <a:ln w="12700">
            <a:solidFill>
              <a:srgbClr val="D5DEDC"/>
            </a:solidFill>
            <a:prstDash val="solid"/>
          </a:ln>
        </p:spPr>
        <p:txBody>
          <a:bodyPr/>
          <a:lstStyle/>
          <a:p>
            <a:endParaRPr lang="en-US"/>
          </a:p>
        </p:txBody>
      </p:sp>
      <p:sp>
        <p:nvSpPr>
          <p:cNvPr id="16" name="Shape 14"/>
          <p:cNvSpPr/>
          <p:nvPr/>
        </p:nvSpPr>
        <p:spPr>
          <a:xfrm>
            <a:off x="4846320" y="2103120"/>
            <a:ext cx="2560320" cy="164592"/>
          </a:xfrm>
          <a:prstGeom prst="rect">
            <a:avLst/>
          </a:prstGeom>
          <a:solidFill>
            <a:srgbClr val="E3EAE9"/>
          </a:solidFill>
          <a:ln/>
        </p:spPr>
        <p:txBody>
          <a:bodyPr/>
          <a:lstStyle/>
          <a:p>
            <a:endParaRPr lang="en-US"/>
          </a:p>
        </p:txBody>
      </p:sp>
      <p:sp>
        <p:nvSpPr>
          <p:cNvPr id="17" name="Shape 15"/>
          <p:cNvSpPr/>
          <p:nvPr/>
        </p:nvSpPr>
        <p:spPr>
          <a:xfrm>
            <a:off x="4846320" y="2560320"/>
            <a:ext cx="2560320" cy="164592"/>
          </a:xfrm>
          <a:prstGeom prst="rect">
            <a:avLst/>
          </a:prstGeom>
          <a:solidFill>
            <a:srgbClr val="E3EAE9"/>
          </a:solidFill>
          <a:ln/>
        </p:spPr>
        <p:txBody>
          <a:bodyPr/>
          <a:lstStyle/>
          <a:p>
            <a:endParaRPr lang="en-US"/>
          </a:p>
        </p:txBody>
      </p:sp>
      <p:sp>
        <p:nvSpPr>
          <p:cNvPr id="18" name="Shape 16"/>
          <p:cNvSpPr/>
          <p:nvPr/>
        </p:nvSpPr>
        <p:spPr>
          <a:xfrm>
            <a:off x="4846320" y="3017520"/>
            <a:ext cx="2560320" cy="164592"/>
          </a:xfrm>
          <a:prstGeom prst="rect">
            <a:avLst/>
          </a:prstGeom>
          <a:solidFill>
            <a:srgbClr val="E3EAE9"/>
          </a:solidFill>
          <a:ln/>
        </p:spPr>
        <p:txBody>
          <a:bodyPr/>
          <a:lstStyle/>
          <a:p>
            <a:endParaRPr lang="en-US"/>
          </a:p>
        </p:txBody>
      </p:sp>
      <p:sp>
        <p:nvSpPr>
          <p:cNvPr id="19" name="Shape 17"/>
          <p:cNvSpPr/>
          <p:nvPr/>
        </p:nvSpPr>
        <p:spPr>
          <a:xfrm>
            <a:off x="4846320" y="3474720"/>
            <a:ext cx="2560320" cy="164592"/>
          </a:xfrm>
          <a:prstGeom prst="rect">
            <a:avLst/>
          </a:prstGeom>
          <a:solidFill>
            <a:srgbClr val="E3EAE9"/>
          </a:solidFill>
          <a:ln/>
        </p:spPr>
        <p:txBody>
          <a:bodyPr/>
          <a:lstStyle/>
          <a:p>
            <a:endParaRPr lang="en-US"/>
          </a:p>
        </p:txBody>
      </p:sp>
      <p:sp>
        <p:nvSpPr>
          <p:cNvPr id="20" name="Text 18"/>
          <p:cNvSpPr/>
          <p:nvPr/>
        </p:nvSpPr>
        <p:spPr>
          <a:xfrm>
            <a:off x="4434840" y="4297680"/>
            <a:ext cx="338328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Kết quả dự đoán</a:t>
            </a:r>
            <a:endParaRPr lang="en-US" sz="1300" dirty="0"/>
          </a:p>
        </p:txBody>
      </p:sp>
      <p:sp>
        <p:nvSpPr>
          <p:cNvPr id="21" name="Text 19"/>
          <p:cNvSpPr/>
          <p:nvPr/>
        </p:nvSpPr>
        <p:spPr>
          <a:xfrm>
            <a:off x="4617720" y="4617720"/>
            <a:ext cx="3017520" cy="50292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Hiển thị mức tiêu hao nhiên liệu dự đoán (L/100 km).</a:t>
            </a:r>
            <a:endParaRPr lang="en-US" sz="1000" dirty="0"/>
          </a:p>
        </p:txBody>
      </p:sp>
      <p:sp>
        <p:nvSpPr>
          <p:cNvPr id="22" name="Shape 20"/>
          <p:cNvSpPr/>
          <p:nvPr/>
        </p:nvSpPr>
        <p:spPr>
          <a:xfrm>
            <a:off x="8046720" y="1600200"/>
            <a:ext cx="3383280" cy="3566160"/>
          </a:xfrm>
          <a:prstGeom prst="roundRect">
            <a:avLst>
              <a:gd name="adj" fmla="val 2162"/>
            </a:avLst>
          </a:prstGeom>
          <a:solidFill>
            <a:srgbClr val="F4F7F6"/>
          </a:solidFill>
          <a:ln w="12700">
            <a:solidFill>
              <a:srgbClr val="D5DEDC"/>
            </a:solidFill>
            <a:prstDash val="solid"/>
          </a:ln>
        </p:spPr>
        <p:txBody>
          <a:bodyPr/>
          <a:lstStyle/>
          <a:p>
            <a:endParaRPr lang="en-US"/>
          </a:p>
        </p:txBody>
      </p:sp>
      <p:sp>
        <p:nvSpPr>
          <p:cNvPr id="23" name="Shape 21"/>
          <p:cNvSpPr/>
          <p:nvPr/>
        </p:nvSpPr>
        <p:spPr>
          <a:xfrm>
            <a:off x="8275320" y="1874520"/>
            <a:ext cx="2926080" cy="2377440"/>
          </a:xfrm>
          <a:prstGeom prst="rect">
            <a:avLst/>
          </a:prstGeom>
          <a:solidFill>
            <a:srgbClr val="FFFFFF"/>
          </a:solidFill>
          <a:ln w="12700">
            <a:solidFill>
              <a:srgbClr val="D5DEDC"/>
            </a:solidFill>
            <a:prstDash val="solid"/>
          </a:ln>
        </p:spPr>
        <p:txBody>
          <a:bodyPr/>
          <a:lstStyle/>
          <a:p>
            <a:endParaRPr lang="en-US"/>
          </a:p>
        </p:txBody>
      </p:sp>
      <p:sp>
        <p:nvSpPr>
          <p:cNvPr id="24" name="Shape 22"/>
          <p:cNvSpPr/>
          <p:nvPr/>
        </p:nvSpPr>
        <p:spPr>
          <a:xfrm>
            <a:off x="8458200" y="2103120"/>
            <a:ext cx="2560320" cy="164592"/>
          </a:xfrm>
          <a:prstGeom prst="rect">
            <a:avLst/>
          </a:prstGeom>
          <a:solidFill>
            <a:srgbClr val="E3EAE9"/>
          </a:solidFill>
          <a:ln/>
        </p:spPr>
        <p:txBody>
          <a:bodyPr/>
          <a:lstStyle/>
          <a:p>
            <a:endParaRPr lang="en-US"/>
          </a:p>
        </p:txBody>
      </p:sp>
      <p:sp>
        <p:nvSpPr>
          <p:cNvPr id="25" name="Shape 23"/>
          <p:cNvSpPr/>
          <p:nvPr/>
        </p:nvSpPr>
        <p:spPr>
          <a:xfrm>
            <a:off x="8458200" y="2560320"/>
            <a:ext cx="2560320" cy="164592"/>
          </a:xfrm>
          <a:prstGeom prst="rect">
            <a:avLst/>
          </a:prstGeom>
          <a:solidFill>
            <a:srgbClr val="E3EAE9"/>
          </a:solidFill>
          <a:ln/>
        </p:spPr>
        <p:txBody>
          <a:bodyPr/>
          <a:lstStyle/>
          <a:p>
            <a:endParaRPr lang="en-US"/>
          </a:p>
        </p:txBody>
      </p:sp>
      <p:sp>
        <p:nvSpPr>
          <p:cNvPr id="26" name="Shape 24"/>
          <p:cNvSpPr/>
          <p:nvPr/>
        </p:nvSpPr>
        <p:spPr>
          <a:xfrm>
            <a:off x="8458200" y="3017520"/>
            <a:ext cx="2560320" cy="164592"/>
          </a:xfrm>
          <a:prstGeom prst="rect">
            <a:avLst/>
          </a:prstGeom>
          <a:solidFill>
            <a:srgbClr val="E3EAE9"/>
          </a:solidFill>
          <a:ln/>
        </p:spPr>
        <p:txBody>
          <a:bodyPr/>
          <a:lstStyle/>
          <a:p>
            <a:endParaRPr lang="en-US"/>
          </a:p>
        </p:txBody>
      </p:sp>
      <p:sp>
        <p:nvSpPr>
          <p:cNvPr id="27" name="Shape 25"/>
          <p:cNvSpPr/>
          <p:nvPr/>
        </p:nvSpPr>
        <p:spPr>
          <a:xfrm>
            <a:off x="8458200" y="3474720"/>
            <a:ext cx="2560320" cy="164592"/>
          </a:xfrm>
          <a:prstGeom prst="rect">
            <a:avLst/>
          </a:prstGeom>
          <a:solidFill>
            <a:srgbClr val="E3EAE9"/>
          </a:solidFill>
          <a:ln/>
        </p:spPr>
        <p:txBody>
          <a:bodyPr/>
          <a:lstStyle/>
          <a:p>
            <a:endParaRPr lang="en-US"/>
          </a:p>
        </p:txBody>
      </p:sp>
      <p:sp>
        <p:nvSpPr>
          <p:cNvPr id="28" name="Text 26"/>
          <p:cNvSpPr/>
          <p:nvPr/>
        </p:nvSpPr>
        <p:spPr>
          <a:xfrm>
            <a:off x="8046720" y="4297680"/>
            <a:ext cx="338328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Lịch sử &amp; thống kê</a:t>
            </a:r>
            <a:endParaRPr lang="en-US" sz="1300" dirty="0"/>
          </a:p>
        </p:txBody>
      </p:sp>
      <p:sp>
        <p:nvSpPr>
          <p:cNvPr id="29" name="Text 27"/>
          <p:cNvSpPr/>
          <p:nvPr/>
        </p:nvSpPr>
        <p:spPr>
          <a:xfrm>
            <a:off x="8229600" y="4617720"/>
            <a:ext cx="3017520" cy="502920"/>
          </a:xfrm>
          <a:prstGeom prst="rect">
            <a:avLst/>
          </a:prstGeom>
          <a:noFill/>
          <a:ln/>
        </p:spPr>
        <p:txBody>
          <a:bodyPr wrap="square" rtlCol="0" anchor="ctr"/>
          <a:lstStyle/>
          <a:p>
            <a:pPr marL="0" indent="0" algn="ctr">
              <a:buNone/>
            </a:pPr>
            <a:r>
              <a:rPr lang="en-US" sz="1000" dirty="0">
                <a:solidFill>
                  <a:srgbClr val="6B7280"/>
                </a:solidFill>
                <a:latin typeface="Calibri" pitchFamily="34" charset="0"/>
                <a:ea typeface="Calibri" pitchFamily="34" charset="-122"/>
                <a:cs typeface="Calibri" pitchFamily="34" charset="-120"/>
              </a:rPr>
              <a:t>Danh sách các lượt dự đoán trước đó và số liệu thống kê tổng hợp.</a:t>
            </a:r>
            <a:endParaRPr lang="en-US" sz="1000" dirty="0"/>
          </a:p>
        </p:txBody>
      </p:sp>
      <p:sp>
        <p:nvSpPr>
          <p:cNvPr id="30" name="Text 28"/>
          <p:cNvSpPr/>
          <p:nvPr/>
        </p:nvSpPr>
        <p:spPr>
          <a:xfrm>
            <a:off x="822960" y="5303520"/>
            <a:ext cx="10515600" cy="32004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[Sơ đồ minh hoạ — chưa phải ảnh chụp giao diện thật]</a:t>
            </a:r>
            <a:endParaRPr lang="en-US" sz="1100" dirty="0"/>
          </a:p>
        </p:txBody>
      </p:sp>
      <p:sp>
        <p:nvSpPr>
          <p:cNvPr id="32" name="Text 29"/>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B2F33"/>
        </a:solidFill>
        <a:effectLst/>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028090">
              <a:alpha val="45000"/>
            </a:srgbClr>
          </a:solidFill>
          <a:ln/>
        </p:spPr>
        <p:txBody>
          <a:bodyPr/>
          <a:lstStyle/>
          <a:p>
            <a:endParaRPr lang="en-US"/>
          </a:p>
        </p:txBody>
      </p:sp>
      <p:sp>
        <p:nvSpPr>
          <p:cNvPr id="3" name="Text 1"/>
          <p:cNvSpPr/>
          <p:nvPr/>
        </p:nvSpPr>
        <p:spPr>
          <a:xfrm>
            <a:off x="822960" y="50292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Kết luận, hạn chế và hướng phát triển</a:t>
            </a:r>
            <a:endParaRPr lang="en-US" sz="2800" dirty="0"/>
          </a:p>
        </p:txBody>
      </p:sp>
      <p:sp>
        <p:nvSpPr>
          <p:cNvPr id="4" name="Text 2"/>
          <p:cNvSpPr/>
          <p:nvPr/>
        </p:nvSpPr>
        <p:spPr>
          <a:xfrm>
            <a:off x="822960" y="1371600"/>
            <a:ext cx="5212080" cy="32004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Đóng góp</a:t>
            </a:r>
            <a:endParaRPr lang="en-US" sz="1400" dirty="0"/>
          </a:p>
        </p:txBody>
      </p:sp>
      <p:sp>
        <p:nvSpPr>
          <p:cNvPr id="5" name="Text 3"/>
          <p:cNvSpPr/>
          <p:nvPr/>
        </p:nvSpPr>
        <p:spPr>
          <a:xfrm>
            <a:off x="822960" y="1737360"/>
            <a:ext cx="5212080" cy="1188720"/>
          </a:xfrm>
          <a:prstGeom prst="rect">
            <a:avLst/>
          </a:prstGeom>
          <a:noFill/>
          <a:ln/>
        </p:spPr>
        <p:txBody>
          <a:bodyPr wrap="square" rtlCol="0" anchor="ctr"/>
          <a:lstStyle/>
          <a:p>
            <a:pPr marL="0" indent="0">
              <a:buNone/>
            </a:pPr>
            <a:r>
              <a:rPr lang="en-US" sz="1250" dirty="0">
                <a:solidFill>
                  <a:srgbClr val="E5EEEC"/>
                </a:solidFill>
                <a:latin typeface="Calibri" pitchFamily="34" charset="0"/>
                <a:ea typeface="Calibri" pitchFamily="34" charset="-122"/>
                <a:cs typeface="Calibri" pitchFamily="34" charset="-120"/>
              </a:rPr>
              <a:t>Xây dựng thành công quy trình dự đoán mức tiêu hao nhiên liệu bằng SVR, đạt R² = 0,9583 trên tập kiểm tra, và triển khai thành ứng dụng end-to-end (Frontend – Backend – AI Service – MongoDB).</a:t>
            </a:r>
            <a:endParaRPr lang="en-US" sz="1250" dirty="0"/>
          </a:p>
        </p:txBody>
      </p:sp>
      <p:sp>
        <p:nvSpPr>
          <p:cNvPr id="6" name="Text 4"/>
          <p:cNvSpPr/>
          <p:nvPr/>
        </p:nvSpPr>
        <p:spPr>
          <a:xfrm>
            <a:off x="822960" y="3017520"/>
            <a:ext cx="5212080" cy="32004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Hạn chế</a:t>
            </a:r>
            <a:endParaRPr lang="en-US" sz="1400" dirty="0"/>
          </a:p>
        </p:txBody>
      </p:sp>
      <p:sp>
        <p:nvSpPr>
          <p:cNvPr id="7" name="Text 5"/>
          <p:cNvSpPr/>
          <p:nvPr/>
        </p:nvSpPr>
        <p:spPr>
          <a:xfrm>
            <a:off x="822960" y="3383280"/>
            <a:ext cx="5212080" cy="1188720"/>
          </a:xfrm>
          <a:prstGeom prst="rect">
            <a:avLst/>
          </a:prstGeom>
          <a:noFill/>
          <a:ln/>
        </p:spPr>
        <p:txBody>
          <a:bodyPr wrap="square" rtlCol="0" anchor="ctr"/>
          <a:lstStyle/>
          <a:p>
            <a:pPr marL="342900" indent="-342900">
              <a:spcAft>
                <a:spcPts val="600"/>
              </a:spcAft>
              <a:buSzPct val="100000"/>
              <a:buChar char="•"/>
            </a:pPr>
            <a:r>
              <a:rPr lang="en-US" sz="1250" dirty="0">
                <a:solidFill>
                  <a:srgbClr val="E5EEEC"/>
                </a:solidFill>
                <a:latin typeface="Calibri" pitchFamily="34" charset="0"/>
                <a:ea typeface="Calibri" pitchFamily="34" charset="-122"/>
                <a:cs typeface="Calibri" pitchFamily="34" charset="-120"/>
              </a:rPr>
              <a:t>Mô hình học từ dữ liệu lịch sử, kết quả chỉ mang tính ước lượng, không đảm bảo tuyệt đối cho mọi xe.</a:t>
            </a:r>
            <a:endParaRPr lang="en-US" sz="1250" dirty="0"/>
          </a:p>
          <a:p>
            <a:pPr marL="342900" indent="-342900">
              <a:spcAft>
                <a:spcPts val="600"/>
              </a:spcAft>
              <a:buSzPct val="100000"/>
              <a:buChar char="•"/>
            </a:pPr>
            <a:r>
              <a:rPr lang="en-US" sz="1250" dirty="0">
                <a:solidFill>
                  <a:srgbClr val="E5EEEC"/>
                </a:solidFill>
                <a:latin typeface="Calibri" pitchFamily="34" charset="0"/>
                <a:ea typeface="Calibri" pitchFamily="34" charset="-122"/>
                <a:cs typeface="Calibri" pitchFamily="34" charset="-120"/>
              </a:rPr>
              <a:t>Chưa có bảng so sánh đầy đủ giữa 4 mô hình. [CẦN BỔ SUNG]</a:t>
            </a:r>
            <a:endParaRPr lang="en-US" sz="1250" dirty="0"/>
          </a:p>
        </p:txBody>
      </p:sp>
      <p:sp>
        <p:nvSpPr>
          <p:cNvPr id="8" name="Text 6"/>
          <p:cNvSpPr/>
          <p:nvPr/>
        </p:nvSpPr>
        <p:spPr>
          <a:xfrm>
            <a:off x="6309360" y="1371600"/>
            <a:ext cx="5029200" cy="320040"/>
          </a:xfrm>
          <a:prstGeom prst="rect">
            <a:avLst/>
          </a:prstGeom>
          <a:noFill/>
          <a:ln/>
        </p:spPr>
        <p:txBody>
          <a:bodyPr wrap="square"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Hướng phát triển</a:t>
            </a:r>
            <a:endParaRPr lang="en-US" sz="1400" dirty="0"/>
          </a:p>
        </p:txBody>
      </p:sp>
      <p:sp>
        <p:nvSpPr>
          <p:cNvPr id="9" name="Text 7"/>
          <p:cNvSpPr/>
          <p:nvPr/>
        </p:nvSpPr>
        <p:spPr>
          <a:xfrm>
            <a:off x="6309360" y="1737360"/>
            <a:ext cx="5029200" cy="1737360"/>
          </a:xfrm>
          <a:prstGeom prst="rect">
            <a:avLst/>
          </a:prstGeom>
          <a:noFill/>
          <a:ln/>
        </p:spPr>
        <p:txBody>
          <a:bodyPr wrap="square" rtlCol="0" anchor="ctr"/>
          <a:lstStyle/>
          <a:p>
            <a:pPr marL="342900" indent="-342900">
              <a:spcAft>
                <a:spcPts val="600"/>
              </a:spcAft>
              <a:buSzPct val="100000"/>
              <a:buChar char="•"/>
            </a:pPr>
            <a:r>
              <a:rPr lang="en-US" sz="1250" dirty="0">
                <a:solidFill>
                  <a:srgbClr val="E5EEEC"/>
                </a:solidFill>
                <a:latin typeface="Calibri" pitchFamily="34" charset="0"/>
                <a:ea typeface="Calibri" pitchFamily="34" charset="-122"/>
                <a:cs typeface="Calibri" pitchFamily="34" charset="-120"/>
              </a:rPr>
              <a:t>Kiểm thử mô hình trên dữ liệu xe mới, ngoài tập huấn luyện.</a:t>
            </a:r>
            <a:endParaRPr lang="en-US" sz="1250" dirty="0"/>
          </a:p>
          <a:p>
            <a:pPr marL="342900" indent="-342900">
              <a:spcAft>
                <a:spcPts val="600"/>
              </a:spcAft>
              <a:buSzPct val="100000"/>
              <a:buChar char="•"/>
            </a:pPr>
            <a:r>
              <a:rPr lang="en-US" sz="1250" dirty="0">
                <a:solidFill>
                  <a:srgbClr val="E5EEEC"/>
                </a:solidFill>
                <a:latin typeface="Calibri" pitchFamily="34" charset="0"/>
                <a:ea typeface="Calibri" pitchFamily="34" charset="-122"/>
                <a:cs typeface="Calibri" pitchFamily="34" charset="-120"/>
              </a:rPr>
              <a:t>Bổ sung khả năng giải thích dự đoán (model explainability).</a:t>
            </a:r>
            <a:endParaRPr lang="en-US" sz="1250" dirty="0"/>
          </a:p>
          <a:p>
            <a:pPr marL="342900" indent="-342900">
              <a:spcAft>
                <a:spcPts val="600"/>
              </a:spcAft>
              <a:buSzPct val="100000"/>
              <a:buChar char="•"/>
            </a:pPr>
            <a:r>
              <a:rPr lang="en-US" sz="1250" dirty="0">
                <a:solidFill>
                  <a:srgbClr val="E5EEEC"/>
                </a:solidFill>
                <a:latin typeface="Calibri" pitchFamily="34" charset="0"/>
                <a:ea typeface="Calibri" pitchFamily="34" charset="-122"/>
                <a:cs typeface="Calibri" pitchFamily="34" charset="-120"/>
              </a:rPr>
              <a:t>Theo dõi và đánh giá lại chất lượng mô hình theo thời gian.</a:t>
            </a:r>
            <a:endParaRPr lang="en-US" sz="1250" dirty="0"/>
          </a:p>
        </p:txBody>
      </p:sp>
      <p:sp>
        <p:nvSpPr>
          <p:cNvPr id="10" name="Shape 8"/>
          <p:cNvSpPr/>
          <p:nvPr/>
        </p:nvSpPr>
        <p:spPr>
          <a:xfrm>
            <a:off x="822960" y="4846320"/>
            <a:ext cx="10515600" cy="0"/>
          </a:xfrm>
          <a:prstGeom prst="line">
            <a:avLst/>
          </a:prstGeom>
          <a:noFill/>
          <a:ln w="12700">
            <a:solidFill>
              <a:srgbClr val="3A4147"/>
            </a:solidFill>
            <a:prstDash val="solid"/>
          </a:ln>
        </p:spPr>
        <p:txBody>
          <a:bodyPr/>
          <a:lstStyle/>
          <a:p>
            <a:endParaRPr lang="en-US"/>
          </a:p>
        </p:txBody>
      </p:sp>
      <p:sp>
        <p:nvSpPr>
          <p:cNvPr id="11" name="Text 9"/>
          <p:cNvSpPr/>
          <p:nvPr/>
        </p:nvSpPr>
        <p:spPr>
          <a:xfrm>
            <a:off x="822960" y="4983480"/>
            <a:ext cx="5029200" cy="32004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Nguồn tham khảo</a:t>
            </a:r>
            <a:endParaRPr lang="en-US" sz="1300" dirty="0"/>
          </a:p>
        </p:txBody>
      </p:sp>
      <p:sp>
        <p:nvSpPr>
          <p:cNvPr id="12" name="Text 10"/>
          <p:cNvSpPr/>
          <p:nvPr/>
        </p:nvSpPr>
        <p:spPr>
          <a:xfrm>
            <a:off x="822960" y="5303520"/>
            <a:ext cx="10332720" cy="457200"/>
          </a:xfrm>
          <a:prstGeom prst="rect">
            <a:avLst/>
          </a:prstGeom>
          <a:noFill/>
          <a:ln/>
        </p:spPr>
        <p:txBody>
          <a:bodyPr wrap="square" rtlCol="0" anchor="ctr"/>
          <a:lstStyle/>
          <a:p>
            <a:pPr marL="342900" indent="-342900">
              <a:buSzPct val="100000"/>
              <a:buChar char="•"/>
            </a:pPr>
            <a:r>
              <a:rPr lang="en-US" sz="1150" dirty="0">
                <a:solidFill>
                  <a:srgbClr val="C9D6D3"/>
                </a:solidFill>
                <a:latin typeface="Calibri" pitchFamily="34" charset="0"/>
                <a:ea typeface="Calibri" pitchFamily="34" charset="-122"/>
                <a:cs typeface="Calibri" pitchFamily="34" charset="-120"/>
              </a:rPr>
              <a:t>MY1995-2023 Fuel Consumption Ratings — Kaggle / Government of Canada.</a:t>
            </a:r>
            <a:endParaRPr lang="en-US" sz="1150" dirty="0"/>
          </a:p>
        </p:txBody>
      </p:sp>
      <p:sp>
        <p:nvSpPr>
          <p:cNvPr id="13" name="Text 11"/>
          <p:cNvSpPr/>
          <p:nvPr/>
        </p:nvSpPr>
        <p:spPr>
          <a:xfrm>
            <a:off x="822960" y="5760720"/>
            <a:ext cx="10332720" cy="457200"/>
          </a:xfrm>
          <a:prstGeom prst="rect">
            <a:avLst/>
          </a:prstGeom>
          <a:noFill/>
          <a:ln/>
        </p:spPr>
        <p:txBody>
          <a:bodyPr wrap="square" rtlCol="0" anchor="ctr"/>
          <a:lstStyle/>
          <a:p>
            <a:pPr marL="0" indent="0">
              <a:buNone/>
            </a:pPr>
            <a:r>
              <a:rPr lang="en-US" sz="1050" i="1" dirty="0">
                <a:solidFill>
                  <a:srgbClr val="6B7280"/>
                </a:solidFill>
                <a:latin typeface="Calibri" pitchFamily="34" charset="0"/>
                <a:ea typeface="Calibri" pitchFamily="34" charset="-122"/>
                <a:cs typeface="Calibri" pitchFamily="34" charset="-120"/>
              </a:rPr>
              <a:t>[CẦN BỔ SUNG: tài liệu tham khảo về Linear Regression, Decision Tree, KNN, SVR nếu nhóm có trích dẫn cụ thể]</a:t>
            </a:r>
            <a:endParaRPr lang="en-US" sz="1050" dirty="0"/>
          </a:p>
        </p:txBody>
      </p:sp>
      <p:sp>
        <p:nvSpPr>
          <p:cNvPr id="15" name="Text 12"/>
          <p:cNvSpPr/>
          <p:nvPr/>
        </p:nvSpPr>
        <p:spPr>
          <a:xfrm>
            <a:off x="11643055"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1992</Words>
  <Application>Microsoft Office PowerPoint</Application>
  <PresentationFormat>Widescreen</PresentationFormat>
  <Paragraphs>169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Phạm Sáng</cp:lastModifiedBy>
  <cp:revision>2</cp:revision>
  <dcterms:created xsi:type="dcterms:W3CDTF">2026-09-27T15:31:37Z</dcterms:created>
  <dcterms:modified xsi:type="dcterms:W3CDTF">2026-09-27T15:44:11Z</dcterms:modified>
</cp:coreProperties>
</file>